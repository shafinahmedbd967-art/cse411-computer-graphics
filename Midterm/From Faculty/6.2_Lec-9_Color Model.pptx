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9296400" cy="701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iTzQBNjIBg7BlN3YHqW0KvLOa3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8440" cy="350520"/>
          </a:xfrm>
          <a:prstGeom prst="rect">
            <a:avLst/>
          </a:prstGeom>
          <a:noFill/>
          <a:ln>
            <a:noFill/>
          </a:ln>
        </p:spPr>
        <p:txBody>
          <a:bodyPr anchorCtr="0" anchor="t"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265809" y="0"/>
            <a:ext cx="4028440" cy="350520"/>
          </a:xfrm>
          <a:prstGeom prst="rect">
            <a:avLst/>
          </a:prstGeom>
          <a:noFill/>
          <a:ln>
            <a:noFill/>
          </a:ln>
        </p:spPr>
        <p:txBody>
          <a:bodyPr anchorCtr="0" anchor="t" bIns="46575" lIns="93175" spcFirstLastPara="1" rIns="93175" wrap="square" tIns="4657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658664"/>
            <a:ext cx="4028440" cy="350520"/>
          </a:xfrm>
          <a:prstGeom prst="rect">
            <a:avLst/>
          </a:prstGeom>
          <a:noFill/>
          <a:ln>
            <a:noFill/>
          </a:ln>
        </p:spPr>
        <p:txBody>
          <a:bodyPr anchorCtr="0" anchor="b"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265809" y="6658664"/>
            <a:ext cx="4028440" cy="350520"/>
          </a:xfrm>
          <a:prstGeom prst="rect">
            <a:avLst/>
          </a:prstGeom>
          <a:noFill/>
          <a:ln>
            <a:noFill/>
          </a:ln>
        </p:spPr>
        <p:txBody>
          <a:bodyPr anchorCtr="0" anchor="b" bIns="46575" lIns="93175" spcFirstLastPara="1" rIns="93175"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92e9ffd75_1_60:notes"/>
          <p:cNvSpPr/>
          <p:nvPr>
            <p:ph idx="2" type="sldImg"/>
          </p:nvPr>
        </p:nvSpPr>
        <p:spPr>
          <a:xfrm>
            <a:off x="3061907" y="525409"/>
            <a:ext cx="3172800" cy="2628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 name="Google Shape;71;g3e92e9ffd75_1_60:notes"/>
          <p:cNvSpPr txBox="1"/>
          <p:nvPr>
            <p:ph idx="1" type="body"/>
          </p:nvPr>
        </p:nvSpPr>
        <p:spPr>
          <a:xfrm>
            <a:off x="930389" y="3329243"/>
            <a:ext cx="7437000" cy="315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2" name="Google Shape;72;g3e92e9ffd75_1_60:notes"/>
          <p:cNvSpPr txBox="1"/>
          <p:nvPr/>
        </p:nvSpPr>
        <p:spPr>
          <a:xfrm>
            <a:off x="5265224" y="6658488"/>
            <a:ext cx="4029900" cy="350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83" name="Google Shape;83;p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50" name="Google Shape;150;p10: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84" name="Google Shape;184;p1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0: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18" name="Google Shape;218;p20: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txBox="1"/>
          <p:nvPr>
            <p:ph idx="1" type="body"/>
          </p:nvPr>
        </p:nvSpPr>
        <p:spPr>
          <a:xfrm>
            <a:off x="929640" y="3329940"/>
            <a:ext cx="7437120" cy="31546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26" name="Google Shape;226;p2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92e9ffd75_1_425:notes"/>
          <p:cNvSpPr txBox="1"/>
          <p:nvPr>
            <p:ph idx="1" type="body"/>
          </p:nvPr>
        </p:nvSpPr>
        <p:spPr>
          <a:xfrm>
            <a:off x="929640" y="3329940"/>
            <a:ext cx="7437000" cy="315480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34" name="Google Shape;234;g3e92e9ffd75_1_42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92e9ffd75_1_432:notes"/>
          <p:cNvSpPr txBox="1"/>
          <p:nvPr>
            <p:ph idx="1" type="body"/>
          </p:nvPr>
        </p:nvSpPr>
        <p:spPr>
          <a:xfrm>
            <a:off x="929640" y="3329940"/>
            <a:ext cx="7437000" cy="315480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42" name="Google Shape;242;g3e92e9ffd75_1_43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92e9ffd75_1_216:notes"/>
          <p:cNvSpPr txBox="1"/>
          <p:nvPr>
            <p:ph idx="1" type="body"/>
          </p:nvPr>
        </p:nvSpPr>
        <p:spPr>
          <a:xfrm>
            <a:off x="930389" y="3329243"/>
            <a:ext cx="7437000" cy="315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g3e92e9ffd75_1_216:notes"/>
          <p:cNvSpPr/>
          <p:nvPr>
            <p:ph idx="2" type="sldImg"/>
          </p:nvPr>
        </p:nvSpPr>
        <p:spPr>
          <a:xfrm>
            <a:off x="3061907" y="525409"/>
            <a:ext cx="3172800" cy="2628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e92e9ffd75_1_369"/>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3e92e9ffd75_1_369"/>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e92e9ffd75_1_36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e92e9ffd75_1_37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3e92e9ffd75_1_37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e92e9ffd75_1_37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e92e9ffd75_1_376"/>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e92e9ffd75_1_37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e92e9ffd75_1_380"/>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3e92e9ffd75_1_380"/>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3e92e9ffd75_1_380"/>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3e92e9ffd75_1_38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e92e9ffd75_1_38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3e92e9ffd75_1_38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e92e9ffd75_1_388"/>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3e92e9ffd75_1_388"/>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3e92e9ffd75_1_38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e92e9ffd75_1_392"/>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3e92e9ffd75_1_39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e92e9ffd75_1_395"/>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3e92e9ffd75_1_395"/>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3e92e9ffd75_1_395"/>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3e92e9ffd75_1_395"/>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g3e92e9ffd75_1_39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e92e9ffd75_1_401"/>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3e92e9ffd75_1_40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e92e9ffd75_1_404"/>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3e92e9ffd75_1_404"/>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3e92e9ffd75_1_40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e92e9ffd75_1_40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g3e92e9ffd75_1_410"/>
          <p:cNvSpPr txBox="1"/>
          <p:nvPr>
            <p:ph idx="1" type="body"/>
          </p:nvPr>
        </p:nvSpPr>
        <p:spPr>
          <a:xfrm>
            <a:off x="457200" y="1481328"/>
            <a:ext cx="8229600" cy="4526100"/>
          </a:xfrm>
          <a:prstGeom prst="rect">
            <a:avLst/>
          </a:prstGeom>
          <a:noFill/>
          <a:ln>
            <a:noFill/>
          </a:ln>
        </p:spPr>
        <p:txBody>
          <a:bodyPr anchorCtr="0" anchor="t" bIns="45700" lIns="91425" spcFirstLastPara="1" rIns="91425" wrap="square" tIns="45700">
            <a:normAutofit/>
          </a:bodyPr>
          <a:lstStyle>
            <a:lvl1pPr indent="-306324" lvl="0" marL="457200" algn="l">
              <a:spcBef>
                <a:spcPts val="400"/>
              </a:spcBef>
              <a:spcAft>
                <a:spcPts val="0"/>
              </a:spcAft>
              <a:buSzPts val="1224"/>
              <a:buChar char="●"/>
              <a:defRPr/>
            </a:lvl1pPr>
            <a:lvl2pPr indent="-342900" lvl="1" marL="914400" algn="l">
              <a:spcBef>
                <a:spcPts val="324"/>
              </a:spcBef>
              <a:spcAft>
                <a:spcPts val="0"/>
              </a:spcAft>
              <a:buSzPts val="1800"/>
              <a:buChar char="○"/>
              <a:defRPr/>
            </a:lvl2pPr>
            <a:lvl3pPr indent="-342900" lvl="2" marL="1371600" algn="l">
              <a:spcBef>
                <a:spcPts val="1200"/>
              </a:spcBef>
              <a:spcAft>
                <a:spcPts val="0"/>
              </a:spcAft>
              <a:buSzPts val="1800"/>
              <a:buChar char="■"/>
              <a:defRPr/>
            </a:lvl3pPr>
            <a:lvl4pPr indent="-342900" lvl="3" marL="1828800" algn="l">
              <a:spcBef>
                <a:spcPts val="1200"/>
              </a:spcBef>
              <a:spcAft>
                <a:spcPts val="0"/>
              </a:spcAft>
              <a:buSzPts val="1800"/>
              <a:buChar char="●"/>
              <a:defRPr/>
            </a:lvl4pPr>
            <a:lvl5pPr indent="-342900" lvl="4" marL="2286000" algn="l">
              <a:spcBef>
                <a:spcPts val="1200"/>
              </a:spcBef>
              <a:spcAft>
                <a:spcPts val="0"/>
              </a:spcAft>
              <a:buSzPts val="1800"/>
              <a:buChar char="○"/>
              <a:defRPr/>
            </a:lvl5pPr>
            <a:lvl6pPr indent="-342900" lvl="5" marL="2743200" algn="l">
              <a:spcBef>
                <a:spcPts val="1200"/>
              </a:spcBef>
              <a:spcAft>
                <a:spcPts val="0"/>
              </a:spcAft>
              <a:buSzPts val="1800"/>
              <a:buChar char="■"/>
              <a:defRPr/>
            </a:lvl6pPr>
            <a:lvl7pPr indent="-342900" lvl="6" marL="3200400" algn="l">
              <a:spcBef>
                <a:spcPts val="1200"/>
              </a:spcBef>
              <a:spcAft>
                <a:spcPts val="0"/>
              </a:spcAft>
              <a:buSzPts val="1800"/>
              <a:buChar char="●"/>
              <a:defRPr/>
            </a:lvl7pPr>
            <a:lvl8pPr indent="-342900" lvl="7" marL="3657600" algn="l">
              <a:spcBef>
                <a:spcPts val="1200"/>
              </a:spcBef>
              <a:spcAft>
                <a:spcPts val="0"/>
              </a:spcAft>
              <a:buSzPts val="1800"/>
              <a:buChar char="○"/>
              <a:defRPr/>
            </a:lvl8pPr>
            <a:lvl9pPr indent="-342900" lvl="8" marL="4114800" algn="l">
              <a:spcBef>
                <a:spcPts val="1200"/>
              </a:spcBef>
              <a:spcAft>
                <a:spcPts val="1200"/>
              </a:spcAft>
              <a:buSzPts val="1800"/>
              <a:buChar char="■"/>
              <a:defRPr/>
            </a:lvl9pPr>
          </a:lstStyle>
          <a:p/>
        </p:txBody>
      </p:sp>
      <p:sp>
        <p:nvSpPr>
          <p:cNvPr id="56" name="Google Shape;56;g3e92e9ffd75_1_410"/>
          <p:cNvSpPr txBox="1"/>
          <p:nvPr>
            <p:ph idx="10" type="dt"/>
          </p:nvPr>
        </p:nvSpPr>
        <p:spPr>
          <a:xfrm>
            <a:off x="6727032" y="6407944"/>
            <a:ext cx="1920300" cy="3657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g3e92e9ffd75_1_410"/>
          <p:cNvSpPr txBox="1"/>
          <p:nvPr>
            <p:ph idx="11" type="ftr"/>
          </p:nvPr>
        </p:nvSpPr>
        <p:spPr>
          <a:xfrm>
            <a:off x="4380072" y="6407944"/>
            <a:ext cx="2350800" cy="3651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g3e92e9ffd75_1_410"/>
          <p:cNvSpPr txBox="1"/>
          <p:nvPr>
            <p:ph idx="12" type="sldNum"/>
          </p:nvPr>
        </p:nvSpPr>
        <p:spPr>
          <a:xfrm>
            <a:off x="8647272" y="6407944"/>
            <a:ext cx="365700" cy="365100"/>
          </a:xfrm>
          <a:prstGeom prst="rect">
            <a:avLst/>
          </a:prstGeom>
          <a:noFill/>
          <a:ln>
            <a:noFill/>
          </a:ln>
        </p:spPr>
        <p:txBody>
          <a:bodyPr anchorCtr="0" anchor="b"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g3e92e9ffd75_1_4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bg>
      <p:bgPr>
        <a:blipFill rotWithShape="1">
          <a:blip r:embed="rId2">
            <a:alphaModFix/>
          </a:blip>
          <a:tile algn="tl" flip="none" tx="0" sx="50003" ty="0" sy="50003"/>
        </a:blipFill>
      </p:bgPr>
    </p:bg>
    <p:spTree>
      <p:nvGrpSpPr>
        <p:cNvPr id="60" name="Shape 60"/>
        <p:cNvGrpSpPr/>
        <p:nvPr/>
      </p:nvGrpSpPr>
      <p:grpSpPr>
        <a:xfrm>
          <a:off x="0" y="0"/>
          <a:ext cx="0" cy="0"/>
          <a:chOff x="0" y="0"/>
          <a:chExt cx="0" cy="0"/>
        </a:xfrm>
      </p:grpSpPr>
      <p:sp>
        <p:nvSpPr>
          <p:cNvPr id="61" name="Google Shape;61;g3e92e9ffd75_1_416"/>
          <p:cNvSpPr txBox="1"/>
          <p:nvPr>
            <p:ph type="title"/>
          </p:nvPr>
        </p:nvSpPr>
        <p:spPr>
          <a:xfrm>
            <a:off x="457200" y="273050"/>
            <a:ext cx="8229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g3e92e9ffd75_1_416"/>
          <p:cNvSpPr txBox="1"/>
          <p:nvPr>
            <p:ph idx="1" type="body"/>
          </p:nvPr>
        </p:nvSpPr>
        <p:spPr>
          <a:xfrm>
            <a:off x="457200" y="5410200"/>
            <a:ext cx="4040100" cy="7620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1200"/>
              </a:spcBef>
              <a:spcAft>
                <a:spcPts val="0"/>
              </a:spcAft>
              <a:buSzPts val="1800"/>
              <a:buNone/>
              <a:defRPr b="1" sz="1800"/>
            </a:lvl3pPr>
            <a:lvl4pPr indent="-228600" lvl="3" marL="1828800" algn="l">
              <a:spcBef>
                <a:spcPts val="1200"/>
              </a:spcBef>
              <a:spcAft>
                <a:spcPts val="0"/>
              </a:spcAft>
              <a:buSzPts val="1600"/>
              <a:buNone/>
              <a:defRPr b="1" sz="1600"/>
            </a:lvl4pPr>
            <a:lvl5pPr indent="-228600" lvl="4" marL="2286000" algn="l">
              <a:spcBef>
                <a:spcPts val="1200"/>
              </a:spcBef>
              <a:spcAft>
                <a:spcPts val="0"/>
              </a:spcAft>
              <a:buSzPts val="1600"/>
              <a:buNone/>
              <a:defRPr b="1" sz="1600"/>
            </a:lvl5pPr>
            <a:lvl6pPr indent="-342900" lvl="5" marL="2743200" algn="l">
              <a:spcBef>
                <a:spcPts val="1200"/>
              </a:spcBef>
              <a:spcAft>
                <a:spcPts val="0"/>
              </a:spcAft>
              <a:buSzPts val="1800"/>
              <a:buChar char="■"/>
              <a:defRPr/>
            </a:lvl6pPr>
            <a:lvl7pPr indent="-342900" lvl="6" marL="3200400" algn="l">
              <a:spcBef>
                <a:spcPts val="1200"/>
              </a:spcBef>
              <a:spcAft>
                <a:spcPts val="0"/>
              </a:spcAft>
              <a:buSzPts val="1800"/>
              <a:buChar char="●"/>
              <a:defRPr/>
            </a:lvl7pPr>
            <a:lvl8pPr indent="-342900" lvl="7" marL="3657600" algn="l">
              <a:spcBef>
                <a:spcPts val="1200"/>
              </a:spcBef>
              <a:spcAft>
                <a:spcPts val="0"/>
              </a:spcAft>
              <a:buSzPts val="1800"/>
              <a:buChar char="○"/>
              <a:defRPr/>
            </a:lvl8pPr>
            <a:lvl9pPr indent="-342900" lvl="8" marL="4114800" algn="l">
              <a:spcBef>
                <a:spcPts val="1200"/>
              </a:spcBef>
              <a:spcAft>
                <a:spcPts val="1200"/>
              </a:spcAft>
              <a:buSzPts val="1800"/>
              <a:buChar char="■"/>
              <a:defRPr/>
            </a:lvl9pPr>
          </a:lstStyle>
          <a:p/>
        </p:txBody>
      </p:sp>
      <p:sp>
        <p:nvSpPr>
          <p:cNvPr id="63" name="Google Shape;63;g3e92e9ffd75_1_416"/>
          <p:cNvSpPr txBox="1"/>
          <p:nvPr>
            <p:ph idx="2" type="body"/>
          </p:nvPr>
        </p:nvSpPr>
        <p:spPr>
          <a:xfrm>
            <a:off x="4645026" y="5410200"/>
            <a:ext cx="4041900" cy="762000"/>
          </a:xfrm>
          <a:prstGeom prst="rect">
            <a:avLst/>
          </a:prstGeom>
          <a:solidFill>
            <a:schemeClr val="accent1"/>
          </a:solidFill>
          <a:ln cap="flat" cmpd="sng" w="9650">
            <a:solidFill>
              <a:schemeClr val="accent1"/>
            </a:solidFill>
            <a:prstDash val="solid"/>
            <a:miter lim="800000"/>
            <a:headEnd len="sm" w="sm" type="none"/>
            <a:tailEnd len="sm" w="sm" type="none"/>
          </a:ln>
        </p:spPr>
        <p:txBody>
          <a:bodyPr anchorCtr="0" anchor="ctr" bIns="45700" lIns="182875" spcFirstLastPara="1" rIns="91425" wrap="square" tIns="45700">
            <a:normAutofit/>
          </a:bodyPr>
          <a:lstStyle>
            <a:lvl1pPr indent="-228600" lvl="0" marL="457200" algn="l">
              <a:spcBef>
                <a:spcPts val="400"/>
              </a:spcBef>
              <a:spcAft>
                <a:spcPts val="0"/>
              </a:spcAft>
              <a:buSzPts val="1632"/>
              <a:buNone/>
              <a:defRPr b="0" sz="2400">
                <a:solidFill>
                  <a:schemeClr val="lt1"/>
                </a:solidFill>
              </a:defRPr>
            </a:lvl1pPr>
            <a:lvl2pPr indent="-228600" lvl="1" marL="914400" algn="l">
              <a:spcBef>
                <a:spcPts val="324"/>
              </a:spcBef>
              <a:spcAft>
                <a:spcPts val="0"/>
              </a:spcAft>
              <a:buSzPts val="2000"/>
              <a:buNone/>
              <a:defRPr b="1" sz="2000"/>
            </a:lvl2pPr>
            <a:lvl3pPr indent="-228600" lvl="2" marL="1371600" algn="l">
              <a:spcBef>
                <a:spcPts val="1200"/>
              </a:spcBef>
              <a:spcAft>
                <a:spcPts val="0"/>
              </a:spcAft>
              <a:buSzPts val="1800"/>
              <a:buNone/>
              <a:defRPr b="1" sz="1800"/>
            </a:lvl3pPr>
            <a:lvl4pPr indent="-228600" lvl="3" marL="1828800" algn="l">
              <a:spcBef>
                <a:spcPts val="1200"/>
              </a:spcBef>
              <a:spcAft>
                <a:spcPts val="0"/>
              </a:spcAft>
              <a:buSzPts val="1600"/>
              <a:buNone/>
              <a:defRPr b="1" sz="1600"/>
            </a:lvl4pPr>
            <a:lvl5pPr indent="-228600" lvl="4" marL="2286000" algn="l">
              <a:spcBef>
                <a:spcPts val="1200"/>
              </a:spcBef>
              <a:spcAft>
                <a:spcPts val="0"/>
              </a:spcAft>
              <a:buSzPts val="1600"/>
              <a:buNone/>
              <a:defRPr b="1" sz="1600"/>
            </a:lvl5pPr>
            <a:lvl6pPr indent="-342900" lvl="5" marL="2743200" algn="l">
              <a:spcBef>
                <a:spcPts val="1200"/>
              </a:spcBef>
              <a:spcAft>
                <a:spcPts val="0"/>
              </a:spcAft>
              <a:buSzPts val="1800"/>
              <a:buChar char="■"/>
              <a:defRPr/>
            </a:lvl6pPr>
            <a:lvl7pPr indent="-342900" lvl="6" marL="3200400" algn="l">
              <a:spcBef>
                <a:spcPts val="1200"/>
              </a:spcBef>
              <a:spcAft>
                <a:spcPts val="0"/>
              </a:spcAft>
              <a:buSzPts val="1800"/>
              <a:buChar char="●"/>
              <a:defRPr/>
            </a:lvl7pPr>
            <a:lvl8pPr indent="-342900" lvl="7" marL="3657600" algn="l">
              <a:spcBef>
                <a:spcPts val="1200"/>
              </a:spcBef>
              <a:spcAft>
                <a:spcPts val="0"/>
              </a:spcAft>
              <a:buSzPts val="1800"/>
              <a:buChar char="○"/>
              <a:defRPr/>
            </a:lvl8pPr>
            <a:lvl9pPr indent="-342900" lvl="8" marL="4114800" algn="l">
              <a:spcBef>
                <a:spcPts val="1200"/>
              </a:spcBef>
              <a:spcAft>
                <a:spcPts val="1200"/>
              </a:spcAft>
              <a:buSzPts val="1800"/>
              <a:buChar char="■"/>
              <a:defRPr/>
            </a:lvl9pPr>
          </a:lstStyle>
          <a:p/>
        </p:txBody>
      </p:sp>
      <p:sp>
        <p:nvSpPr>
          <p:cNvPr id="64" name="Google Shape;64;g3e92e9ffd75_1_416"/>
          <p:cNvSpPr txBox="1"/>
          <p:nvPr>
            <p:ph idx="3" type="body"/>
          </p:nvPr>
        </p:nvSpPr>
        <p:spPr>
          <a:xfrm>
            <a:off x="457200" y="1444294"/>
            <a:ext cx="4040100" cy="3941700"/>
          </a:xfrm>
          <a:prstGeom prst="rect">
            <a:avLst/>
          </a:prstGeom>
          <a:noFill/>
          <a:ln>
            <a:noFill/>
          </a:ln>
        </p:spPr>
        <p:txBody>
          <a:bodyPr anchorCtr="0" anchor="t" bIns="45700" lIns="91425" spcFirstLastPara="1" rIns="91425" wrap="square" tIns="45700">
            <a:normAutofit/>
          </a:bodyPr>
          <a:lstStyle>
            <a:lvl1pPr indent="-332232" lvl="0" marL="457200" algn="l">
              <a:spcBef>
                <a:spcPts val="40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1200"/>
              </a:spcBef>
              <a:spcAft>
                <a:spcPts val="0"/>
              </a:spcAft>
              <a:buSzPts val="1800"/>
              <a:buChar char="■"/>
              <a:defRPr sz="1800"/>
            </a:lvl3pPr>
            <a:lvl4pPr indent="-330200" lvl="3" marL="1828800" algn="l">
              <a:spcBef>
                <a:spcPts val="1200"/>
              </a:spcBef>
              <a:spcAft>
                <a:spcPts val="0"/>
              </a:spcAft>
              <a:buSzPts val="1600"/>
              <a:buChar char="●"/>
              <a:defRPr sz="1600"/>
            </a:lvl4pPr>
            <a:lvl5pPr indent="-330200" lvl="4" marL="2286000" algn="l">
              <a:spcBef>
                <a:spcPts val="1200"/>
              </a:spcBef>
              <a:spcAft>
                <a:spcPts val="0"/>
              </a:spcAft>
              <a:buSzPts val="1600"/>
              <a:buChar char="○"/>
              <a:defRPr sz="1600"/>
            </a:lvl5pPr>
            <a:lvl6pPr indent="-342900" lvl="5" marL="2743200" algn="l">
              <a:spcBef>
                <a:spcPts val="1200"/>
              </a:spcBef>
              <a:spcAft>
                <a:spcPts val="0"/>
              </a:spcAft>
              <a:buSzPts val="1800"/>
              <a:buChar char="■"/>
              <a:defRPr/>
            </a:lvl6pPr>
            <a:lvl7pPr indent="-342900" lvl="6" marL="3200400" algn="l">
              <a:spcBef>
                <a:spcPts val="1200"/>
              </a:spcBef>
              <a:spcAft>
                <a:spcPts val="0"/>
              </a:spcAft>
              <a:buSzPts val="1800"/>
              <a:buChar char="●"/>
              <a:defRPr/>
            </a:lvl7pPr>
            <a:lvl8pPr indent="-342900" lvl="7" marL="3657600" algn="l">
              <a:spcBef>
                <a:spcPts val="1200"/>
              </a:spcBef>
              <a:spcAft>
                <a:spcPts val="0"/>
              </a:spcAft>
              <a:buSzPts val="1800"/>
              <a:buChar char="○"/>
              <a:defRPr/>
            </a:lvl8pPr>
            <a:lvl9pPr indent="-342900" lvl="8" marL="4114800" algn="l">
              <a:spcBef>
                <a:spcPts val="1200"/>
              </a:spcBef>
              <a:spcAft>
                <a:spcPts val="1200"/>
              </a:spcAft>
              <a:buSzPts val="1800"/>
              <a:buChar char="■"/>
              <a:defRPr/>
            </a:lvl9pPr>
          </a:lstStyle>
          <a:p/>
        </p:txBody>
      </p:sp>
      <p:sp>
        <p:nvSpPr>
          <p:cNvPr id="65" name="Google Shape;65;g3e92e9ffd75_1_416"/>
          <p:cNvSpPr txBox="1"/>
          <p:nvPr>
            <p:ph idx="4" type="body"/>
          </p:nvPr>
        </p:nvSpPr>
        <p:spPr>
          <a:xfrm>
            <a:off x="4645025" y="1444294"/>
            <a:ext cx="4041900" cy="3941700"/>
          </a:xfrm>
          <a:prstGeom prst="rect">
            <a:avLst/>
          </a:prstGeom>
          <a:noFill/>
          <a:ln>
            <a:noFill/>
          </a:ln>
        </p:spPr>
        <p:txBody>
          <a:bodyPr anchorCtr="0" anchor="t" bIns="45700" lIns="91425" spcFirstLastPara="1" rIns="91425" wrap="square" tIns="45700">
            <a:normAutofit/>
          </a:bodyPr>
          <a:lstStyle>
            <a:lvl1pPr indent="-332232" lvl="0" marL="457200" algn="l">
              <a:spcBef>
                <a:spcPts val="0"/>
              </a:spcBef>
              <a:spcAft>
                <a:spcPts val="0"/>
              </a:spcAft>
              <a:buSzPts val="1632"/>
              <a:buChar char="●"/>
              <a:defRPr sz="2400"/>
            </a:lvl1pPr>
            <a:lvl2pPr indent="-355600" lvl="1" marL="914400" algn="l">
              <a:spcBef>
                <a:spcPts val="324"/>
              </a:spcBef>
              <a:spcAft>
                <a:spcPts val="0"/>
              </a:spcAft>
              <a:buSzPts val="2000"/>
              <a:buChar char="○"/>
              <a:defRPr sz="2000"/>
            </a:lvl2pPr>
            <a:lvl3pPr indent="-342900" lvl="2" marL="1371600" algn="l">
              <a:spcBef>
                <a:spcPts val="1200"/>
              </a:spcBef>
              <a:spcAft>
                <a:spcPts val="0"/>
              </a:spcAft>
              <a:buSzPts val="1800"/>
              <a:buChar char="■"/>
              <a:defRPr sz="1800"/>
            </a:lvl3pPr>
            <a:lvl4pPr indent="-330200" lvl="3" marL="1828800" algn="l">
              <a:spcBef>
                <a:spcPts val="1200"/>
              </a:spcBef>
              <a:spcAft>
                <a:spcPts val="0"/>
              </a:spcAft>
              <a:buSzPts val="1600"/>
              <a:buChar char="●"/>
              <a:defRPr sz="1600"/>
            </a:lvl4pPr>
            <a:lvl5pPr indent="-330200" lvl="4" marL="2286000" algn="l">
              <a:spcBef>
                <a:spcPts val="1200"/>
              </a:spcBef>
              <a:spcAft>
                <a:spcPts val="0"/>
              </a:spcAft>
              <a:buSzPts val="1600"/>
              <a:buChar char="○"/>
              <a:defRPr sz="1600"/>
            </a:lvl5pPr>
            <a:lvl6pPr indent="-342900" lvl="5" marL="2743200" algn="l">
              <a:spcBef>
                <a:spcPts val="1200"/>
              </a:spcBef>
              <a:spcAft>
                <a:spcPts val="0"/>
              </a:spcAft>
              <a:buSzPts val="1800"/>
              <a:buChar char="■"/>
              <a:defRPr/>
            </a:lvl6pPr>
            <a:lvl7pPr indent="-342900" lvl="6" marL="3200400" algn="l">
              <a:spcBef>
                <a:spcPts val="1200"/>
              </a:spcBef>
              <a:spcAft>
                <a:spcPts val="0"/>
              </a:spcAft>
              <a:buSzPts val="1800"/>
              <a:buChar char="●"/>
              <a:defRPr/>
            </a:lvl7pPr>
            <a:lvl8pPr indent="-342900" lvl="7" marL="3657600" algn="l">
              <a:spcBef>
                <a:spcPts val="1200"/>
              </a:spcBef>
              <a:spcAft>
                <a:spcPts val="0"/>
              </a:spcAft>
              <a:buSzPts val="1800"/>
              <a:buChar char="○"/>
              <a:defRPr/>
            </a:lvl8pPr>
            <a:lvl9pPr indent="-342900" lvl="8" marL="4114800" algn="l">
              <a:spcBef>
                <a:spcPts val="1200"/>
              </a:spcBef>
              <a:spcAft>
                <a:spcPts val="1200"/>
              </a:spcAft>
              <a:buSzPts val="1800"/>
              <a:buChar char="■"/>
              <a:defRPr/>
            </a:lvl9pPr>
          </a:lstStyle>
          <a:p/>
        </p:txBody>
      </p:sp>
      <p:sp>
        <p:nvSpPr>
          <p:cNvPr id="66" name="Google Shape;66;g3e92e9ffd75_1_416"/>
          <p:cNvSpPr txBox="1"/>
          <p:nvPr>
            <p:ph idx="10" type="dt"/>
          </p:nvPr>
        </p:nvSpPr>
        <p:spPr>
          <a:xfrm>
            <a:off x="6727032" y="6407944"/>
            <a:ext cx="1920300" cy="3657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g3e92e9ffd75_1_416"/>
          <p:cNvSpPr txBox="1"/>
          <p:nvPr>
            <p:ph idx="11" type="ftr"/>
          </p:nvPr>
        </p:nvSpPr>
        <p:spPr>
          <a:xfrm>
            <a:off x="4380072" y="6407944"/>
            <a:ext cx="2350800" cy="3651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g3e92e9ffd75_1_416"/>
          <p:cNvSpPr txBox="1"/>
          <p:nvPr>
            <p:ph idx="12" type="sldNum"/>
          </p:nvPr>
        </p:nvSpPr>
        <p:spPr>
          <a:xfrm>
            <a:off x="8647272" y="6407944"/>
            <a:ext cx="365700" cy="365100"/>
          </a:xfrm>
          <a:prstGeom prst="rect">
            <a:avLst/>
          </a:prstGeom>
          <a:noFill/>
          <a:ln>
            <a:noFill/>
          </a:ln>
        </p:spPr>
        <p:txBody>
          <a:bodyPr anchorCtr="0" anchor="b"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e92e9ffd75_1_36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3e92e9ffd75_1_36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g3e92e9ffd75_1_36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e92e9ffd75_1_60"/>
          <p:cNvSpPr txBox="1"/>
          <p:nvPr>
            <p:ph type="ctrTitle"/>
          </p:nvPr>
        </p:nvSpPr>
        <p:spPr>
          <a:xfrm>
            <a:off x="990600" y="762000"/>
            <a:ext cx="6858000" cy="23163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100"/>
              <a:buFont typeface="Calibri"/>
              <a:buNone/>
            </a:pPr>
            <a:br>
              <a:rPr b="0" i="0" lang="en-US" sz="4100" u="none">
                <a:solidFill>
                  <a:schemeClr val="dk1"/>
                </a:solidFill>
                <a:latin typeface="Calibri"/>
                <a:ea typeface="Calibri"/>
                <a:cs typeface="Calibri"/>
                <a:sym typeface="Calibri"/>
              </a:rPr>
            </a:br>
            <a:r>
              <a:rPr b="1" lang="en-US" sz="3550">
                <a:latin typeface="Calibri"/>
                <a:ea typeface="Calibri"/>
                <a:cs typeface="Calibri"/>
                <a:sym typeface="Calibri"/>
              </a:rPr>
              <a:t>Color Model</a:t>
            </a:r>
            <a:br>
              <a:rPr b="1" i="0" lang="en-US" sz="3600" u="none">
                <a:solidFill>
                  <a:schemeClr val="dk1"/>
                </a:solidFill>
                <a:latin typeface="Calibri"/>
                <a:ea typeface="Calibri"/>
                <a:cs typeface="Calibri"/>
                <a:sym typeface="Calibri"/>
              </a:rPr>
            </a:br>
            <a:r>
              <a:rPr b="1" i="0" lang="en-US" sz="3000" u="none">
                <a:solidFill>
                  <a:srgbClr val="FF0000"/>
                </a:solidFill>
                <a:latin typeface="Calibri"/>
                <a:ea typeface="Calibri"/>
                <a:cs typeface="Calibri"/>
                <a:sym typeface="Calibri"/>
              </a:rPr>
              <a:t>Lecture-</a:t>
            </a:r>
            <a:r>
              <a:rPr b="1" lang="en-US" sz="3000">
                <a:solidFill>
                  <a:srgbClr val="FF0000"/>
                </a:solidFill>
                <a:latin typeface="Calibri"/>
                <a:ea typeface="Calibri"/>
                <a:cs typeface="Calibri"/>
                <a:sym typeface="Calibri"/>
              </a:rPr>
              <a:t>9</a:t>
            </a:r>
            <a:br>
              <a:rPr b="0" i="0" lang="en-US" sz="4100" u="none">
                <a:solidFill>
                  <a:schemeClr val="dk1"/>
                </a:solidFill>
                <a:latin typeface="Calibri"/>
                <a:ea typeface="Calibri"/>
                <a:cs typeface="Calibri"/>
                <a:sym typeface="Calibri"/>
              </a:rPr>
            </a:br>
            <a:endParaRPr/>
          </a:p>
        </p:txBody>
      </p:sp>
      <p:sp>
        <p:nvSpPr>
          <p:cNvPr id="75" name="Google Shape;75;g3e92e9ffd75_1_60"/>
          <p:cNvSpPr txBox="1"/>
          <p:nvPr>
            <p:ph idx="1" type="subTitle"/>
          </p:nvPr>
        </p:nvSpPr>
        <p:spPr>
          <a:xfrm>
            <a:off x="990600" y="4624387"/>
            <a:ext cx="6858000" cy="16557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t/>
            </a:r>
            <a:endParaRPr b="0" i="0" sz="1800" u="none">
              <a:solidFill>
                <a:schemeClr val="dk1"/>
              </a:solidFill>
              <a:latin typeface="Calibri"/>
              <a:ea typeface="Calibri"/>
              <a:cs typeface="Calibri"/>
              <a:sym typeface="Calibri"/>
            </a:endParaRPr>
          </a:p>
          <a:p>
            <a:pPr indent="0" lvl="0" marL="0" rtl="0" algn="ctr">
              <a:lnSpc>
                <a:spcPct val="90000"/>
              </a:lnSpc>
              <a:spcBef>
                <a:spcPts val="700"/>
              </a:spcBef>
              <a:spcAft>
                <a:spcPts val="0"/>
              </a:spcAft>
              <a:buClr>
                <a:schemeClr val="dk1"/>
              </a:buClr>
              <a:buSzPts val="1800"/>
              <a:buNone/>
            </a:pPr>
            <a:r>
              <a:rPr lang="en-US" sz="1600">
                <a:solidFill>
                  <a:srgbClr val="FF0000"/>
                </a:solidFill>
              </a:rPr>
              <a:t>Tapasy Rabeya</a:t>
            </a:r>
            <a:br>
              <a:rPr lang="en-US" sz="1600"/>
            </a:br>
            <a:r>
              <a:rPr lang="en-US" sz="1600"/>
              <a:t>Senior Lecturer</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Department of Computer Science and Engineering</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Daffodil International University, DIU</a:t>
            </a:r>
            <a:endParaRPr/>
          </a:p>
        </p:txBody>
      </p:sp>
      <p:sp>
        <p:nvSpPr>
          <p:cNvPr descr="Diu Logo PNG Images - CleanPNG" id="76" name="Google Shape;76;g3e92e9ffd75_1_6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77" name="Google Shape;77;g3e92e9ffd75_1_60"/>
          <p:cNvPicPr preferRelativeResize="0"/>
          <p:nvPr/>
        </p:nvPicPr>
        <p:blipFill rotWithShape="1">
          <a:blip r:embed="rId3">
            <a:alphaModFix/>
          </a:blip>
          <a:srcRect b="0" l="0" r="0" t="0"/>
          <a:stretch/>
        </p:blipFill>
        <p:spPr>
          <a:xfrm>
            <a:off x="3733800" y="381000"/>
            <a:ext cx="1371600" cy="685800"/>
          </a:xfrm>
          <a:prstGeom prst="rect">
            <a:avLst/>
          </a:prstGeom>
          <a:noFill/>
          <a:ln>
            <a:noFill/>
          </a:ln>
        </p:spPr>
      </p:pic>
      <p:sp>
        <p:nvSpPr>
          <p:cNvPr id="78" name="Google Shape;78;g3e92e9ffd75_1_6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79" name="Google Shape;79;g3e92e9ffd75_1_6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80" name="Google Shape;80;g3e92e9ffd75_1_60"/>
          <p:cNvPicPr preferRelativeResize="0"/>
          <p:nvPr/>
        </p:nvPicPr>
        <p:blipFill>
          <a:blip r:embed="rId4">
            <a:alphaModFix/>
          </a:blip>
          <a:stretch>
            <a:fillRect/>
          </a:stretch>
        </p:blipFill>
        <p:spPr>
          <a:xfrm>
            <a:off x="3333750" y="2787650"/>
            <a:ext cx="2476500" cy="1847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lnSpcReduction="10000"/>
          </a:bodyPr>
          <a:lstStyle/>
          <a:p>
            <a:pPr indent="-219075" lvl="0" marL="271463" rtl="0" algn="l">
              <a:spcBef>
                <a:spcPts val="0"/>
              </a:spcBef>
              <a:spcAft>
                <a:spcPts val="0"/>
              </a:spcAft>
              <a:buClr>
                <a:schemeClr val="dk1"/>
              </a:buClr>
              <a:buSzPts val="900"/>
              <a:buFont typeface="Calibri"/>
              <a:buChar char="⚫"/>
            </a:pPr>
            <a:r>
              <a:rPr lang="en-US" sz="2300">
                <a:solidFill>
                  <a:schemeClr val="dk1"/>
                </a:solidFill>
                <a:latin typeface="Calibri"/>
                <a:ea typeface="Calibri"/>
                <a:cs typeface="Calibri"/>
                <a:sym typeface="Calibri"/>
              </a:rPr>
              <a:t>It is an attribute of objects (like </a:t>
            </a:r>
            <a:r>
              <a:rPr i="1" lang="en-US" sz="2300">
                <a:solidFill>
                  <a:schemeClr val="dk1"/>
                </a:solidFill>
                <a:latin typeface="Calibri"/>
                <a:ea typeface="Calibri"/>
                <a:cs typeface="Calibri"/>
                <a:sym typeface="Calibri"/>
              </a:rPr>
              <a:t>texture, shape, smoothness, </a:t>
            </a:r>
            <a:r>
              <a:rPr lang="en-US" sz="2300">
                <a:solidFill>
                  <a:schemeClr val="dk1"/>
                </a:solidFill>
                <a:latin typeface="Calibri"/>
                <a:ea typeface="Calibri"/>
                <a:cs typeface="Calibri"/>
                <a:sym typeface="Calibri"/>
              </a:rPr>
              <a:t>etc.)</a:t>
            </a:r>
            <a:endParaRPr sz="2300">
              <a:solidFill>
                <a:schemeClr val="dk1"/>
              </a:solidFill>
              <a:latin typeface="Calibri"/>
              <a:ea typeface="Calibri"/>
              <a:cs typeface="Calibri"/>
              <a:sym typeface="Calibri"/>
            </a:endParaRPr>
          </a:p>
          <a:p>
            <a:pPr indent="-219075" lvl="0" marL="271463" rtl="0" algn="l">
              <a:spcBef>
                <a:spcPts val="1250"/>
              </a:spcBef>
              <a:spcAft>
                <a:spcPts val="0"/>
              </a:spcAft>
              <a:buClr>
                <a:schemeClr val="dk1"/>
              </a:buClr>
              <a:buSzPts val="900"/>
              <a:buFont typeface="Calibri"/>
              <a:buChar char="⚫"/>
            </a:pPr>
            <a:r>
              <a:rPr lang="en-US" sz="2300">
                <a:solidFill>
                  <a:schemeClr val="dk1"/>
                </a:solidFill>
                <a:latin typeface="Calibri"/>
                <a:ea typeface="Calibri"/>
                <a:cs typeface="Calibri"/>
                <a:sym typeface="Calibri"/>
              </a:rPr>
              <a:t>It depends on:</a:t>
            </a:r>
            <a:endParaRPr sz="2300">
              <a:solidFill>
                <a:schemeClr val="dk1"/>
              </a:solidFill>
              <a:latin typeface="Calibri"/>
              <a:ea typeface="Calibri"/>
              <a:cs typeface="Calibri"/>
              <a:sym typeface="Calibri"/>
            </a:endParaRPr>
          </a:p>
          <a:p>
            <a:pPr indent="-266700" lvl="1" marL="546100" rtl="0" algn="l">
              <a:spcBef>
                <a:spcPts val="125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1) spectral characteristics of the</a:t>
            </a:r>
            <a:r>
              <a:rPr i="1" lang="en-US" sz="2300">
                <a:solidFill>
                  <a:schemeClr val="dk1"/>
                </a:solidFill>
                <a:latin typeface="Calibri"/>
                <a:ea typeface="Calibri"/>
                <a:cs typeface="Calibri"/>
                <a:sym typeface="Calibri"/>
              </a:rPr>
              <a:t> light source(s) </a:t>
            </a:r>
            <a:r>
              <a:rPr lang="en-US" sz="2300">
                <a:solidFill>
                  <a:schemeClr val="dk1"/>
                </a:solidFill>
                <a:latin typeface="Calibri"/>
                <a:ea typeface="Calibri"/>
                <a:cs typeface="Calibri"/>
                <a:sym typeface="Calibri"/>
              </a:rPr>
              <a:t>(e.g., sunlight)  illuminating the objects (relative spectral power distribution(s) SPD) </a:t>
            </a:r>
            <a:endParaRPr sz="2300">
              <a:solidFill>
                <a:schemeClr val="dk1"/>
              </a:solidFill>
              <a:latin typeface="Calibri"/>
              <a:ea typeface="Calibri"/>
              <a:cs typeface="Calibri"/>
              <a:sym typeface="Calibri"/>
            </a:endParaRPr>
          </a:p>
          <a:p>
            <a:pPr indent="-266700" lvl="1" marL="546100" rtl="0" algn="l">
              <a:spcBef>
                <a:spcPts val="125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2) spectral properties of</a:t>
            </a:r>
            <a:r>
              <a:rPr i="1" lang="en-US" sz="2300">
                <a:solidFill>
                  <a:schemeClr val="dk1"/>
                </a:solidFill>
                <a:latin typeface="Calibri"/>
                <a:ea typeface="Calibri"/>
                <a:cs typeface="Calibri"/>
                <a:sym typeface="Calibri"/>
              </a:rPr>
              <a:t> objects </a:t>
            </a:r>
            <a:r>
              <a:rPr lang="en-US" sz="2300">
                <a:solidFill>
                  <a:schemeClr val="dk1"/>
                </a:solidFill>
                <a:latin typeface="Calibri"/>
                <a:ea typeface="Calibri"/>
                <a:cs typeface="Calibri"/>
                <a:sym typeface="Calibri"/>
              </a:rPr>
              <a:t>(</a:t>
            </a:r>
            <a:r>
              <a:rPr i="1" lang="en-US" sz="2300">
                <a:solidFill>
                  <a:schemeClr val="dk1"/>
                </a:solidFill>
                <a:latin typeface="Calibri"/>
                <a:ea typeface="Calibri"/>
                <a:cs typeface="Calibri"/>
                <a:sym typeface="Calibri"/>
              </a:rPr>
              <a:t>reflectance</a:t>
            </a:r>
            <a:r>
              <a:rPr lang="en-US" sz="2300">
                <a:solidFill>
                  <a:schemeClr val="dk1"/>
                </a:solidFill>
                <a:latin typeface="Calibri"/>
                <a:ea typeface="Calibri"/>
                <a:cs typeface="Calibri"/>
                <a:sym typeface="Calibri"/>
              </a:rPr>
              <a:t>)</a:t>
            </a:r>
            <a:endParaRPr sz="2300">
              <a:solidFill>
                <a:schemeClr val="dk1"/>
              </a:solidFill>
              <a:latin typeface="Calibri"/>
              <a:ea typeface="Calibri"/>
              <a:cs typeface="Calibri"/>
              <a:sym typeface="Calibri"/>
            </a:endParaRPr>
          </a:p>
          <a:p>
            <a:pPr indent="-266700" lvl="1" marL="546100" rtl="0" algn="l">
              <a:spcBef>
                <a:spcPts val="125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3) spectral characteristics of the</a:t>
            </a:r>
            <a:r>
              <a:rPr i="1" lang="en-US" sz="2300">
                <a:solidFill>
                  <a:schemeClr val="dk1"/>
                </a:solidFill>
                <a:latin typeface="Calibri"/>
                <a:ea typeface="Calibri"/>
                <a:cs typeface="Calibri"/>
                <a:sym typeface="Calibri"/>
              </a:rPr>
              <a:t> sensors</a:t>
            </a:r>
            <a:r>
              <a:rPr lang="en-US" sz="2300">
                <a:solidFill>
                  <a:schemeClr val="dk1"/>
                </a:solidFill>
                <a:latin typeface="Calibri"/>
                <a:ea typeface="Calibri"/>
                <a:cs typeface="Calibri"/>
                <a:sym typeface="Calibri"/>
              </a:rPr>
              <a:t> of the</a:t>
            </a:r>
            <a:r>
              <a:rPr i="1" lang="en-US" sz="2300">
                <a:solidFill>
                  <a:schemeClr val="dk1"/>
                </a:solidFill>
                <a:latin typeface="Calibri"/>
                <a:ea typeface="Calibri"/>
                <a:cs typeface="Calibri"/>
                <a:sym typeface="Calibri"/>
              </a:rPr>
              <a:t> imaging device </a:t>
            </a:r>
            <a:r>
              <a:rPr lang="en-US" sz="2300">
                <a:solidFill>
                  <a:schemeClr val="dk1"/>
                </a:solidFill>
                <a:latin typeface="Calibri"/>
                <a:ea typeface="Calibri"/>
                <a:cs typeface="Calibri"/>
                <a:sym typeface="Calibri"/>
              </a:rPr>
              <a:t>(e.g., the human eye or a digital camera)</a:t>
            </a:r>
            <a:endParaRPr sz="2300">
              <a:solidFill>
                <a:schemeClr val="dk1"/>
              </a:solidFill>
              <a:latin typeface="Calibri"/>
              <a:ea typeface="Calibri"/>
              <a:cs typeface="Calibri"/>
              <a:sym typeface="Calibri"/>
            </a:endParaRPr>
          </a:p>
          <a:p>
            <a:pPr indent="-228600" lvl="4" marL="1371600" rtl="0" algn="just">
              <a:lnSpc>
                <a:spcPct val="80000"/>
              </a:lnSpc>
              <a:spcBef>
                <a:spcPts val="375"/>
              </a:spcBef>
              <a:spcAft>
                <a:spcPts val="0"/>
              </a:spcAft>
              <a:buClr>
                <a:srgbClr val="A5AB81"/>
              </a:buClr>
              <a:buSzPts val="2000"/>
              <a:buNone/>
            </a:pPr>
            <a:r>
              <a:t/>
            </a:r>
            <a:endParaRPr sz="2000">
              <a:solidFill>
                <a:srgbClr val="000000"/>
              </a:solidFill>
              <a:latin typeface="Calibri"/>
              <a:ea typeface="Calibri"/>
              <a:cs typeface="Calibri"/>
              <a:sym typeface="Calibri"/>
            </a:endParaRPr>
          </a:p>
          <a:p>
            <a:pPr indent="-139446" lvl="0" marL="365760" rtl="0" algn="l">
              <a:spcBef>
                <a:spcPts val="400"/>
              </a:spcBef>
              <a:spcAft>
                <a:spcPts val="0"/>
              </a:spcAft>
              <a:buSzPts val="1836"/>
              <a:buNone/>
            </a:pPr>
            <a:r>
              <a:t/>
            </a:r>
            <a:endParaRPr sz="2000">
              <a:latin typeface="Calibri"/>
              <a:ea typeface="Calibri"/>
              <a:cs typeface="Calibri"/>
              <a:sym typeface="Calibri"/>
            </a:endParaRPr>
          </a:p>
        </p:txBody>
      </p:sp>
      <p:sp>
        <p:nvSpPr>
          <p:cNvPr id="86" name="Google Shape;86;p2"/>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87" name="Google Shape;87;p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8047"/>
              </a:buClr>
              <a:buSzPts val="4400"/>
              <a:buFont typeface="Verdana"/>
              <a:buNone/>
            </a:pPr>
            <a:r>
              <a:rPr lang="en-US" sz="2600">
                <a:solidFill>
                  <a:schemeClr val="dk1"/>
                </a:solidFill>
                <a:latin typeface="Verdana"/>
                <a:ea typeface="Verdana"/>
                <a:cs typeface="Verdana"/>
                <a:sym typeface="Verdana"/>
              </a:rPr>
              <a:t>What is COLOR?</a:t>
            </a:r>
            <a:endParaRPr b="1" sz="800">
              <a:solidFill>
                <a:schemeClr val="dk1"/>
              </a:solidFill>
              <a:latin typeface="Georgia"/>
              <a:ea typeface="Georgia"/>
              <a:cs typeface="Georgia"/>
              <a:sym typeface="Georgia"/>
            </a:endParaRPr>
          </a:p>
        </p:txBody>
      </p:sp>
      <p:pic>
        <p:nvPicPr>
          <p:cNvPr id="88" name="Google Shape;88;p2"/>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71463" lvl="0" marL="273050" rtl="0" algn="l">
              <a:lnSpc>
                <a:spcPct val="80000"/>
              </a:lnSpc>
              <a:spcBef>
                <a:spcPts val="0"/>
              </a:spcBef>
              <a:spcAft>
                <a:spcPts val="0"/>
              </a:spcAft>
              <a:buClr>
                <a:schemeClr val="dk1"/>
              </a:buClr>
              <a:buSzPts val="1700"/>
              <a:buNone/>
            </a:pPr>
            <a:r>
              <a:t/>
            </a:r>
            <a:endParaRPr sz="2400">
              <a:solidFill>
                <a:srgbClr val="000000"/>
              </a:solidFill>
              <a:latin typeface="Calibri"/>
              <a:ea typeface="Calibri"/>
              <a:cs typeface="Calibri"/>
              <a:sym typeface="Calibri"/>
            </a:endParaRPr>
          </a:p>
          <a:p>
            <a:pPr indent="-212725" lvl="0" marL="271463" rtl="0" algn="l">
              <a:spcBef>
                <a:spcPts val="1250"/>
              </a:spcBef>
              <a:spcAft>
                <a:spcPts val="0"/>
              </a:spcAft>
              <a:buClr>
                <a:srgbClr val="94B6D2"/>
              </a:buClr>
              <a:buSzPts val="800"/>
              <a:buFont typeface="Calibri"/>
              <a:buChar char="⚫"/>
            </a:pPr>
            <a:r>
              <a:rPr lang="en-US" sz="2400">
                <a:solidFill>
                  <a:srgbClr val="000000"/>
                </a:solidFill>
                <a:latin typeface="Calibri"/>
                <a:ea typeface="Calibri"/>
                <a:cs typeface="Calibri"/>
                <a:sym typeface="Calibri"/>
              </a:rPr>
              <a:t>Due to the different absorption curves of the cones, colors are seen as variable combinations of the so-called primary colors: </a:t>
            </a:r>
            <a:r>
              <a:rPr i="1" lang="en-US" sz="2400">
                <a:solidFill>
                  <a:srgbClr val="FF0000"/>
                </a:solidFill>
                <a:latin typeface="Calibri"/>
                <a:ea typeface="Calibri"/>
                <a:cs typeface="Calibri"/>
                <a:sym typeface="Calibri"/>
              </a:rPr>
              <a:t>red</a:t>
            </a:r>
            <a:r>
              <a:rPr lang="en-US" sz="2400">
                <a:solidFill>
                  <a:srgbClr val="000000"/>
                </a:solidFill>
                <a:latin typeface="Calibri"/>
                <a:ea typeface="Calibri"/>
                <a:cs typeface="Calibri"/>
                <a:sym typeface="Calibri"/>
              </a:rPr>
              <a:t>, </a:t>
            </a:r>
            <a:r>
              <a:rPr i="1" lang="en-US" sz="2400">
                <a:solidFill>
                  <a:srgbClr val="01FF00"/>
                </a:solidFill>
                <a:latin typeface="Calibri"/>
                <a:ea typeface="Calibri"/>
                <a:cs typeface="Calibri"/>
                <a:sym typeface="Calibri"/>
              </a:rPr>
              <a:t>green</a:t>
            </a:r>
            <a:r>
              <a:rPr lang="en-US" sz="2400">
                <a:solidFill>
                  <a:srgbClr val="000000"/>
                </a:solidFill>
                <a:latin typeface="Calibri"/>
                <a:ea typeface="Calibri"/>
                <a:cs typeface="Calibri"/>
                <a:sym typeface="Calibri"/>
              </a:rPr>
              <a:t>, and </a:t>
            </a:r>
            <a:r>
              <a:rPr i="1" lang="en-US" sz="2400">
                <a:solidFill>
                  <a:srgbClr val="0000FF"/>
                </a:solidFill>
                <a:latin typeface="Calibri"/>
                <a:ea typeface="Calibri"/>
                <a:cs typeface="Calibri"/>
                <a:sym typeface="Calibri"/>
              </a:rPr>
              <a:t>blue</a:t>
            </a:r>
            <a:endParaRPr sz="2200">
              <a:latin typeface="Calibri"/>
              <a:ea typeface="Calibri"/>
              <a:cs typeface="Calibri"/>
              <a:sym typeface="Calibri"/>
            </a:endParaRPr>
          </a:p>
          <a:p>
            <a:pPr indent="-212725" lvl="0" marL="271463" rtl="0" algn="l">
              <a:spcBef>
                <a:spcPts val="1250"/>
              </a:spcBef>
              <a:spcAft>
                <a:spcPts val="0"/>
              </a:spcAft>
              <a:buClr>
                <a:srgbClr val="94B6D2"/>
              </a:buClr>
              <a:buSzPts val="800"/>
              <a:buFont typeface="Calibri"/>
              <a:buChar char="⚫"/>
            </a:pPr>
            <a:r>
              <a:rPr lang="en-US" sz="2400">
                <a:solidFill>
                  <a:srgbClr val="000000"/>
                </a:solidFill>
                <a:latin typeface="Calibri"/>
                <a:ea typeface="Calibri"/>
                <a:cs typeface="Calibri"/>
                <a:sym typeface="Calibri"/>
              </a:rPr>
              <a:t>Their wavelengths were standardized by the CIE in 1931: </a:t>
            </a:r>
            <a:r>
              <a:rPr i="1" lang="en-US" sz="2400">
                <a:solidFill>
                  <a:srgbClr val="FF0000"/>
                </a:solidFill>
                <a:latin typeface="Calibri"/>
                <a:ea typeface="Calibri"/>
                <a:cs typeface="Calibri"/>
                <a:sym typeface="Calibri"/>
              </a:rPr>
              <a:t>red</a:t>
            </a:r>
            <a:r>
              <a:rPr lang="en-US" sz="2400">
                <a:solidFill>
                  <a:srgbClr val="FF0000"/>
                </a:solidFill>
                <a:latin typeface="Calibri"/>
                <a:ea typeface="Calibri"/>
                <a:cs typeface="Calibri"/>
                <a:sym typeface="Calibri"/>
              </a:rPr>
              <a:t>=700 nm</a:t>
            </a:r>
            <a:r>
              <a:rPr lang="en-US" sz="2400">
                <a:solidFill>
                  <a:srgbClr val="000000"/>
                </a:solidFill>
                <a:latin typeface="Calibri"/>
                <a:ea typeface="Calibri"/>
                <a:cs typeface="Calibri"/>
                <a:sym typeface="Calibri"/>
              </a:rPr>
              <a:t>, </a:t>
            </a:r>
            <a:r>
              <a:rPr i="1" lang="en-US" sz="2400">
                <a:solidFill>
                  <a:srgbClr val="01FF00"/>
                </a:solidFill>
                <a:latin typeface="Calibri"/>
                <a:ea typeface="Calibri"/>
                <a:cs typeface="Calibri"/>
                <a:sym typeface="Calibri"/>
              </a:rPr>
              <a:t>green</a:t>
            </a:r>
            <a:r>
              <a:rPr lang="en-US" sz="2400">
                <a:solidFill>
                  <a:srgbClr val="01FF00"/>
                </a:solidFill>
                <a:latin typeface="Calibri"/>
                <a:ea typeface="Calibri"/>
                <a:cs typeface="Calibri"/>
                <a:sym typeface="Calibri"/>
              </a:rPr>
              <a:t>=546.1 nm</a:t>
            </a:r>
            <a:r>
              <a:rPr lang="en-US" sz="2400">
                <a:solidFill>
                  <a:srgbClr val="000000"/>
                </a:solidFill>
                <a:latin typeface="Calibri"/>
                <a:ea typeface="Calibri"/>
                <a:cs typeface="Calibri"/>
                <a:sym typeface="Calibri"/>
              </a:rPr>
              <a:t>, and </a:t>
            </a:r>
            <a:r>
              <a:rPr i="1" lang="en-US" sz="2400">
                <a:solidFill>
                  <a:srgbClr val="0000FF"/>
                </a:solidFill>
                <a:latin typeface="Calibri"/>
                <a:ea typeface="Calibri"/>
                <a:cs typeface="Calibri"/>
                <a:sym typeface="Calibri"/>
              </a:rPr>
              <a:t>blue</a:t>
            </a:r>
            <a:r>
              <a:rPr lang="en-US" sz="2400">
                <a:solidFill>
                  <a:srgbClr val="0000FF"/>
                </a:solidFill>
                <a:latin typeface="Calibri"/>
                <a:ea typeface="Calibri"/>
                <a:cs typeface="Calibri"/>
                <a:sym typeface="Calibri"/>
              </a:rPr>
              <a:t>=435.8 nm</a:t>
            </a:r>
            <a:endParaRPr sz="2200">
              <a:latin typeface="Calibri"/>
              <a:ea typeface="Calibri"/>
              <a:cs typeface="Calibri"/>
              <a:sym typeface="Calibri"/>
            </a:endParaRPr>
          </a:p>
          <a:p>
            <a:pPr indent="-212725" lvl="0" marL="271463" rtl="0" algn="l">
              <a:spcBef>
                <a:spcPts val="1250"/>
              </a:spcBef>
              <a:spcAft>
                <a:spcPts val="0"/>
              </a:spcAft>
              <a:buClr>
                <a:srgbClr val="94B6D2"/>
              </a:buClr>
              <a:buSzPts val="800"/>
              <a:buFont typeface="Calibri"/>
              <a:buChar char="⚫"/>
            </a:pPr>
            <a:r>
              <a:rPr lang="en-US" sz="2400">
                <a:solidFill>
                  <a:srgbClr val="000000"/>
                </a:solidFill>
                <a:latin typeface="Calibri"/>
                <a:ea typeface="Calibri"/>
                <a:cs typeface="Calibri"/>
                <a:sym typeface="Calibri"/>
              </a:rPr>
              <a:t>The primary colors can be added to produce the</a:t>
            </a:r>
            <a:r>
              <a:rPr lang="en-US" sz="2400">
                <a:solidFill>
                  <a:srgbClr val="C0C0C0"/>
                </a:solidFill>
                <a:latin typeface="Calibri"/>
                <a:ea typeface="Calibri"/>
                <a:cs typeface="Calibri"/>
                <a:sym typeface="Calibri"/>
              </a:rPr>
              <a:t> </a:t>
            </a:r>
            <a:r>
              <a:rPr lang="en-US" sz="2400">
                <a:solidFill>
                  <a:srgbClr val="000000"/>
                </a:solidFill>
                <a:latin typeface="Calibri"/>
                <a:ea typeface="Calibri"/>
                <a:cs typeface="Calibri"/>
                <a:sym typeface="Calibri"/>
              </a:rPr>
              <a:t>secondary colors of light,</a:t>
            </a:r>
            <a:r>
              <a:rPr i="1" lang="en-US" sz="2400">
                <a:solidFill>
                  <a:srgbClr val="C0C0C0"/>
                </a:solidFill>
                <a:latin typeface="Calibri"/>
                <a:ea typeface="Calibri"/>
                <a:cs typeface="Calibri"/>
                <a:sym typeface="Calibri"/>
              </a:rPr>
              <a:t>  </a:t>
            </a:r>
            <a:r>
              <a:rPr i="1" lang="en-US" sz="2400">
                <a:solidFill>
                  <a:srgbClr val="FF379A"/>
                </a:solidFill>
                <a:latin typeface="Calibri"/>
                <a:ea typeface="Calibri"/>
                <a:cs typeface="Calibri"/>
                <a:sym typeface="Calibri"/>
              </a:rPr>
              <a:t>magenta </a:t>
            </a:r>
            <a:r>
              <a:rPr lang="en-US" sz="2400">
                <a:solidFill>
                  <a:srgbClr val="000000"/>
                </a:solidFill>
                <a:latin typeface="Calibri"/>
                <a:ea typeface="Calibri"/>
                <a:cs typeface="Calibri"/>
                <a:sym typeface="Calibri"/>
              </a:rPr>
              <a:t>(R+B),  </a:t>
            </a:r>
            <a:r>
              <a:rPr i="1" lang="en-US" sz="2400">
                <a:solidFill>
                  <a:srgbClr val="01FFFF"/>
                </a:solidFill>
                <a:latin typeface="Calibri"/>
                <a:ea typeface="Calibri"/>
                <a:cs typeface="Calibri"/>
                <a:sym typeface="Calibri"/>
              </a:rPr>
              <a:t>cyan</a:t>
            </a:r>
            <a:r>
              <a:rPr lang="en-US" sz="2400">
                <a:solidFill>
                  <a:srgbClr val="C0C0C0"/>
                </a:solidFill>
                <a:latin typeface="Calibri"/>
                <a:ea typeface="Calibri"/>
                <a:cs typeface="Calibri"/>
                <a:sym typeface="Calibri"/>
              </a:rPr>
              <a:t>  </a:t>
            </a:r>
            <a:r>
              <a:rPr lang="en-US" sz="2400">
                <a:solidFill>
                  <a:srgbClr val="000000"/>
                </a:solidFill>
                <a:latin typeface="Calibri"/>
                <a:ea typeface="Calibri"/>
                <a:cs typeface="Calibri"/>
                <a:sym typeface="Calibri"/>
              </a:rPr>
              <a:t>(G+B), and</a:t>
            </a:r>
            <a:r>
              <a:rPr i="1" lang="en-US" sz="2400">
                <a:solidFill>
                  <a:srgbClr val="C0C0C0"/>
                </a:solidFill>
                <a:latin typeface="Calibri"/>
                <a:ea typeface="Calibri"/>
                <a:cs typeface="Calibri"/>
                <a:sym typeface="Calibri"/>
              </a:rPr>
              <a:t> </a:t>
            </a:r>
            <a:r>
              <a:rPr i="1" lang="en-US" sz="2400">
                <a:solidFill>
                  <a:srgbClr val="FFFF00"/>
                </a:solidFill>
                <a:latin typeface="Calibri"/>
                <a:ea typeface="Calibri"/>
                <a:cs typeface="Calibri"/>
                <a:sym typeface="Calibri"/>
              </a:rPr>
              <a:t>yellow </a:t>
            </a:r>
            <a:r>
              <a:rPr lang="en-US" sz="2400">
                <a:solidFill>
                  <a:srgbClr val="000000"/>
                </a:solidFill>
                <a:latin typeface="Calibri"/>
                <a:ea typeface="Calibri"/>
                <a:cs typeface="Calibri"/>
                <a:sym typeface="Calibri"/>
              </a:rPr>
              <a:t>(R+G)</a:t>
            </a:r>
            <a:endParaRPr sz="2200">
              <a:latin typeface="Calibri"/>
              <a:ea typeface="Calibri"/>
              <a:cs typeface="Calibri"/>
              <a:sym typeface="Calibri"/>
            </a:endParaRPr>
          </a:p>
          <a:p>
            <a:pPr indent="-227013" lvl="4" marL="1371600" rtl="0" algn="just">
              <a:lnSpc>
                <a:spcPct val="80000"/>
              </a:lnSpc>
              <a:spcBef>
                <a:spcPts val="375"/>
              </a:spcBef>
              <a:spcAft>
                <a:spcPts val="0"/>
              </a:spcAft>
              <a:buClr>
                <a:schemeClr val="dk1"/>
              </a:buClr>
              <a:buSzPts val="1600"/>
              <a:buNone/>
            </a:pPr>
            <a:r>
              <a:t/>
            </a:r>
            <a:endParaRPr sz="2000">
              <a:solidFill>
                <a:srgbClr val="000000"/>
              </a:solidFill>
              <a:latin typeface="Calibri"/>
              <a:ea typeface="Calibri"/>
              <a:cs typeface="Calibri"/>
              <a:sym typeface="Calibri"/>
            </a:endParaRPr>
          </a:p>
          <a:p>
            <a:pPr indent="-139446" lvl="0" marL="365760" rtl="0" algn="l">
              <a:spcBef>
                <a:spcPts val="400"/>
              </a:spcBef>
              <a:spcAft>
                <a:spcPts val="0"/>
              </a:spcAft>
              <a:buSzPts val="1836"/>
              <a:buNone/>
            </a:pPr>
            <a:r>
              <a:t/>
            </a:r>
            <a:endParaRPr sz="2200">
              <a:latin typeface="Calibri"/>
              <a:ea typeface="Calibri"/>
              <a:cs typeface="Calibri"/>
              <a:sym typeface="Calibri"/>
            </a:endParaRPr>
          </a:p>
        </p:txBody>
      </p:sp>
      <p:sp>
        <p:nvSpPr>
          <p:cNvPr id="94" name="Google Shape;94;p3"/>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95" name="Google Shape;95;p3"/>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8047"/>
              </a:buClr>
              <a:buSzPts val="3740"/>
              <a:buFont typeface="Verdana"/>
              <a:buNone/>
            </a:pPr>
            <a:r>
              <a:rPr lang="en-US" sz="2640">
                <a:solidFill>
                  <a:schemeClr val="dk1"/>
                </a:solidFill>
                <a:latin typeface="Verdana"/>
                <a:ea typeface="Verdana"/>
                <a:cs typeface="Verdana"/>
                <a:sym typeface="Verdana"/>
              </a:rPr>
              <a:t>Primary and Secondary Color</a:t>
            </a:r>
            <a:endParaRPr sz="1110">
              <a:solidFill>
                <a:schemeClr val="dk1"/>
              </a:solidFill>
              <a:latin typeface="Verdana"/>
              <a:ea typeface="Verdana"/>
              <a:cs typeface="Verdana"/>
              <a:sym typeface="Verdana"/>
            </a:endParaRPr>
          </a:p>
        </p:txBody>
      </p:sp>
      <p:pic>
        <p:nvPicPr>
          <p:cNvPr id="96" name="Google Shape;96;p3"/>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68732" lvl="0" marL="365760" rtl="0" algn="l">
              <a:spcBef>
                <a:spcPts val="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A color model is an abstract mathematical model describing the way colors can be represented as tupples of numbers, typically as three or four values or color components.</a:t>
            </a:r>
            <a:endParaRPr sz="2000">
              <a:solidFill>
                <a:schemeClr val="dk1"/>
              </a:solidFill>
              <a:latin typeface="Calibri"/>
              <a:ea typeface="Calibri"/>
              <a:cs typeface="Calibri"/>
              <a:sym typeface="Calibri"/>
            </a:endParaRPr>
          </a:p>
          <a:p>
            <a:pPr indent="-139446" lvl="0" marL="365760" rtl="0" algn="l">
              <a:spcBef>
                <a:spcPts val="400"/>
              </a:spcBef>
              <a:spcAft>
                <a:spcPts val="0"/>
              </a:spcAft>
              <a:buSzPts val="1836"/>
              <a:buNone/>
            </a:pPr>
            <a:r>
              <a:t/>
            </a:r>
            <a:endParaRPr sz="2000">
              <a:solidFill>
                <a:schemeClr val="dk1"/>
              </a:solidFill>
              <a:latin typeface="Calibri"/>
              <a:ea typeface="Calibri"/>
              <a:cs typeface="Calibri"/>
              <a:sym typeface="Calibri"/>
            </a:endParaRPr>
          </a:p>
          <a:p>
            <a:pPr indent="-268732" lvl="0" marL="365760" rtl="0" algn="l">
              <a:spcBef>
                <a:spcPts val="40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Any method for explaining or behavior of color within some particular context is called a color model.</a:t>
            </a:r>
            <a:endParaRPr sz="2000">
              <a:solidFill>
                <a:schemeClr val="dk1"/>
              </a:solidFill>
              <a:latin typeface="Calibri"/>
              <a:ea typeface="Calibri"/>
              <a:cs typeface="Calibri"/>
              <a:sym typeface="Calibri"/>
            </a:endParaRPr>
          </a:p>
        </p:txBody>
      </p:sp>
      <p:sp>
        <p:nvSpPr>
          <p:cNvPr id="102" name="Google Shape;102;p4"/>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03" name="Google Shape;103;p4"/>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8047"/>
              </a:buClr>
              <a:buSzPts val="4400"/>
              <a:buFont typeface="Verdana"/>
              <a:buNone/>
            </a:pPr>
            <a:r>
              <a:rPr lang="en-US" sz="2600">
                <a:solidFill>
                  <a:schemeClr val="dk1"/>
                </a:solidFill>
                <a:latin typeface="Verdana"/>
                <a:ea typeface="Verdana"/>
                <a:cs typeface="Verdana"/>
                <a:sym typeface="Verdana"/>
              </a:rPr>
              <a:t>COLOR model</a:t>
            </a:r>
            <a:endParaRPr b="1" sz="800">
              <a:solidFill>
                <a:schemeClr val="dk1"/>
              </a:solidFill>
              <a:latin typeface="Georgia"/>
              <a:ea typeface="Georgia"/>
              <a:cs typeface="Georgia"/>
              <a:sym typeface="Georgia"/>
            </a:endParaRPr>
          </a:p>
        </p:txBody>
      </p:sp>
      <p:pic>
        <p:nvPicPr>
          <p:cNvPr id="104" name="Google Shape;104;p4"/>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idx="3" type="body"/>
          </p:nvPr>
        </p:nvSpPr>
        <p:spPr>
          <a:xfrm>
            <a:off x="457200" y="1444294"/>
            <a:ext cx="4040188" cy="3941763"/>
          </a:xfrm>
          <a:prstGeom prst="rect">
            <a:avLst/>
          </a:prstGeom>
          <a:noFill/>
          <a:ln>
            <a:noFill/>
          </a:ln>
        </p:spPr>
        <p:txBody>
          <a:bodyPr anchorCtr="0" anchor="t" bIns="45700" lIns="91425" spcFirstLastPara="1" rIns="91425" wrap="square" tIns="45700">
            <a:normAutofit fontScale="85000" lnSpcReduction="20000"/>
          </a:bodyPr>
          <a:lstStyle/>
          <a:p>
            <a:pPr indent="-256032" lvl="0" marL="365760" rtl="0" algn="l">
              <a:spcBef>
                <a:spcPts val="0"/>
              </a:spcBef>
              <a:spcAft>
                <a:spcPts val="0"/>
              </a:spcAft>
              <a:buSzPct val="68000"/>
              <a:buNone/>
            </a:pPr>
            <a:r>
              <a:rPr lang="en-US">
                <a:solidFill>
                  <a:schemeClr val="dk1"/>
                </a:solidFill>
                <a:latin typeface="Calibri"/>
                <a:ea typeface="Calibri"/>
                <a:cs typeface="Calibri"/>
                <a:sym typeface="Calibri"/>
              </a:rPr>
              <a:t>Shades, tints &amp; tones </a:t>
            </a:r>
            <a:endParaRPr>
              <a:solidFill>
                <a:schemeClr val="dk1"/>
              </a:solidFill>
              <a:latin typeface="Calibri"/>
              <a:ea typeface="Calibri"/>
              <a:cs typeface="Calibri"/>
              <a:sym typeface="Calibri"/>
            </a:endParaRPr>
          </a:p>
          <a:p>
            <a:pPr indent="-256032" lvl="0" marL="365760" rtl="0" algn="l">
              <a:spcBef>
                <a:spcPts val="400"/>
              </a:spcBef>
              <a:spcAft>
                <a:spcPts val="0"/>
              </a:spcAft>
              <a:buSzPct val="68000"/>
              <a:buNone/>
            </a:pPr>
            <a:r>
              <a:rPr lang="en-US">
                <a:solidFill>
                  <a:schemeClr val="dk1"/>
                </a:solidFill>
                <a:latin typeface="Calibri"/>
                <a:ea typeface="Calibri"/>
                <a:cs typeface="Calibri"/>
                <a:sym typeface="Calibri"/>
              </a:rPr>
              <a:t> *A shade is produced by “dimming” a hue.[adding black].</a:t>
            </a:r>
            <a:endParaRPr>
              <a:solidFill>
                <a:schemeClr val="dk1"/>
              </a:solidFill>
              <a:latin typeface="Calibri"/>
              <a:ea typeface="Calibri"/>
              <a:cs typeface="Calibri"/>
              <a:sym typeface="Calibri"/>
            </a:endParaRPr>
          </a:p>
          <a:p>
            <a:pPr indent="-256032" lvl="0" marL="365760" rtl="0" algn="l">
              <a:spcBef>
                <a:spcPts val="400"/>
              </a:spcBef>
              <a:spcAft>
                <a:spcPts val="0"/>
              </a:spcAft>
              <a:buSzPct val="68000"/>
              <a:buNone/>
            </a:pPr>
            <a:r>
              <a:rPr lang="en-US">
                <a:solidFill>
                  <a:schemeClr val="dk1"/>
                </a:solidFill>
                <a:latin typeface="Calibri"/>
                <a:ea typeface="Calibri"/>
                <a:cs typeface="Calibri"/>
                <a:sym typeface="Calibri"/>
              </a:rPr>
              <a:t>     - Dark blue = pure blue + black.</a:t>
            </a:r>
            <a:endParaRPr>
              <a:solidFill>
                <a:schemeClr val="dk1"/>
              </a:solidFill>
              <a:latin typeface="Calibri"/>
              <a:ea typeface="Calibri"/>
              <a:cs typeface="Calibri"/>
              <a:sym typeface="Calibri"/>
            </a:endParaRPr>
          </a:p>
          <a:p>
            <a:pPr indent="-256032" lvl="0" marL="365760" rtl="0" algn="l">
              <a:spcBef>
                <a:spcPts val="400"/>
              </a:spcBef>
              <a:spcAft>
                <a:spcPts val="0"/>
              </a:spcAft>
              <a:buSzPct val="68000"/>
              <a:buNone/>
            </a:pPr>
            <a:r>
              <a:rPr lang="en-US">
                <a:solidFill>
                  <a:schemeClr val="dk1"/>
                </a:solidFill>
                <a:latin typeface="Calibri"/>
                <a:ea typeface="Calibri"/>
                <a:cs typeface="Calibri"/>
                <a:sym typeface="Calibri"/>
              </a:rPr>
              <a:t> *A tint is produced by “lightening” a hue. [adding white].</a:t>
            </a:r>
            <a:endParaRPr>
              <a:solidFill>
                <a:schemeClr val="dk1"/>
              </a:solidFill>
              <a:latin typeface="Calibri"/>
              <a:ea typeface="Calibri"/>
              <a:cs typeface="Calibri"/>
              <a:sym typeface="Calibri"/>
            </a:endParaRPr>
          </a:p>
          <a:p>
            <a:pPr indent="-256032" lvl="0" marL="365760" rtl="0" algn="l">
              <a:spcBef>
                <a:spcPts val="400"/>
              </a:spcBef>
              <a:spcAft>
                <a:spcPts val="0"/>
              </a:spcAft>
              <a:buSzPct val="68000"/>
              <a:buNone/>
            </a:pPr>
            <a:r>
              <a:rPr lang="en-US">
                <a:solidFill>
                  <a:schemeClr val="dk1"/>
                </a:solidFill>
                <a:latin typeface="Calibri"/>
                <a:ea typeface="Calibri"/>
                <a:cs typeface="Calibri"/>
                <a:sym typeface="Calibri"/>
              </a:rPr>
              <a:t>     -Pastel red = pure red + white.</a:t>
            </a:r>
            <a:endParaRPr>
              <a:solidFill>
                <a:schemeClr val="dk1"/>
              </a:solidFill>
              <a:latin typeface="Calibri"/>
              <a:ea typeface="Calibri"/>
              <a:cs typeface="Calibri"/>
              <a:sym typeface="Calibri"/>
            </a:endParaRPr>
          </a:p>
          <a:p>
            <a:pPr indent="-256032" lvl="0" marL="365760" rtl="0" algn="l">
              <a:spcBef>
                <a:spcPts val="400"/>
              </a:spcBef>
              <a:spcAft>
                <a:spcPts val="0"/>
              </a:spcAft>
              <a:buSzPct val="68000"/>
              <a:buNone/>
            </a:pPr>
            <a:r>
              <a:rPr lang="en-US">
                <a:solidFill>
                  <a:schemeClr val="dk1"/>
                </a:solidFill>
                <a:latin typeface="Calibri"/>
                <a:ea typeface="Calibri"/>
                <a:cs typeface="Calibri"/>
                <a:sym typeface="Calibri"/>
              </a:rPr>
              <a:t> *Tone refers to the effects or reducing the “colorfulness” of a hue. [adding gray] or [adding black &amp; white].</a:t>
            </a:r>
            <a:r>
              <a:rPr b="1" lang="en-US" u="sng">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175717" lvl="0" marL="365760" rtl="0" algn="l">
              <a:spcBef>
                <a:spcPts val="400"/>
              </a:spcBef>
              <a:spcAft>
                <a:spcPts val="0"/>
              </a:spcAft>
              <a:buSzPct val="68000"/>
              <a:buNone/>
            </a:pPr>
            <a:r>
              <a:t/>
            </a:r>
            <a:endParaRPr>
              <a:solidFill>
                <a:schemeClr val="dk1"/>
              </a:solidFill>
              <a:latin typeface="Calibri"/>
              <a:ea typeface="Calibri"/>
              <a:cs typeface="Calibri"/>
              <a:sym typeface="Calibri"/>
            </a:endParaRPr>
          </a:p>
        </p:txBody>
      </p:sp>
      <p:pic>
        <p:nvPicPr>
          <p:cNvPr descr="E:\study\11th semister\graphics design\presentation\class lecture color\2.PNG" id="110" name="Google Shape;110;p5"/>
          <p:cNvPicPr preferRelativeResize="0"/>
          <p:nvPr>
            <p:ph idx="4" type="body"/>
          </p:nvPr>
        </p:nvPicPr>
        <p:blipFill rotWithShape="1">
          <a:blip r:embed="rId3">
            <a:alphaModFix/>
          </a:blip>
          <a:srcRect b="0" l="0" r="0" t="0"/>
          <a:stretch/>
        </p:blipFill>
        <p:spPr>
          <a:xfrm>
            <a:off x="4572000" y="2209800"/>
            <a:ext cx="4572000" cy="2286000"/>
          </a:xfrm>
          <a:prstGeom prst="rect">
            <a:avLst/>
          </a:prstGeom>
          <a:noFill/>
          <a:ln>
            <a:noFill/>
          </a:ln>
        </p:spPr>
      </p:pic>
      <p:sp>
        <p:nvSpPr>
          <p:cNvPr id="111" name="Google Shape;111;p5"/>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112" name="Google Shape;112;p5"/>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8047"/>
              </a:buClr>
              <a:buSzPts val="4400"/>
              <a:buFont typeface="Verdana"/>
              <a:buNone/>
            </a:pPr>
            <a:r>
              <a:rPr lang="en-US" sz="2600">
                <a:solidFill>
                  <a:schemeClr val="dk1"/>
                </a:solidFill>
                <a:latin typeface="Verdana"/>
                <a:ea typeface="Verdana"/>
                <a:cs typeface="Verdana"/>
                <a:sym typeface="Verdana"/>
              </a:rPr>
              <a:t>COLOR </a:t>
            </a:r>
            <a:r>
              <a:rPr lang="en-US" sz="2600">
                <a:solidFill>
                  <a:schemeClr val="dk1"/>
                </a:solidFill>
                <a:latin typeface="Verdana"/>
                <a:ea typeface="Verdana"/>
                <a:cs typeface="Verdana"/>
                <a:sym typeface="Verdana"/>
              </a:rPr>
              <a:t>model</a:t>
            </a:r>
            <a:endParaRPr b="1" sz="800">
              <a:solidFill>
                <a:schemeClr val="dk1"/>
              </a:solidFill>
              <a:latin typeface="Georgia"/>
              <a:ea typeface="Georgia"/>
              <a:cs typeface="Georgia"/>
              <a:sym typeface="Georgia"/>
            </a:endParaRPr>
          </a:p>
        </p:txBody>
      </p:sp>
      <p:pic>
        <p:nvPicPr>
          <p:cNvPr id="113" name="Google Shape;113;p5"/>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idx="1" type="body"/>
          </p:nvPr>
        </p:nvSpPr>
        <p:spPr>
          <a:xfrm>
            <a:off x="457200" y="1481325"/>
            <a:ext cx="8286000" cy="4526100"/>
          </a:xfrm>
          <a:prstGeom prst="rect">
            <a:avLst/>
          </a:prstGeom>
          <a:noFill/>
          <a:ln>
            <a:noFill/>
          </a:ln>
        </p:spPr>
        <p:txBody>
          <a:bodyPr anchorCtr="0" anchor="t" bIns="45700" lIns="91425" spcFirstLastPara="1" rIns="91425" wrap="square" tIns="45700">
            <a:normAutofit/>
          </a:bodyPr>
          <a:lstStyle/>
          <a:p>
            <a:pPr indent="-256032" lvl="0" marL="365760" rtl="0" algn="just">
              <a:lnSpc>
                <a:spcPct val="80000"/>
              </a:lnSpc>
              <a:spcBef>
                <a:spcPts val="0"/>
              </a:spcBef>
              <a:spcAft>
                <a:spcPts val="0"/>
              </a:spcAft>
              <a:buClr>
                <a:schemeClr val="dk1"/>
              </a:buClr>
              <a:buSzPts val="2295"/>
              <a:buNone/>
            </a:pPr>
            <a:r>
              <a:t/>
            </a:r>
            <a:endParaRPr sz="2500">
              <a:solidFill>
                <a:srgbClr val="000000"/>
              </a:solidFill>
              <a:latin typeface="Calibri"/>
              <a:ea typeface="Calibri"/>
              <a:cs typeface="Calibri"/>
              <a:sym typeface="Calibri"/>
            </a:endParaRPr>
          </a:p>
          <a:p>
            <a:pPr indent="0" lvl="0" marL="365760" rtl="0" algn="just">
              <a:lnSpc>
                <a:spcPct val="80000"/>
              </a:lnSpc>
              <a:spcBef>
                <a:spcPts val="575"/>
              </a:spcBef>
              <a:spcAft>
                <a:spcPts val="0"/>
              </a:spcAft>
              <a:buNone/>
            </a:pPr>
            <a:r>
              <a:rPr b="1" lang="en-US" sz="2700">
                <a:solidFill>
                  <a:srgbClr val="000000"/>
                </a:solidFill>
                <a:latin typeface="Calibri"/>
                <a:ea typeface="Calibri"/>
                <a:cs typeface="Calibri"/>
                <a:sym typeface="Calibri"/>
              </a:rPr>
              <a:t>Color Models</a:t>
            </a:r>
            <a:endParaRPr sz="2500">
              <a:latin typeface="Calibri"/>
              <a:ea typeface="Calibri"/>
              <a:cs typeface="Calibri"/>
              <a:sym typeface="Calibri"/>
            </a:endParaRPr>
          </a:p>
          <a:p>
            <a:pPr indent="-256032" lvl="0" marL="365760" rtl="0" algn="just">
              <a:lnSpc>
                <a:spcPct val="80000"/>
              </a:lnSpc>
              <a:spcBef>
                <a:spcPts val="575"/>
              </a:spcBef>
              <a:spcAft>
                <a:spcPts val="0"/>
              </a:spcAft>
              <a:buClr>
                <a:srgbClr val="94B6D2"/>
              </a:buClr>
              <a:buSzPts val="1700"/>
              <a:buNone/>
            </a:pPr>
            <a:r>
              <a:t/>
            </a:r>
            <a:endParaRPr b="1" sz="2700">
              <a:solidFill>
                <a:srgbClr val="000000"/>
              </a:solidFill>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FF0000"/>
                </a:solidFill>
                <a:latin typeface="Calibri"/>
                <a:ea typeface="Calibri"/>
                <a:cs typeface="Calibri"/>
                <a:sym typeface="Calibri"/>
              </a:rPr>
              <a:t>RGB (Red, Green, Blue)</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FF0000"/>
                </a:solidFill>
                <a:latin typeface="Calibri"/>
                <a:ea typeface="Calibri"/>
                <a:cs typeface="Calibri"/>
                <a:sym typeface="Calibri"/>
              </a:rPr>
              <a:t>CMY (Cyan, Magenta, Yellow)</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000000"/>
                </a:solidFill>
                <a:latin typeface="Calibri"/>
                <a:ea typeface="Calibri"/>
                <a:cs typeface="Calibri"/>
                <a:sym typeface="Calibri"/>
              </a:rPr>
              <a:t>HSI (Hue, Saturation, Intensity)</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000000"/>
                </a:solidFill>
                <a:latin typeface="Calibri"/>
                <a:ea typeface="Calibri"/>
                <a:cs typeface="Calibri"/>
                <a:sym typeface="Calibri"/>
              </a:rPr>
              <a:t>YIQ (Luminance, In phase, Quadrature)</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000000"/>
                </a:solidFill>
                <a:latin typeface="Calibri"/>
                <a:ea typeface="Calibri"/>
                <a:cs typeface="Calibri"/>
                <a:sym typeface="Calibri"/>
              </a:rPr>
              <a:t>YUV (Y' stands for the luma component (the brightness) and</a:t>
            </a:r>
            <a:endParaRPr b="1" sz="2100">
              <a:solidFill>
                <a:srgbClr val="000000"/>
              </a:solidFill>
              <a:latin typeface="Calibri"/>
              <a:ea typeface="Calibri"/>
              <a:cs typeface="Calibri"/>
              <a:sym typeface="Calibri"/>
            </a:endParaRPr>
          </a:p>
          <a:p>
            <a:pPr indent="0" lvl="0" marL="1371600" rtl="0" algn="just">
              <a:lnSpc>
                <a:spcPct val="80000"/>
              </a:lnSpc>
              <a:spcBef>
                <a:spcPts val="375"/>
              </a:spcBef>
              <a:spcAft>
                <a:spcPts val="0"/>
              </a:spcAft>
              <a:buNone/>
            </a:pPr>
            <a:r>
              <a:rPr b="1" lang="en-US" sz="2100">
                <a:solidFill>
                  <a:srgbClr val="000000"/>
                </a:solidFill>
                <a:latin typeface="Calibri"/>
                <a:ea typeface="Calibri"/>
                <a:cs typeface="Calibri"/>
                <a:sym typeface="Calibri"/>
              </a:rPr>
              <a:t> U and V are the chrominance (color) components )</a:t>
            </a:r>
            <a:endParaRPr sz="2100">
              <a:latin typeface="Calibri"/>
              <a:ea typeface="Calibri"/>
              <a:cs typeface="Calibri"/>
              <a:sym typeface="Calibri"/>
            </a:endParaRPr>
          </a:p>
          <a:p>
            <a:pPr indent="-227013" lvl="4" marL="1371600" rtl="0" algn="just">
              <a:lnSpc>
                <a:spcPct val="80000"/>
              </a:lnSpc>
              <a:spcBef>
                <a:spcPts val="375"/>
              </a:spcBef>
              <a:spcAft>
                <a:spcPts val="0"/>
              </a:spcAft>
              <a:buClr>
                <a:schemeClr val="dk1"/>
              </a:buClr>
              <a:buSzPts val="1800"/>
              <a:buNone/>
            </a:pPr>
            <a:r>
              <a:t/>
            </a:r>
            <a:endParaRPr b="1" sz="2100">
              <a:solidFill>
                <a:srgbClr val="000000"/>
              </a:solidFill>
              <a:latin typeface="Calibri"/>
              <a:ea typeface="Calibri"/>
              <a:cs typeface="Calibri"/>
              <a:sym typeface="Calibri"/>
            </a:endParaRPr>
          </a:p>
          <a:p>
            <a:pPr indent="-139446" lvl="0" marL="365760" rtl="0" algn="l">
              <a:spcBef>
                <a:spcPts val="400"/>
              </a:spcBef>
              <a:spcAft>
                <a:spcPts val="0"/>
              </a:spcAft>
              <a:buSzPts val="1836"/>
              <a:buNone/>
            </a:pPr>
            <a:r>
              <a:t/>
            </a:r>
            <a:endParaRPr sz="2500">
              <a:latin typeface="Calibri"/>
              <a:ea typeface="Calibri"/>
              <a:cs typeface="Calibri"/>
              <a:sym typeface="Calibri"/>
            </a:endParaRPr>
          </a:p>
        </p:txBody>
      </p:sp>
      <p:sp>
        <p:nvSpPr>
          <p:cNvPr id="119" name="Google Shape;119;p6"/>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20" name="Google Shape;120;p6"/>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8047"/>
              </a:buClr>
              <a:buSzPts val="4400"/>
              <a:buFont typeface="Verdana"/>
              <a:buNone/>
            </a:pPr>
            <a:r>
              <a:rPr lang="en-US" sz="2600">
                <a:solidFill>
                  <a:schemeClr val="dk1"/>
                </a:solidFill>
                <a:latin typeface="Verdana"/>
                <a:ea typeface="Verdana"/>
                <a:cs typeface="Verdana"/>
                <a:sym typeface="Verdana"/>
              </a:rPr>
              <a:t>Different Color Models</a:t>
            </a:r>
            <a:endParaRPr sz="800">
              <a:solidFill>
                <a:schemeClr val="dk1"/>
              </a:solidFill>
              <a:latin typeface="Verdana"/>
              <a:ea typeface="Verdana"/>
              <a:cs typeface="Verdana"/>
              <a:sym typeface="Verdana"/>
            </a:endParaRPr>
          </a:p>
        </p:txBody>
      </p:sp>
      <p:pic>
        <p:nvPicPr>
          <p:cNvPr id="121" name="Google Shape;121;p6"/>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idx="3" type="body"/>
          </p:nvPr>
        </p:nvSpPr>
        <p:spPr>
          <a:xfrm>
            <a:off x="457200" y="1444294"/>
            <a:ext cx="8077200" cy="3941763"/>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Clr>
                <a:schemeClr val="dk1"/>
              </a:buClr>
              <a:buSzPts val="1632"/>
              <a:buFont typeface="Calibri"/>
              <a:buChar char="●"/>
            </a:pPr>
            <a:r>
              <a:rPr lang="en-US">
                <a:solidFill>
                  <a:schemeClr val="dk1"/>
                </a:solidFill>
                <a:latin typeface="Calibri"/>
                <a:ea typeface="Calibri"/>
                <a:cs typeface="Calibri"/>
                <a:sym typeface="Calibri"/>
              </a:rPr>
              <a:t>When white light is incident on an opaque object, some frequencies are reflected and some are absorbed.</a:t>
            </a:r>
            <a:endParaRPr>
              <a:solidFill>
                <a:schemeClr val="dk1"/>
              </a:solidFill>
              <a:latin typeface="Calibri"/>
              <a:ea typeface="Calibri"/>
              <a:cs typeface="Calibri"/>
              <a:sym typeface="Calibri"/>
            </a:endParaRPr>
          </a:p>
          <a:p>
            <a:pPr indent="-256032" lvl="0" marL="365760" rtl="0" algn="l">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The combination of frequencies present in the reflected light determines the color of the object that we see.</a:t>
            </a:r>
            <a:endParaRPr>
              <a:solidFill>
                <a:schemeClr val="dk1"/>
              </a:solidFill>
              <a:latin typeface="Calibri"/>
              <a:ea typeface="Calibri"/>
              <a:cs typeface="Calibri"/>
              <a:sym typeface="Calibri"/>
            </a:endParaRPr>
          </a:p>
        </p:txBody>
      </p:sp>
      <p:sp>
        <p:nvSpPr>
          <p:cNvPr id="127" name="Google Shape;127;p7"/>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pic>
        <p:nvPicPr>
          <p:cNvPr descr="E:\study\11th semister\graphics design\presentation\class lecture color\light.PNG" id="128" name="Google Shape;128;p7"/>
          <p:cNvPicPr preferRelativeResize="0"/>
          <p:nvPr/>
        </p:nvPicPr>
        <p:blipFill rotWithShape="1">
          <a:blip r:embed="rId3">
            <a:alphaModFix/>
          </a:blip>
          <a:srcRect b="0" l="0" r="0" t="0"/>
          <a:stretch/>
        </p:blipFill>
        <p:spPr>
          <a:xfrm>
            <a:off x="1600200" y="3733800"/>
            <a:ext cx="6019800" cy="2590800"/>
          </a:xfrm>
          <a:prstGeom prst="rect">
            <a:avLst/>
          </a:prstGeom>
          <a:noFill/>
          <a:ln>
            <a:noFill/>
          </a:ln>
        </p:spPr>
      </p:pic>
      <p:sp>
        <p:nvSpPr>
          <p:cNvPr id="129" name="Google Shape;129;p7"/>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Properties of light</a:t>
            </a:r>
            <a:endParaRPr sz="2600">
              <a:solidFill>
                <a:schemeClr val="dk1"/>
              </a:solidFill>
              <a:latin typeface="Verdana"/>
              <a:ea typeface="Verdana"/>
              <a:cs typeface="Verdana"/>
              <a:sym typeface="Verdana"/>
            </a:endParaRPr>
          </a:p>
        </p:txBody>
      </p:sp>
      <p:pic>
        <p:nvPicPr>
          <p:cNvPr id="130" name="Google Shape;130;p7"/>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Autofit/>
          </a:bodyPr>
          <a:lstStyle/>
          <a:p>
            <a:pPr indent="-284163" lvl="0" marL="271463" rtl="0" algn="just">
              <a:lnSpc>
                <a:spcPct val="95000"/>
              </a:lnSpc>
              <a:spcBef>
                <a:spcPts val="0"/>
              </a:spcBef>
              <a:spcAft>
                <a:spcPts val="0"/>
              </a:spcAft>
              <a:buClr>
                <a:schemeClr val="dk1"/>
              </a:buClr>
              <a:buSzPts val="1866"/>
              <a:buFont typeface="Calibri"/>
              <a:buChar char="⚫"/>
            </a:pPr>
            <a:r>
              <a:rPr lang="en-US" sz="2160">
                <a:solidFill>
                  <a:schemeClr val="dk1"/>
                </a:solidFill>
                <a:latin typeface="Calibri"/>
                <a:ea typeface="Calibri"/>
                <a:cs typeface="Calibri"/>
                <a:sym typeface="Calibri"/>
              </a:rPr>
              <a:t>In this model, the primary colors are red, green, and blue. It is an additive model, in which colors are produced by adding components, with white having all colors present and black being the absence of any color. </a:t>
            </a:r>
            <a:endParaRPr sz="1460">
              <a:solidFill>
                <a:schemeClr val="dk1"/>
              </a:solidFill>
              <a:latin typeface="Calibri"/>
              <a:ea typeface="Calibri"/>
              <a:cs typeface="Calibri"/>
              <a:sym typeface="Calibri"/>
            </a:endParaRPr>
          </a:p>
          <a:p>
            <a:pPr indent="-271463" lvl="0" marL="271463" rtl="0" algn="just">
              <a:lnSpc>
                <a:spcPct val="95000"/>
              </a:lnSpc>
              <a:spcBef>
                <a:spcPts val="575"/>
              </a:spcBef>
              <a:spcAft>
                <a:spcPts val="0"/>
              </a:spcAft>
              <a:buClr>
                <a:srgbClr val="94B6D2"/>
              </a:buClr>
              <a:buSzPts val="1666"/>
              <a:buNone/>
            </a:pPr>
            <a:r>
              <a:t/>
            </a:r>
            <a:endParaRPr sz="2160">
              <a:solidFill>
                <a:schemeClr val="dk1"/>
              </a:solidFill>
              <a:latin typeface="Calibri"/>
              <a:ea typeface="Calibri"/>
              <a:cs typeface="Calibri"/>
              <a:sym typeface="Calibri"/>
            </a:endParaRPr>
          </a:p>
          <a:p>
            <a:pPr indent="-284163" lvl="0" marL="271463" rtl="0" algn="just">
              <a:lnSpc>
                <a:spcPct val="95000"/>
              </a:lnSpc>
              <a:spcBef>
                <a:spcPts val="575"/>
              </a:spcBef>
              <a:spcAft>
                <a:spcPts val="0"/>
              </a:spcAft>
              <a:buClr>
                <a:schemeClr val="dk1"/>
              </a:buClr>
              <a:buSzPts val="1866"/>
              <a:buFont typeface="Calibri"/>
              <a:buChar char="⚫"/>
            </a:pPr>
            <a:r>
              <a:rPr lang="en-US" sz="2160">
                <a:solidFill>
                  <a:schemeClr val="dk1"/>
                </a:solidFill>
                <a:latin typeface="Calibri"/>
                <a:ea typeface="Calibri"/>
                <a:cs typeface="Calibri"/>
                <a:sym typeface="Calibri"/>
              </a:rPr>
              <a:t>This is the model used for active displays such as television and computer screens. </a:t>
            </a:r>
            <a:endParaRPr sz="1460">
              <a:solidFill>
                <a:schemeClr val="dk1"/>
              </a:solidFill>
              <a:latin typeface="Calibri"/>
              <a:ea typeface="Calibri"/>
              <a:cs typeface="Calibri"/>
              <a:sym typeface="Calibri"/>
            </a:endParaRPr>
          </a:p>
          <a:p>
            <a:pPr indent="-271463" lvl="0" marL="271463" rtl="0" algn="just">
              <a:lnSpc>
                <a:spcPct val="95000"/>
              </a:lnSpc>
              <a:spcBef>
                <a:spcPts val="575"/>
              </a:spcBef>
              <a:spcAft>
                <a:spcPts val="0"/>
              </a:spcAft>
              <a:buClr>
                <a:srgbClr val="94B6D2"/>
              </a:buClr>
              <a:buSzPts val="1666"/>
              <a:buNone/>
            </a:pPr>
            <a:r>
              <a:t/>
            </a:r>
            <a:endParaRPr sz="2160">
              <a:solidFill>
                <a:schemeClr val="dk1"/>
              </a:solidFill>
              <a:latin typeface="Calibri"/>
              <a:ea typeface="Calibri"/>
              <a:cs typeface="Calibri"/>
              <a:sym typeface="Calibri"/>
            </a:endParaRPr>
          </a:p>
          <a:p>
            <a:pPr indent="-284163" lvl="0" marL="271463" rtl="0" algn="just">
              <a:lnSpc>
                <a:spcPct val="95000"/>
              </a:lnSpc>
              <a:spcBef>
                <a:spcPts val="575"/>
              </a:spcBef>
              <a:spcAft>
                <a:spcPts val="0"/>
              </a:spcAft>
              <a:buClr>
                <a:schemeClr val="dk1"/>
              </a:buClr>
              <a:buSzPts val="1866"/>
              <a:buFont typeface="Calibri"/>
              <a:buChar char="⚫"/>
            </a:pPr>
            <a:r>
              <a:rPr lang="en-US" sz="2160">
                <a:solidFill>
                  <a:schemeClr val="dk1"/>
                </a:solidFill>
                <a:latin typeface="Calibri"/>
                <a:ea typeface="Calibri"/>
                <a:cs typeface="Calibri"/>
                <a:sym typeface="Calibri"/>
              </a:rPr>
              <a:t>The RGB model is usually represented by a unit cube with one corner located at the origin of a three-dimensional color coordinate system, the axes being labeled R, G, B, and having a range of values [0, 1]. The origin (0, 0, 0) is considered black and the diagonally opposite corner (1, 1, 1) is called white. The line joining black to white represents a gray scale and has equal components of R, G, B.</a:t>
            </a:r>
            <a:endParaRPr sz="1460">
              <a:solidFill>
                <a:schemeClr val="dk1"/>
              </a:solidFill>
              <a:latin typeface="Calibri"/>
              <a:ea typeface="Calibri"/>
              <a:cs typeface="Calibri"/>
              <a:sym typeface="Calibri"/>
            </a:endParaRPr>
          </a:p>
          <a:p>
            <a:pPr indent="-174422" lvl="0" marL="365760" rtl="0" algn="l">
              <a:lnSpc>
                <a:spcPct val="95000"/>
              </a:lnSpc>
              <a:spcBef>
                <a:spcPts val="400"/>
              </a:spcBef>
              <a:spcAft>
                <a:spcPts val="0"/>
              </a:spcAft>
              <a:buSzPts val="1285"/>
              <a:buNone/>
            </a:pPr>
            <a:r>
              <a:t/>
            </a:r>
            <a:endParaRPr sz="1460">
              <a:solidFill>
                <a:schemeClr val="dk1"/>
              </a:solidFill>
              <a:latin typeface="Calibri"/>
              <a:ea typeface="Calibri"/>
              <a:cs typeface="Calibri"/>
              <a:sym typeface="Calibri"/>
            </a:endParaRPr>
          </a:p>
        </p:txBody>
      </p:sp>
      <p:sp>
        <p:nvSpPr>
          <p:cNvPr id="136" name="Google Shape;136;p8"/>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37" name="Google Shape;137;p8"/>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8047"/>
              </a:buClr>
              <a:buSzPts val="4400"/>
              <a:buFont typeface="Verdana"/>
              <a:buNone/>
            </a:pPr>
            <a:r>
              <a:rPr lang="en-US" sz="2659">
                <a:solidFill>
                  <a:schemeClr val="dk1"/>
                </a:solidFill>
                <a:latin typeface="Verdana"/>
                <a:ea typeface="Verdana"/>
                <a:cs typeface="Verdana"/>
                <a:sym typeface="Verdana"/>
              </a:rPr>
              <a:t>RGB Model</a:t>
            </a:r>
            <a:endParaRPr sz="2600">
              <a:solidFill>
                <a:schemeClr val="dk1"/>
              </a:solidFill>
              <a:latin typeface="Verdana"/>
              <a:ea typeface="Verdana"/>
              <a:cs typeface="Verdana"/>
              <a:sym typeface="Verdana"/>
            </a:endParaRPr>
          </a:p>
        </p:txBody>
      </p:sp>
      <p:pic>
        <p:nvPicPr>
          <p:cNvPr id="138" name="Google Shape;138;p8"/>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idx="3" type="body"/>
          </p:nvPr>
        </p:nvSpPr>
        <p:spPr>
          <a:xfrm>
            <a:off x="457200" y="1444294"/>
            <a:ext cx="4040188" cy="3941763"/>
          </a:xfrm>
          <a:prstGeom prst="rect">
            <a:avLst/>
          </a:prstGeom>
          <a:noFill/>
          <a:ln>
            <a:noFill/>
          </a:ln>
        </p:spPr>
        <p:txBody>
          <a:bodyPr anchorCtr="0" anchor="t" bIns="45700" lIns="91425" spcFirstLastPara="1" rIns="91425" wrap="square" tIns="45700">
            <a:normAutofit lnSpcReduction="20000"/>
          </a:bodyPr>
          <a:lstStyle/>
          <a:p>
            <a:pPr indent="-284163" lvl="0" marL="271463" rtl="0" algn="just">
              <a:spcBef>
                <a:spcPts val="0"/>
              </a:spcBef>
              <a:spcAft>
                <a:spcPts val="0"/>
              </a:spcAft>
              <a:buClr>
                <a:srgbClr val="94B6D2"/>
              </a:buClr>
              <a:buSzPts val="2240"/>
              <a:buFont typeface="Calibri"/>
              <a:buChar char="⚫"/>
            </a:pPr>
            <a:r>
              <a:rPr lang="en-US" sz="2600">
                <a:solidFill>
                  <a:srgbClr val="000000"/>
                </a:solidFill>
                <a:latin typeface="Calibri"/>
                <a:ea typeface="Calibri"/>
                <a:cs typeface="Calibri"/>
                <a:sym typeface="Calibri"/>
              </a:rPr>
              <a:t>Each color is represented in its primary color components </a:t>
            </a:r>
            <a:r>
              <a:rPr lang="en-US" sz="2600">
                <a:solidFill>
                  <a:srgbClr val="FF0000"/>
                </a:solidFill>
                <a:latin typeface="Calibri"/>
                <a:ea typeface="Calibri"/>
                <a:cs typeface="Calibri"/>
                <a:sym typeface="Calibri"/>
              </a:rPr>
              <a:t>Red</a:t>
            </a:r>
            <a:r>
              <a:rPr lang="en-US" sz="2600">
                <a:solidFill>
                  <a:srgbClr val="000000"/>
                </a:solidFill>
                <a:latin typeface="Calibri"/>
                <a:ea typeface="Calibri"/>
                <a:cs typeface="Calibri"/>
                <a:sym typeface="Calibri"/>
              </a:rPr>
              <a:t>, </a:t>
            </a:r>
            <a:r>
              <a:rPr lang="en-US" sz="2600">
                <a:solidFill>
                  <a:srgbClr val="33CC33"/>
                </a:solidFill>
                <a:latin typeface="Calibri"/>
                <a:ea typeface="Calibri"/>
                <a:cs typeface="Calibri"/>
                <a:sym typeface="Calibri"/>
              </a:rPr>
              <a:t>Green</a:t>
            </a:r>
            <a:r>
              <a:rPr lang="en-US" sz="2600">
                <a:solidFill>
                  <a:srgbClr val="000000"/>
                </a:solidFill>
                <a:latin typeface="Calibri"/>
                <a:ea typeface="Calibri"/>
                <a:cs typeface="Calibri"/>
                <a:sym typeface="Calibri"/>
              </a:rPr>
              <a:t> and </a:t>
            </a:r>
            <a:r>
              <a:rPr lang="en-US" sz="2600">
                <a:solidFill>
                  <a:srgbClr val="3333CC"/>
                </a:solidFill>
                <a:latin typeface="Calibri"/>
                <a:ea typeface="Calibri"/>
                <a:cs typeface="Calibri"/>
                <a:sym typeface="Calibri"/>
              </a:rPr>
              <a:t>Blue</a:t>
            </a:r>
            <a:endParaRPr sz="2600">
              <a:latin typeface="Calibri"/>
              <a:ea typeface="Calibri"/>
              <a:cs typeface="Calibri"/>
              <a:sym typeface="Calibri"/>
            </a:endParaRPr>
          </a:p>
          <a:p>
            <a:pPr indent="-271463" lvl="0" marL="273050" rtl="0" algn="just">
              <a:spcBef>
                <a:spcPts val="575"/>
              </a:spcBef>
              <a:spcAft>
                <a:spcPts val="0"/>
              </a:spcAft>
              <a:buClr>
                <a:schemeClr val="dk1"/>
              </a:buClr>
              <a:buSzPts val="2040"/>
              <a:buNone/>
            </a:pPr>
            <a:r>
              <a:t/>
            </a:r>
            <a:endParaRPr sz="2600">
              <a:solidFill>
                <a:srgbClr val="3333CC"/>
              </a:solidFill>
              <a:latin typeface="Calibri"/>
              <a:ea typeface="Calibri"/>
              <a:cs typeface="Calibri"/>
              <a:sym typeface="Calibri"/>
            </a:endParaRPr>
          </a:p>
          <a:p>
            <a:pPr indent="-284163" lvl="0" marL="271463" rtl="0" algn="just">
              <a:spcBef>
                <a:spcPts val="575"/>
              </a:spcBef>
              <a:spcAft>
                <a:spcPts val="0"/>
              </a:spcAft>
              <a:buClr>
                <a:srgbClr val="94B6D2"/>
              </a:buClr>
              <a:buSzPts val="2240"/>
              <a:buFont typeface="Calibri"/>
              <a:buChar char="⚫"/>
            </a:pPr>
            <a:r>
              <a:rPr lang="en-US" sz="2600">
                <a:solidFill>
                  <a:srgbClr val="000000"/>
                </a:solidFill>
                <a:latin typeface="Calibri"/>
                <a:ea typeface="Calibri"/>
                <a:cs typeface="Calibri"/>
                <a:sym typeface="Calibri"/>
              </a:rPr>
              <a:t>This model is based on </a:t>
            </a:r>
            <a:r>
              <a:rPr lang="en-US" sz="2600">
                <a:solidFill>
                  <a:srgbClr val="3333CC"/>
                </a:solidFill>
                <a:latin typeface="Calibri"/>
                <a:ea typeface="Calibri"/>
                <a:cs typeface="Calibri"/>
                <a:sym typeface="Calibri"/>
              </a:rPr>
              <a:t>Cartesian Coordinate System</a:t>
            </a:r>
            <a:endParaRPr sz="2600">
              <a:latin typeface="Calibri"/>
              <a:ea typeface="Calibri"/>
              <a:cs typeface="Calibri"/>
              <a:sym typeface="Calibri"/>
            </a:endParaRPr>
          </a:p>
          <a:p>
            <a:pPr indent="-152400" lvl="0" marL="365760" rtl="0" algn="l">
              <a:spcBef>
                <a:spcPts val="400"/>
              </a:spcBef>
              <a:spcAft>
                <a:spcPts val="0"/>
              </a:spcAft>
              <a:buSzPts val="1632"/>
              <a:buNone/>
            </a:pPr>
            <a:r>
              <a:t/>
            </a:r>
            <a:endParaRPr/>
          </a:p>
        </p:txBody>
      </p:sp>
      <p:pic>
        <p:nvPicPr>
          <p:cNvPr id="144" name="Google Shape;144;p9"/>
          <p:cNvPicPr preferRelativeResize="0"/>
          <p:nvPr>
            <p:ph idx="4" type="body"/>
          </p:nvPr>
        </p:nvPicPr>
        <p:blipFill rotWithShape="1">
          <a:blip r:embed="rId3">
            <a:alphaModFix/>
          </a:blip>
          <a:srcRect b="0" l="0" r="0" t="0"/>
          <a:stretch/>
        </p:blipFill>
        <p:spPr>
          <a:xfrm>
            <a:off x="4579286" y="1752600"/>
            <a:ext cx="3955114" cy="3124200"/>
          </a:xfrm>
          <a:prstGeom prst="rect">
            <a:avLst/>
          </a:prstGeom>
          <a:noFill/>
          <a:ln>
            <a:noFill/>
          </a:ln>
        </p:spPr>
      </p:pic>
      <p:sp>
        <p:nvSpPr>
          <p:cNvPr id="145" name="Google Shape;145;p9"/>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46" name="Google Shape;146;p9"/>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8047"/>
              </a:buClr>
              <a:buSzPts val="4400"/>
              <a:buFont typeface="Verdana"/>
              <a:buNone/>
            </a:pPr>
            <a:r>
              <a:rPr lang="en-US" sz="2659">
                <a:solidFill>
                  <a:schemeClr val="dk1"/>
                </a:solidFill>
                <a:latin typeface="Verdana"/>
                <a:ea typeface="Verdana"/>
                <a:cs typeface="Verdana"/>
                <a:sym typeface="Verdana"/>
              </a:rPr>
              <a:t>RGB Model</a:t>
            </a:r>
            <a:endParaRPr b="1" sz="800">
              <a:solidFill>
                <a:schemeClr val="dk1"/>
              </a:solidFill>
              <a:latin typeface="Georgia"/>
              <a:ea typeface="Georgia"/>
              <a:cs typeface="Georgia"/>
              <a:sym typeface="Georgia"/>
            </a:endParaRPr>
          </a:p>
        </p:txBody>
      </p:sp>
      <p:pic>
        <p:nvPicPr>
          <p:cNvPr id="147" name="Google Shape;147;p9"/>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36982" lvl="0" marL="365760" rtl="0" algn="l">
              <a:spcBef>
                <a:spcPts val="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Additive color model.</a:t>
            </a:r>
            <a:endParaRPr sz="2100">
              <a:solidFill>
                <a:schemeClr val="dk1"/>
              </a:solidFill>
              <a:latin typeface="Calibri"/>
              <a:ea typeface="Calibri"/>
              <a:cs typeface="Calibri"/>
              <a:sym typeface="Calibri"/>
            </a:endParaRPr>
          </a:p>
          <a:p>
            <a:pPr indent="-236982" lvl="0" marL="365760" rtl="0" algn="l">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For computer display.</a:t>
            </a:r>
            <a:endParaRPr sz="2100">
              <a:solidFill>
                <a:schemeClr val="dk1"/>
              </a:solidFill>
              <a:latin typeface="Calibri"/>
              <a:ea typeface="Calibri"/>
              <a:cs typeface="Calibri"/>
              <a:sym typeface="Calibri"/>
            </a:endParaRPr>
          </a:p>
          <a:p>
            <a:pPr indent="-236982" lvl="0" marL="365760" rtl="0" algn="l">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Uses light to display color.</a:t>
            </a:r>
            <a:endParaRPr sz="2100">
              <a:solidFill>
                <a:schemeClr val="dk1"/>
              </a:solidFill>
              <a:latin typeface="Calibri"/>
              <a:ea typeface="Calibri"/>
              <a:cs typeface="Calibri"/>
              <a:sym typeface="Calibri"/>
            </a:endParaRPr>
          </a:p>
          <a:p>
            <a:pPr indent="-236982" lvl="0" marL="365760" rtl="0" algn="l">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Colors result from transmitted light.</a:t>
            </a:r>
            <a:endParaRPr sz="2100">
              <a:solidFill>
                <a:schemeClr val="dk1"/>
              </a:solidFill>
              <a:latin typeface="Calibri"/>
              <a:ea typeface="Calibri"/>
              <a:cs typeface="Calibri"/>
              <a:sym typeface="Calibri"/>
            </a:endParaRPr>
          </a:p>
          <a:p>
            <a:pPr indent="-236982" lvl="0" marL="365760" rtl="0" algn="l">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Red + Green + Blue = White.</a:t>
            </a:r>
            <a:endParaRPr sz="2100">
              <a:solidFill>
                <a:schemeClr val="dk1"/>
              </a:solidFill>
              <a:latin typeface="Calibri"/>
              <a:ea typeface="Calibri"/>
              <a:cs typeface="Calibri"/>
              <a:sym typeface="Calibri"/>
            </a:endParaRPr>
          </a:p>
        </p:txBody>
      </p:sp>
      <p:sp>
        <p:nvSpPr>
          <p:cNvPr id="153" name="Google Shape;153;p10"/>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54" name="Google Shape;154;p10"/>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RGB color system</a:t>
            </a:r>
            <a:endParaRPr b="1" sz="800">
              <a:solidFill>
                <a:schemeClr val="dk1"/>
              </a:solidFill>
              <a:latin typeface="Georgia"/>
              <a:ea typeface="Georgia"/>
              <a:cs typeface="Georgia"/>
              <a:sym typeface="Georgia"/>
            </a:endParaRPr>
          </a:p>
        </p:txBody>
      </p:sp>
      <p:pic>
        <p:nvPicPr>
          <p:cNvPr id="155" name="Google Shape;155;p10"/>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idx="3" type="body"/>
          </p:nvPr>
        </p:nvSpPr>
        <p:spPr>
          <a:xfrm>
            <a:off x="457200" y="1444294"/>
            <a:ext cx="4648200" cy="4651706"/>
          </a:xfrm>
          <a:prstGeom prst="rect">
            <a:avLst/>
          </a:prstGeom>
          <a:noFill/>
          <a:ln>
            <a:noFill/>
          </a:ln>
        </p:spPr>
        <p:txBody>
          <a:bodyPr anchorCtr="0" anchor="t" bIns="45700" lIns="91425" spcFirstLastPara="1" rIns="91425" wrap="square" tIns="45700">
            <a:normAutofit lnSpcReduction="20000"/>
          </a:bodyPr>
          <a:lstStyle/>
          <a:p>
            <a:pPr indent="-256032" lvl="0" marL="365760" rtl="0" algn="l">
              <a:spcBef>
                <a:spcPts val="0"/>
              </a:spcBef>
              <a:spcAft>
                <a:spcPts val="0"/>
              </a:spcAft>
              <a:buClr>
                <a:schemeClr val="dk1"/>
              </a:buClr>
              <a:buSzPts val="1632"/>
              <a:buFont typeface="Calibri"/>
              <a:buChar char="●"/>
            </a:pPr>
            <a:r>
              <a:rPr lang="en-US">
                <a:solidFill>
                  <a:schemeClr val="dk1"/>
                </a:solidFill>
                <a:latin typeface="Calibri"/>
                <a:ea typeface="Calibri"/>
                <a:cs typeface="Calibri"/>
                <a:sym typeface="Calibri"/>
              </a:rPr>
              <a:t>This model is called additive, and the colors are called primary colors.</a:t>
            </a:r>
            <a:endParaRPr>
              <a:solidFill>
                <a:schemeClr val="dk1"/>
              </a:solidFill>
              <a:latin typeface="Calibri"/>
              <a:ea typeface="Calibri"/>
              <a:cs typeface="Calibri"/>
              <a:sym typeface="Calibri"/>
            </a:endParaRPr>
          </a:p>
          <a:p>
            <a:pPr indent="-256032" lvl="0" marL="365760" rtl="0" algn="l">
              <a:spcBef>
                <a:spcPts val="400"/>
              </a:spcBef>
              <a:spcAft>
                <a:spcPts val="0"/>
              </a:spcAft>
              <a:buSzPts val="1632"/>
              <a:buNone/>
            </a:pPr>
            <a:r>
              <a:t/>
            </a:r>
            <a:endParaRPr>
              <a:solidFill>
                <a:schemeClr val="dk1"/>
              </a:solidFill>
              <a:latin typeface="Calibri"/>
              <a:ea typeface="Calibri"/>
              <a:cs typeface="Calibri"/>
              <a:sym typeface="Calibri"/>
            </a:endParaRPr>
          </a:p>
          <a:p>
            <a:pPr indent="-256032" lvl="0" marL="365760" rtl="0" algn="l">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The primary colors can be added to produce the secondary colors of light- Magenta(Red + Blue), Cyan(Green + Blue), and Yellow(Red + Green). The combination of Red, Green and Blue at full intensities makes white.</a:t>
            </a:r>
            <a:endParaRPr>
              <a:solidFill>
                <a:schemeClr val="dk1"/>
              </a:solidFill>
              <a:latin typeface="Calibri"/>
              <a:ea typeface="Calibri"/>
              <a:cs typeface="Calibri"/>
              <a:sym typeface="Calibri"/>
            </a:endParaRPr>
          </a:p>
        </p:txBody>
      </p:sp>
      <p:pic>
        <p:nvPicPr>
          <p:cNvPr descr="E:\study\11th semister\graphics design\presentation\class lecture color\rgb color system1.PNG" id="161" name="Google Shape;161;p11"/>
          <p:cNvPicPr preferRelativeResize="0"/>
          <p:nvPr>
            <p:ph idx="4" type="body"/>
          </p:nvPr>
        </p:nvPicPr>
        <p:blipFill rotWithShape="1">
          <a:blip r:embed="rId3">
            <a:alphaModFix/>
          </a:blip>
          <a:srcRect b="0" l="0" r="0" t="0"/>
          <a:stretch/>
        </p:blipFill>
        <p:spPr>
          <a:xfrm>
            <a:off x="5039225" y="1679450"/>
            <a:ext cx="3886200" cy="3886200"/>
          </a:xfrm>
          <a:prstGeom prst="rect">
            <a:avLst/>
          </a:prstGeom>
          <a:noFill/>
          <a:ln>
            <a:noFill/>
          </a:ln>
        </p:spPr>
      </p:pic>
      <p:sp>
        <p:nvSpPr>
          <p:cNvPr id="162" name="Google Shape;162;p11"/>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63" name="Google Shape;163;p11"/>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RGB color system</a:t>
            </a:r>
            <a:endParaRPr sz="2600">
              <a:solidFill>
                <a:schemeClr val="dk1"/>
              </a:solidFill>
              <a:latin typeface="Verdana"/>
              <a:ea typeface="Verdana"/>
              <a:cs typeface="Verdana"/>
              <a:sym typeface="Verdana"/>
            </a:endParaRPr>
          </a:p>
        </p:txBody>
      </p:sp>
      <p:pic>
        <p:nvPicPr>
          <p:cNvPr id="164" name="Google Shape;164;p11"/>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idx="3" type="body"/>
          </p:nvPr>
        </p:nvSpPr>
        <p:spPr>
          <a:xfrm>
            <a:off x="457200" y="1444294"/>
            <a:ext cx="4648200" cy="4575506"/>
          </a:xfrm>
          <a:prstGeom prst="rect">
            <a:avLst/>
          </a:prstGeom>
          <a:noFill/>
          <a:ln>
            <a:noFill/>
          </a:ln>
        </p:spPr>
        <p:txBody>
          <a:bodyPr anchorCtr="0" anchor="t" bIns="45700" lIns="91425" spcFirstLastPara="1" rIns="91425" wrap="square" tIns="45700">
            <a:normAutofit/>
          </a:bodyPr>
          <a:lstStyle/>
          <a:p>
            <a:pPr indent="-262382" lvl="0" marL="365760" rtl="0" algn="l">
              <a:spcBef>
                <a:spcPts val="0"/>
              </a:spcBef>
              <a:spcAft>
                <a:spcPts val="0"/>
              </a:spcAft>
              <a:buClr>
                <a:schemeClr val="dk1"/>
              </a:buClr>
              <a:buSzPts val="1732"/>
              <a:buFont typeface="Calibri"/>
              <a:buChar char="●"/>
            </a:pPr>
            <a:r>
              <a:rPr lang="en-US" sz="2500">
                <a:solidFill>
                  <a:schemeClr val="dk1"/>
                </a:solidFill>
                <a:latin typeface="Calibri"/>
                <a:ea typeface="Calibri"/>
                <a:cs typeface="Calibri"/>
                <a:sym typeface="Calibri"/>
              </a:rPr>
              <a:t>The combination of Red, Green and Blue in full intensity makes white.</a:t>
            </a:r>
            <a:endParaRPr sz="2500">
              <a:solidFill>
                <a:schemeClr val="dk1"/>
              </a:solidFill>
              <a:latin typeface="Calibri"/>
              <a:ea typeface="Calibri"/>
              <a:cs typeface="Calibri"/>
              <a:sym typeface="Calibri"/>
            </a:endParaRPr>
          </a:p>
          <a:p>
            <a:pPr indent="-152400" lvl="0" marL="365760" rtl="0" algn="l">
              <a:spcBef>
                <a:spcPts val="400"/>
              </a:spcBef>
              <a:spcAft>
                <a:spcPts val="0"/>
              </a:spcAft>
              <a:buSzPts val="1632"/>
              <a:buNone/>
            </a:pPr>
            <a:r>
              <a:t/>
            </a:r>
            <a:endParaRPr sz="2500">
              <a:solidFill>
                <a:schemeClr val="dk1"/>
              </a:solidFill>
              <a:latin typeface="Calibri"/>
              <a:ea typeface="Calibri"/>
              <a:cs typeface="Calibri"/>
              <a:sym typeface="Calibri"/>
            </a:endParaRPr>
          </a:p>
          <a:p>
            <a:pPr indent="-262382" lvl="0" marL="365760" rtl="0" algn="l">
              <a:spcBef>
                <a:spcPts val="400"/>
              </a:spcBef>
              <a:spcAft>
                <a:spcPts val="0"/>
              </a:spcAft>
              <a:buClr>
                <a:schemeClr val="dk1"/>
              </a:buClr>
              <a:buSzPts val="1732"/>
              <a:buFont typeface="Calibri"/>
              <a:buChar char="●"/>
            </a:pPr>
            <a:r>
              <a:rPr lang="en-US" sz="2500">
                <a:solidFill>
                  <a:schemeClr val="dk1"/>
                </a:solidFill>
                <a:latin typeface="Calibri"/>
                <a:ea typeface="Calibri"/>
                <a:cs typeface="Calibri"/>
                <a:sym typeface="Calibri"/>
              </a:rPr>
              <a:t>White light is created when all color of the EM spectrum (electromagnetic spectrum) converge in full intensity.</a:t>
            </a:r>
            <a:endParaRPr sz="2500">
              <a:solidFill>
                <a:schemeClr val="dk1"/>
              </a:solidFill>
              <a:latin typeface="Calibri"/>
              <a:ea typeface="Calibri"/>
              <a:cs typeface="Calibri"/>
              <a:sym typeface="Calibri"/>
            </a:endParaRPr>
          </a:p>
        </p:txBody>
      </p:sp>
      <p:pic>
        <p:nvPicPr>
          <p:cNvPr descr="E:\study\11th semister\graphics design\presentation\class lecture color\rgb color system1.PNG" id="170" name="Google Shape;170;p12"/>
          <p:cNvPicPr preferRelativeResize="0"/>
          <p:nvPr>
            <p:ph idx="4" type="body"/>
          </p:nvPr>
        </p:nvPicPr>
        <p:blipFill rotWithShape="1">
          <a:blip r:embed="rId3">
            <a:alphaModFix/>
          </a:blip>
          <a:srcRect b="0" l="0" r="0" t="0"/>
          <a:stretch/>
        </p:blipFill>
        <p:spPr>
          <a:xfrm>
            <a:off x="5105400" y="1676400"/>
            <a:ext cx="3657600" cy="3657600"/>
          </a:xfrm>
          <a:prstGeom prst="rect">
            <a:avLst/>
          </a:prstGeom>
          <a:noFill/>
          <a:ln>
            <a:noFill/>
          </a:ln>
        </p:spPr>
      </p:pic>
      <p:sp>
        <p:nvSpPr>
          <p:cNvPr id="171" name="Google Shape;171;p12"/>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72" name="Google Shape;172;p1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RGB color system</a:t>
            </a:r>
            <a:endParaRPr sz="2600">
              <a:solidFill>
                <a:schemeClr val="dk1"/>
              </a:solidFill>
              <a:latin typeface="Verdana"/>
              <a:ea typeface="Verdana"/>
              <a:cs typeface="Verdana"/>
              <a:sym typeface="Verdana"/>
            </a:endParaRPr>
          </a:p>
        </p:txBody>
      </p:sp>
      <p:pic>
        <p:nvPicPr>
          <p:cNvPr id="173" name="Google Shape;173;p12"/>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30632" lvl="0" marL="365760" rtl="0" algn="l">
              <a:spcBef>
                <a:spcPts val="0"/>
              </a:spcBef>
              <a:spcAft>
                <a:spcPts val="0"/>
              </a:spcAft>
              <a:buClr>
                <a:schemeClr val="dk1"/>
              </a:buClr>
              <a:buSzPts val="1436"/>
              <a:buChar char="●"/>
            </a:pPr>
            <a:r>
              <a:rPr lang="en-US" sz="2200">
                <a:solidFill>
                  <a:schemeClr val="dk1"/>
                </a:solidFill>
              </a:rPr>
              <a:t>The color model RGB is used in hardware applications like PC monitors, cameras and scanners.</a:t>
            </a:r>
            <a:endParaRPr sz="2200">
              <a:solidFill>
                <a:schemeClr val="dk1"/>
              </a:solidFill>
            </a:endParaRPr>
          </a:p>
          <a:p>
            <a:pPr indent="-230632" lvl="0" marL="365760" rtl="0" algn="l">
              <a:spcBef>
                <a:spcPts val="400"/>
              </a:spcBef>
              <a:spcAft>
                <a:spcPts val="0"/>
              </a:spcAft>
              <a:buClr>
                <a:schemeClr val="dk1"/>
              </a:buClr>
              <a:buSzPts val="1436"/>
              <a:buChar char="●"/>
            </a:pPr>
            <a:r>
              <a:rPr lang="en-US" sz="2200">
                <a:solidFill>
                  <a:schemeClr val="dk1"/>
                </a:solidFill>
              </a:rPr>
              <a:t>It is used for Web graphics, but it cannot be used for print production.</a:t>
            </a:r>
            <a:endParaRPr sz="2200">
              <a:solidFill>
                <a:schemeClr val="dk1"/>
              </a:solidFill>
            </a:endParaRPr>
          </a:p>
          <a:p>
            <a:pPr indent="-230632" lvl="0" marL="365760" rtl="0" algn="l">
              <a:spcBef>
                <a:spcPts val="400"/>
              </a:spcBef>
              <a:spcAft>
                <a:spcPts val="0"/>
              </a:spcAft>
              <a:buClr>
                <a:schemeClr val="dk1"/>
              </a:buClr>
              <a:buSzPts val="1436"/>
              <a:buChar char="●"/>
            </a:pPr>
            <a:r>
              <a:rPr lang="en-US" sz="2200">
                <a:solidFill>
                  <a:schemeClr val="dk1"/>
                </a:solidFill>
              </a:rPr>
              <a:t>It  directly reflects the physical properties of “True-color” displays.</a:t>
            </a:r>
            <a:endParaRPr sz="2200">
              <a:solidFill>
                <a:schemeClr val="dk1"/>
              </a:solidFill>
            </a:endParaRPr>
          </a:p>
          <a:p>
            <a:pPr indent="-269494" lvl="0" marL="365760" rtl="0" algn="l">
              <a:spcBef>
                <a:spcPts val="400"/>
              </a:spcBef>
              <a:spcAft>
                <a:spcPts val="0"/>
              </a:spcAft>
              <a:buClr>
                <a:schemeClr val="dk1"/>
              </a:buClr>
              <a:buSzPts val="1436"/>
              <a:buChar char="●"/>
            </a:pPr>
            <a:r>
              <a:rPr lang="en-US" sz="2200">
                <a:solidFill>
                  <a:schemeClr val="dk1"/>
                </a:solidFill>
              </a:rPr>
              <a:t>It is used f</a:t>
            </a:r>
            <a:r>
              <a:rPr lang="en-US" sz="2200">
                <a:solidFill>
                  <a:schemeClr val="dk1"/>
                </a:solidFill>
              </a:rPr>
              <a:t>or sensory representation.</a:t>
            </a:r>
            <a:endParaRPr sz="2200">
              <a:solidFill>
                <a:schemeClr val="dk1"/>
              </a:solidFill>
            </a:endParaRPr>
          </a:p>
          <a:p>
            <a:pPr indent="0" lvl="0" marL="365760" rtl="0" algn="l">
              <a:spcBef>
                <a:spcPts val="400"/>
              </a:spcBef>
              <a:spcAft>
                <a:spcPts val="0"/>
              </a:spcAft>
              <a:buNone/>
            </a:pPr>
            <a:r>
              <a:t/>
            </a:r>
            <a:endParaRPr sz="2200">
              <a:solidFill>
                <a:schemeClr val="dk1"/>
              </a:solidFill>
            </a:endParaRPr>
          </a:p>
          <a:p>
            <a:pPr indent="0" lvl="0" marL="365760" rtl="0" algn="l">
              <a:spcBef>
                <a:spcPts val="400"/>
              </a:spcBef>
              <a:spcAft>
                <a:spcPts val="0"/>
              </a:spcAft>
              <a:buNone/>
            </a:pPr>
            <a:r>
              <a:t/>
            </a:r>
            <a:endParaRPr sz="2200">
              <a:solidFill>
                <a:schemeClr val="dk1"/>
              </a:solidFill>
            </a:endParaRPr>
          </a:p>
          <a:p>
            <a:pPr indent="-139446" lvl="0" marL="365760" rtl="0" algn="l">
              <a:spcBef>
                <a:spcPts val="400"/>
              </a:spcBef>
              <a:spcAft>
                <a:spcPts val="0"/>
              </a:spcAft>
              <a:buSzPts val="1836"/>
              <a:buNone/>
            </a:pPr>
            <a:r>
              <a:t/>
            </a:r>
            <a:endParaRPr sz="2200">
              <a:solidFill>
                <a:schemeClr val="dk1"/>
              </a:solidFill>
            </a:endParaRPr>
          </a:p>
        </p:txBody>
      </p:sp>
      <p:sp>
        <p:nvSpPr>
          <p:cNvPr id="179" name="Google Shape;179;p13"/>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80" name="Google Shape;180;p13"/>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Importance of RGB color model</a:t>
            </a:r>
            <a:endParaRPr sz="2600">
              <a:solidFill>
                <a:schemeClr val="dk1"/>
              </a:solidFill>
              <a:latin typeface="Verdana"/>
              <a:ea typeface="Verdana"/>
              <a:cs typeface="Verdana"/>
              <a:sym typeface="Verdana"/>
            </a:endParaRPr>
          </a:p>
        </p:txBody>
      </p:sp>
      <p:pic>
        <p:nvPicPr>
          <p:cNvPr id="181" name="Google Shape;181;p13"/>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68732" lvl="0" marL="365760" rtl="0" algn="just">
              <a:spcBef>
                <a:spcPts val="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In spite of this bias, however, RGB is really a better way to go for many reasons. Conversion from one color space to another can sometimes be problematic for companies that have a limited knowledge of color management. But in this time of automated color-managed workflows, the resistance to RGB makes little sense from a production point of view. And the pros of RGB generally are stronger than the cons.</a:t>
            </a:r>
            <a:endParaRPr sz="2000">
              <a:solidFill>
                <a:schemeClr val="dk1"/>
              </a:solidFill>
              <a:latin typeface="Calibri"/>
              <a:ea typeface="Calibri"/>
              <a:cs typeface="Calibri"/>
              <a:sym typeface="Calibri"/>
            </a:endParaRPr>
          </a:p>
        </p:txBody>
      </p:sp>
      <p:sp>
        <p:nvSpPr>
          <p:cNvPr id="187" name="Google Shape;187;p15"/>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88" name="Google Shape;188;p15"/>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Why RGB is better </a:t>
            </a:r>
            <a:endParaRPr b="1" sz="2600">
              <a:solidFill>
                <a:schemeClr val="dk1"/>
              </a:solidFill>
              <a:latin typeface="Verdana"/>
              <a:ea typeface="Verdana"/>
              <a:cs typeface="Verdana"/>
              <a:sym typeface="Verdana"/>
            </a:endParaRPr>
          </a:p>
        </p:txBody>
      </p:sp>
      <p:pic>
        <p:nvPicPr>
          <p:cNvPr id="189" name="Google Shape;189;p15"/>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Autofit/>
          </a:bodyPr>
          <a:lstStyle/>
          <a:p>
            <a:pPr indent="-290198" lvl="0" marL="365760" rtl="0" algn="l">
              <a:spcBef>
                <a:spcPts val="0"/>
              </a:spcBef>
              <a:spcAft>
                <a:spcPts val="0"/>
              </a:spcAft>
              <a:buClr>
                <a:schemeClr val="dk1"/>
              </a:buClr>
              <a:buSzPts val="2236"/>
              <a:buFont typeface="Calibri"/>
              <a:buChar char="●"/>
            </a:pPr>
            <a:r>
              <a:rPr lang="en-US" sz="1900">
                <a:solidFill>
                  <a:schemeClr val="dk1"/>
                </a:solidFill>
                <a:latin typeface="Calibri"/>
                <a:ea typeface="Calibri"/>
                <a:cs typeface="Calibri"/>
                <a:sym typeface="Calibri"/>
              </a:rPr>
              <a:t>The most compelling reason to adopt an RGB workflow is to increase the print provider’s ability to "match the original"-the RGB color space simply allows for a wider range of colors. While it’s true that no output device can match the color range of a transparency or digital camera, modern wide-format devices offer a much wider color gamut than traditional offset presses. In many cases, it makes perfect sense for each print job to try to get the maximum color space your device is capable of reproducing. Clearly, the more data you input to the device, the more you can output.</a:t>
            </a:r>
            <a:endParaRPr sz="1900">
              <a:solidFill>
                <a:schemeClr val="dk1"/>
              </a:solidFill>
              <a:latin typeface="Calibri"/>
              <a:ea typeface="Calibri"/>
              <a:cs typeface="Calibri"/>
              <a:sym typeface="Calibri"/>
            </a:endParaRPr>
          </a:p>
          <a:p>
            <a:pPr indent="-268862" lvl="0" marL="365760" rtl="0" algn="l">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CMYK conversion, by definition, reduces the data contained in the original RGB image. And data that is thrown away can never be reclaimed-it’s gone for good. To retain as much data as possible, there is a growing trend toward performing color conversion only in the final rasterizetion process before printing. That way, all of the data in the image file is retained.</a:t>
            </a:r>
            <a:endParaRPr sz="1900">
              <a:solidFill>
                <a:schemeClr val="dk1"/>
              </a:solidFill>
              <a:latin typeface="Calibri"/>
              <a:ea typeface="Calibri"/>
              <a:cs typeface="Calibri"/>
              <a:sym typeface="Calibri"/>
            </a:endParaRPr>
          </a:p>
        </p:txBody>
      </p:sp>
      <p:sp>
        <p:nvSpPr>
          <p:cNvPr id="195" name="Google Shape;195;p16"/>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96" name="Google Shape;196;p16"/>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Why RGB is better </a:t>
            </a:r>
            <a:endParaRPr sz="2600">
              <a:solidFill>
                <a:schemeClr val="dk1"/>
              </a:solidFill>
              <a:latin typeface="Verdana"/>
              <a:ea typeface="Verdana"/>
              <a:cs typeface="Verdana"/>
              <a:sym typeface="Verdana"/>
            </a:endParaRPr>
          </a:p>
        </p:txBody>
      </p:sp>
      <p:pic>
        <p:nvPicPr>
          <p:cNvPr id="197" name="Google Shape;197;p16"/>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idx="3" type="body"/>
          </p:nvPr>
        </p:nvSpPr>
        <p:spPr>
          <a:xfrm>
            <a:off x="457200" y="1447800"/>
            <a:ext cx="8305800" cy="4495800"/>
          </a:xfrm>
          <a:prstGeom prst="rect">
            <a:avLst/>
          </a:prstGeom>
          <a:noFill/>
          <a:ln>
            <a:noFill/>
          </a:ln>
        </p:spPr>
        <p:txBody>
          <a:bodyPr anchorCtr="0" anchor="t" bIns="45700" lIns="91425" spcFirstLastPara="1" rIns="91425" wrap="square" tIns="45700">
            <a:normAutofit/>
          </a:bodyPr>
          <a:lstStyle/>
          <a:p>
            <a:pPr indent="-230632" lvl="0" marL="365760" rtl="0" algn="l">
              <a:spcBef>
                <a:spcPts val="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CMYK (subtractive color model) is the standard color model used in offset printing for full-color documents. Because such printing uses inks of</a:t>
            </a:r>
            <a:endParaRPr sz="2000">
              <a:solidFill>
                <a:schemeClr val="dk1"/>
              </a:solidFill>
              <a:latin typeface="Calibri"/>
              <a:ea typeface="Calibri"/>
              <a:cs typeface="Calibri"/>
              <a:sym typeface="Calibri"/>
            </a:endParaRPr>
          </a:p>
          <a:p>
            <a:pPr indent="-256032" lvl="0" marL="365760" rtl="0" algn="l">
              <a:spcBef>
                <a:spcPts val="400"/>
              </a:spcBef>
              <a:spcAft>
                <a:spcPts val="0"/>
              </a:spcAft>
              <a:buSzPts val="1632"/>
              <a:buNone/>
            </a:pPr>
            <a:r>
              <a:rPr lang="en-US" sz="2000">
                <a:solidFill>
                  <a:schemeClr val="dk1"/>
                </a:solidFill>
                <a:latin typeface="Calibri"/>
                <a:ea typeface="Calibri"/>
                <a:cs typeface="Calibri"/>
                <a:sym typeface="Calibri"/>
              </a:rPr>
              <a:t>   these four basic colors, it is often called four-color printing.</a:t>
            </a:r>
            <a:endParaRPr sz="2000">
              <a:solidFill>
                <a:schemeClr val="dk1"/>
              </a:solidFill>
              <a:latin typeface="Calibri"/>
              <a:ea typeface="Calibri"/>
              <a:cs typeface="Calibri"/>
              <a:sym typeface="Calibri"/>
            </a:endParaRPr>
          </a:p>
          <a:p>
            <a:pPr indent="-256032" lvl="0" marL="365760" rtl="0" algn="l">
              <a:spcBef>
                <a:spcPts val="400"/>
              </a:spcBef>
              <a:spcAft>
                <a:spcPts val="0"/>
              </a:spcAft>
              <a:buSzPts val="1632"/>
              <a:buNone/>
            </a:pPr>
            <a:r>
              <a:rPr lang="en-US" sz="2000">
                <a:solidFill>
                  <a:schemeClr val="dk1"/>
                </a:solidFill>
                <a:latin typeface="Calibri"/>
                <a:ea typeface="Calibri"/>
                <a:cs typeface="Calibri"/>
                <a:sym typeface="Calibri"/>
              </a:rPr>
              <a:t> * A greenish blue called Cyan.</a:t>
            </a:r>
            <a:endParaRPr sz="2000">
              <a:solidFill>
                <a:schemeClr val="dk1"/>
              </a:solidFill>
              <a:latin typeface="Calibri"/>
              <a:ea typeface="Calibri"/>
              <a:cs typeface="Calibri"/>
              <a:sym typeface="Calibri"/>
            </a:endParaRPr>
          </a:p>
          <a:p>
            <a:pPr indent="-230632" lvl="0" marL="365760" rtl="0" algn="l">
              <a:spcBef>
                <a:spcPts val="40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A blushed red called Magenta.</a:t>
            </a:r>
            <a:endParaRPr sz="2000">
              <a:solidFill>
                <a:schemeClr val="dk1"/>
              </a:solidFill>
              <a:latin typeface="Calibri"/>
              <a:ea typeface="Calibri"/>
              <a:cs typeface="Calibri"/>
              <a:sym typeface="Calibri"/>
            </a:endParaRPr>
          </a:p>
          <a:p>
            <a:pPr indent="-230632" lvl="0" marL="365760" rtl="0" algn="l">
              <a:spcBef>
                <a:spcPts val="40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A bright Yellow.</a:t>
            </a:r>
            <a:endParaRPr sz="2000">
              <a:solidFill>
                <a:schemeClr val="dk1"/>
              </a:solidFill>
              <a:latin typeface="Calibri"/>
              <a:ea typeface="Calibri"/>
              <a:cs typeface="Calibri"/>
              <a:sym typeface="Calibri"/>
            </a:endParaRPr>
          </a:p>
          <a:p>
            <a:pPr indent="-230632" lvl="0" marL="365760" rtl="0" algn="l">
              <a:spcBef>
                <a:spcPts val="40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The key color Black</a:t>
            </a:r>
            <a:endParaRPr sz="2000">
              <a:solidFill>
                <a:schemeClr val="dk1"/>
              </a:solidFill>
              <a:latin typeface="Calibri"/>
              <a:ea typeface="Calibri"/>
              <a:cs typeface="Calibri"/>
              <a:sym typeface="Calibri"/>
            </a:endParaRPr>
          </a:p>
          <a:p>
            <a:pPr indent="-256032" lvl="0" marL="365760" rtl="0" algn="l">
              <a:spcBef>
                <a:spcPts val="400"/>
              </a:spcBef>
              <a:spcAft>
                <a:spcPts val="0"/>
              </a:spcAft>
              <a:buSzPts val="1632"/>
              <a:buNone/>
            </a:pPr>
            <a:r>
              <a:t/>
            </a:r>
            <a:endParaRPr sz="2000">
              <a:solidFill>
                <a:schemeClr val="dk1"/>
              </a:solidFill>
              <a:latin typeface="Calibri"/>
              <a:ea typeface="Calibri"/>
              <a:cs typeface="Calibri"/>
              <a:sym typeface="Calibri"/>
            </a:endParaRPr>
          </a:p>
        </p:txBody>
      </p:sp>
      <p:pic>
        <p:nvPicPr>
          <p:cNvPr id="203" name="Google Shape;203;p18"/>
          <p:cNvPicPr preferRelativeResize="0"/>
          <p:nvPr/>
        </p:nvPicPr>
        <p:blipFill rotWithShape="1">
          <a:blip r:embed="rId3">
            <a:alphaModFix/>
          </a:blip>
          <a:srcRect b="0" l="0" r="0" t="0"/>
          <a:stretch/>
        </p:blipFill>
        <p:spPr>
          <a:xfrm>
            <a:off x="5486400" y="3276600"/>
            <a:ext cx="3200400" cy="2743200"/>
          </a:xfrm>
          <a:prstGeom prst="rect">
            <a:avLst/>
          </a:prstGeom>
          <a:noFill/>
          <a:ln>
            <a:noFill/>
          </a:ln>
        </p:spPr>
      </p:pic>
      <p:sp>
        <p:nvSpPr>
          <p:cNvPr id="204" name="Google Shape;204;p18"/>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05" name="Google Shape;205;p18"/>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Cmyk color model </a:t>
            </a:r>
            <a:endParaRPr b="1" sz="800">
              <a:solidFill>
                <a:schemeClr val="dk1"/>
              </a:solidFill>
              <a:latin typeface="Georgia"/>
              <a:ea typeface="Georgia"/>
              <a:cs typeface="Georgia"/>
              <a:sym typeface="Georgia"/>
            </a:endParaRPr>
          </a:p>
        </p:txBody>
      </p:sp>
      <p:pic>
        <p:nvPicPr>
          <p:cNvPr id="206" name="Google Shape;206;p18"/>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idx="3" type="body"/>
          </p:nvPr>
        </p:nvSpPr>
        <p:spPr>
          <a:xfrm>
            <a:off x="457200" y="1444294"/>
            <a:ext cx="4040188" cy="4804106"/>
          </a:xfrm>
          <a:prstGeom prst="rect">
            <a:avLst/>
          </a:prstGeom>
          <a:noFill/>
          <a:ln>
            <a:noFill/>
          </a:ln>
        </p:spPr>
        <p:txBody>
          <a:bodyPr anchorCtr="0" anchor="t" bIns="45700" lIns="91425" spcFirstLastPara="1" rIns="91425" wrap="square" tIns="45700">
            <a:normAutofit/>
          </a:bodyPr>
          <a:lstStyle/>
          <a:p>
            <a:pPr indent="-256032" lvl="0" marL="365760" rtl="0" algn="l">
              <a:spcBef>
                <a:spcPts val="0"/>
              </a:spcBef>
              <a:spcAft>
                <a:spcPts val="0"/>
              </a:spcAft>
              <a:buClr>
                <a:schemeClr val="dk1"/>
              </a:buClr>
              <a:buSzPts val="1632"/>
              <a:buFont typeface="Calibri"/>
              <a:buChar char="●"/>
            </a:pPr>
            <a:r>
              <a:rPr lang="en-US">
                <a:solidFill>
                  <a:schemeClr val="dk1"/>
                </a:solidFill>
                <a:latin typeface="Calibri"/>
                <a:ea typeface="Calibri"/>
                <a:cs typeface="Calibri"/>
                <a:sym typeface="Calibri"/>
              </a:rPr>
              <a:t>Subtractive color model.</a:t>
            </a:r>
            <a:endParaRPr>
              <a:solidFill>
                <a:schemeClr val="dk1"/>
              </a:solidFill>
              <a:latin typeface="Calibri"/>
              <a:ea typeface="Calibri"/>
              <a:cs typeface="Calibri"/>
              <a:sym typeface="Calibri"/>
            </a:endParaRPr>
          </a:p>
          <a:p>
            <a:pPr indent="-256032" lvl="0" marL="365760" rtl="0" algn="l">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For printed material.</a:t>
            </a:r>
            <a:endParaRPr>
              <a:solidFill>
                <a:schemeClr val="dk1"/>
              </a:solidFill>
              <a:latin typeface="Calibri"/>
              <a:ea typeface="Calibri"/>
              <a:cs typeface="Calibri"/>
              <a:sym typeface="Calibri"/>
            </a:endParaRPr>
          </a:p>
          <a:p>
            <a:pPr indent="-256032" lvl="0" marL="365760" rtl="0" algn="l">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Uses ink  to display color.</a:t>
            </a:r>
            <a:endParaRPr>
              <a:solidFill>
                <a:schemeClr val="dk1"/>
              </a:solidFill>
              <a:latin typeface="Calibri"/>
              <a:ea typeface="Calibri"/>
              <a:cs typeface="Calibri"/>
              <a:sym typeface="Calibri"/>
            </a:endParaRPr>
          </a:p>
          <a:p>
            <a:pPr indent="-256032" lvl="0" marL="365760" rtl="0" algn="l">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Colors result from reflected light.</a:t>
            </a:r>
            <a:endParaRPr>
              <a:solidFill>
                <a:schemeClr val="dk1"/>
              </a:solidFill>
              <a:latin typeface="Calibri"/>
              <a:ea typeface="Calibri"/>
              <a:cs typeface="Calibri"/>
              <a:sym typeface="Calibri"/>
            </a:endParaRPr>
          </a:p>
          <a:p>
            <a:pPr indent="-256032" lvl="0" marL="365760" rtl="0" algn="l">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Cyan + Magenta + Yellow = Black.</a:t>
            </a:r>
            <a:endParaRPr>
              <a:solidFill>
                <a:schemeClr val="dk1"/>
              </a:solidFill>
              <a:latin typeface="Calibri"/>
              <a:ea typeface="Calibri"/>
              <a:cs typeface="Calibri"/>
              <a:sym typeface="Calibri"/>
            </a:endParaRPr>
          </a:p>
        </p:txBody>
      </p:sp>
      <p:pic>
        <p:nvPicPr>
          <p:cNvPr id="212" name="Google Shape;212;p19"/>
          <p:cNvPicPr preferRelativeResize="0"/>
          <p:nvPr>
            <p:ph idx="4" type="body"/>
          </p:nvPr>
        </p:nvPicPr>
        <p:blipFill rotWithShape="1">
          <a:blip r:embed="rId3">
            <a:alphaModFix/>
          </a:blip>
          <a:srcRect b="0" l="0" r="0" t="0"/>
          <a:stretch/>
        </p:blipFill>
        <p:spPr>
          <a:xfrm>
            <a:off x="4497401" y="1524000"/>
            <a:ext cx="4419600" cy="3276600"/>
          </a:xfrm>
          <a:prstGeom prst="rect">
            <a:avLst/>
          </a:prstGeom>
          <a:noFill/>
          <a:ln>
            <a:noFill/>
          </a:ln>
        </p:spPr>
      </p:pic>
      <p:sp>
        <p:nvSpPr>
          <p:cNvPr id="213" name="Google Shape;213;p19"/>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14" name="Google Shape;214;p19"/>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Cmyk color model </a:t>
            </a:r>
            <a:endParaRPr b="1" sz="800">
              <a:solidFill>
                <a:schemeClr val="dk1"/>
              </a:solidFill>
              <a:latin typeface="Georgia"/>
              <a:ea typeface="Georgia"/>
              <a:cs typeface="Georgia"/>
              <a:sym typeface="Georgia"/>
            </a:endParaRPr>
          </a:p>
        </p:txBody>
      </p:sp>
      <p:pic>
        <p:nvPicPr>
          <p:cNvPr id="215" name="Google Shape;215;p19"/>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68732" lvl="0" marL="365760" rtl="0" algn="l">
              <a:spcBef>
                <a:spcPts val="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The CMY color model is used in color printers.</a:t>
            </a:r>
            <a:endParaRPr sz="2000">
              <a:solidFill>
                <a:schemeClr val="dk1"/>
              </a:solidFill>
              <a:latin typeface="Calibri"/>
              <a:ea typeface="Calibri"/>
              <a:cs typeface="Calibri"/>
              <a:sym typeface="Calibri"/>
            </a:endParaRPr>
          </a:p>
          <a:p>
            <a:pPr indent="-268732" lvl="0" marL="365760" rtl="0" algn="l">
              <a:spcBef>
                <a:spcPts val="40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It is created by the subtractive mode</a:t>
            </a:r>
            <a:endParaRPr sz="2000">
              <a:solidFill>
                <a:schemeClr val="dk1"/>
              </a:solidFill>
              <a:latin typeface="Calibri"/>
              <a:ea typeface="Calibri"/>
              <a:cs typeface="Calibri"/>
              <a:sym typeface="Calibri"/>
            </a:endParaRPr>
          </a:p>
          <a:p>
            <a:pPr indent="-268732" lvl="0" marL="365760" rtl="0" algn="l">
              <a:spcBef>
                <a:spcPts val="40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Used in most commercial color printing (Books, Magazines etc.).</a:t>
            </a:r>
            <a:endParaRPr sz="2000">
              <a:solidFill>
                <a:schemeClr val="dk1"/>
              </a:solidFill>
              <a:latin typeface="Calibri"/>
              <a:ea typeface="Calibri"/>
              <a:cs typeface="Calibri"/>
              <a:sym typeface="Calibri"/>
            </a:endParaRPr>
          </a:p>
        </p:txBody>
      </p:sp>
      <p:sp>
        <p:nvSpPr>
          <p:cNvPr id="221" name="Google Shape;221;p20"/>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22" name="Google Shape;222;p20"/>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4100"/>
              <a:buFont typeface="Lucida Sans"/>
              <a:buNone/>
            </a:pPr>
            <a:r>
              <a:rPr lang="en-US" sz="2800">
                <a:solidFill>
                  <a:schemeClr val="dk1"/>
                </a:solidFill>
              </a:rPr>
              <a:t>Importance of cymk color model</a:t>
            </a:r>
            <a:endParaRPr sz="2600">
              <a:solidFill>
                <a:schemeClr val="dk1"/>
              </a:solidFill>
              <a:latin typeface="Verdana"/>
              <a:ea typeface="Verdana"/>
              <a:cs typeface="Verdana"/>
              <a:sym typeface="Verdana"/>
            </a:endParaRPr>
          </a:p>
        </p:txBody>
      </p:sp>
      <p:pic>
        <p:nvPicPr>
          <p:cNvPr id="223" name="Google Shape;223;p20"/>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1"/>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125731" lvl="0" marL="271463" rtl="0" algn="l">
              <a:spcBef>
                <a:spcPts val="0"/>
              </a:spcBef>
              <a:spcAft>
                <a:spcPts val="0"/>
              </a:spcAft>
              <a:buClr>
                <a:srgbClr val="94B6D2"/>
              </a:buClr>
              <a:buSzPts val="2295"/>
              <a:buFont typeface="Noto Sans Symbols"/>
              <a:buNone/>
            </a:pPr>
            <a:r>
              <a:t/>
            </a:r>
            <a:endParaRPr>
              <a:solidFill>
                <a:schemeClr val="dk1"/>
              </a:solidFill>
            </a:endParaRPr>
          </a:p>
          <a:p>
            <a:pPr indent="0" lvl="0" marL="0" rtl="0" algn="l">
              <a:spcBef>
                <a:spcPts val="400"/>
              </a:spcBef>
              <a:spcAft>
                <a:spcPts val="0"/>
              </a:spcAft>
              <a:buNone/>
            </a:pPr>
            <a:r>
              <a:rPr lang="en-US" sz="2000">
                <a:solidFill>
                  <a:schemeClr val="dk1"/>
                </a:solidFill>
                <a:latin typeface="Calibri"/>
                <a:ea typeface="Calibri"/>
                <a:cs typeface="Calibri"/>
                <a:sym typeface="Calibri"/>
              </a:rPr>
              <a:t>1) Less color process / screen for print.</a:t>
            </a:r>
            <a:endParaRPr sz="2000">
              <a:solidFill>
                <a:schemeClr val="dk1"/>
              </a:solidFill>
              <a:latin typeface="Calibri"/>
              <a:ea typeface="Calibri"/>
              <a:cs typeface="Calibri"/>
              <a:sym typeface="Calibri"/>
            </a:endParaRPr>
          </a:p>
          <a:p>
            <a:pPr indent="0" lvl="0" marL="0" rtl="0" algn="l">
              <a:spcBef>
                <a:spcPts val="400"/>
              </a:spcBef>
              <a:spcAft>
                <a:spcPts val="0"/>
              </a:spcAft>
              <a:buNone/>
            </a:pPr>
            <a:r>
              <a:rPr lang="en-US" sz="2000">
                <a:solidFill>
                  <a:schemeClr val="dk1"/>
                </a:solidFill>
                <a:latin typeface="Calibri"/>
                <a:ea typeface="Calibri"/>
                <a:cs typeface="Calibri"/>
                <a:sym typeface="Calibri"/>
              </a:rPr>
              <a:t>2) More productivity.</a:t>
            </a:r>
            <a:endParaRPr sz="2000">
              <a:solidFill>
                <a:schemeClr val="dk1"/>
              </a:solidFill>
              <a:latin typeface="Calibri"/>
              <a:ea typeface="Calibri"/>
              <a:cs typeface="Calibri"/>
              <a:sym typeface="Calibri"/>
            </a:endParaRPr>
          </a:p>
          <a:p>
            <a:pPr indent="0" lvl="0" marL="0" rtl="0" algn="l">
              <a:spcBef>
                <a:spcPts val="400"/>
              </a:spcBef>
              <a:spcAft>
                <a:spcPts val="0"/>
              </a:spcAft>
              <a:buNone/>
            </a:pPr>
            <a:r>
              <a:rPr lang="en-US" sz="2000">
                <a:solidFill>
                  <a:schemeClr val="dk1"/>
                </a:solidFill>
                <a:latin typeface="Calibri"/>
                <a:ea typeface="Calibri"/>
                <a:cs typeface="Calibri"/>
                <a:sym typeface="Calibri"/>
              </a:rPr>
              <a:t>3) Cost minimizing.</a:t>
            </a:r>
            <a:endParaRPr sz="2000">
              <a:solidFill>
                <a:schemeClr val="dk1"/>
              </a:solidFill>
              <a:latin typeface="Calibri"/>
              <a:ea typeface="Calibri"/>
              <a:cs typeface="Calibri"/>
              <a:sym typeface="Calibri"/>
            </a:endParaRPr>
          </a:p>
          <a:p>
            <a:pPr indent="0" lvl="0" marL="0" rtl="0" algn="l">
              <a:spcBef>
                <a:spcPts val="400"/>
              </a:spcBef>
              <a:spcAft>
                <a:spcPts val="0"/>
              </a:spcAft>
              <a:buNone/>
            </a:pPr>
            <a:r>
              <a:rPr lang="en-US" sz="2000">
                <a:solidFill>
                  <a:schemeClr val="dk1"/>
                </a:solidFill>
                <a:latin typeface="Calibri"/>
                <a:ea typeface="Calibri"/>
                <a:cs typeface="Calibri"/>
                <a:sym typeface="Calibri"/>
              </a:rPr>
              <a:t>4) Good hand feel because of using less color on ground.</a:t>
            </a:r>
            <a:endParaRPr sz="2000">
              <a:solidFill>
                <a:schemeClr val="dk1"/>
              </a:solidFill>
              <a:latin typeface="Calibri"/>
              <a:ea typeface="Calibri"/>
              <a:cs typeface="Calibri"/>
              <a:sym typeface="Calibri"/>
            </a:endParaRPr>
          </a:p>
          <a:p>
            <a:pPr indent="0" lvl="0" marL="0" rtl="0" algn="l">
              <a:spcBef>
                <a:spcPts val="400"/>
              </a:spcBef>
              <a:spcAft>
                <a:spcPts val="0"/>
              </a:spcAft>
              <a:buNone/>
            </a:pPr>
            <a:r>
              <a:rPr lang="en-US" sz="2000">
                <a:solidFill>
                  <a:schemeClr val="dk1"/>
                </a:solidFill>
                <a:latin typeface="Calibri"/>
                <a:ea typeface="Calibri"/>
                <a:cs typeface="Calibri"/>
                <a:sym typeface="Calibri"/>
              </a:rPr>
              <a:t>5) CMYK color can be used for different item of print because of common color way.</a:t>
            </a:r>
            <a:endParaRPr sz="2000">
              <a:solidFill>
                <a:schemeClr val="dk1"/>
              </a:solidFill>
              <a:latin typeface="Calibri"/>
              <a:ea typeface="Calibri"/>
              <a:cs typeface="Calibri"/>
              <a:sym typeface="Calibri"/>
            </a:endParaRPr>
          </a:p>
        </p:txBody>
      </p:sp>
      <p:sp>
        <p:nvSpPr>
          <p:cNvPr id="229" name="Google Shape;229;p21"/>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30" name="Google Shape;230;p21"/>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spcBef>
                <a:spcPts val="0"/>
              </a:spcBef>
              <a:spcAft>
                <a:spcPts val="0"/>
              </a:spcAft>
              <a:buClr>
                <a:srgbClr val="B4490F"/>
              </a:buClr>
              <a:buSzPts val="3410"/>
              <a:buFont typeface="Libre Baskerville"/>
              <a:buNone/>
            </a:pPr>
            <a:r>
              <a:rPr lang="en-US" sz="2610">
                <a:solidFill>
                  <a:schemeClr val="dk1"/>
                </a:solidFill>
              </a:rPr>
              <a:t>Advantages of CMYK technique</a:t>
            </a:r>
            <a:endParaRPr b="1" sz="200">
              <a:solidFill>
                <a:schemeClr val="dk1"/>
              </a:solidFill>
            </a:endParaRPr>
          </a:p>
        </p:txBody>
      </p:sp>
      <p:pic>
        <p:nvPicPr>
          <p:cNvPr id="231" name="Google Shape;231;p21"/>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e92e9ffd75_1_425"/>
          <p:cNvSpPr txBox="1"/>
          <p:nvPr>
            <p:ph idx="1" type="body"/>
          </p:nvPr>
        </p:nvSpPr>
        <p:spPr>
          <a:xfrm>
            <a:off x="402550" y="1481328"/>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1200"/>
              </a:spcBef>
              <a:spcAft>
                <a:spcPts val="0"/>
              </a:spcAft>
              <a:buClr>
                <a:schemeClr val="dk1"/>
              </a:buClr>
              <a:buSzPts val="1100"/>
              <a:buFont typeface="Arial"/>
              <a:buNone/>
            </a:pPr>
            <a:r>
              <a:t/>
            </a:r>
            <a:endParaRPr sz="2000">
              <a:solidFill>
                <a:schemeClr val="dk1"/>
              </a:solidFill>
              <a:latin typeface="Calibri"/>
              <a:ea typeface="Calibri"/>
              <a:cs typeface="Calibri"/>
              <a:sym typeface="Calibri"/>
            </a:endParaRPr>
          </a:p>
          <a:p>
            <a:pPr indent="-355600" lvl="0" marL="457200" rtl="0" algn="l">
              <a:spcBef>
                <a:spcPts val="12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Represents colors closer to human perception</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Hue = actual color</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Saturation = purity</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Intensity/Value = brightness</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Used in Photoshop, color pickers, image segmentation</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HSV is a color model widely used in image editing, color selection tools, and computer vision because it represents colors similarly to human perception </a:t>
            </a:r>
            <a:endParaRPr sz="2000">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endParaRPr>
          </a:p>
        </p:txBody>
      </p:sp>
      <p:sp>
        <p:nvSpPr>
          <p:cNvPr id="237" name="Google Shape;237;g3e92e9ffd75_1_425"/>
          <p:cNvSpPr txBox="1"/>
          <p:nvPr>
            <p:ph idx="12" type="sldNum"/>
          </p:nvPr>
        </p:nvSpPr>
        <p:spPr>
          <a:xfrm>
            <a:off x="8592622" y="6407944"/>
            <a:ext cx="365700" cy="365100"/>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38" name="Google Shape;238;g3e92e9ffd75_1_425"/>
          <p:cNvSpPr txBox="1"/>
          <p:nvPr/>
        </p:nvSpPr>
        <p:spPr>
          <a:xfrm>
            <a:off x="57400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lnSpc>
                <a:spcPct val="115000"/>
              </a:lnSpc>
              <a:spcBef>
                <a:spcPts val="1800"/>
              </a:spcBef>
              <a:spcAft>
                <a:spcPts val="400"/>
              </a:spcAft>
              <a:buClr>
                <a:schemeClr val="dk1"/>
              </a:buClr>
              <a:buSzPts val="1100"/>
              <a:buFont typeface="Arial"/>
              <a:buNone/>
            </a:pPr>
            <a:r>
              <a:rPr lang="en-US" sz="2600">
                <a:solidFill>
                  <a:schemeClr val="dk1"/>
                </a:solidFill>
              </a:rPr>
              <a:t>HSV / HSI Model</a:t>
            </a:r>
            <a:endParaRPr sz="2800">
              <a:solidFill>
                <a:schemeClr val="dk1"/>
              </a:solidFill>
              <a:latin typeface="Georgia"/>
              <a:ea typeface="Georgia"/>
              <a:cs typeface="Georgia"/>
              <a:sym typeface="Georgia"/>
            </a:endParaRPr>
          </a:p>
        </p:txBody>
      </p:sp>
      <p:pic>
        <p:nvPicPr>
          <p:cNvPr id="239" name="Google Shape;239;g3e92e9ffd75_1_425"/>
          <p:cNvPicPr preferRelativeResize="0"/>
          <p:nvPr/>
        </p:nvPicPr>
        <p:blipFill rotWithShape="1">
          <a:blip r:embed="rId3">
            <a:alphaModFix/>
          </a:blip>
          <a:srcRect b="0" l="0" r="0" t="0"/>
          <a:stretch/>
        </p:blipFill>
        <p:spPr>
          <a:xfrm>
            <a:off x="8072500" y="482200"/>
            <a:ext cx="1224300" cy="612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e92e9ffd75_1_432"/>
          <p:cNvSpPr txBox="1"/>
          <p:nvPr>
            <p:ph idx="1" type="body"/>
          </p:nvPr>
        </p:nvSpPr>
        <p:spPr>
          <a:xfrm>
            <a:off x="457200" y="1481328"/>
            <a:ext cx="8229600" cy="4526100"/>
          </a:xfrm>
          <a:prstGeom prst="rect">
            <a:avLst/>
          </a:prstGeom>
          <a:noFill/>
          <a:ln>
            <a:noFill/>
          </a:ln>
        </p:spPr>
        <p:txBody>
          <a:bodyPr anchorCtr="0" anchor="t" bIns="45700" lIns="91425" spcFirstLastPara="1" rIns="91425" wrap="square" tIns="45700">
            <a:normAutofit/>
          </a:bodyPr>
          <a:lstStyle/>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361950" lvl="0" marL="457200" rtl="0" algn="l">
              <a:spcBef>
                <a:spcPts val="120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Separates brightness from color information</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Used in television and video compression</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Y = luminance</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U/V or I/Q = chrominance</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YUV is a color model used in television broadcasting and video compression where brightness information is separated from color information </a:t>
            </a:r>
            <a:endParaRPr sz="2100">
              <a:solidFill>
                <a:schemeClr val="dk1"/>
              </a:solidFill>
              <a:latin typeface="Calibri"/>
              <a:ea typeface="Calibri"/>
              <a:cs typeface="Calibri"/>
              <a:sym typeface="Calibri"/>
            </a:endParaRPr>
          </a:p>
          <a:p>
            <a:pPr indent="0" lvl="0" marL="0" rtl="0" algn="l">
              <a:spcBef>
                <a:spcPts val="1200"/>
              </a:spcBef>
              <a:spcAft>
                <a:spcPts val="0"/>
              </a:spcAft>
              <a:buNone/>
            </a:pPr>
            <a:r>
              <a:t/>
            </a:r>
            <a:endParaRPr sz="2000">
              <a:solidFill>
                <a:schemeClr val="dk1"/>
              </a:solidFill>
              <a:latin typeface="Calibri"/>
              <a:ea typeface="Calibri"/>
              <a:cs typeface="Calibri"/>
              <a:sym typeface="Calibri"/>
            </a:endParaRPr>
          </a:p>
        </p:txBody>
      </p:sp>
      <p:sp>
        <p:nvSpPr>
          <p:cNvPr id="245" name="Google Shape;245;g3e92e9ffd75_1_432"/>
          <p:cNvSpPr txBox="1"/>
          <p:nvPr>
            <p:ph idx="12" type="sldNum"/>
          </p:nvPr>
        </p:nvSpPr>
        <p:spPr>
          <a:xfrm>
            <a:off x="8647272" y="6407944"/>
            <a:ext cx="365700" cy="365100"/>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46" name="Google Shape;246;g3e92e9ffd75_1_43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l">
              <a:lnSpc>
                <a:spcPct val="115000"/>
              </a:lnSpc>
              <a:spcBef>
                <a:spcPts val="1800"/>
              </a:spcBef>
              <a:spcAft>
                <a:spcPts val="400"/>
              </a:spcAft>
              <a:buClr>
                <a:schemeClr val="dk1"/>
              </a:buClr>
              <a:buSzPts val="1100"/>
              <a:buFont typeface="Arial"/>
              <a:buNone/>
            </a:pPr>
            <a:r>
              <a:rPr lang="en-US" sz="1700">
                <a:solidFill>
                  <a:schemeClr val="dk1"/>
                </a:solidFill>
              </a:rPr>
              <a:t> </a:t>
            </a:r>
            <a:r>
              <a:rPr lang="en-US" sz="2600">
                <a:solidFill>
                  <a:schemeClr val="dk1"/>
                </a:solidFill>
              </a:rPr>
              <a:t>YUV / YIQ Model</a:t>
            </a:r>
            <a:endParaRPr sz="1100">
              <a:solidFill>
                <a:schemeClr val="dk1"/>
              </a:solidFill>
              <a:latin typeface="Georgia"/>
              <a:ea typeface="Georgia"/>
              <a:cs typeface="Georgia"/>
              <a:sym typeface="Georgia"/>
            </a:endParaRPr>
          </a:p>
        </p:txBody>
      </p:sp>
      <p:pic>
        <p:nvPicPr>
          <p:cNvPr id="247" name="Google Shape;247;g3e92e9ffd75_1_432"/>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e92e9ffd75_1_2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253" name="Google Shape;253;g3e92e9ffd75_1_216"/>
          <p:cNvPicPr preferRelativeResize="0"/>
          <p:nvPr>
            <p:ph idx="1" type="body"/>
          </p:nvPr>
        </p:nvPicPr>
        <p:blipFill rotWithShape="1">
          <a:blip r:embed="rId3">
            <a:alphaModFix/>
          </a:blip>
          <a:srcRect b="0" l="0" r="0" t="0"/>
          <a:stretch/>
        </p:blipFill>
        <p:spPr>
          <a:xfrm>
            <a:off x="1671637" y="1295400"/>
            <a:ext cx="5800800" cy="4351200"/>
          </a:xfrm>
          <a:prstGeom prst="rect">
            <a:avLst/>
          </a:prstGeom>
          <a:noFill/>
          <a:ln>
            <a:noFill/>
          </a:ln>
        </p:spPr>
      </p:pic>
      <p:pic>
        <p:nvPicPr>
          <p:cNvPr id="254" name="Google Shape;254;g3e92e9ffd75_1_216"/>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Mirza</dc:creator>
</cp:coreProperties>
</file>