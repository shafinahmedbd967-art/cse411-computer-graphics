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9144000"/>
  <p:notesSz cx="9296400" cy="7010400"/>
  <p:embeddedFontLst>
    <p:embeddedFont>
      <p:font typeface="Roboto"/>
      <p:regular r:id="rId36"/>
      <p:bold r:id="rId37"/>
      <p:italic r:id="rId38"/>
      <p:boldItalic r:id="rId39"/>
    </p:embeddedFont>
    <p:embeddedFont>
      <p:font typeface="Tahoma"/>
      <p:regular r:id="rId40"/>
      <p:bold r:id="rId41"/>
    </p:embeddedFon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46" roundtripDataSignature="AMtx7mjpliLWaB1umUvm++RtnUZ4S0jQ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43356A-074F-4506-9177-09A2BBA789F6}">
  <a:tblStyle styleId="{C743356A-074F-4506-9177-09A2BBA789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4.xml"/><Relationship Id="rId42" Type="http://schemas.openxmlformats.org/officeDocument/2006/relationships/font" Target="fonts/CenturyGothic-regular.fntdata"/><Relationship Id="rId41" Type="http://schemas.openxmlformats.org/officeDocument/2006/relationships/font" Target="fonts/Tahoma-bold.fntdata"/><Relationship Id="rId22" Type="http://schemas.openxmlformats.org/officeDocument/2006/relationships/slide" Target="slides/slide16.xml"/><Relationship Id="rId44" Type="http://schemas.openxmlformats.org/officeDocument/2006/relationships/font" Target="fonts/CenturyGothic-italic.fntdata"/><Relationship Id="rId21" Type="http://schemas.openxmlformats.org/officeDocument/2006/relationships/slide" Target="slides/slide15.xml"/><Relationship Id="rId43" Type="http://schemas.openxmlformats.org/officeDocument/2006/relationships/font" Target="fonts/CenturyGothic-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7" name="Google Shape;107;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8" name="Google Shape;118;p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b5fbf5691_0_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7" name="Google Shape;127;g3bb5fbf5691_0_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b5fbf5691_0_39: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0" name="Google Shape;140;g3bb5fbf5691_0_39: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b5fbf5691_0_10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7" name="Google Shape;177;g3bb5fbf5691_0_10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b5fbf5691_0_12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6" name="Google Shape;186;g3bb5fbf5691_0_12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b5fbf5691_0_19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2" name="Google Shape;202;g3bb5fbf5691_0_19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b5fbf5691_0_24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7" name="Google Shape;227;g3bb5fbf5691_0_24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b5fbf5691_0_28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0" name="Google Shape;240;g3bb5fbf5691_0_28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b5fbf5691_0_15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3" name="Google Shape;253;g3bb5fbf5691_0_15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b5fbf5691_0_23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66" name="Google Shape;266;g3bb5fbf5691_0_23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be9322812_0_2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81" name="Google Shape;281;g3bbe9322812_0_2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be9322812_0_4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7" name="Google Shape;297;g3bbe9322812_0_4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be9322812_0_7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1" name="Google Shape;311;g3bbe9322812_0_7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bb5fbf5691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25" name="Google Shape;325;g3bb5fbf5691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be9322812_0_10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6" name="Google Shape;336;g3bbe9322812_0_10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bbe9322812_0_13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50" name="Google Shape;350;g3bbe9322812_0_13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bbe9322812_0_15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64" name="Google Shape;364;g3bbe9322812_0_15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be9322812_0_22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78" name="Google Shape;378;g3bbe9322812_0_22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bbe9322812_0_24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8" name="Google Shape;398;g3bbe9322812_0_24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bbe9322812_0_26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11" name="Google Shape;411;g3bbe9322812_0_26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be9322812_0_29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28" name="Google Shape;428;g3bbe9322812_0_29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bbe9322812_0_317: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43" name="Google Shape;443;g3bbe9322812_0_3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be9322812_0_33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56" name="Google Shape;456;g3bbe9322812_0_33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be9322812_0_3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71" name="Google Shape;471;g3bbe9322812_0_3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bbe9322812_0_36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84" name="Google Shape;484;g3bbe9322812_0_36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94" name="Google Shape;494;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gif"/><Relationship Id="rId9"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7.pn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5.gif"/><Relationship Id="rId5" Type="http://schemas.openxmlformats.org/officeDocument/2006/relationships/image" Target="../media/image27.png"/><Relationship Id="rId6"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37.png"/><Relationship Id="rId6" Type="http://schemas.openxmlformats.org/officeDocument/2006/relationships/image" Target="../media/image34.png"/><Relationship Id="rId7" Type="http://schemas.openxmlformats.org/officeDocument/2006/relationships/image" Target="../media/image45.png"/><Relationship Id="rId8"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5.png"/><Relationship Id="rId9"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36.png"/><Relationship Id="rId7" Type="http://schemas.openxmlformats.org/officeDocument/2006/relationships/image" Target="../media/image68.png"/><Relationship Id="rId8"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51.png"/><Relationship Id="rId5"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3.png"/><Relationship Id="rId5"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2.png"/><Relationship Id="rId5" Type="http://schemas.openxmlformats.org/officeDocument/2006/relationships/image" Target="../media/image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8.gif"/><Relationship Id="rId5" Type="http://schemas.openxmlformats.org/officeDocument/2006/relationships/image" Target="../media/image50.png"/><Relationship Id="rId6"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2.png"/><Relationship Id="rId5" Type="http://schemas.openxmlformats.org/officeDocument/2006/relationships/image" Target="../media/image5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64.png"/><Relationship Id="rId5" Type="http://schemas.openxmlformats.org/officeDocument/2006/relationships/image" Target="../media/image6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57.png"/><Relationship Id="rId5"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969809"/>
            <a:ext cx="6838500" cy="9873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lang="en-US" sz="3094">
                <a:latin typeface="Times New Roman"/>
                <a:ea typeface="Times New Roman"/>
                <a:cs typeface="Times New Roman"/>
                <a:sym typeface="Times New Roman"/>
              </a:rPr>
              <a:t>Lecture 6</a:t>
            </a:r>
            <a:br>
              <a:rPr b="1" i="0" lang="en-US" sz="3094" u="none">
                <a:solidFill>
                  <a:schemeClr val="dk1"/>
                </a:solidFill>
                <a:latin typeface="Times New Roman"/>
                <a:ea typeface="Times New Roman"/>
                <a:cs typeface="Times New Roman"/>
                <a:sym typeface="Times New Roman"/>
              </a:rPr>
            </a:br>
            <a:r>
              <a:rPr b="1" lang="en-US" sz="3094">
                <a:solidFill>
                  <a:srgbClr val="0B5394"/>
                </a:solidFill>
                <a:latin typeface="Times New Roman"/>
                <a:ea typeface="Times New Roman"/>
                <a:cs typeface="Times New Roman"/>
                <a:sym typeface="Times New Roman"/>
              </a:rPr>
              <a:t>2D Transformation</a:t>
            </a:r>
            <a:endParaRPr sz="3094">
              <a:solidFill>
                <a:srgbClr val="85200C"/>
              </a:solidFill>
              <a:latin typeface="Times New Roman"/>
              <a:ea typeface="Times New Roman"/>
              <a:cs typeface="Times New Roman"/>
              <a:sym typeface="Times New Roman"/>
            </a:endParaRPr>
          </a:p>
        </p:txBody>
      </p:sp>
      <p:sp>
        <p:nvSpPr>
          <p:cNvPr descr="Diu Logo PNG Images - CleanPNG" id="90" name="Google Shape;90;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1" name="Google Shape;91;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2" name="Google Shape;92;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3" name="Google Shape;93;p1"/>
          <p:cNvPicPr preferRelativeResize="0"/>
          <p:nvPr/>
        </p:nvPicPr>
        <p:blipFill rotWithShape="1">
          <a:blip r:embed="rId4">
            <a:alphaModFix/>
          </a:blip>
          <a:srcRect b="8635" l="5615" r="11562" t="3336"/>
          <a:stretch/>
        </p:blipFill>
        <p:spPr>
          <a:xfrm>
            <a:off x="2783351" y="2136110"/>
            <a:ext cx="3831548" cy="2324449"/>
          </a:xfrm>
          <a:prstGeom prst="rect">
            <a:avLst/>
          </a:prstGeom>
          <a:noFill/>
          <a:ln>
            <a:noFill/>
          </a:ln>
        </p:spPr>
      </p:pic>
      <p:graphicFrame>
        <p:nvGraphicFramePr>
          <p:cNvPr id="94" name="Google Shape;94;p1"/>
          <p:cNvGraphicFramePr/>
          <p:nvPr/>
        </p:nvGraphicFramePr>
        <p:xfrm>
          <a:off x="1551262" y="4794851"/>
          <a:ext cx="3000000" cy="3000000"/>
        </p:xfrm>
        <a:graphic>
          <a:graphicData uri="http://schemas.openxmlformats.org/drawingml/2006/table">
            <a:tbl>
              <a:tblPr>
                <a:noFill/>
                <a:tableStyleId>{C743356A-074F-4506-9177-09A2BBA789F6}</a:tableStyleId>
              </a:tblPr>
              <a:tblGrid>
                <a:gridCol w="3873550"/>
                <a:gridCol w="2766750"/>
              </a:tblGrid>
              <a:tr h="381000">
                <a:tc>
                  <a:txBody>
                    <a:bodyPr/>
                    <a:lstStyle/>
                    <a:p>
                      <a:pPr indent="0" lvl="0" marL="0" rtl="0" algn="l">
                        <a:lnSpc>
                          <a:spcPct val="90000"/>
                        </a:lnSpc>
                        <a:spcBef>
                          <a:spcPts val="700"/>
                        </a:spcBef>
                        <a:spcAft>
                          <a:spcPts val="0"/>
                        </a:spcAft>
                        <a:buClr>
                          <a:srgbClr val="000000"/>
                        </a:buClr>
                        <a:buSzPts val="1800"/>
                        <a:buFont typeface="Arial"/>
                        <a:buNone/>
                      </a:pPr>
                      <a:r>
                        <a:rPr b="1" lang="en-US" sz="1700">
                          <a:solidFill>
                            <a:srgbClr val="000000"/>
                          </a:solidFill>
                          <a:latin typeface="Cambria"/>
                          <a:ea typeface="Cambria"/>
                          <a:cs typeface="Cambria"/>
                          <a:sym typeface="Cambria"/>
                        </a:rPr>
                        <a:t>Prepared by</a:t>
                      </a:r>
                      <a:endParaRPr b="1"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latin typeface="Cambria"/>
                          <a:ea typeface="Cambria"/>
                          <a:cs typeface="Cambria"/>
                          <a:sym typeface="Cambria"/>
                        </a:rPr>
                        <a:t>Syada Tasmia Alvi</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Senior Lecturer</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90000"/>
                        </a:lnSpc>
                        <a:spcBef>
                          <a:spcPts val="700"/>
                        </a:spcBef>
                        <a:spcAft>
                          <a:spcPts val="0"/>
                        </a:spcAft>
                        <a:buClr>
                          <a:srgbClr val="000000"/>
                        </a:buClr>
                        <a:buSzPts val="1800"/>
                        <a:buFont typeface="Arial"/>
                        <a:buNone/>
                      </a:pPr>
                      <a:r>
                        <a:rPr b="1" lang="en-US" sz="1700">
                          <a:latin typeface="Cambria"/>
                          <a:ea typeface="Cambria"/>
                          <a:cs typeface="Cambria"/>
                          <a:sym typeface="Cambria"/>
                        </a:rPr>
                        <a:t>Updated by</a:t>
                      </a:r>
                      <a:endParaRPr b="1"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None/>
                      </a:pPr>
                      <a:r>
                        <a:rPr lang="en-US" sz="1700">
                          <a:solidFill>
                            <a:srgbClr val="000000"/>
                          </a:solidFill>
                          <a:latin typeface="Cambria"/>
                          <a:ea typeface="Cambria"/>
                          <a:cs typeface="Cambria"/>
                          <a:sym typeface="Cambria"/>
                        </a:rPr>
                        <a:t>Nushrat Jahan Oyshi</a:t>
                      </a:r>
                      <a:br>
                        <a:rPr lang="en-US" sz="1700">
                          <a:solidFill>
                            <a:srgbClr val="000000"/>
                          </a:solidFill>
                          <a:latin typeface="Cambria"/>
                          <a:ea typeface="Cambria"/>
                          <a:cs typeface="Cambria"/>
                          <a:sym typeface="Cambria"/>
                        </a:rPr>
                      </a:br>
                      <a:r>
                        <a:rPr lang="en-US" sz="1700">
                          <a:solidFill>
                            <a:srgbClr val="000000"/>
                          </a:solidFill>
                          <a:latin typeface="Cambria"/>
                          <a:ea typeface="Cambria"/>
                          <a:cs typeface="Cambria"/>
                          <a:sym typeface="Cambria"/>
                        </a:rPr>
                        <a:t>Lecturer</a:t>
                      </a:r>
                      <a:endParaRPr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Transformations</a:t>
            </a:r>
            <a:endParaRPr b="0" i="0" sz="4000" u="none" cap="none" strike="noStrike">
              <a:solidFill>
                <a:schemeClr val="lt1"/>
              </a:solidFill>
              <a:latin typeface="Calibri"/>
              <a:ea typeface="Calibri"/>
              <a:cs typeface="Calibri"/>
              <a:sym typeface="Calibri"/>
            </a:endParaRPr>
          </a:p>
        </p:txBody>
      </p:sp>
      <p:sp>
        <p:nvSpPr>
          <p:cNvPr id="103" name="Google Shape;103;p2"/>
          <p:cNvSpPr txBox="1"/>
          <p:nvPr/>
        </p:nvSpPr>
        <p:spPr>
          <a:xfrm>
            <a:off x="152400" y="1128675"/>
            <a:ext cx="8624700" cy="3570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What are transformations?</a:t>
            </a:r>
            <a:endParaRPr b="0" i="0" sz="2000" u="none" cap="none" strike="noStrike">
              <a:solidFill>
                <a:srgbClr val="000000"/>
              </a:solidFill>
              <a:latin typeface="Times New Roman"/>
              <a:ea typeface="Times New Roman"/>
              <a:cs typeface="Times New Roman"/>
              <a:sym typeface="Times New Roman"/>
            </a:endParaRPr>
          </a:p>
          <a:p>
            <a:pPr indent="0" lvl="0" marL="914400" marR="0" rtl="0" algn="just">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The geometrical changes of an object from a current state to a modified state.</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Why are the transformations needed?</a:t>
            </a:r>
            <a:endParaRPr b="0" i="0" sz="2000" u="none" cap="none" strike="noStrike">
              <a:solidFill>
                <a:srgbClr val="000000"/>
              </a:solidFill>
              <a:latin typeface="Times New Roman"/>
              <a:ea typeface="Times New Roman"/>
              <a:cs typeface="Times New Roman"/>
              <a:sym typeface="Times New Roman"/>
            </a:endParaRPr>
          </a:p>
          <a:p>
            <a:pPr indent="0" lvl="0" marL="914400" marR="0" rtl="0" algn="just">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To manipulate the initially created object and to display the modified object without having to redraw it.</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Two-Dimensional Shape: That which has two dimensions, i.e., height and width.</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2D shapes do not have any thickness.</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A point is 2-dimensional, and a line is one-dimensional.</a:t>
            </a:r>
            <a:endParaRPr b="0" i="0" sz="2000" u="none" cap="none" strike="noStrike">
              <a:solidFill>
                <a:srgbClr val="000000"/>
              </a:solidFill>
              <a:latin typeface="Times New Roman"/>
              <a:ea typeface="Times New Roman"/>
              <a:cs typeface="Times New Roman"/>
              <a:sym typeface="Times New Roman"/>
            </a:endParaRPr>
          </a:p>
          <a:p>
            <a:pPr indent="-355600" lvl="1" marL="914400" marR="0" rtl="0" algn="just">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Example of 2-Dimensional Shapes:</a:t>
            </a:r>
            <a:endParaRPr b="0" i="0" sz="2000" u="none" cap="none" strike="noStrike">
              <a:solidFill>
                <a:srgbClr val="000000"/>
              </a:solidFill>
              <a:latin typeface="Times New Roman"/>
              <a:ea typeface="Times New Roman"/>
              <a:cs typeface="Times New Roman"/>
              <a:sym typeface="Times New Roman"/>
            </a:endParaRPr>
          </a:p>
        </p:txBody>
      </p:sp>
      <p:pic>
        <p:nvPicPr>
          <p:cNvPr id="104" name="Google Shape;104;p2"/>
          <p:cNvPicPr preferRelativeResize="0"/>
          <p:nvPr/>
        </p:nvPicPr>
        <p:blipFill rotWithShape="1">
          <a:blip r:embed="rId4">
            <a:alphaModFix/>
          </a:blip>
          <a:srcRect b="25494" l="0" r="0" t="29446"/>
          <a:stretch/>
        </p:blipFill>
        <p:spPr>
          <a:xfrm>
            <a:off x="1688525" y="4779825"/>
            <a:ext cx="5196749" cy="16401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 name="Shape 108"/>
        <p:cNvGrpSpPr/>
        <p:nvPr/>
      </p:nvGrpSpPr>
      <p:grpSpPr>
        <a:xfrm>
          <a:off x="0" y="0"/>
          <a:ext cx="0" cy="0"/>
          <a:chOff x="0" y="0"/>
          <a:chExt cx="0" cy="0"/>
        </a:xfrm>
      </p:grpSpPr>
      <p:sp>
        <p:nvSpPr>
          <p:cNvPr id="109" name="Google Shape;109;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10" name="Google Shape;110;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1" name="Google Shape;111;g3bb5fbf5691_0_2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Types</a:t>
            </a:r>
            <a:endParaRPr b="0" i="0" sz="3800" u="none" cap="none" strike="noStrike">
              <a:solidFill>
                <a:schemeClr val="lt1"/>
              </a:solidFill>
              <a:latin typeface="Calibri"/>
              <a:ea typeface="Calibri"/>
              <a:cs typeface="Calibri"/>
              <a:sym typeface="Calibri"/>
            </a:endParaRPr>
          </a:p>
        </p:txBody>
      </p:sp>
      <p:pic>
        <p:nvPicPr>
          <p:cNvPr id="112" name="Google Shape;112;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113" name="Google Shape;113;g3bb5fbf5691_0_28"/>
          <p:cNvPicPr preferRelativeResize="0"/>
          <p:nvPr/>
        </p:nvPicPr>
        <p:blipFill rotWithShape="1">
          <a:blip r:embed="rId4">
            <a:alphaModFix/>
          </a:blip>
          <a:srcRect b="0" l="0" r="0" t="0"/>
          <a:stretch/>
        </p:blipFill>
        <p:spPr>
          <a:xfrm>
            <a:off x="4680930" y="1601200"/>
            <a:ext cx="3875000" cy="3875000"/>
          </a:xfrm>
          <a:prstGeom prst="rect">
            <a:avLst/>
          </a:prstGeom>
          <a:noFill/>
          <a:ln>
            <a:noFill/>
          </a:ln>
        </p:spPr>
      </p:pic>
      <p:pic>
        <p:nvPicPr>
          <p:cNvPr id="114" name="Google Shape;114;g3bb5fbf5691_0_28"/>
          <p:cNvPicPr preferRelativeResize="0"/>
          <p:nvPr/>
        </p:nvPicPr>
        <p:blipFill rotWithShape="1">
          <a:blip r:embed="rId5">
            <a:alphaModFix/>
          </a:blip>
          <a:srcRect b="0" l="0" r="0" t="0"/>
          <a:stretch/>
        </p:blipFill>
        <p:spPr>
          <a:xfrm>
            <a:off x="588830" y="1449625"/>
            <a:ext cx="3956800" cy="4026575"/>
          </a:xfrm>
          <a:prstGeom prst="rect">
            <a:avLst/>
          </a:prstGeom>
          <a:noFill/>
          <a:ln>
            <a:noFill/>
          </a:ln>
        </p:spPr>
      </p:pic>
      <p:sp>
        <p:nvSpPr>
          <p:cNvPr id="115" name="Google Shape;115;g3bb5fbf5691_0_28"/>
          <p:cNvSpPr/>
          <p:nvPr/>
        </p:nvSpPr>
        <p:spPr>
          <a:xfrm>
            <a:off x="4209105" y="3280363"/>
            <a:ext cx="636600" cy="3651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989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21" name="Google Shape;121;p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2" name="Google Shape;122;p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Applications of 2D Transformations</a:t>
            </a:r>
            <a:endParaRPr b="0" i="0" sz="3800" u="none" cap="none" strike="noStrike">
              <a:solidFill>
                <a:schemeClr val="lt1"/>
              </a:solidFill>
              <a:latin typeface="Calibri"/>
              <a:ea typeface="Calibri"/>
              <a:cs typeface="Calibri"/>
              <a:sym typeface="Calibri"/>
            </a:endParaRPr>
          </a:p>
        </p:txBody>
      </p:sp>
      <p:pic>
        <p:nvPicPr>
          <p:cNvPr id="123" name="Google Shape;123;p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24" name="Google Shape;124;p4"/>
          <p:cNvSpPr txBox="1"/>
          <p:nvPr/>
        </p:nvSpPr>
        <p:spPr>
          <a:xfrm>
            <a:off x="133725" y="1233000"/>
            <a:ext cx="8725200" cy="43920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SzPts val="2000"/>
              <a:buFont typeface="Times New Roman"/>
              <a:buChar char="●"/>
            </a:pPr>
            <a:r>
              <a:rPr b="1" i="0" lang="en-US" sz="2000" u="none" cap="none" strike="noStrike">
                <a:solidFill>
                  <a:srgbClr val="980000"/>
                </a:solidFill>
                <a:latin typeface="Times New Roman"/>
                <a:ea typeface="Times New Roman"/>
                <a:cs typeface="Times New Roman"/>
                <a:sym typeface="Times New Roman"/>
              </a:rPr>
              <a:t>Computer Animation &amp; Games: </a:t>
            </a:r>
            <a:r>
              <a:rPr b="0" i="0" lang="en-US" sz="2000" u="none" cap="none" strike="noStrike">
                <a:solidFill>
                  <a:srgbClr val="000000"/>
                </a:solidFill>
                <a:latin typeface="Times New Roman"/>
                <a:ea typeface="Times New Roman"/>
                <a:cs typeface="Times New Roman"/>
                <a:sym typeface="Times New Roman"/>
              </a:rPr>
              <a:t>Movement is created by translating objects over time, while rotation and scaling simulate changes in orientation and distance.</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SzPts val="2000"/>
              <a:buFont typeface="Times New Roman"/>
              <a:buChar char="●"/>
            </a:pPr>
            <a:r>
              <a:rPr b="1" i="0" lang="en-US" sz="2000" u="none" cap="none" strike="noStrike">
                <a:solidFill>
                  <a:srgbClr val="85200C"/>
                </a:solidFill>
                <a:latin typeface="Times New Roman"/>
                <a:ea typeface="Times New Roman"/>
                <a:cs typeface="Times New Roman"/>
                <a:sym typeface="Times New Roman"/>
              </a:rPr>
              <a:t>Computer-Aided Design (CAD):</a:t>
            </a:r>
            <a:r>
              <a:rPr b="0" i="0" lang="en-US" sz="2000" u="none" cap="none" strike="noStrike">
                <a:solidFill>
                  <a:srgbClr val="000000"/>
                </a:solidFill>
                <a:latin typeface="Times New Roman"/>
                <a:ea typeface="Times New Roman"/>
                <a:cs typeface="Times New Roman"/>
                <a:sym typeface="Times New Roman"/>
              </a:rPr>
              <a:t> Designers use scaling to zoom, rotation to adjust components, and shearing to change shapes in drafting software.</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SzPts val="2000"/>
              <a:buFont typeface="Times New Roman"/>
              <a:buChar char="●"/>
            </a:pPr>
            <a:r>
              <a:rPr b="1" i="0" lang="en-US" sz="2000" u="none" cap="none" strike="noStrike">
                <a:solidFill>
                  <a:srgbClr val="85200C"/>
                </a:solidFill>
                <a:latin typeface="Times New Roman"/>
                <a:ea typeface="Times New Roman"/>
                <a:cs typeface="Times New Roman"/>
                <a:sym typeface="Times New Roman"/>
              </a:rPr>
              <a:t>Image Processing &amp; Editing: </a:t>
            </a:r>
            <a:r>
              <a:rPr b="0" i="0" lang="en-US" sz="2000" u="none" cap="none" strike="noStrike">
                <a:solidFill>
                  <a:srgbClr val="000000"/>
                </a:solidFill>
                <a:latin typeface="Times New Roman"/>
                <a:ea typeface="Times New Roman"/>
                <a:cs typeface="Times New Roman"/>
                <a:sym typeface="Times New Roman"/>
              </a:rPr>
              <a:t>Digital images are transformed using reflection to mirror objects, rotation to align, and scaling to resize.</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SzPts val="2000"/>
              <a:buFont typeface="Times New Roman"/>
              <a:buChar char="●"/>
            </a:pPr>
            <a:r>
              <a:rPr b="1" i="0" lang="en-US" sz="2000" u="none" cap="none" strike="noStrike">
                <a:solidFill>
                  <a:srgbClr val="85200C"/>
                </a:solidFill>
                <a:latin typeface="Times New Roman"/>
                <a:ea typeface="Times New Roman"/>
                <a:cs typeface="Times New Roman"/>
                <a:sym typeface="Times New Roman"/>
              </a:rPr>
              <a:t>Graphical User Interfaces (GUIs):</a:t>
            </a:r>
            <a:r>
              <a:rPr b="0" i="0" lang="en-US" sz="2000" u="none" cap="none" strike="noStrike">
                <a:solidFill>
                  <a:srgbClr val="000000"/>
                </a:solidFill>
                <a:latin typeface="Times New Roman"/>
                <a:ea typeface="Times New Roman"/>
                <a:cs typeface="Times New Roman"/>
                <a:sym typeface="Times New Roman"/>
              </a:rPr>
              <a:t> Windows, icons, and menus are positioned, resized, and moved using translation and scaling.</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1000"/>
              </a:spcAft>
              <a:buSzPts val="2000"/>
              <a:buFont typeface="Times New Roman"/>
              <a:buChar char="●"/>
            </a:pPr>
            <a:r>
              <a:rPr b="1" i="0" lang="en-US" sz="2000" u="none" cap="none" strike="noStrike">
                <a:solidFill>
                  <a:srgbClr val="85200C"/>
                </a:solidFill>
                <a:latin typeface="Times New Roman"/>
                <a:ea typeface="Times New Roman"/>
                <a:cs typeface="Times New Roman"/>
                <a:sym typeface="Times New Roman"/>
              </a:rPr>
              <a:t>Modeling &amp; Viewing: </a:t>
            </a:r>
            <a:r>
              <a:rPr b="0" i="0" lang="en-US" sz="2000" u="none" cap="none" strike="noStrike">
                <a:solidFill>
                  <a:srgbClr val="000000"/>
                </a:solidFill>
                <a:latin typeface="Times New Roman"/>
                <a:ea typeface="Times New Roman"/>
                <a:cs typeface="Times New Roman"/>
                <a:sym typeface="Times New Roman"/>
              </a:rPr>
              <a:t>Geometrical transformations are used to map 2D scenes to different viewports, allowing for zooming effects and changing viewing perspectives.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g3bb5fbf5691_0_5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30" name="Google Shape;130;g3bb5fbf5691_0_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1" name="Google Shape;131;g3bb5fbf5691_0_5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(Translation)</a:t>
            </a:r>
            <a:endParaRPr b="0" i="0" sz="3800" u="none" cap="none" strike="noStrike">
              <a:solidFill>
                <a:schemeClr val="lt1"/>
              </a:solidFill>
              <a:latin typeface="Calibri"/>
              <a:ea typeface="Calibri"/>
              <a:cs typeface="Calibri"/>
              <a:sym typeface="Calibri"/>
            </a:endParaRPr>
          </a:p>
        </p:txBody>
      </p:sp>
      <p:pic>
        <p:nvPicPr>
          <p:cNvPr id="132" name="Google Shape;132;g3bb5fbf5691_0_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33" name="Google Shape;133;g3bb5fbf5691_0_52"/>
          <p:cNvSpPr txBox="1"/>
          <p:nvPr/>
        </p:nvSpPr>
        <p:spPr>
          <a:xfrm>
            <a:off x="118250" y="1255200"/>
            <a:ext cx="5293800" cy="25962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434343"/>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Translation is a process of </a:t>
            </a:r>
            <a:r>
              <a:rPr b="1" i="0" lang="en-US" sz="2000" u="none" cap="none" strike="noStrike">
                <a:solidFill>
                  <a:srgbClr val="434343"/>
                </a:solidFill>
                <a:latin typeface="Times New Roman"/>
                <a:ea typeface="Times New Roman"/>
                <a:cs typeface="Times New Roman"/>
                <a:sym typeface="Times New Roman"/>
              </a:rPr>
              <a:t>changing the position of an object in a straight-line path </a:t>
            </a:r>
            <a:r>
              <a:rPr b="0" i="0" lang="en-US" sz="2000" u="none" cap="none" strike="noStrike">
                <a:solidFill>
                  <a:srgbClr val="434343"/>
                </a:solidFill>
                <a:latin typeface="Times New Roman"/>
                <a:ea typeface="Times New Roman"/>
                <a:cs typeface="Times New Roman"/>
                <a:sym typeface="Times New Roman"/>
              </a:rPr>
              <a:t>from one coordinate location to another.</a:t>
            </a:r>
            <a:endParaRPr b="0"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434343"/>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We can translate a two-dimensional point by adding translation distances, tx and ty.</a:t>
            </a:r>
            <a:endParaRPr b="0"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1000"/>
              </a:spcAft>
              <a:buClr>
                <a:srgbClr val="434343"/>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Suppose the original position is (x, y); then the new position is (x′, y′).</a:t>
            </a:r>
            <a:endParaRPr sz="2000">
              <a:solidFill>
                <a:srgbClr val="434343"/>
              </a:solidFill>
              <a:latin typeface="Times New Roman"/>
              <a:ea typeface="Times New Roman"/>
              <a:cs typeface="Times New Roman"/>
              <a:sym typeface="Times New Roman"/>
            </a:endParaRPr>
          </a:p>
        </p:txBody>
      </p:sp>
      <p:pic>
        <p:nvPicPr>
          <p:cNvPr id="134" name="Google Shape;134;g3bb5fbf5691_0_52" title="transHouseAnim.gif"/>
          <p:cNvPicPr preferRelativeResize="0"/>
          <p:nvPr/>
        </p:nvPicPr>
        <p:blipFill rotWithShape="1">
          <a:blip r:embed="rId4">
            <a:alphaModFix/>
          </a:blip>
          <a:srcRect b="0" l="0" r="0" t="0"/>
          <a:stretch/>
        </p:blipFill>
        <p:spPr>
          <a:xfrm>
            <a:off x="5775625" y="1960625"/>
            <a:ext cx="3328950" cy="2017775"/>
          </a:xfrm>
          <a:prstGeom prst="rect">
            <a:avLst/>
          </a:prstGeom>
          <a:noFill/>
          <a:ln>
            <a:noFill/>
          </a:ln>
        </p:spPr>
      </p:pic>
      <p:sp>
        <p:nvSpPr>
          <p:cNvPr id="135" name="Google Shape;135;g3bb5fbf5691_0_52"/>
          <p:cNvSpPr txBox="1"/>
          <p:nvPr/>
        </p:nvSpPr>
        <p:spPr>
          <a:xfrm>
            <a:off x="454775" y="4409074"/>
            <a:ext cx="6939900" cy="1369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Here,</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x′ = x + tx  (This denotes translation towards X axis.)</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imes New Roman"/>
                <a:ea typeface="Times New Roman"/>
                <a:cs typeface="Times New Roman"/>
                <a:sym typeface="Times New Roman"/>
              </a:rPr>
              <a:t>y′ = y + ty  (This denotes translation towards Y axis.)</a:t>
            </a:r>
            <a:endParaRPr b="0" i="0" sz="2200" u="none" cap="none" strike="noStrike">
              <a:solidFill>
                <a:srgbClr val="000000"/>
              </a:solidFill>
              <a:latin typeface="Times New Roman"/>
              <a:ea typeface="Times New Roman"/>
              <a:cs typeface="Times New Roman"/>
              <a:sym typeface="Times New Roman"/>
            </a:endParaRPr>
          </a:p>
        </p:txBody>
      </p:sp>
      <p:sp>
        <p:nvSpPr>
          <p:cNvPr id="136" name="Google Shape;136;g3bb5fbf5691_0_52"/>
          <p:cNvSpPr txBox="1"/>
          <p:nvPr/>
        </p:nvSpPr>
        <p:spPr>
          <a:xfrm>
            <a:off x="5929163" y="1255200"/>
            <a:ext cx="2937900" cy="48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Translation of objects</a:t>
            </a:r>
            <a:endParaRPr b="1" i="0" sz="1800" u="none" cap="none" strike="noStrike">
              <a:solidFill>
                <a:srgbClr val="980000"/>
              </a:solidFill>
              <a:latin typeface="Times New Roman"/>
              <a:ea typeface="Times New Roman"/>
              <a:cs typeface="Times New Roman"/>
              <a:sym typeface="Times New Roman"/>
            </a:endParaRPr>
          </a:p>
        </p:txBody>
      </p:sp>
      <p:sp>
        <p:nvSpPr>
          <p:cNvPr id="137" name="Google Shape;137;g3bb5fbf5691_0_52"/>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1" name="Shape 141"/>
        <p:cNvGrpSpPr/>
        <p:nvPr/>
      </p:nvGrpSpPr>
      <p:grpSpPr>
        <a:xfrm>
          <a:off x="0" y="0"/>
          <a:ext cx="0" cy="0"/>
          <a:chOff x="0" y="0"/>
          <a:chExt cx="0" cy="0"/>
        </a:xfrm>
      </p:grpSpPr>
      <p:sp>
        <p:nvSpPr>
          <p:cNvPr id="142" name="Google Shape;142;g3bb5fbf5691_0_39"/>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43" name="Google Shape;143;g3bb5fbf5691_0_39"/>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4" name="Google Shape;144;g3bb5fbf5691_0_39"/>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(Translation)</a:t>
            </a:r>
            <a:endParaRPr b="0" i="0" sz="3800" u="none" cap="none" strike="noStrike">
              <a:solidFill>
                <a:schemeClr val="lt1"/>
              </a:solidFill>
              <a:latin typeface="Calibri"/>
              <a:ea typeface="Calibri"/>
              <a:cs typeface="Calibri"/>
              <a:sym typeface="Calibri"/>
            </a:endParaRPr>
          </a:p>
        </p:txBody>
      </p:sp>
      <p:pic>
        <p:nvPicPr>
          <p:cNvPr id="145" name="Google Shape;145;g3bb5fbf5691_0_39"/>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146" name="Google Shape;146;g3bb5fbf5691_0_39"/>
          <p:cNvPicPr preferRelativeResize="0"/>
          <p:nvPr/>
        </p:nvPicPr>
        <p:blipFill rotWithShape="1">
          <a:blip r:embed="rId4">
            <a:alphaModFix/>
          </a:blip>
          <a:srcRect b="0" l="0" r="0" t="0"/>
          <a:stretch/>
        </p:blipFill>
        <p:spPr>
          <a:xfrm>
            <a:off x="2710025" y="1522087"/>
            <a:ext cx="2096775" cy="1612098"/>
          </a:xfrm>
          <a:prstGeom prst="rect">
            <a:avLst/>
          </a:prstGeom>
          <a:noFill/>
          <a:ln>
            <a:noFill/>
          </a:ln>
        </p:spPr>
      </p:pic>
      <p:pic>
        <p:nvPicPr>
          <p:cNvPr id="147" name="Google Shape;147;g3bb5fbf5691_0_39"/>
          <p:cNvPicPr preferRelativeResize="0"/>
          <p:nvPr/>
        </p:nvPicPr>
        <p:blipFill rotWithShape="1">
          <a:blip r:embed="rId5">
            <a:alphaModFix/>
          </a:blip>
          <a:srcRect b="4561" l="21838" r="14042" t="0"/>
          <a:stretch/>
        </p:blipFill>
        <p:spPr>
          <a:xfrm>
            <a:off x="200125" y="1335625"/>
            <a:ext cx="2000502" cy="1985024"/>
          </a:xfrm>
          <a:prstGeom prst="rect">
            <a:avLst/>
          </a:prstGeom>
          <a:noFill/>
          <a:ln>
            <a:noFill/>
          </a:ln>
        </p:spPr>
      </p:pic>
      <p:sp>
        <p:nvSpPr>
          <p:cNvPr id="148" name="Google Shape;148;g3bb5fbf5691_0_39"/>
          <p:cNvSpPr/>
          <p:nvPr/>
        </p:nvSpPr>
        <p:spPr>
          <a:xfrm>
            <a:off x="1760600" y="2123525"/>
            <a:ext cx="886200" cy="36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9" name="Google Shape;149;g3bb5fbf5691_0_39"/>
          <p:cNvSpPr txBox="1"/>
          <p:nvPr/>
        </p:nvSpPr>
        <p:spPr>
          <a:xfrm>
            <a:off x="6251100" y="2218263"/>
            <a:ext cx="1662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x′ = x + tx  </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y′ = y + ty</a:t>
            </a:r>
            <a:endParaRPr b="0" i="0" sz="1400" u="none" cap="none" strike="noStrike">
              <a:solidFill>
                <a:srgbClr val="000000"/>
              </a:solidFill>
              <a:latin typeface="Arial"/>
              <a:ea typeface="Arial"/>
              <a:cs typeface="Arial"/>
              <a:sym typeface="Arial"/>
            </a:endParaRPr>
          </a:p>
        </p:txBody>
      </p:sp>
      <p:pic>
        <p:nvPicPr>
          <p:cNvPr id="150" name="Google Shape;150;g3bb5fbf5691_0_39"/>
          <p:cNvPicPr preferRelativeResize="0"/>
          <p:nvPr/>
        </p:nvPicPr>
        <p:blipFill rotWithShape="1">
          <a:blip r:embed="rId6">
            <a:alphaModFix/>
          </a:blip>
          <a:srcRect b="32834" l="7351" r="8044" t="26806"/>
          <a:stretch/>
        </p:blipFill>
        <p:spPr>
          <a:xfrm>
            <a:off x="755325" y="4304100"/>
            <a:ext cx="3086100" cy="981453"/>
          </a:xfrm>
          <a:prstGeom prst="rect">
            <a:avLst/>
          </a:prstGeom>
          <a:noFill/>
          <a:ln>
            <a:noFill/>
          </a:ln>
        </p:spPr>
      </p:pic>
      <p:sp>
        <p:nvSpPr>
          <p:cNvPr id="151" name="Google Shape;151;g3bb5fbf5691_0_39"/>
          <p:cNvSpPr txBox="1"/>
          <p:nvPr/>
        </p:nvSpPr>
        <p:spPr>
          <a:xfrm>
            <a:off x="593800" y="5717475"/>
            <a:ext cx="1251600" cy="3165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152" name="Google Shape;152;g3bb5fbf5691_0_39"/>
          <p:cNvPicPr preferRelativeResize="0"/>
          <p:nvPr/>
        </p:nvPicPr>
        <p:blipFill rotWithShape="1">
          <a:blip r:embed="rId8">
            <a:alphaModFix/>
          </a:blip>
          <a:srcRect b="22215" l="9333" r="7109" t="10356"/>
          <a:stretch/>
        </p:blipFill>
        <p:spPr>
          <a:xfrm>
            <a:off x="3099575" y="5390000"/>
            <a:ext cx="2189027" cy="861901"/>
          </a:xfrm>
          <a:prstGeom prst="rect">
            <a:avLst/>
          </a:prstGeom>
          <a:noFill/>
          <a:ln>
            <a:noFill/>
          </a:ln>
        </p:spPr>
      </p:pic>
      <p:sp>
        <p:nvSpPr>
          <p:cNvPr id="153" name="Google Shape;153;g3bb5fbf5691_0_39"/>
          <p:cNvSpPr txBox="1"/>
          <p:nvPr/>
        </p:nvSpPr>
        <p:spPr>
          <a:xfrm>
            <a:off x="6150011" y="1702134"/>
            <a:ext cx="2761200" cy="28320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409065" marR="0" rtl="0" algn="l">
              <a:lnSpc>
                <a:spcPct val="100000"/>
              </a:lnSpc>
              <a:spcBef>
                <a:spcPts val="0"/>
              </a:spcBef>
              <a:spcAft>
                <a:spcPts val="0"/>
              </a:spcAft>
              <a:buClr>
                <a:srgbClr val="000000"/>
              </a:buClr>
              <a:buSzPts val="1610"/>
              <a:buFont typeface="Arial"/>
              <a:buNone/>
            </a:pPr>
            <a:r>
              <a:t/>
            </a:r>
            <a:endParaRPr b="0" i="0" sz="1610" u="none" cap="none" strike="noStrike">
              <a:solidFill>
                <a:srgbClr val="000000"/>
              </a:solidFill>
              <a:latin typeface="Calibri"/>
              <a:ea typeface="Calibri"/>
              <a:cs typeface="Calibri"/>
              <a:sym typeface="Calibri"/>
            </a:endParaRPr>
          </a:p>
        </p:txBody>
      </p:sp>
      <p:sp>
        <p:nvSpPr>
          <p:cNvPr id="154" name="Google Shape;154;g3bb5fbf5691_0_39"/>
          <p:cNvSpPr txBox="1"/>
          <p:nvPr/>
        </p:nvSpPr>
        <p:spPr>
          <a:xfrm>
            <a:off x="5828225" y="1576113"/>
            <a:ext cx="297300" cy="243600"/>
          </a:xfrm>
          <a:prstGeom prst="rect">
            <a:avLst/>
          </a:prstGeom>
          <a:noFill/>
          <a:ln>
            <a:noFill/>
          </a:ln>
        </p:spPr>
        <p:txBody>
          <a:bodyPr anchorCtr="0" anchor="t" bIns="81800" lIns="81800" spcFirstLastPara="1" rIns="81800" wrap="square" tIns="81800">
            <a:noAutofit/>
          </a:bodyPr>
          <a:lstStyle/>
          <a:p>
            <a:pPr indent="-323843" lvl="0" marL="409065" marR="0" rtl="0" algn="l">
              <a:lnSpc>
                <a:spcPct val="100000"/>
              </a:lnSpc>
              <a:spcBef>
                <a:spcPts val="0"/>
              </a:spcBef>
              <a:spcAft>
                <a:spcPts val="0"/>
              </a:spcAft>
              <a:buClr>
                <a:srgbClr val="0B5394"/>
              </a:buClr>
              <a:buSzPts val="1879"/>
              <a:buFont typeface="Calibri"/>
              <a:buChar char="■"/>
            </a:pPr>
            <a:r>
              <a:t/>
            </a:r>
            <a:endParaRPr b="0" i="0" sz="1878" u="none" cap="none" strike="noStrike">
              <a:solidFill>
                <a:schemeClr val="dk1"/>
              </a:solidFill>
              <a:latin typeface="Calibri"/>
              <a:ea typeface="Calibri"/>
              <a:cs typeface="Calibri"/>
              <a:sym typeface="Calibri"/>
            </a:endParaRPr>
          </a:p>
        </p:txBody>
      </p:sp>
      <p:sp>
        <p:nvSpPr>
          <p:cNvPr id="155" name="Google Shape;155;g3bb5fbf5691_0_39"/>
          <p:cNvSpPr txBox="1"/>
          <p:nvPr/>
        </p:nvSpPr>
        <p:spPr>
          <a:xfrm>
            <a:off x="200125" y="5583500"/>
            <a:ext cx="332400" cy="2724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0"/>
              </a:spcBef>
              <a:spcAft>
                <a:spcPts val="0"/>
              </a:spcAft>
              <a:buClr>
                <a:srgbClr val="0B5394"/>
              </a:buClr>
              <a:buSzPts val="2100"/>
              <a:buFont typeface="Calibri"/>
              <a:buChar char="■"/>
            </a:pPr>
            <a:r>
              <a:t/>
            </a:r>
            <a:endParaRPr b="0" i="0" sz="2100" u="none" cap="none" strike="noStrike">
              <a:solidFill>
                <a:schemeClr val="dk1"/>
              </a:solidFill>
              <a:latin typeface="Calibri"/>
              <a:ea typeface="Calibri"/>
              <a:cs typeface="Calibri"/>
              <a:sym typeface="Calibri"/>
            </a:endParaRPr>
          </a:p>
        </p:txBody>
      </p:sp>
      <p:sp>
        <p:nvSpPr>
          <p:cNvPr id="156" name="Google Shape;156;g3bb5fbf5691_0_39"/>
          <p:cNvSpPr txBox="1"/>
          <p:nvPr/>
        </p:nvSpPr>
        <p:spPr>
          <a:xfrm>
            <a:off x="136450" y="3645325"/>
            <a:ext cx="3855000" cy="492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rgbClr val="0B5394"/>
              </a:buClr>
              <a:buSzPts val="2000"/>
              <a:buFont typeface="Arial"/>
              <a:buChar char="■"/>
            </a:pPr>
            <a:r>
              <a:rPr b="0" i="0" lang="en-US" sz="2000" u="none" cap="none" strike="noStrike">
                <a:solidFill>
                  <a:schemeClr val="dk1"/>
                </a:solidFill>
                <a:latin typeface="Calibri"/>
                <a:ea typeface="Calibri"/>
                <a:cs typeface="Calibri"/>
                <a:sym typeface="Calibri"/>
              </a:rPr>
              <a:t>Represent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Calibri"/>
                <a:ea typeface="Calibri"/>
                <a:cs typeface="Calibri"/>
                <a:sym typeface="Calibri"/>
              </a:rPr>
              <a:t>in</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Calibri"/>
                <a:ea typeface="Calibri"/>
                <a:cs typeface="Calibri"/>
                <a:sym typeface="Calibri"/>
              </a:rPr>
              <a:t>a matrix.</a:t>
            </a:r>
            <a:endParaRPr b="0" i="0" sz="1400" u="none" cap="none" strike="noStrike">
              <a:solidFill>
                <a:schemeClr val="dk1"/>
              </a:solidFill>
              <a:latin typeface="Arial"/>
              <a:ea typeface="Arial"/>
              <a:cs typeface="Arial"/>
              <a:sym typeface="Arial"/>
            </a:endParaRPr>
          </a:p>
        </p:txBody>
      </p:sp>
      <p:sp>
        <p:nvSpPr>
          <p:cNvPr id="157" name="Google Shape;157;g3bb5fbf5691_0_39"/>
          <p:cNvSpPr/>
          <p:nvPr/>
        </p:nvSpPr>
        <p:spPr>
          <a:xfrm>
            <a:off x="1971188" y="5717475"/>
            <a:ext cx="1002600" cy="316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 name="Google Shape;158;g3bb5fbf5691_0_39"/>
          <p:cNvSpPr/>
          <p:nvPr/>
        </p:nvSpPr>
        <p:spPr>
          <a:xfrm>
            <a:off x="6094804" y="4770947"/>
            <a:ext cx="588264" cy="802386"/>
          </a:xfrm>
          <a:custGeom>
            <a:rect b="b" l="l" r="r" t="t"/>
            <a:pathLst>
              <a:path extrusionOk="0" h="1981200" w="1219200">
                <a:moveTo>
                  <a:pt x="685799" y="0"/>
                </a:moveTo>
                <a:lnTo>
                  <a:pt x="0" y="1981190"/>
                </a:lnTo>
                <a:lnTo>
                  <a:pt x="1219199" y="1981190"/>
                </a:lnTo>
                <a:lnTo>
                  <a:pt x="685799" y="0"/>
                </a:lnTo>
                <a:close/>
              </a:path>
            </a:pathLst>
          </a:custGeom>
          <a:solidFill>
            <a:srgbClr val="F8F7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59" name="Google Shape;159;g3bb5fbf5691_0_39"/>
          <p:cNvSpPr/>
          <p:nvPr/>
        </p:nvSpPr>
        <p:spPr>
          <a:xfrm>
            <a:off x="6094804" y="4770947"/>
            <a:ext cx="588264" cy="802386"/>
          </a:xfrm>
          <a:custGeom>
            <a:rect b="b" l="l" r="r" t="t"/>
            <a:pathLst>
              <a:path extrusionOk="0" h="1981200" w="1219200">
                <a:moveTo>
                  <a:pt x="0" y="1981190"/>
                </a:moveTo>
                <a:lnTo>
                  <a:pt x="1219199" y="1981190"/>
                </a:lnTo>
                <a:lnTo>
                  <a:pt x="685799" y="0"/>
                </a:lnTo>
                <a:lnTo>
                  <a:pt x="0" y="1981190"/>
                </a:lnTo>
              </a:path>
            </a:pathLst>
          </a:custGeom>
          <a:noFill/>
          <a:ln cap="flat" cmpd="sng" w="122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0" name="Google Shape;160;g3bb5fbf5691_0_39"/>
          <p:cNvSpPr/>
          <p:nvPr/>
        </p:nvSpPr>
        <p:spPr>
          <a:xfrm>
            <a:off x="7270625" y="4184915"/>
            <a:ext cx="588264" cy="802386"/>
          </a:xfrm>
          <a:custGeom>
            <a:rect b="b" l="l" r="r" t="t"/>
            <a:pathLst>
              <a:path extrusionOk="0" h="1981200" w="1219200">
                <a:moveTo>
                  <a:pt x="685799" y="0"/>
                </a:moveTo>
                <a:lnTo>
                  <a:pt x="0" y="1981199"/>
                </a:lnTo>
                <a:lnTo>
                  <a:pt x="1219199" y="1981199"/>
                </a:lnTo>
                <a:lnTo>
                  <a:pt x="685799" y="0"/>
                </a:lnTo>
                <a:close/>
              </a:path>
            </a:pathLst>
          </a:custGeom>
          <a:solidFill>
            <a:srgbClr val="F8F7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1" name="Google Shape;161;g3bb5fbf5691_0_39"/>
          <p:cNvSpPr/>
          <p:nvPr/>
        </p:nvSpPr>
        <p:spPr>
          <a:xfrm>
            <a:off x="7270625" y="4184915"/>
            <a:ext cx="588264" cy="802386"/>
          </a:xfrm>
          <a:custGeom>
            <a:rect b="b" l="l" r="r" t="t"/>
            <a:pathLst>
              <a:path extrusionOk="0" h="1981200" w="1219200">
                <a:moveTo>
                  <a:pt x="0" y="1981199"/>
                </a:moveTo>
                <a:lnTo>
                  <a:pt x="1219199" y="1981199"/>
                </a:lnTo>
                <a:lnTo>
                  <a:pt x="685799" y="0"/>
                </a:lnTo>
                <a:lnTo>
                  <a:pt x="0" y="1981199"/>
                </a:lnTo>
              </a:path>
            </a:pathLst>
          </a:custGeom>
          <a:noFill/>
          <a:ln cap="flat" cmpd="sng" w="122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2" name="Google Shape;162;g3bb5fbf5691_0_39"/>
          <p:cNvSpPr/>
          <p:nvPr/>
        </p:nvSpPr>
        <p:spPr>
          <a:xfrm>
            <a:off x="6385697" y="4184915"/>
            <a:ext cx="1216358" cy="590988"/>
          </a:xfrm>
          <a:custGeom>
            <a:rect b="b" l="l" r="r" t="t"/>
            <a:pathLst>
              <a:path extrusionOk="0" h="1459230" w="2520950">
                <a:moveTo>
                  <a:pt x="176140" y="1335389"/>
                </a:moveTo>
                <a:lnTo>
                  <a:pt x="0" y="1436735"/>
                </a:lnTo>
                <a:lnTo>
                  <a:pt x="12691" y="1458833"/>
                </a:lnTo>
                <a:lnTo>
                  <a:pt x="188713" y="1357365"/>
                </a:lnTo>
                <a:lnTo>
                  <a:pt x="176140" y="1335389"/>
                </a:lnTo>
                <a:close/>
              </a:path>
              <a:path extrusionOk="0" h="1459230" w="2520950">
                <a:moveTo>
                  <a:pt x="418206" y="1195943"/>
                </a:moveTo>
                <a:lnTo>
                  <a:pt x="242184" y="1297411"/>
                </a:lnTo>
                <a:lnTo>
                  <a:pt x="254757" y="1319387"/>
                </a:lnTo>
                <a:lnTo>
                  <a:pt x="430910" y="1218041"/>
                </a:lnTo>
                <a:lnTo>
                  <a:pt x="418206" y="1195943"/>
                </a:lnTo>
                <a:close/>
              </a:path>
              <a:path extrusionOk="0" h="1459230" w="2520950">
                <a:moveTo>
                  <a:pt x="660391" y="1056619"/>
                </a:moveTo>
                <a:lnTo>
                  <a:pt x="484250" y="1157965"/>
                </a:lnTo>
                <a:lnTo>
                  <a:pt x="496942" y="1179941"/>
                </a:lnTo>
                <a:lnTo>
                  <a:pt x="673095" y="1078595"/>
                </a:lnTo>
                <a:lnTo>
                  <a:pt x="660391" y="1056619"/>
                </a:lnTo>
                <a:close/>
              </a:path>
              <a:path extrusionOk="0" h="1459230" w="2520950">
                <a:moveTo>
                  <a:pt x="902473" y="917173"/>
                </a:moveTo>
                <a:lnTo>
                  <a:pt x="726435" y="1018519"/>
                </a:lnTo>
                <a:lnTo>
                  <a:pt x="739139" y="1040495"/>
                </a:lnTo>
                <a:lnTo>
                  <a:pt x="915152" y="939149"/>
                </a:lnTo>
                <a:lnTo>
                  <a:pt x="902473" y="917173"/>
                </a:lnTo>
                <a:close/>
              </a:path>
              <a:path extrusionOk="0" h="1459230" w="2520950">
                <a:moveTo>
                  <a:pt x="1144636" y="777727"/>
                </a:moveTo>
                <a:lnTo>
                  <a:pt x="968492" y="879073"/>
                </a:lnTo>
                <a:lnTo>
                  <a:pt x="981202" y="901171"/>
                </a:lnTo>
                <a:lnTo>
                  <a:pt x="1157346" y="799703"/>
                </a:lnTo>
                <a:lnTo>
                  <a:pt x="1144636" y="777727"/>
                </a:lnTo>
                <a:close/>
              </a:path>
              <a:path extrusionOk="0" h="1459230" w="2520950">
                <a:moveTo>
                  <a:pt x="1386830" y="638281"/>
                </a:moveTo>
                <a:lnTo>
                  <a:pt x="1210686" y="739780"/>
                </a:lnTo>
                <a:lnTo>
                  <a:pt x="1223397" y="761725"/>
                </a:lnTo>
                <a:lnTo>
                  <a:pt x="1399419" y="660379"/>
                </a:lnTo>
                <a:lnTo>
                  <a:pt x="1386830" y="638281"/>
                </a:lnTo>
                <a:close/>
              </a:path>
              <a:path extrusionOk="0" h="1459230" w="2520950">
                <a:moveTo>
                  <a:pt x="1628902" y="498988"/>
                </a:moveTo>
                <a:lnTo>
                  <a:pt x="1452880" y="600334"/>
                </a:lnTo>
                <a:lnTo>
                  <a:pt x="1465438" y="622279"/>
                </a:lnTo>
                <a:lnTo>
                  <a:pt x="1641613" y="520933"/>
                </a:lnTo>
                <a:lnTo>
                  <a:pt x="1628902" y="498988"/>
                </a:lnTo>
                <a:close/>
              </a:path>
              <a:path extrusionOk="0" h="1459230" w="2520950">
                <a:moveTo>
                  <a:pt x="1871097" y="359542"/>
                </a:moveTo>
                <a:lnTo>
                  <a:pt x="1694953" y="460888"/>
                </a:lnTo>
                <a:lnTo>
                  <a:pt x="1707632" y="482986"/>
                </a:lnTo>
                <a:lnTo>
                  <a:pt x="1883654" y="381487"/>
                </a:lnTo>
                <a:lnTo>
                  <a:pt x="1871097" y="359542"/>
                </a:lnTo>
                <a:close/>
              </a:path>
              <a:path extrusionOk="0" h="1459230" w="2520950">
                <a:moveTo>
                  <a:pt x="2113138" y="220096"/>
                </a:moveTo>
                <a:lnTo>
                  <a:pt x="1937116" y="321563"/>
                </a:lnTo>
                <a:lnTo>
                  <a:pt x="1949704" y="343540"/>
                </a:lnTo>
                <a:lnTo>
                  <a:pt x="2125848" y="242194"/>
                </a:lnTo>
                <a:lnTo>
                  <a:pt x="2113138" y="220096"/>
                </a:lnTo>
                <a:close/>
              </a:path>
              <a:path extrusionOk="0" h="1459230" w="2520950">
                <a:moveTo>
                  <a:pt x="2355332" y="80650"/>
                </a:moveTo>
                <a:lnTo>
                  <a:pt x="2179188" y="182117"/>
                </a:lnTo>
                <a:lnTo>
                  <a:pt x="2191899" y="204094"/>
                </a:lnTo>
                <a:lnTo>
                  <a:pt x="2368042" y="102748"/>
                </a:lnTo>
                <a:lnTo>
                  <a:pt x="2355332" y="80650"/>
                </a:lnTo>
                <a:close/>
              </a:path>
              <a:path extrusionOk="0" h="1459230" w="2520950">
                <a:moveTo>
                  <a:pt x="2507258" y="20695"/>
                </a:moveTo>
                <a:lnTo>
                  <a:pt x="2459604" y="20695"/>
                </a:lnTo>
                <a:lnTo>
                  <a:pt x="2472315" y="42671"/>
                </a:lnTo>
                <a:lnTo>
                  <a:pt x="2461285" y="49013"/>
                </a:lnTo>
                <a:lnTo>
                  <a:pt x="2473960" y="70987"/>
                </a:lnTo>
                <a:lnTo>
                  <a:pt x="2507258" y="20695"/>
                </a:lnTo>
                <a:close/>
              </a:path>
              <a:path extrusionOk="0" h="1459230" w="2520950">
                <a:moveTo>
                  <a:pt x="2448600" y="27023"/>
                </a:moveTo>
                <a:lnTo>
                  <a:pt x="2421382" y="42671"/>
                </a:lnTo>
                <a:lnTo>
                  <a:pt x="2434093" y="64648"/>
                </a:lnTo>
                <a:lnTo>
                  <a:pt x="2461285" y="49013"/>
                </a:lnTo>
                <a:lnTo>
                  <a:pt x="2448600" y="27023"/>
                </a:lnTo>
                <a:close/>
              </a:path>
              <a:path extrusionOk="0" h="1459230" w="2520950">
                <a:moveTo>
                  <a:pt x="2459604" y="20695"/>
                </a:moveTo>
                <a:lnTo>
                  <a:pt x="2448600" y="27023"/>
                </a:lnTo>
                <a:lnTo>
                  <a:pt x="2461285" y="49013"/>
                </a:lnTo>
                <a:lnTo>
                  <a:pt x="2472315" y="42671"/>
                </a:lnTo>
                <a:lnTo>
                  <a:pt x="2459604" y="20695"/>
                </a:lnTo>
                <a:close/>
              </a:path>
              <a:path extrusionOk="0" h="1459230" w="252095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3" name="Google Shape;163;g3bb5fbf5691_0_39"/>
          <p:cNvSpPr/>
          <p:nvPr/>
        </p:nvSpPr>
        <p:spPr>
          <a:xfrm>
            <a:off x="6642908" y="4986853"/>
            <a:ext cx="1216358" cy="590988"/>
          </a:xfrm>
          <a:custGeom>
            <a:rect b="b" l="l" r="r" t="t"/>
            <a:pathLst>
              <a:path extrusionOk="0" h="1459229" w="2520950">
                <a:moveTo>
                  <a:pt x="176140" y="1335395"/>
                </a:moveTo>
                <a:lnTo>
                  <a:pt x="0" y="1436741"/>
                </a:lnTo>
                <a:lnTo>
                  <a:pt x="12691" y="1458839"/>
                </a:lnTo>
                <a:lnTo>
                  <a:pt x="188713" y="1357374"/>
                </a:lnTo>
                <a:lnTo>
                  <a:pt x="176140" y="1335395"/>
                </a:lnTo>
                <a:close/>
              </a:path>
              <a:path extrusionOk="0" h="1459229" w="2520950">
                <a:moveTo>
                  <a:pt x="418206" y="1195949"/>
                </a:moveTo>
                <a:lnTo>
                  <a:pt x="242184" y="1297426"/>
                </a:lnTo>
                <a:lnTo>
                  <a:pt x="254773" y="1319393"/>
                </a:lnTo>
                <a:lnTo>
                  <a:pt x="430917" y="1218047"/>
                </a:lnTo>
                <a:lnTo>
                  <a:pt x="418206" y="1195949"/>
                </a:lnTo>
                <a:close/>
              </a:path>
              <a:path extrusionOk="0" h="1459229" w="2520950">
                <a:moveTo>
                  <a:pt x="660401" y="1056634"/>
                </a:moveTo>
                <a:lnTo>
                  <a:pt x="484257" y="1157980"/>
                </a:lnTo>
                <a:lnTo>
                  <a:pt x="496936" y="1179947"/>
                </a:lnTo>
                <a:lnTo>
                  <a:pt x="673111" y="1078601"/>
                </a:lnTo>
                <a:lnTo>
                  <a:pt x="660401" y="1056634"/>
                </a:lnTo>
                <a:close/>
              </a:path>
              <a:path extrusionOk="0" h="1459229" w="2520950">
                <a:moveTo>
                  <a:pt x="902473" y="917188"/>
                </a:moveTo>
                <a:lnTo>
                  <a:pt x="726451" y="1018534"/>
                </a:lnTo>
                <a:lnTo>
                  <a:pt x="739130" y="1040501"/>
                </a:lnTo>
                <a:lnTo>
                  <a:pt x="915152" y="939155"/>
                </a:lnTo>
                <a:lnTo>
                  <a:pt x="902473" y="917188"/>
                </a:lnTo>
                <a:close/>
              </a:path>
              <a:path extrusionOk="0" h="1459229" w="2520950">
                <a:moveTo>
                  <a:pt x="1144636" y="777742"/>
                </a:moveTo>
                <a:lnTo>
                  <a:pt x="968492" y="879088"/>
                </a:lnTo>
                <a:lnTo>
                  <a:pt x="981202" y="901186"/>
                </a:lnTo>
                <a:lnTo>
                  <a:pt x="1157346" y="799709"/>
                </a:lnTo>
                <a:lnTo>
                  <a:pt x="1144636" y="777742"/>
                </a:lnTo>
                <a:close/>
              </a:path>
              <a:path extrusionOk="0" h="1459229" w="2520950">
                <a:moveTo>
                  <a:pt x="1386830" y="638281"/>
                </a:moveTo>
                <a:lnTo>
                  <a:pt x="1210686" y="739773"/>
                </a:lnTo>
                <a:lnTo>
                  <a:pt x="1223397" y="761740"/>
                </a:lnTo>
                <a:lnTo>
                  <a:pt x="1399419" y="660394"/>
                </a:lnTo>
                <a:lnTo>
                  <a:pt x="1386830" y="638281"/>
                </a:lnTo>
                <a:close/>
              </a:path>
              <a:path extrusionOk="0" h="1459229" w="2520950">
                <a:moveTo>
                  <a:pt x="1628902" y="498988"/>
                </a:moveTo>
                <a:lnTo>
                  <a:pt x="1452880" y="600334"/>
                </a:lnTo>
                <a:lnTo>
                  <a:pt x="1465438" y="622279"/>
                </a:lnTo>
                <a:lnTo>
                  <a:pt x="1641613" y="520933"/>
                </a:lnTo>
                <a:lnTo>
                  <a:pt x="1628902" y="498988"/>
                </a:lnTo>
                <a:close/>
              </a:path>
              <a:path extrusionOk="0" h="1459229" w="2520950">
                <a:moveTo>
                  <a:pt x="1871097" y="359542"/>
                </a:moveTo>
                <a:lnTo>
                  <a:pt x="1694953" y="460888"/>
                </a:lnTo>
                <a:lnTo>
                  <a:pt x="1707632" y="482986"/>
                </a:lnTo>
                <a:lnTo>
                  <a:pt x="1883654" y="381487"/>
                </a:lnTo>
                <a:lnTo>
                  <a:pt x="1871097" y="359542"/>
                </a:lnTo>
                <a:close/>
              </a:path>
              <a:path extrusionOk="0" h="1459229" w="2520950">
                <a:moveTo>
                  <a:pt x="2113138" y="220096"/>
                </a:moveTo>
                <a:lnTo>
                  <a:pt x="1937116" y="321563"/>
                </a:lnTo>
                <a:lnTo>
                  <a:pt x="1949704" y="343540"/>
                </a:lnTo>
                <a:lnTo>
                  <a:pt x="2125848" y="242194"/>
                </a:lnTo>
                <a:lnTo>
                  <a:pt x="2113138" y="220096"/>
                </a:lnTo>
                <a:close/>
              </a:path>
              <a:path extrusionOk="0" h="1459229" w="2520950">
                <a:moveTo>
                  <a:pt x="2355332" y="80650"/>
                </a:moveTo>
                <a:lnTo>
                  <a:pt x="2179188" y="182117"/>
                </a:lnTo>
                <a:lnTo>
                  <a:pt x="2191899" y="204094"/>
                </a:lnTo>
                <a:lnTo>
                  <a:pt x="2368042" y="102748"/>
                </a:lnTo>
                <a:lnTo>
                  <a:pt x="2355332" y="80650"/>
                </a:lnTo>
                <a:close/>
              </a:path>
              <a:path extrusionOk="0" h="1459229" w="2520950">
                <a:moveTo>
                  <a:pt x="2507258" y="20695"/>
                </a:moveTo>
                <a:lnTo>
                  <a:pt x="2459604" y="20695"/>
                </a:lnTo>
                <a:lnTo>
                  <a:pt x="2472315" y="42671"/>
                </a:lnTo>
                <a:lnTo>
                  <a:pt x="2461285" y="49013"/>
                </a:lnTo>
                <a:lnTo>
                  <a:pt x="2473960" y="70987"/>
                </a:lnTo>
                <a:lnTo>
                  <a:pt x="2507258" y="20695"/>
                </a:lnTo>
                <a:close/>
              </a:path>
              <a:path extrusionOk="0" h="1459229" w="2520950">
                <a:moveTo>
                  <a:pt x="2448600" y="27023"/>
                </a:moveTo>
                <a:lnTo>
                  <a:pt x="2421382" y="42671"/>
                </a:lnTo>
                <a:lnTo>
                  <a:pt x="2434093" y="64648"/>
                </a:lnTo>
                <a:lnTo>
                  <a:pt x="2461285" y="49013"/>
                </a:lnTo>
                <a:lnTo>
                  <a:pt x="2448600" y="27023"/>
                </a:lnTo>
                <a:close/>
              </a:path>
              <a:path extrusionOk="0" h="1459229" w="2520950">
                <a:moveTo>
                  <a:pt x="2459604" y="20695"/>
                </a:moveTo>
                <a:lnTo>
                  <a:pt x="2448600" y="27023"/>
                </a:lnTo>
                <a:lnTo>
                  <a:pt x="2461285" y="49013"/>
                </a:lnTo>
                <a:lnTo>
                  <a:pt x="2472315" y="42671"/>
                </a:lnTo>
                <a:lnTo>
                  <a:pt x="2459604" y="20695"/>
                </a:lnTo>
                <a:close/>
              </a:path>
              <a:path extrusionOk="0" h="1459229" w="252095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4" name="Google Shape;164;g3bb5fbf5691_0_39"/>
          <p:cNvSpPr/>
          <p:nvPr/>
        </p:nvSpPr>
        <p:spPr>
          <a:xfrm>
            <a:off x="6054997" y="4986853"/>
            <a:ext cx="1216358" cy="590988"/>
          </a:xfrm>
          <a:custGeom>
            <a:rect b="b" l="l" r="r" t="t"/>
            <a:pathLst>
              <a:path extrusionOk="0" h="1459229" w="2520950">
                <a:moveTo>
                  <a:pt x="176140" y="1335395"/>
                </a:moveTo>
                <a:lnTo>
                  <a:pt x="0" y="1436741"/>
                </a:lnTo>
                <a:lnTo>
                  <a:pt x="12691" y="1458839"/>
                </a:lnTo>
                <a:lnTo>
                  <a:pt x="188713" y="1357374"/>
                </a:lnTo>
                <a:lnTo>
                  <a:pt x="176140" y="1335395"/>
                </a:lnTo>
                <a:close/>
              </a:path>
              <a:path extrusionOk="0" h="1459229" w="2520950">
                <a:moveTo>
                  <a:pt x="418206" y="1195949"/>
                </a:moveTo>
                <a:lnTo>
                  <a:pt x="242184" y="1297426"/>
                </a:lnTo>
                <a:lnTo>
                  <a:pt x="254757" y="1319393"/>
                </a:lnTo>
                <a:lnTo>
                  <a:pt x="430910" y="1218047"/>
                </a:lnTo>
                <a:lnTo>
                  <a:pt x="418206" y="1195949"/>
                </a:lnTo>
                <a:close/>
              </a:path>
              <a:path extrusionOk="0" h="1459229" w="2520950">
                <a:moveTo>
                  <a:pt x="660391" y="1056634"/>
                </a:moveTo>
                <a:lnTo>
                  <a:pt x="484250" y="1157980"/>
                </a:lnTo>
                <a:lnTo>
                  <a:pt x="496942" y="1179947"/>
                </a:lnTo>
                <a:lnTo>
                  <a:pt x="673095" y="1078601"/>
                </a:lnTo>
                <a:lnTo>
                  <a:pt x="660391" y="1056634"/>
                </a:lnTo>
                <a:close/>
              </a:path>
              <a:path extrusionOk="0" h="1459229" w="2520950">
                <a:moveTo>
                  <a:pt x="902457" y="917188"/>
                </a:moveTo>
                <a:lnTo>
                  <a:pt x="726435" y="1018534"/>
                </a:lnTo>
                <a:lnTo>
                  <a:pt x="739139" y="1040501"/>
                </a:lnTo>
                <a:lnTo>
                  <a:pt x="915161" y="939155"/>
                </a:lnTo>
                <a:lnTo>
                  <a:pt x="902457" y="917188"/>
                </a:lnTo>
                <a:close/>
              </a:path>
              <a:path extrusionOk="0" h="1459229" w="2520950">
                <a:moveTo>
                  <a:pt x="1144642" y="777742"/>
                </a:moveTo>
                <a:lnTo>
                  <a:pt x="968501" y="879088"/>
                </a:lnTo>
                <a:lnTo>
                  <a:pt x="981193" y="901186"/>
                </a:lnTo>
                <a:lnTo>
                  <a:pt x="1157346" y="799709"/>
                </a:lnTo>
                <a:lnTo>
                  <a:pt x="1144642" y="777742"/>
                </a:lnTo>
                <a:close/>
              </a:path>
              <a:path extrusionOk="0" h="1459229" w="2520950">
                <a:moveTo>
                  <a:pt x="1386839" y="638281"/>
                </a:moveTo>
                <a:lnTo>
                  <a:pt x="1210686" y="739773"/>
                </a:lnTo>
                <a:lnTo>
                  <a:pt x="1223390" y="761740"/>
                </a:lnTo>
                <a:lnTo>
                  <a:pt x="1399412" y="660394"/>
                </a:lnTo>
                <a:lnTo>
                  <a:pt x="1386839" y="638281"/>
                </a:lnTo>
                <a:close/>
              </a:path>
              <a:path extrusionOk="0" h="1459229" w="2520950">
                <a:moveTo>
                  <a:pt x="1628902" y="498988"/>
                </a:moveTo>
                <a:lnTo>
                  <a:pt x="1452880" y="600334"/>
                </a:lnTo>
                <a:lnTo>
                  <a:pt x="1465438" y="622279"/>
                </a:lnTo>
                <a:lnTo>
                  <a:pt x="1641613" y="520933"/>
                </a:lnTo>
                <a:lnTo>
                  <a:pt x="1628902" y="498988"/>
                </a:lnTo>
                <a:close/>
              </a:path>
              <a:path extrusionOk="0" h="1459229" w="2520950">
                <a:moveTo>
                  <a:pt x="1871097" y="359542"/>
                </a:moveTo>
                <a:lnTo>
                  <a:pt x="1694953" y="460888"/>
                </a:lnTo>
                <a:lnTo>
                  <a:pt x="1707632" y="482986"/>
                </a:lnTo>
                <a:lnTo>
                  <a:pt x="1883654" y="381487"/>
                </a:lnTo>
                <a:lnTo>
                  <a:pt x="1871097" y="359542"/>
                </a:lnTo>
                <a:close/>
              </a:path>
              <a:path extrusionOk="0" h="1459229" w="2520950">
                <a:moveTo>
                  <a:pt x="2113138" y="220096"/>
                </a:moveTo>
                <a:lnTo>
                  <a:pt x="1937116" y="321563"/>
                </a:lnTo>
                <a:lnTo>
                  <a:pt x="1949704" y="343540"/>
                </a:lnTo>
                <a:lnTo>
                  <a:pt x="2125848" y="242194"/>
                </a:lnTo>
                <a:lnTo>
                  <a:pt x="2113138" y="220096"/>
                </a:lnTo>
                <a:close/>
              </a:path>
              <a:path extrusionOk="0" h="1459229" w="2520950">
                <a:moveTo>
                  <a:pt x="2355332" y="80650"/>
                </a:moveTo>
                <a:lnTo>
                  <a:pt x="2179188" y="182117"/>
                </a:lnTo>
                <a:lnTo>
                  <a:pt x="2191899" y="204094"/>
                </a:lnTo>
                <a:lnTo>
                  <a:pt x="2368042" y="102748"/>
                </a:lnTo>
                <a:lnTo>
                  <a:pt x="2355332" y="80650"/>
                </a:lnTo>
                <a:close/>
              </a:path>
              <a:path extrusionOk="0" h="1459229" w="2520950">
                <a:moveTo>
                  <a:pt x="2507258" y="20695"/>
                </a:moveTo>
                <a:lnTo>
                  <a:pt x="2459604" y="20695"/>
                </a:lnTo>
                <a:lnTo>
                  <a:pt x="2472315" y="42671"/>
                </a:lnTo>
                <a:lnTo>
                  <a:pt x="2461285" y="49013"/>
                </a:lnTo>
                <a:lnTo>
                  <a:pt x="2473960" y="70987"/>
                </a:lnTo>
                <a:lnTo>
                  <a:pt x="2507258" y="20695"/>
                </a:lnTo>
                <a:close/>
              </a:path>
              <a:path extrusionOk="0" h="1459229" w="2520950">
                <a:moveTo>
                  <a:pt x="2448600" y="27023"/>
                </a:moveTo>
                <a:lnTo>
                  <a:pt x="2421382" y="42671"/>
                </a:lnTo>
                <a:lnTo>
                  <a:pt x="2434093" y="64648"/>
                </a:lnTo>
                <a:lnTo>
                  <a:pt x="2461285" y="49013"/>
                </a:lnTo>
                <a:lnTo>
                  <a:pt x="2448600" y="27023"/>
                </a:lnTo>
                <a:close/>
              </a:path>
              <a:path extrusionOk="0" h="1459229" w="2520950">
                <a:moveTo>
                  <a:pt x="2459604" y="20695"/>
                </a:moveTo>
                <a:lnTo>
                  <a:pt x="2448600" y="27023"/>
                </a:lnTo>
                <a:lnTo>
                  <a:pt x="2461285" y="49013"/>
                </a:lnTo>
                <a:lnTo>
                  <a:pt x="2472315" y="42671"/>
                </a:lnTo>
                <a:lnTo>
                  <a:pt x="2459604" y="20695"/>
                </a:lnTo>
                <a:close/>
              </a:path>
              <a:path extrusionOk="0" h="1459229" w="252095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5" name="Google Shape;165;g3bb5fbf5691_0_39"/>
          <p:cNvSpPr/>
          <p:nvPr/>
        </p:nvSpPr>
        <p:spPr>
          <a:xfrm>
            <a:off x="6759265" y="4573675"/>
            <a:ext cx="466628" cy="239687"/>
          </a:xfrm>
          <a:custGeom>
            <a:rect b="b" l="l" r="r" t="t"/>
            <a:pathLst>
              <a:path extrusionOk="0" h="591819" w="967104">
                <a:moveTo>
                  <a:pt x="966581" y="0"/>
                </a:moveTo>
                <a:lnTo>
                  <a:pt x="416295" y="94487"/>
                </a:lnTo>
                <a:lnTo>
                  <a:pt x="460888" y="175016"/>
                </a:lnTo>
                <a:lnTo>
                  <a:pt x="0" y="430529"/>
                </a:lnTo>
                <a:lnTo>
                  <a:pt x="89275" y="591586"/>
                </a:lnTo>
                <a:lnTo>
                  <a:pt x="550163" y="336041"/>
                </a:lnTo>
                <a:lnTo>
                  <a:pt x="666733" y="336041"/>
                </a:lnTo>
                <a:lnTo>
                  <a:pt x="966581" y="0"/>
                </a:lnTo>
                <a:close/>
              </a:path>
              <a:path extrusionOk="0" h="591819" w="967104">
                <a:moveTo>
                  <a:pt x="666733" y="336041"/>
                </a:moveTo>
                <a:lnTo>
                  <a:pt x="550163" y="336041"/>
                </a:lnTo>
                <a:lnTo>
                  <a:pt x="594878" y="416570"/>
                </a:lnTo>
                <a:lnTo>
                  <a:pt x="666733" y="336041"/>
                </a:lnTo>
                <a:close/>
              </a:path>
            </a:pathLst>
          </a:custGeom>
          <a:solidFill>
            <a:srgbClr val="F8F7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6" name="Google Shape;166;g3bb5fbf5691_0_39"/>
          <p:cNvSpPr/>
          <p:nvPr/>
        </p:nvSpPr>
        <p:spPr>
          <a:xfrm>
            <a:off x="6759265" y="4573675"/>
            <a:ext cx="466628" cy="239687"/>
          </a:xfrm>
          <a:custGeom>
            <a:rect b="b" l="l" r="r" t="t"/>
            <a:pathLst>
              <a:path extrusionOk="0" h="591819" w="967104">
                <a:moveTo>
                  <a:pt x="0" y="430529"/>
                </a:moveTo>
                <a:lnTo>
                  <a:pt x="460888" y="175016"/>
                </a:lnTo>
                <a:lnTo>
                  <a:pt x="416295" y="94487"/>
                </a:lnTo>
                <a:lnTo>
                  <a:pt x="966581" y="0"/>
                </a:lnTo>
                <a:lnTo>
                  <a:pt x="594878" y="416570"/>
                </a:lnTo>
                <a:lnTo>
                  <a:pt x="550163" y="336041"/>
                </a:lnTo>
                <a:lnTo>
                  <a:pt x="89275" y="591586"/>
                </a:lnTo>
                <a:lnTo>
                  <a:pt x="0" y="43052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68"/>
              <a:buFont typeface="Arial"/>
              <a:buNone/>
            </a:pPr>
            <a:r>
              <a:t/>
            </a:r>
            <a:endParaRPr b="0" i="0" sz="868" u="none" cap="none" strike="noStrike">
              <a:solidFill>
                <a:srgbClr val="000000"/>
              </a:solidFill>
              <a:latin typeface="Calibri"/>
              <a:ea typeface="Calibri"/>
              <a:cs typeface="Calibri"/>
              <a:sym typeface="Calibri"/>
            </a:endParaRPr>
          </a:p>
        </p:txBody>
      </p:sp>
      <p:sp>
        <p:nvSpPr>
          <p:cNvPr id="167" name="Google Shape;167;g3bb5fbf5691_0_39"/>
          <p:cNvSpPr txBox="1"/>
          <p:nvPr/>
        </p:nvSpPr>
        <p:spPr>
          <a:xfrm>
            <a:off x="5614064" y="5592163"/>
            <a:ext cx="404100" cy="1782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000000"/>
              </a:buClr>
              <a:buSzPts val="1158"/>
              <a:buFont typeface="Century Gothic"/>
              <a:buNone/>
            </a:pPr>
            <a:r>
              <a:rPr b="0" i="0" lang="en-US" sz="1157" u="none" cap="none" strike="noStrike">
                <a:solidFill>
                  <a:srgbClr val="000000"/>
                </a:solidFill>
                <a:latin typeface="Century Gothic"/>
                <a:ea typeface="Century Gothic"/>
                <a:cs typeface="Century Gothic"/>
                <a:sym typeface="Century Gothic"/>
              </a:rPr>
              <a:t>(10,5)</a:t>
            </a:r>
            <a:endParaRPr b="0" i="0" sz="675" u="none" cap="none" strike="noStrike">
              <a:solidFill>
                <a:srgbClr val="000000"/>
              </a:solidFill>
              <a:latin typeface="Arial"/>
              <a:ea typeface="Arial"/>
              <a:cs typeface="Arial"/>
              <a:sym typeface="Arial"/>
            </a:endParaRPr>
          </a:p>
        </p:txBody>
      </p:sp>
      <p:sp>
        <p:nvSpPr>
          <p:cNvPr id="168" name="Google Shape;168;g3bb5fbf5691_0_39"/>
          <p:cNvSpPr txBox="1"/>
          <p:nvPr/>
        </p:nvSpPr>
        <p:spPr>
          <a:xfrm>
            <a:off x="6566357" y="5592163"/>
            <a:ext cx="405000" cy="1782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000000"/>
              </a:buClr>
              <a:buSzPts val="1158"/>
              <a:buFont typeface="Century Gothic"/>
              <a:buNone/>
            </a:pPr>
            <a:r>
              <a:rPr b="0" i="0" lang="en-US" sz="1157" u="none" cap="none" strike="noStrike">
                <a:solidFill>
                  <a:srgbClr val="000000"/>
                </a:solidFill>
                <a:latin typeface="Century Gothic"/>
                <a:ea typeface="Century Gothic"/>
                <a:cs typeface="Century Gothic"/>
                <a:sym typeface="Century Gothic"/>
              </a:rPr>
              <a:t>(30,5)</a:t>
            </a:r>
            <a:endParaRPr b="0" i="0" sz="675" u="none" cap="none" strike="noStrike">
              <a:solidFill>
                <a:srgbClr val="000000"/>
              </a:solidFill>
              <a:latin typeface="Arial"/>
              <a:ea typeface="Arial"/>
              <a:cs typeface="Arial"/>
              <a:sym typeface="Arial"/>
            </a:endParaRPr>
          </a:p>
        </p:txBody>
      </p:sp>
      <p:sp>
        <p:nvSpPr>
          <p:cNvPr id="169" name="Google Shape;169;g3bb5fbf5691_0_39"/>
          <p:cNvSpPr txBox="1"/>
          <p:nvPr/>
        </p:nvSpPr>
        <p:spPr>
          <a:xfrm>
            <a:off x="6096335" y="4619298"/>
            <a:ext cx="486300" cy="1782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000000"/>
              </a:buClr>
              <a:buSzPts val="1158"/>
              <a:buFont typeface="Century Gothic"/>
              <a:buNone/>
            </a:pPr>
            <a:r>
              <a:rPr b="0" i="0" lang="en-US" sz="1157" u="none" cap="none" strike="noStrike">
                <a:solidFill>
                  <a:srgbClr val="000000"/>
                </a:solidFill>
                <a:latin typeface="Century Gothic"/>
                <a:ea typeface="Century Gothic"/>
                <a:cs typeface="Century Gothic"/>
                <a:sym typeface="Century Gothic"/>
              </a:rPr>
              <a:t>(20,35)</a:t>
            </a:r>
            <a:endParaRPr b="0" i="0" sz="675" u="none" cap="none" strike="noStrike">
              <a:solidFill>
                <a:srgbClr val="000000"/>
              </a:solidFill>
              <a:latin typeface="Arial"/>
              <a:ea typeface="Arial"/>
              <a:cs typeface="Arial"/>
              <a:sym typeface="Arial"/>
            </a:endParaRPr>
          </a:p>
        </p:txBody>
      </p:sp>
      <p:sp>
        <p:nvSpPr>
          <p:cNvPr id="170" name="Google Shape;170;g3bb5fbf5691_0_39"/>
          <p:cNvSpPr txBox="1"/>
          <p:nvPr/>
        </p:nvSpPr>
        <p:spPr>
          <a:xfrm>
            <a:off x="5502300" y="3819288"/>
            <a:ext cx="3968700" cy="648600"/>
          </a:xfrm>
          <a:prstGeom prst="rect">
            <a:avLst/>
          </a:prstGeom>
          <a:noFill/>
          <a:ln>
            <a:noFill/>
          </a:ln>
        </p:spPr>
        <p:txBody>
          <a:bodyPr anchorCtr="0" anchor="t" bIns="0" lIns="0" spcFirstLastPara="1" rIns="0" wrap="square" tIns="348175">
            <a:spAutoFit/>
          </a:bodyPr>
          <a:lstStyle/>
          <a:p>
            <a:pPr indent="0" lvl="0" marL="2173795" marR="0" rtl="0" algn="ctr">
              <a:lnSpc>
                <a:spcPct val="100000"/>
              </a:lnSpc>
              <a:spcBef>
                <a:spcPts val="0"/>
              </a:spcBef>
              <a:spcAft>
                <a:spcPts val="0"/>
              </a:spcAft>
              <a:buClr>
                <a:srgbClr val="000000"/>
              </a:buClr>
              <a:buSzPts val="1929"/>
              <a:buFont typeface="Arial"/>
              <a:buNone/>
            </a:pPr>
            <a:r>
              <a:t/>
            </a:r>
            <a:endParaRPr b="0" i="0" sz="1929" u="none" cap="none" strike="noStrike">
              <a:solidFill>
                <a:srgbClr val="000000"/>
              </a:solidFill>
              <a:latin typeface="Calibri"/>
              <a:ea typeface="Calibri"/>
              <a:cs typeface="Calibri"/>
              <a:sym typeface="Calibri"/>
            </a:endParaRPr>
          </a:p>
        </p:txBody>
      </p:sp>
      <p:sp>
        <p:nvSpPr>
          <p:cNvPr id="171" name="Google Shape;171;g3bb5fbf5691_0_39"/>
          <p:cNvSpPr txBox="1"/>
          <p:nvPr/>
        </p:nvSpPr>
        <p:spPr>
          <a:xfrm>
            <a:off x="7889149" y="4975275"/>
            <a:ext cx="588300" cy="1782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000000"/>
              </a:buClr>
              <a:buSzPts val="1158"/>
              <a:buFont typeface="Century Gothic"/>
              <a:buNone/>
            </a:pPr>
            <a:r>
              <a:rPr b="0" i="0" lang="en-US" sz="1157" u="none" cap="none" strike="noStrike">
                <a:solidFill>
                  <a:srgbClr val="000000"/>
                </a:solidFill>
                <a:latin typeface="Century Gothic"/>
                <a:ea typeface="Century Gothic"/>
                <a:cs typeface="Century Gothic"/>
                <a:sym typeface="Century Gothic"/>
              </a:rPr>
              <a:t>(65, 30)</a:t>
            </a:r>
            <a:endParaRPr b="0" i="0" sz="675" u="none" cap="none" strike="noStrike">
              <a:solidFill>
                <a:srgbClr val="000000"/>
              </a:solidFill>
              <a:latin typeface="Arial"/>
              <a:ea typeface="Arial"/>
              <a:cs typeface="Arial"/>
              <a:sym typeface="Arial"/>
            </a:endParaRPr>
          </a:p>
        </p:txBody>
      </p:sp>
      <p:sp>
        <p:nvSpPr>
          <p:cNvPr id="172" name="Google Shape;172;g3bb5fbf5691_0_39"/>
          <p:cNvSpPr txBox="1"/>
          <p:nvPr/>
        </p:nvSpPr>
        <p:spPr>
          <a:xfrm>
            <a:off x="6697800" y="4828000"/>
            <a:ext cx="768600" cy="1782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000000"/>
              </a:buClr>
              <a:buSzPts val="1158"/>
              <a:buFont typeface="Century Gothic"/>
              <a:buNone/>
            </a:pPr>
            <a:r>
              <a:rPr b="0" i="0" lang="en-US" sz="1157" u="none" cap="none" strike="noStrike">
                <a:solidFill>
                  <a:srgbClr val="000000"/>
                </a:solidFill>
                <a:latin typeface="Century Gothic"/>
                <a:ea typeface="Century Gothic"/>
                <a:cs typeface="Century Gothic"/>
                <a:sym typeface="Century Gothic"/>
              </a:rPr>
              <a:t>(45, 30)</a:t>
            </a:r>
            <a:endParaRPr b="0" i="0" sz="675" u="none" cap="none" strike="noStrike">
              <a:solidFill>
                <a:srgbClr val="000000"/>
              </a:solidFill>
              <a:latin typeface="Arial"/>
              <a:ea typeface="Arial"/>
              <a:cs typeface="Arial"/>
              <a:sym typeface="Arial"/>
            </a:endParaRPr>
          </a:p>
        </p:txBody>
      </p:sp>
      <p:sp>
        <p:nvSpPr>
          <p:cNvPr id="173" name="Google Shape;173;g3bb5fbf5691_0_39"/>
          <p:cNvSpPr txBox="1"/>
          <p:nvPr/>
        </p:nvSpPr>
        <p:spPr>
          <a:xfrm>
            <a:off x="7602053" y="3955438"/>
            <a:ext cx="768600" cy="430800"/>
          </a:xfrm>
          <a:prstGeom prst="rect">
            <a:avLst/>
          </a:prstGeom>
          <a:noFill/>
          <a:ln>
            <a:noFill/>
          </a:ln>
        </p:spPr>
        <p:txBody>
          <a:bodyPr anchorCtr="0" anchor="t" bIns="0" lIns="0" spcFirstLastPara="1" rIns="0" wrap="square" tIns="0">
            <a:spAutoFit/>
          </a:bodyPr>
          <a:lstStyle/>
          <a:p>
            <a:pPr indent="0" lvl="0" marL="6127" marR="0" rtl="0" algn="l">
              <a:lnSpc>
                <a:spcPct val="100000"/>
              </a:lnSpc>
              <a:spcBef>
                <a:spcPts val="0"/>
              </a:spcBef>
              <a:spcAft>
                <a:spcPts val="0"/>
              </a:spcAft>
              <a:buClr>
                <a:srgbClr val="FFFFFF"/>
              </a:buClr>
              <a:buSzPts val="2123"/>
              <a:buFont typeface="Calibri"/>
              <a:buNone/>
            </a:pPr>
            <a:r>
              <a:rPr b="0" i="0" lang="en-US" sz="2122" u="none" cap="none" strike="noStrike">
                <a:solidFill>
                  <a:srgbClr val="FFFFFF"/>
                </a:solidFill>
                <a:latin typeface="Calibri"/>
                <a:ea typeface="Calibri"/>
                <a:cs typeface="Calibri"/>
                <a:sym typeface="Calibri"/>
              </a:rPr>
              <a:t>o</a:t>
            </a:r>
            <a:r>
              <a:rPr b="0" i="0" lang="en-US" sz="1157" u="none" cap="none" strike="noStrike">
                <a:solidFill>
                  <a:schemeClr val="dk1"/>
                </a:solidFill>
                <a:latin typeface="Century Gothic"/>
                <a:ea typeface="Century Gothic"/>
                <a:cs typeface="Century Gothic"/>
                <a:sym typeface="Century Gothic"/>
              </a:rPr>
              <a:t>(55, 60)</a:t>
            </a:r>
            <a:endParaRPr b="0" i="0" sz="1929" u="none" cap="none" strike="noStrike">
              <a:solidFill>
                <a:schemeClr val="dk1"/>
              </a:solidFill>
              <a:latin typeface="Calibri"/>
              <a:ea typeface="Calibri"/>
              <a:cs typeface="Calibri"/>
              <a:sym typeface="Calibri"/>
            </a:endParaRPr>
          </a:p>
          <a:p>
            <a:pPr indent="0" lvl="0" marL="6127" marR="0" rtl="0" algn="l">
              <a:lnSpc>
                <a:spcPct val="100000"/>
              </a:lnSpc>
              <a:spcBef>
                <a:spcPts val="0"/>
              </a:spcBef>
              <a:spcAft>
                <a:spcPts val="0"/>
              </a:spcAft>
              <a:buClr>
                <a:srgbClr val="FFFFFF"/>
              </a:buClr>
              <a:buSzPts val="2123"/>
              <a:buFont typeface="Calibri"/>
              <a:buNone/>
            </a:pPr>
            <a:r>
              <a:t/>
            </a:r>
            <a:endParaRPr b="0" i="0" sz="675" u="none" cap="none" strike="noStrike">
              <a:solidFill>
                <a:srgbClr val="000000"/>
              </a:solidFill>
              <a:latin typeface="Arial"/>
              <a:ea typeface="Arial"/>
              <a:cs typeface="Arial"/>
              <a:sym typeface="Arial"/>
            </a:endParaRPr>
          </a:p>
        </p:txBody>
      </p:sp>
      <p:sp>
        <p:nvSpPr>
          <p:cNvPr id="174" name="Google Shape;174;g3bb5fbf5691_0_39"/>
          <p:cNvSpPr/>
          <p:nvPr/>
        </p:nvSpPr>
        <p:spPr>
          <a:xfrm>
            <a:off x="5005475" y="2123525"/>
            <a:ext cx="886200" cy="36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8" name="Shape 178"/>
        <p:cNvGrpSpPr/>
        <p:nvPr/>
      </p:nvGrpSpPr>
      <p:grpSpPr>
        <a:xfrm>
          <a:off x="0" y="0"/>
          <a:ext cx="0" cy="0"/>
          <a:chOff x="0" y="0"/>
          <a:chExt cx="0" cy="0"/>
        </a:xfrm>
      </p:grpSpPr>
      <p:sp>
        <p:nvSpPr>
          <p:cNvPr id="179" name="Google Shape;179;g3bb5fbf5691_0_10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0" name="Google Shape;180;g3bb5fbf5691_0_10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1" name="Google Shape;181;g3bb5fbf5691_0_101"/>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2D Transformations (Translation Example)</a:t>
            </a:r>
            <a:endParaRPr b="0" i="0" sz="3400" u="none" cap="none" strike="noStrike">
              <a:solidFill>
                <a:schemeClr val="lt1"/>
              </a:solidFill>
              <a:latin typeface="Calibri"/>
              <a:ea typeface="Calibri"/>
              <a:cs typeface="Calibri"/>
              <a:sym typeface="Calibri"/>
            </a:endParaRPr>
          </a:p>
        </p:txBody>
      </p:sp>
      <p:pic>
        <p:nvPicPr>
          <p:cNvPr id="182" name="Google Shape;182;g3bb5fbf5691_0_10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183" name="Google Shape;183;g3bb5fbf5691_0_101"/>
          <p:cNvPicPr preferRelativeResize="0"/>
          <p:nvPr/>
        </p:nvPicPr>
        <p:blipFill rotWithShape="1">
          <a:blip r:embed="rId4">
            <a:alphaModFix/>
          </a:blip>
          <a:srcRect b="0" l="0" r="0" t="0"/>
          <a:stretch/>
        </p:blipFill>
        <p:spPr>
          <a:xfrm>
            <a:off x="1027800" y="1310325"/>
            <a:ext cx="7368177" cy="491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7" name="Shape 187"/>
        <p:cNvGrpSpPr/>
        <p:nvPr/>
      </p:nvGrpSpPr>
      <p:grpSpPr>
        <a:xfrm>
          <a:off x="0" y="0"/>
          <a:ext cx="0" cy="0"/>
          <a:chOff x="0" y="0"/>
          <a:chExt cx="0" cy="0"/>
        </a:xfrm>
      </p:grpSpPr>
      <p:sp>
        <p:nvSpPr>
          <p:cNvPr id="188" name="Google Shape;188;g3bb5fbf5691_0_12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9" name="Google Shape;189;g3bb5fbf5691_0_12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0" name="Google Shape;190;g3bb5fbf5691_0_121"/>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(Scaling)</a:t>
            </a:r>
            <a:endParaRPr b="0" i="0" sz="3800" u="none" cap="none" strike="noStrike">
              <a:solidFill>
                <a:schemeClr val="lt1"/>
              </a:solidFill>
              <a:latin typeface="Calibri"/>
              <a:ea typeface="Calibri"/>
              <a:cs typeface="Calibri"/>
              <a:sym typeface="Calibri"/>
            </a:endParaRPr>
          </a:p>
        </p:txBody>
      </p:sp>
      <p:pic>
        <p:nvPicPr>
          <p:cNvPr id="191" name="Google Shape;191;g3bb5fbf5691_0_12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92" name="Google Shape;192;g3bb5fbf5691_0_121"/>
          <p:cNvSpPr txBox="1"/>
          <p:nvPr/>
        </p:nvSpPr>
        <p:spPr>
          <a:xfrm>
            <a:off x="118250" y="1136975"/>
            <a:ext cx="8722500" cy="3288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434343"/>
              </a:buClr>
              <a:buSzPts val="2000"/>
              <a:buFont typeface="Times New Roman"/>
              <a:buChar char="●"/>
            </a:pPr>
            <a:r>
              <a:rPr i="0" lang="en-US" sz="2000" u="none" cap="none" strike="noStrike">
                <a:solidFill>
                  <a:srgbClr val="434343"/>
                </a:solidFill>
                <a:latin typeface="Times New Roman"/>
                <a:ea typeface="Times New Roman"/>
                <a:cs typeface="Times New Roman"/>
                <a:sym typeface="Times New Roman"/>
              </a:rPr>
              <a:t>A scaling transformation </a:t>
            </a:r>
            <a:r>
              <a:rPr b="1" i="0" lang="en-US" sz="2000" u="none" cap="none" strike="noStrike">
                <a:solidFill>
                  <a:srgbClr val="434343"/>
                </a:solidFill>
                <a:latin typeface="Times New Roman"/>
                <a:ea typeface="Times New Roman"/>
                <a:cs typeface="Times New Roman"/>
                <a:sym typeface="Times New Roman"/>
              </a:rPr>
              <a:t>changes the size</a:t>
            </a:r>
            <a:r>
              <a:rPr i="0" lang="en-US" sz="2000" u="none" cap="none" strike="noStrike">
                <a:solidFill>
                  <a:srgbClr val="434343"/>
                </a:solidFill>
                <a:latin typeface="Times New Roman"/>
                <a:ea typeface="Times New Roman"/>
                <a:cs typeface="Times New Roman"/>
                <a:sym typeface="Times New Roman"/>
              </a:rPr>
              <a:t> of an object.</a:t>
            </a:r>
            <a:endParaRPr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434343"/>
              </a:buClr>
              <a:buSzPts val="2000"/>
              <a:buFont typeface="Times New Roman"/>
              <a:buChar char="●"/>
            </a:pPr>
            <a:r>
              <a:rPr i="0" lang="en-US" sz="2000" u="none" cap="none" strike="noStrike">
                <a:solidFill>
                  <a:srgbClr val="434343"/>
                </a:solidFill>
                <a:latin typeface="Times New Roman"/>
                <a:ea typeface="Times New Roman"/>
                <a:cs typeface="Times New Roman"/>
                <a:sym typeface="Times New Roman"/>
              </a:rPr>
              <a:t>This operation can be carried out for polygons by multiplying the coordinate values (x, y) of each vertex by scaling factors Sx and Sy to produce the transformed coordinates (x′, y′).</a:t>
            </a:r>
            <a:endParaRPr i="0" sz="2000" u="none" cap="none" strike="noStrike">
              <a:solidFill>
                <a:srgbClr val="434343"/>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rgbClr val="000000"/>
              </a:buClr>
              <a:buSzPts val="2000"/>
              <a:buFont typeface="Times New Roman"/>
              <a:buChar char="○"/>
            </a:pPr>
            <a:r>
              <a:rPr i="1" lang="en-US" sz="2000" u="none" cap="none" strike="noStrike">
                <a:solidFill>
                  <a:srgbClr val="000000"/>
                </a:solidFill>
                <a:latin typeface="Times New Roman"/>
                <a:ea typeface="Times New Roman"/>
                <a:cs typeface="Times New Roman"/>
                <a:sym typeface="Times New Roman"/>
              </a:rPr>
              <a:t>x</a:t>
            </a:r>
            <a:r>
              <a:rPr baseline="30000" i="0" lang="en-US" sz="2000" u="none" cap="none" strike="noStrike">
                <a:solidFill>
                  <a:srgbClr val="000000"/>
                </a:solidFill>
                <a:latin typeface="Times New Roman"/>
                <a:ea typeface="Times New Roman"/>
                <a:cs typeface="Times New Roman"/>
                <a:sym typeface="Times New Roman"/>
              </a:rPr>
              <a:t>′ </a:t>
            </a:r>
            <a:r>
              <a:rPr i="0" lang="en-US" sz="2000" u="none" cap="none" strike="noStrike">
                <a:solidFill>
                  <a:srgbClr val="000000"/>
                </a:solidFill>
                <a:latin typeface="Times New Roman"/>
                <a:ea typeface="Times New Roman"/>
                <a:cs typeface="Times New Roman"/>
                <a:sym typeface="Times New Roman"/>
              </a:rPr>
              <a:t>= </a:t>
            </a:r>
            <a:r>
              <a:rPr i="1" lang="en-US" sz="2000" u="none" cap="none" strike="noStrike">
                <a:solidFill>
                  <a:srgbClr val="000000"/>
                </a:solidFill>
                <a:latin typeface="Times New Roman"/>
                <a:ea typeface="Times New Roman"/>
                <a:cs typeface="Times New Roman"/>
                <a:sym typeface="Times New Roman"/>
              </a:rPr>
              <a:t>xS</a:t>
            </a:r>
            <a:r>
              <a:rPr baseline="-25000" i="1" lang="en-US" sz="2000" u="none" cap="none" strike="noStrike">
                <a:solidFill>
                  <a:srgbClr val="000000"/>
                </a:solidFill>
                <a:latin typeface="Times New Roman"/>
                <a:ea typeface="Times New Roman"/>
                <a:cs typeface="Times New Roman"/>
                <a:sym typeface="Times New Roman"/>
              </a:rPr>
              <a:t>x</a:t>
            </a:r>
            <a:endParaRPr baseline="-25000" i="0" sz="2000" u="none" cap="none" strike="noStrike">
              <a:solidFill>
                <a:srgbClr val="000000"/>
              </a:solidFill>
              <a:latin typeface="Times New Roman"/>
              <a:ea typeface="Times New Roman"/>
              <a:cs typeface="Times New Roman"/>
              <a:sym typeface="Times New Roman"/>
            </a:endParaRPr>
          </a:p>
          <a:p>
            <a:pPr indent="-355600" lvl="1" marL="914400" marR="0" rtl="0" algn="l">
              <a:lnSpc>
                <a:spcPct val="100000"/>
              </a:lnSpc>
              <a:spcBef>
                <a:spcPts val="1000"/>
              </a:spcBef>
              <a:spcAft>
                <a:spcPts val="0"/>
              </a:spcAft>
              <a:buClr>
                <a:srgbClr val="000000"/>
              </a:buClr>
              <a:buSzPts val="2000"/>
              <a:buFont typeface="Times New Roman"/>
              <a:buChar char="○"/>
            </a:pPr>
            <a:r>
              <a:rPr i="1" lang="en-US" sz="2000" u="none" cap="none" strike="noStrike">
                <a:solidFill>
                  <a:srgbClr val="000000"/>
                </a:solidFill>
                <a:latin typeface="Times New Roman"/>
                <a:ea typeface="Times New Roman"/>
                <a:cs typeface="Times New Roman"/>
                <a:sym typeface="Times New Roman"/>
              </a:rPr>
              <a:t>y</a:t>
            </a:r>
            <a:r>
              <a:rPr baseline="30000" i="0" lang="en-US" sz="2000" u="none" cap="none" strike="noStrike">
                <a:solidFill>
                  <a:srgbClr val="000000"/>
                </a:solidFill>
                <a:latin typeface="Times New Roman"/>
                <a:ea typeface="Times New Roman"/>
                <a:cs typeface="Times New Roman"/>
                <a:sym typeface="Times New Roman"/>
              </a:rPr>
              <a:t>′ </a:t>
            </a:r>
            <a:r>
              <a:rPr i="0" lang="en-US" sz="2000" u="none" cap="none" strike="noStrike">
                <a:solidFill>
                  <a:srgbClr val="000000"/>
                </a:solidFill>
                <a:latin typeface="Times New Roman"/>
                <a:ea typeface="Times New Roman"/>
                <a:cs typeface="Times New Roman"/>
                <a:sym typeface="Times New Roman"/>
              </a:rPr>
              <a:t>= </a:t>
            </a:r>
            <a:r>
              <a:rPr i="1" lang="en-US" sz="2000" u="none" cap="none" strike="noStrike">
                <a:solidFill>
                  <a:srgbClr val="000000"/>
                </a:solidFill>
                <a:latin typeface="Times New Roman"/>
                <a:ea typeface="Times New Roman"/>
                <a:cs typeface="Times New Roman"/>
                <a:sym typeface="Times New Roman"/>
              </a:rPr>
              <a:t>yS</a:t>
            </a:r>
            <a:r>
              <a:rPr baseline="-25000" i="1" lang="en-US" sz="2000" u="none" cap="none" strike="noStrike">
                <a:solidFill>
                  <a:srgbClr val="000000"/>
                </a:solidFill>
                <a:latin typeface="Times New Roman"/>
                <a:ea typeface="Times New Roman"/>
                <a:cs typeface="Times New Roman"/>
                <a:sym typeface="Times New Roman"/>
              </a:rPr>
              <a:t>y</a:t>
            </a:r>
            <a:endParaRPr i="0" sz="2000" u="none" cap="none" strike="noStrike">
              <a:solidFill>
                <a:srgbClr val="434343"/>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chemeClr val="dk1"/>
              </a:buClr>
              <a:buSzPts val="2000"/>
              <a:buFont typeface="Times New Roman"/>
              <a:buChar char="●"/>
            </a:pPr>
            <a:r>
              <a:rPr i="0" lang="en-US" sz="2000" u="none" cap="none" strike="noStrike">
                <a:solidFill>
                  <a:schemeClr val="dk1"/>
                </a:solidFill>
                <a:latin typeface="Times New Roman"/>
                <a:ea typeface="Times New Roman"/>
                <a:cs typeface="Times New Roman"/>
                <a:sym typeface="Times New Roman"/>
              </a:rPr>
              <a:t>Represent in a matrix</a:t>
            </a:r>
            <a:r>
              <a:rPr lang="en-US" sz="2000">
                <a:solidFill>
                  <a:schemeClr val="dk1"/>
                </a:solidFill>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000"/>
              <a:buFont typeface="Arial"/>
              <a:buNone/>
            </a:pPr>
            <a:r>
              <a:t/>
            </a:r>
            <a:endParaRPr b="0" i="0" sz="2000" u="none" cap="none" strike="noStrike">
              <a:solidFill>
                <a:srgbClr val="434343"/>
              </a:solidFill>
              <a:latin typeface="Times New Roman"/>
              <a:ea typeface="Times New Roman"/>
              <a:cs typeface="Times New Roman"/>
              <a:sym typeface="Times New Roman"/>
            </a:endParaRPr>
          </a:p>
        </p:txBody>
      </p:sp>
      <p:sp>
        <p:nvSpPr>
          <p:cNvPr id="193" name="Google Shape;193;g3bb5fbf5691_0_121"/>
          <p:cNvSpPr txBox="1"/>
          <p:nvPr/>
        </p:nvSpPr>
        <p:spPr>
          <a:xfrm>
            <a:off x="6133350" y="5784463"/>
            <a:ext cx="2706600" cy="46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Scaling of objects</a:t>
            </a:r>
            <a:endParaRPr b="1" i="0" sz="1800" u="none" cap="none" strike="noStrike">
              <a:solidFill>
                <a:srgbClr val="980000"/>
              </a:solidFill>
              <a:latin typeface="Times New Roman"/>
              <a:ea typeface="Times New Roman"/>
              <a:cs typeface="Times New Roman"/>
              <a:sym typeface="Times New Roman"/>
            </a:endParaRPr>
          </a:p>
        </p:txBody>
      </p:sp>
      <p:pic>
        <p:nvPicPr>
          <p:cNvPr id="194" name="Google Shape;194;g3bb5fbf5691_0_121" title="scaleAnimate.gif"/>
          <p:cNvPicPr preferRelativeResize="0"/>
          <p:nvPr/>
        </p:nvPicPr>
        <p:blipFill rotWithShape="1">
          <a:blip r:embed="rId4">
            <a:alphaModFix/>
          </a:blip>
          <a:srcRect b="0" l="0" r="0" t="0"/>
          <a:stretch/>
        </p:blipFill>
        <p:spPr>
          <a:xfrm>
            <a:off x="5385100" y="3154650"/>
            <a:ext cx="3397300" cy="2521725"/>
          </a:xfrm>
          <a:prstGeom prst="rect">
            <a:avLst/>
          </a:prstGeom>
          <a:noFill/>
          <a:ln>
            <a:noFill/>
          </a:ln>
        </p:spPr>
      </p:pic>
      <p:sp>
        <p:nvSpPr>
          <p:cNvPr id="195" name="Google Shape;195;g3bb5fbf5691_0_121"/>
          <p:cNvSpPr txBox="1"/>
          <p:nvPr/>
        </p:nvSpPr>
        <p:spPr>
          <a:xfrm>
            <a:off x="1854220" y="4159089"/>
            <a:ext cx="1405200" cy="8076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000000"/>
              </a:solidFill>
              <a:latin typeface="Calibri"/>
              <a:ea typeface="Calibri"/>
              <a:cs typeface="Calibri"/>
              <a:sym typeface="Calibri"/>
            </a:endParaRPr>
          </a:p>
        </p:txBody>
      </p:sp>
      <p:sp>
        <p:nvSpPr>
          <p:cNvPr id="196" name="Google Shape;196;g3bb5fbf5691_0_121"/>
          <p:cNvSpPr txBox="1"/>
          <p:nvPr/>
        </p:nvSpPr>
        <p:spPr>
          <a:xfrm>
            <a:off x="3591812" y="4102672"/>
            <a:ext cx="978600" cy="768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000000"/>
              </a:solidFill>
              <a:latin typeface="Calibri"/>
              <a:ea typeface="Calibri"/>
              <a:cs typeface="Calibri"/>
              <a:sym typeface="Calibri"/>
            </a:endParaRPr>
          </a:p>
        </p:txBody>
      </p:sp>
      <p:sp>
        <p:nvSpPr>
          <p:cNvPr id="197" name="Google Shape;197;g3bb5fbf5691_0_121"/>
          <p:cNvSpPr txBox="1"/>
          <p:nvPr/>
        </p:nvSpPr>
        <p:spPr>
          <a:xfrm>
            <a:off x="509830" y="5292565"/>
            <a:ext cx="1056300" cy="3495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000000"/>
              </a:solidFill>
              <a:latin typeface="Calibri"/>
              <a:ea typeface="Calibri"/>
              <a:cs typeface="Calibri"/>
              <a:sym typeface="Calibri"/>
            </a:endParaRPr>
          </a:p>
        </p:txBody>
      </p:sp>
      <p:sp>
        <p:nvSpPr>
          <p:cNvPr id="198" name="Google Shape;198;g3bb5fbf5691_0_121"/>
          <p:cNvSpPr txBox="1"/>
          <p:nvPr/>
        </p:nvSpPr>
        <p:spPr>
          <a:xfrm>
            <a:off x="1566134" y="5137636"/>
            <a:ext cx="2259600" cy="7533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000000"/>
              </a:solidFill>
              <a:latin typeface="Calibri"/>
              <a:ea typeface="Calibri"/>
              <a:cs typeface="Calibri"/>
              <a:sym typeface="Calibri"/>
            </a:endParaRPr>
          </a:p>
        </p:txBody>
      </p:sp>
      <p:sp>
        <p:nvSpPr>
          <p:cNvPr id="199" name="Google Shape;199;g3bb5fbf5691_0_121"/>
          <p:cNvSpPr txBox="1"/>
          <p:nvPr/>
        </p:nvSpPr>
        <p:spPr>
          <a:xfrm>
            <a:off x="509825" y="4186152"/>
            <a:ext cx="931800" cy="75330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67"/>
              <a:buFont typeface="Arial"/>
              <a:buNone/>
            </a:pPr>
            <a:r>
              <a:t/>
            </a:r>
            <a:endParaRPr b="0" i="0" sz="1467"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g3bb5fbf5691_0_19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05" name="Google Shape;205;g3bb5fbf5691_0_19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6" name="Google Shape;206;g3bb5fbf5691_0_19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(Scaling)</a:t>
            </a:r>
            <a:endParaRPr b="0" i="0" sz="3800" u="none" cap="none" strike="noStrike">
              <a:solidFill>
                <a:schemeClr val="lt1"/>
              </a:solidFill>
              <a:latin typeface="Calibri"/>
              <a:ea typeface="Calibri"/>
              <a:cs typeface="Calibri"/>
              <a:sym typeface="Calibri"/>
            </a:endParaRPr>
          </a:p>
        </p:txBody>
      </p:sp>
      <p:pic>
        <p:nvPicPr>
          <p:cNvPr id="207" name="Google Shape;207;g3bb5fbf5691_0_19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grpSp>
        <p:nvGrpSpPr>
          <p:cNvPr id="208" name="Google Shape;208;g3bb5fbf5691_0_190"/>
          <p:cNvGrpSpPr/>
          <p:nvPr/>
        </p:nvGrpSpPr>
        <p:grpSpPr>
          <a:xfrm>
            <a:off x="591175" y="4121500"/>
            <a:ext cx="2346055" cy="1339500"/>
            <a:chOff x="576" y="3132"/>
            <a:chExt cx="1200" cy="900"/>
          </a:xfrm>
        </p:grpSpPr>
        <p:cxnSp>
          <p:nvCxnSpPr>
            <p:cNvPr id="209" name="Google Shape;209;g3bb5fbf5691_0_190"/>
            <p:cNvCxnSpPr/>
            <p:nvPr/>
          </p:nvCxnSpPr>
          <p:spPr>
            <a:xfrm rot="10800000">
              <a:off x="720" y="3132"/>
              <a:ext cx="0" cy="900"/>
            </a:xfrm>
            <a:prstGeom prst="straightConnector1">
              <a:avLst/>
            </a:prstGeom>
            <a:noFill/>
            <a:ln cap="flat" cmpd="sng" w="9825">
              <a:solidFill>
                <a:srgbClr val="000000"/>
              </a:solidFill>
              <a:prstDash val="solid"/>
              <a:miter lim="8000"/>
              <a:headEnd len="sm" w="sm" type="none"/>
              <a:tailEnd len="med" w="med" type="triangle"/>
            </a:ln>
          </p:spPr>
        </p:cxnSp>
        <p:cxnSp>
          <p:nvCxnSpPr>
            <p:cNvPr id="210" name="Google Shape;210;g3bb5fbf5691_0_190"/>
            <p:cNvCxnSpPr/>
            <p:nvPr/>
          </p:nvCxnSpPr>
          <p:spPr>
            <a:xfrm>
              <a:off x="576" y="3936"/>
              <a:ext cx="1200" cy="0"/>
            </a:xfrm>
            <a:prstGeom prst="straightConnector1">
              <a:avLst/>
            </a:prstGeom>
            <a:noFill/>
            <a:ln cap="flat" cmpd="sng" w="9825">
              <a:solidFill>
                <a:srgbClr val="000000"/>
              </a:solidFill>
              <a:prstDash val="solid"/>
              <a:miter lim="8000"/>
              <a:headEnd len="sm" w="sm" type="none"/>
              <a:tailEnd len="med" w="med" type="triangle"/>
            </a:ln>
          </p:spPr>
        </p:cxnSp>
        <p:sp>
          <p:nvSpPr>
            <p:cNvPr id="211" name="Google Shape;211;g3bb5fbf5691_0_190"/>
            <p:cNvSpPr txBox="1"/>
            <p:nvPr/>
          </p:nvSpPr>
          <p:spPr>
            <a:xfrm>
              <a:off x="1152" y="3456"/>
              <a:ext cx="300" cy="300"/>
            </a:xfrm>
            <a:prstGeom prst="rect">
              <a:avLst/>
            </a:prstGeom>
            <a:noFill/>
            <a:ln cap="flat" cmpd="sng" w="9825">
              <a:solidFill>
                <a:srgbClr val="000000"/>
              </a:solidFill>
              <a:prstDash val="solid"/>
              <a:miter lim="8000"/>
              <a:headEnd len="sm" w="sm" type="none"/>
              <a:tailEnd len="sm" w="sm" type="none"/>
            </a:ln>
          </p:spPr>
          <p:txBody>
            <a:bodyPr anchorCtr="0" anchor="ctr" bIns="47025" lIns="94050" spcFirstLastPara="1" rIns="94050" wrap="square" tIns="47025">
              <a:noAutofit/>
            </a:bodyPr>
            <a:lstStyle/>
            <a:p>
              <a:pPr indent="0" lvl="0" marL="0" marR="0" rtl="0" algn="l">
                <a:lnSpc>
                  <a:spcPct val="100000"/>
                </a:lnSpc>
                <a:spcBef>
                  <a:spcPts val="0"/>
                </a:spcBef>
                <a:spcAft>
                  <a:spcPts val="0"/>
                </a:spcAft>
                <a:buClr>
                  <a:srgbClr val="000000"/>
                </a:buClr>
                <a:buSzPts val="1851"/>
                <a:buFont typeface="Arial"/>
                <a:buNone/>
              </a:pPr>
              <a:r>
                <a:t/>
              </a:r>
              <a:endParaRPr b="0" i="0" sz="1851" u="none" cap="none" strike="noStrike">
                <a:solidFill>
                  <a:srgbClr val="000000"/>
                </a:solidFill>
                <a:latin typeface="Tahoma"/>
                <a:ea typeface="Tahoma"/>
                <a:cs typeface="Tahoma"/>
                <a:sym typeface="Tahoma"/>
              </a:endParaRPr>
            </a:p>
          </p:txBody>
        </p:sp>
        <p:sp>
          <p:nvSpPr>
            <p:cNvPr id="212" name="Google Shape;212;g3bb5fbf5691_0_190"/>
            <p:cNvSpPr txBox="1"/>
            <p:nvPr/>
          </p:nvSpPr>
          <p:spPr>
            <a:xfrm>
              <a:off x="902" y="3731"/>
              <a:ext cx="300" cy="300"/>
            </a:xfrm>
            <a:prstGeom prst="rect">
              <a:avLst/>
            </a:prstGeom>
            <a:noFill/>
            <a:ln>
              <a:noFill/>
            </a:ln>
          </p:spPr>
          <p:txBody>
            <a:bodyPr anchorCtr="0" anchor="t" bIns="47025" lIns="94050" spcFirstLastPara="1" rIns="94050" wrap="square" tIns="47025">
              <a:spAutoFit/>
            </a:bodyPr>
            <a:lstStyle/>
            <a:p>
              <a:pPr indent="0" lvl="0" marL="0" marR="0" rtl="0" algn="l">
                <a:lnSpc>
                  <a:spcPct val="100000"/>
                </a:lnSpc>
                <a:spcBef>
                  <a:spcPts val="0"/>
                </a:spcBef>
                <a:spcAft>
                  <a:spcPts val="0"/>
                </a:spcAft>
                <a:buClr>
                  <a:srgbClr val="000000"/>
                </a:buClr>
                <a:buSzPts val="1646"/>
                <a:buFont typeface="Tahoma"/>
                <a:buNone/>
              </a:pPr>
              <a:r>
                <a:rPr b="0" i="0" lang="en-US" sz="1446" u="none" cap="none" strike="noStrike">
                  <a:solidFill>
                    <a:srgbClr val="000000"/>
                  </a:solidFill>
                  <a:latin typeface="Tahoma"/>
                  <a:ea typeface="Tahoma"/>
                  <a:cs typeface="Tahoma"/>
                  <a:sym typeface="Tahoma"/>
                </a:rPr>
                <a:t>(1,1)</a:t>
              </a:r>
              <a:endParaRPr b="0" i="0" sz="1240" u="none" cap="none" strike="noStrike">
                <a:solidFill>
                  <a:srgbClr val="000000"/>
                </a:solidFill>
                <a:latin typeface="Arial"/>
                <a:ea typeface="Arial"/>
                <a:cs typeface="Arial"/>
                <a:sym typeface="Arial"/>
              </a:endParaRPr>
            </a:p>
          </p:txBody>
        </p:sp>
        <p:sp>
          <p:nvSpPr>
            <p:cNvPr id="213" name="Google Shape;213;g3bb5fbf5691_0_190"/>
            <p:cNvSpPr txBox="1"/>
            <p:nvPr/>
          </p:nvSpPr>
          <p:spPr>
            <a:xfrm>
              <a:off x="1452" y="3231"/>
              <a:ext cx="300" cy="300"/>
            </a:xfrm>
            <a:prstGeom prst="rect">
              <a:avLst/>
            </a:prstGeom>
            <a:noFill/>
            <a:ln>
              <a:noFill/>
            </a:ln>
          </p:spPr>
          <p:txBody>
            <a:bodyPr anchorCtr="0" anchor="t" bIns="47025" lIns="94050" spcFirstLastPara="1" rIns="94050" wrap="square" tIns="47025">
              <a:spAutoFit/>
            </a:bodyPr>
            <a:lstStyle/>
            <a:p>
              <a:pPr indent="0" lvl="0" marL="0" marR="0" rtl="0" algn="l">
                <a:lnSpc>
                  <a:spcPct val="100000"/>
                </a:lnSpc>
                <a:spcBef>
                  <a:spcPts val="0"/>
                </a:spcBef>
                <a:spcAft>
                  <a:spcPts val="0"/>
                </a:spcAft>
                <a:buClr>
                  <a:srgbClr val="000000"/>
                </a:buClr>
                <a:buSzPts val="1646"/>
                <a:buFont typeface="Tahoma"/>
                <a:buNone/>
              </a:pPr>
              <a:r>
                <a:rPr b="0" i="0" lang="en-US" sz="1446" u="none" cap="none" strike="noStrike">
                  <a:solidFill>
                    <a:srgbClr val="000000"/>
                  </a:solidFill>
                  <a:latin typeface="Tahoma"/>
                  <a:ea typeface="Tahoma"/>
                  <a:cs typeface="Tahoma"/>
                  <a:sym typeface="Tahoma"/>
                </a:rPr>
                <a:t>(2,2)</a:t>
              </a:r>
              <a:endParaRPr b="0" i="0" sz="1240" u="none" cap="none" strike="noStrike">
                <a:solidFill>
                  <a:srgbClr val="000000"/>
                </a:solidFill>
                <a:latin typeface="Arial"/>
                <a:ea typeface="Arial"/>
                <a:cs typeface="Arial"/>
                <a:sym typeface="Arial"/>
              </a:endParaRPr>
            </a:p>
          </p:txBody>
        </p:sp>
      </p:grpSp>
      <p:grpSp>
        <p:nvGrpSpPr>
          <p:cNvPr id="214" name="Google Shape;214;g3bb5fbf5691_0_190"/>
          <p:cNvGrpSpPr/>
          <p:nvPr/>
        </p:nvGrpSpPr>
        <p:grpSpPr>
          <a:xfrm>
            <a:off x="3375275" y="4278650"/>
            <a:ext cx="1561200" cy="365100"/>
            <a:chOff x="2160" y="3251"/>
            <a:chExt cx="900" cy="301"/>
          </a:xfrm>
        </p:grpSpPr>
        <p:sp>
          <p:nvSpPr>
            <p:cNvPr id="215" name="Google Shape;215;g3bb5fbf5691_0_190"/>
            <p:cNvSpPr/>
            <p:nvPr/>
          </p:nvSpPr>
          <p:spPr>
            <a:xfrm>
              <a:off x="2304" y="3552"/>
              <a:ext cx="600" cy="0"/>
            </a:xfrm>
            <a:prstGeom prst="rightArrow">
              <a:avLst>
                <a:gd fmla="val 50000" name="adj1"/>
                <a:gd fmla="val 50000" name="adj2"/>
              </a:avLst>
            </a:prstGeom>
            <a:solidFill>
              <a:srgbClr val="4F81BD"/>
            </a:solidFill>
            <a:ln cap="flat" cmpd="sng" w="9525">
              <a:solidFill>
                <a:srgbClr val="000000"/>
              </a:solidFill>
              <a:prstDash val="solid"/>
              <a:miter lim="8000"/>
              <a:headEnd len="sm" w="sm" type="none"/>
              <a:tailEnd len="sm" w="sm" type="none"/>
            </a:ln>
          </p:spPr>
          <p:txBody>
            <a:bodyPr anchorCtr="0" anchor="ctr" bIns="41725" lIns="83450" spcFirstLastPara="1" rIns="83450" wrap="square" tIns="41725">
              <a:noAutofit/>
            </a:bodyPr>
            <a:lstStyle/>
            <a:p>
              <a:pPr indent="0" lvl="0" marL="0" marR="0" rtl="0" algn="l">
                <a:lnSpc>
                  <a:spcPct val="100000"/>
                </a:lnSpc>
                <a:spcBef>
                  <a:spcPts val="0"/>
                </a:spcBef>
                <a:spcAft>
                  <a:spcPts val="0"/>
                </a:spcAft>
                <a:buClr>
                  <a:srgbClr val="000000"/>
                </a:buClr>
                <a:buSzPts val="1643"/>
                <a:buFont typeface="Arial"/>
                <a:buNone/>
              </a:pPr>
              <a:r>
                <a:t/>
              </a:r>
              <a:endParaRPr b="0" i="0" sz="1643" u="none" cap="none" strike="noStrike">
                <a:solidFill>
                  <a:srgbClr val="000000"/>
                </a:solidFill>
                <a:latin typeface="Tahoma"/>
                <a:ea typeface="Tahoma"/>
                <a:cs typeface="Tahoma"/>
                <a:sym typeface="Tahoma"/>
              </a:endParaRPr>
            </a:p>
          </p:txBody>
        </p:sp>
        <p:sp>
          <p:nvSpPr>
            <p:cNvPr id="216" name="Google Shape;216;g3bb5fbf5691_0_190"/>
            <p:cNvSpPr txBox="1"/>
            <p:nvPr/>
          </p:nvSpPr>
          <p:spPr>
            <a:xfrm>
              <a:off x="2160" y="3251"/>
              <a:ext cx="900" cy="300"/>
            </a:xfrm>
            <a:prstGeom prst="rect">
              <a:avLst/>
            </a:prstGeom>
            <a:noFill/>
            <a:ln>
              <a:noFill/>
            </a:ln>
          </p:spPr>
          <p:txBody>
            <a:bodyPr anchorCtr="0" anchor="t" bIns="41725" lIns="83450" spcFirstLastPara="1" rIns="83450" wrap="square" tIns="41725">
              <a:spAutoFit/>
            </a:bodyPr>
            <a:lstStyle/>
            <a:p>
              <a:pPr indent="0" lvl="0" marL="0" marR="0" rtl="0" algn="l">
                <a:lnSpc>
                  <a:spcPct val="100000"/>
                </a:lnSpc>
                <a:spcBef>
                  <a:spcPts val="0"/>
                </a:spcBef>
                <a:spcAft>
                  <a:spcPts val="0"/>
                </a:spcAft>
                <a:buClr>
                  <a:srgbClr val="000000"/>
                </a:buClr>
                <a:buSzPts val="1461"/>
                <a:buFont typeface="Tahoma"/>
                <a:buNone/>
              </a:pPr>
              <a:r>
                <a:rPr b="0" i="0" lang="en-US" sz="1460" u="none" cap="none" strike="noStrike">
                  <a:solidFill>
                    <a:srgbClr val="000000"/>
                  </a:solidFill>
                  <a:latin typeface="Tahoma"/>
                  <a:ea typeface="Tahoma"/>
                  <a:cs typeface="Tahoma"/>
                  <a:sym typeface="Tahoma"/>
                </a:rPr>
                <a:t>Sx = 2, Sy = 2  </a:t>
              </a:r>
              <a:endParaRPr b="0" i="0" sz="1278" u="none" cap="none" strike="noStrike">
                <a:solidFill>
                  <a:srgbClr val="000000"/>
                </a:solidFill>
                <a:latin typeface="Arial"/>
                <a:ea typeface="Arial"/>
                <a:cs typeface="Arial"/>
                <a:sym typeface="Arial"/>
              </a:endParaRPr>
            </a:p>
          </p:txBody>
        </p:sp>
      </p:grpSp>
      <p:grpSp>
        <p:nvGrpSpPr>
          <p:cNvPr id="217" name="Google Shape;217;g3bb5fbf5691_0_190"/>
          <p:cNvGrpSpPr/>
          <p:nvPr/>
        </p:nvGrpSpPr>
        <p:grpSpPr>
          <a:xfrm>
            <a:off x="5625149" y="3915500"/>
            <a:ext cx="2850071" cy="1394520"/>
            <a:chOff x="3457" y="2976"/>
            <a:chExt cx="1643" cy="1056"/>
          </a:xfrm>
        </p:grpSpPr>
        <p:cxnSp>
          <p:nvCxnSpPr>
            <p:cNvPr id="218" name="Google Shape;218;g3bb5fbf5691_0_190"/>
            <p:cNvCxnSpPr/>
            <p:nvPr/>
          </p:nvCxnSpPr>
          <p:spPr>
            <a:xfrm rot="10800000">
              <a:off x="3601" y="3132"/>
              <a:ext cx="0" cy="900"/>
            </a:xfrm>
            <a:prstGeom prst="straightConnector1">
              <a:avLst/>
            </a:prstGeom>
            <a:noFill/>
            <a:ln cap="flat" cmpd="sng" w="9525">
              <a:solidFill>
                <a:srgbClr val="000000"/>
              </a:solidFill>
              <a:prstDash val="solid"/>
              <a:miter lim="8000"/>
              <a:headEnd len="sm" w="sm" type="none"/>
              <a:tailEnd len="med" w="med" type="triangle"/>
            </a:ln>
          </p:spPr>
        </p:cxnSp>
        <p:cxnSp>
          <p:nvCxnSpPr>
            <p:cNvPr id="219" name="Google Shape;219;g3bb5fbf5691_0_190"/>
            <p:cNvCxnSpPr/>
            <p:nvPr/>
          </p:nvCxnSpPr>
          <p:spPr>
            <a:xfrm>
              <a:off x="3457" y="3936"/>
              <a:ext cx="1200" cy="0"/>
            </a:xfrm>
            <a:prstGeom prst="straightConnector1">
              <a:avLst/>
            </a:prstGeom>
            <a:noFill/>
            <a:ln cap="flat" cmpd="sng" w="9525">
              <a:solidFill>
                <a:srgbClr val="000000"/>
              </a:solidFill>
              <a:prstDash val="solid"/>
              <a:miter lim="8000"/>
              <a:headEnd len="sm" w="sm" type="none"/>
              <a:tailEnd len="med" w="med" type="triangle"/>
            </a:ln>
          </p:spPr>
        </p:cxnSp>
        <p:sp>
          <p:nvSpPr>
            <p:cNvPr id="220" name="Google Shape;220;g3bb5fbf5691_0_190"/>
            <p:cNvSpPr txBox="1"/>
            <p:nvPr/>
          </p:nvSpPr>
          <p:spPr>
            <a:xfrm>
              <a:off x="4128" y="3120"/>
              <a:ext cx="600" cy="600"/>
            </a:xfrm>
            <a:prstGeom prst="rect">
              <a:avLst/>
            </a:prstGeom>
            <a:noFill/>
            <a:ln cap="flat" cmpd="sng" w="9525">
              <a:solidFill>
                <a:srgbClr val="000000"/>
              </a:solidFill>
              <a:prstDash val="solid"/>
              <a:miter lim="8000"/>
              <a:headEnd len="sm" w="sm" type="none"/>
              <a:tailEnd len="sm" w="sm" type="none"/>
            </a:ln>
          </p:spPr>
          <p:txBody>
            <a:bodyPr anchorCtr="0" anchor="ctr" bIns="41725" lIns="83450" spcFirstLastPara="1" rIns="83450" wrap="square" tIns="41725">
              <a:noAutofit/>
            </a:bodyPr>
            <a:lstStyle/>
            <a:p>
              <a:pPr indent="0" lvl="0" marL="0" marR="0" rtl="0" algn="l">
                <a:lnSpc>
                  <a:spcPct val="100000"/>
                </a:lnSpc>
                <a:spcBef>
                  <a:spcPts val="0"/>
                </a:spcBef>
                <a:spcAft>
                  <a:spcPts val="0"/>
                </a:spcAft>
                <a:buClr>
                  <a:srgbClr val="000000"/>
                </a:buClr>
                <a:buSzPts val="1643"/>
                <a:buFont typeface="Arial"/>
                <a:buNone/>
              </a:pPr>
              <a:r>
                <a:t/>
              </a:r>
              <a:endParaRPr b="0" i="0" sz="1643" u="none" cap="none" strike="noStrike">
                <a:solidFill>
                  <a:srgbClr val="000000"/>
                </a:solidFill>
                <a:latin typeface="Tahoma"/>
                <a:ea typeface="Tahoma"/>
                <a:cs typeface="Tahoma"/>
                <a:sym typeface="Tahoma"/>
              </a:endParaRPr>
            </a:p>
          </p:txBody>
        </p:sp>
        <p:sp>
          <p:nvSpPr>
            <p:cNvPr id="221" name="Google Shape;221;g3bb5fbf5691_0_190"/>
            <p:cNvSpPr txBox="1"/>
            <p:nvPr/>
          </p:nvSpPr>
          <p:spPr>
            <a:xfrm>
              <a:off x="3792" y="3600"/>
              <a:ext cx="300" cy="300"/>
            </a:xfrm>
            <a:prstGeom prst="rect">
              <a:avLst/>
            </a:prstGeom>
            <a:noFill/>
            <a:ln>
              <a:noFill/>
            </a:ln>
          </p:spPr>
          <p:txBody>
            <a:bodyPr anchorCtr="0" anchor="t" bIns="41725" lIns="83450" spcFirstLastPara="1" rIns="83450" wrap="square" tIns="41725">
              <a:spAutoFit/>
            </a:bodyPr>
            <a:lstStyle/>
            <a:p>
              <a:pPr indent="0" lvl="0" marL="0" marR="0" rtl="0" algn="l">
                <a:lnSpc>
                  <a:spcPct val="100000"/>
                </a:lnSpc>
                <a:spcBef>
                  <a:spcPts val="0"/>
                </a:spcBef>
                <a:spcAft>
                  <a:spcPts val="0"/>
                </a:spcAft>
                <a:buClr>
                  <a:srgbClr val="000000"/>
                </a:buClr>
                <a:buSzPts val="1461"/>
                <a:buFont typeface="Tahoma"/>
                <a:buNone/>
              </a:pPr>
              <a:r>
                <a:rPr b="0" i="0" lang="en-US" sz="1260" u="none" cap="none" strike="noStrike">
                  <a:solidFill>
                    <a:srgbClr val="000000"/>
                  </a:solidFill>
                  <a:latin typeface="Tahoma"/>
                  <a:ea typeface="Tahoma"/>
                  <a:cs typeface="Tahoma"/>
                  <a:sym typeface="Tahoma"/>
                </a:rPr>
                <a:t>(2,2)</a:t>
              </a:r>
              <a:endParaRPr b="0" i="0" sz="1078" u="none" cap="none" strike="noStrike">
                <a:solidFill>
                  <a:srgbClr val="000000"/>
                </a:solidFill>
                <a:latin typeface="Arial"/>
                <a:ea typeface="Arial"/>
                <a:cs typeface="Arial"/>
                <a:sym typeface="Arial"/>
              </a:endParaRPr>
            </a:p>
          </p:txBody>
        </p:sp>
        <p:sp>
          <p:nvSpPr>
            <p:cNvPr id="222" name="Google Shape;222;g3bb5fbf5691_0_190"/>
            <p:cNvSpPr txBox="1"/>
            <p:nvPr/>
          </p:nvSpPr>
          <p:spPr>
            <a:xfrm>
              <a:off x="4800" y="2976"/>
              <a:ext cx="300" cy="300"/>
            </a:xfrm>
            <a:prstGeom prst="rect">
              <a:avLst/>
            </a:prstGeom>
            <a:noFill/>
            <a:ln>
              <a:noFill/>
            </a:ln>
          </p:spPr>
          <p:txBody>
            <a:bodyPr anchorCtr="0" anchor="t" bIns="41725" lIns="83450" spcFirstLastPara="1" rIns="83450" wrap="square" tIns="41725">
              <a:spAutoFit/>
            </a:bodyPr>
            <a:lstStyle/>
            <a:p>
              <a:pPr indent="0" lvl="0" marL="0" marR="0" rtl="0" algn="l">
                <a:lnSpc>
                  <a:spcPct val="100000"/>
                </a:lnSpc>
                <a:spcBef>
                  <a:spcPts val="0"/>
                </a:spcBef>
                <a:spcAft>
                  <a:spcPts val="0"/>
                </a:spcAft>
                <a:buClr>
                  <a:srgbClr val="000000"/>
                </a:buClr>
                <a:buSzPts val="1461"/>
                <a:buFont typeface="Tahoma"/>
                <a:buNone/>
              </a:pPr>
              <a:r>
                <a:rPr b="0" i="0" lang="en-US" sz="1260" u="none" cap="none" strike="noStrike">
                  <a:solidFill>
                    <a:srgbClr val="000000"/>
                  </a:solidFill>
                  <a:latin typeface="Tahoma"/>
                  <a:ea typeface="Tahoma"/>
                  <a:cs typeface="Tahoma"/>
                  <a:sym typeface="Tahoma"/>
                </a:rPr>
                <a:t>(4,4)</a:t>
              </a:r>
              <a:endParaRPr b="0" i="0" sz="1078" u="none" cap="none" strike="noStrike">
                <a:solidFill>
                  <a:srgbClr val="000000"/>
                </a:solidFill>
                <a:latin typeface="Arial"/>
                <a:ea typeface="Arial"/>
                <a:cs typeface="Arial"/>
                <a:sym typeface="Arial"/>
              </a:endParaRPr>
            </a:p>
          </p:txBody>
        </p:sp>
      </p:grpSp>
      <p:sp>
        <p:nvSpPr>
          <p:cNvPr id="223" name="Google Shape;223;g3bb5fbf5691_0_190"/>
          <p:cNvSpPr/>
          <p:nvPr/>
        </p:nvSpPr>
        <p:spPr>
          <a:xfrm>
            <a:off x="3303625" y="4628350"/>
            <a:ext cx="1955100" cy="32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24" name="Google Shape;224;g3bb5fbf5691_0_190"/>
          <p:cNvPicPr preferRelativeResize="0"/>
          <p:nvPr/>
        </p:nvPicPr>
        <p:blipFill rotWithShape="1">
          <a:blip r:embed="rId4">
            <a:alphaModFix/>
          </a:blip>
          <a:srcRect b="0" l="0" r="2258" t="0"/>
          <a:stretch/>
        </p:blipFill>
        <p:spPr>
          <a:xfrm>
            <a:off x="907325" y="1471175"/>
            <a:ext cx="6911824" cy="173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8" name="Shape 228"/>
        <p:cNvGrpSpPr/>
        <p:nvPr/>
      </p:nvGrpSpPr>
      <p:grpSpPr>
        <a:xfrm>
          <a:off x="0" y="0"/>
          <a:ext cx="0" cy="0"/>
          <a:chOff x="0" y="0"/>
          <a:chExt cx="0" cy="0"/>
        </a:xfrm>
      </p:grpSpPr>
      <p:sp>
        <p:nvSpPr>
          <p:cNvPr id="229" name="Google Shape;229;g3bb5fbf5691_0_24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30" name="Google Shape;230;g3bb5fbf5691_0_24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1" name="Google Shape;231;g3bb5fbf5691_0_242"/>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(Scaling Example)</a:t>
            </a:r>
            <a:endParaRPr b="0" i="0" sz="3600" u="none" cap="none" strike="noStrike">
              <a:solidFill>
                <a:schemeClr val="lt1"/>
              </a:solidFill>
              <a:latin typeface="Calibri"/>
              <a:ea typeface="Calibri"/>
              <a:cs typeface="Calibri"/>
              <a:sym typeface="Calibri"/>
            </a:endParaRPr>
          </a:p>
        </p:txBody>
      </p:sp>
      <p:pic>
        <p:nvPicPr>
          <p:cNvPr id="232" name="Google Shape;232;g3bb5fbf5691_0_24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33" name="Google Shape;233;g3bb5fbf5691_0_242"/>
          <p:cNvSpPr txBox="1"/>
          <p:nvPr/>
        </p:nvSpPr>
        <p:spPr>
          <a:xfrm>
            <a:off x="227325" y="1082375"/>
            <a:ext cx="86862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square object with coordinate points A(0, 3), B(3, 3), C(3, 0), and D(0, 0). Apply the scaling parameter 2 towards the X axis and 3 towards the Y axis and obtain the new coordinates of the object.</a:t>
            </a:r>
            <a:endParaRPr b="0" i="0" sz="1400" u="none" cap="none" strike="noStrike">
              <a:solidFill>
                <a:srgbClr val="000000"/>
              </a:solidFill>
              <a:latin typeface="Arial"/>
              <a:ea typeface="Arial"/>
              <a:cs typeface="Arial"/>
              <a:sym typeface="Arial"/>
            </a:endParaRPr>
          </a:p>
        </p:txBody>
      </p:sp>
      <p:sp>
        <p:nvSpPr>
          <p:cNvPr id="234" name="Google Shape;234;g3bb5fbf5691_0_242"/>
          <p:cNvSpPr txBox="1"/>
          <p:nvPr/>
        </p:nvSpPr>
        <p:spPr>
          <a:xfrm>
            <a:off x="309250" y="1697975"/>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235" name="Google Shape;235;g3bb5fbf5691_0_242"/>
          <p:cNvSpPr txBox="1"/>
          <p:nvPr/>
        </p:nvSpPr>
        <p:spPr>
          <a:xfrm>
            <a:off x="363825" y="2073800"/>
            <a:ext cx="7789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Old corner coordinates of the square = A (0, 3), B(3, 3), C(3, 0), D(0,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Scaling factor along X axis, </a:t>
            </a:r>
            <a:r>
              <a:rPr b="0" i="1" lang="en-US" sz="1400" u="none" cap="none" strike="noStrike">
                <a:solidFill>
                  <a:schemeClr val="dk1"/>
                </a:solidFill>
                <a:latin typeface="Times New Roman"/>
                <a:ea typeface="Times New Roman"/>
                <a:cs typeface="Times New Roman"/>
                <a:sym typeface="Times New Roman"/>
              </a:rPr>
              <a:t>S</a:t>
            </a:r>
            <a:r>
              <a:rPr b="0" baseline="-25000" i="1" lang="en-US" sz="1400" u="none" cap="none" strike="noStrike">
                <a:solidFill>
                  <a:schemeClr val="dk1"/>
                </a:solidFill>
                <a:latin typeface="Times New Roman"/>
                <a:ea typeface="Times New Roman"/>
                <a:cs typeface="Times New Roman"/>
                <a:sym typeface="Times New Roman"/>
              </a:rPr>
              <a:t>x</a:t>
            </a:r>
            <a:r>
              <a:rPr b="0" i="0" lang="en-US"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Scaling factor along Y axis, </a:t>
            </a:r>
            <a:r>
              <a:rPr b="0" i="1" lang="en-US" sz="1400" u="none" cap="none" strike="noStrike">
                <a:solidFill>
                  <a:schemeClr val="dk1"/>
                </a:solidFill>
                <a:latin typeface="Times New Roman"/>
                <a:ea typeface="Times New Roman"/>
                <a:cs typeface="Times New Roman"/>
                <a:sym typeface="Times New Roman"/>
              </a:rPr>
              <a:t>S</a:t>
            </a:r>
            <a:r>
              <a:rPr b="0" baseline="-25000" i="1" lang="en-US" sz="1400" u="none" cap="none" strike="noStrike">
                <a:solidFill>
                  <a:schemeClr val="dk1"/>
                </a:solidFill>
                <a:latin typeface="Times New Roman"/>
                <a:ea typeface="Times New Roman"/>
                <a:cs typeface="Times New Roman"/>
                <a:sym typeface="Times New Roman"/>
              </a:rPr>
              <a:t>y</a:t>
            </a:r>
            <a:r>
              <a:rPr b="0" i="0" lang="en-US" sz="1400" u="none" cap="none" strike="noStrike">
                <a:solidFill>
                  <a:srgbClr val="000000"/>
                </a:solidFill>
                <a:latin typeface="Arial"/>
                <a:ea typeface="Arial"/>
                <a:cs typeface="Arial"/>
                <a:sym typeface="Arial"/>
              </a:rPr>
              <a:t>= 3</a:t>
            </a:r>
            <a:endParaRPr b="0" i="0" sz="1400" u="none" cap="none" strike="noStrike">
              <a:solidFill>
                <a:srgbClr val="000000"/>
              </a:solidFill>
              <a:latin typeface="Arial"/>
              <a:ea typeface="Arial"/>
              <a:cs typeface="Arial"/>
              <a:sym typeface="Arial"/>
            </a:endParaRPr>
          </a:p>
        </p:txBody>
      </p:sp>
      <p:pic>
        <p:nvPicPr>
          <p:cNvPr id="236" name="Google Shape;236;g3bb5fbf5691_0_242"/>
          <p:cNvPicPr preferRelativeResize="0"/>
          <p:nvPr/>
        </p:nvPicPr>
        <p:blipFill rotWithShape="1">
          <a:blip r:embed="rId4">
            <a:alphaModFix/>
          </a:blip>
          <a:srcRect b="0" l="0" r="0" t="0"/>
          <a:stretch/>
        </p:blipFill>
        <p:spPr>
          <a:xfrm>
            <a:off x="309250" y="3372950"/>
            <a:ext cx="3813099" cy="2257175"/>
          </a:xfrm>
          <a:prstGeom prst="rect">
            <a:avLst/>
          </a:prstGeom>
          <a:noFill/>
          <a:ln>
            <a:noFill/>
          </a:ln>
        </p:spPr>
      </p:pic>
      <p:pic>
        <p:nvPicPr>
          <p:cNvPr id="237" name="Google Shape;237;g3bb5fbf5691_0_242"/>
          <p:cNvPicPr preferRelativeResize="0"/>
          <p:nvPr/>
        </p:nvPicPr>
        <p:blipFill rotWithShape="1">
          <a:blip r:embed="rId5">
            <a:alphaModFix/>
          </a:blip>
          <a:srcRect b="0" l="0" r="0" t="0"/>
          <a:stretch/>
        </p:blipFill>
        <p:spPr>
          <a:xfrm>
            <a:off x="4656750" y="3350950"/>
            <a:ext cx="3572300" cy="2301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1" name="Shape 241"/>
        <p:cNvGrpSpPr/>
        <p:nvPr/>
      </p:nvGrpSpPr>
      <p:grpSpPr>
        <a:xfrm>
          <a:off x="0" y="0"/>
          <a:ext cx="0" cy="0"/>
          <a:chOff x="0" y="0"/>
          <a:chExt cx="0" cy="0"/>
        </a:xfrm>
      </p:grpSpPr>
      <p:sp>
        <p:nvSpPr>
          <p:cNvPr id="242" name="Google Shape;242;g3bb5fbf5691_0_28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43" name="Google Shape;243;g3bb5fbf5691_0_28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4" name="Google Shape;244;g3bb5fbf5691_0_283"/>
          <p:cNvSpPr txBox="1"/>
          <p:nvPr/>
        </p:nvSpPr>
        <p:spPr>
          <a:xfrm>
            <a:off x="363725" y="10327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(Scaling Example)</a:t>
            </a:r>
            <a:endParaRPr b="0" i="0" sz="3600" u="none" cap="none" strike="noStrike">
              <a:solidFill>
                <a:schemeClr val="lt1"/>
              </a:solidFill>
              <a:latin typeface="Calibri"/>
              <a:ea typeface="Calibri"/>
              <a:cs typeface="Calibri"/>
              <a:sym typeface="Calibri"/>
            </a:endParaRPr>
          </a:p>
        </p:txBody>
      </p:sp>
      <p:pic>
        <p:nvPicPr>
          <p:cNvPr id="245" name="Google Shape;245;g3bb5fbf5691_0_28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46" name="Google Shape;246;g3bb5fbf5691_0_283"/>
          <p:cNvSpPr txBox="1"/>
          <p:nvPr/>
        </p:nvSpPr>
        <p:spPr>
          <a:xfrm>
            <a:off x="227325" y="994700"/>
            <a:ext cx="86862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square object with coordinate points A(0, 3), B(3, 3), C(3, 0), and D(0, 0). Apply the scaling parameter 2 towards the X axis and 3 towards the Y axis and obtain the new coordinates of the object.</a:t>
            </a:r>
            <a:endParaRPr b="0" i="0" sz="1400" u="none" cap="none" strike="noStrike">
              <a:solidFill>
                <a:srgbClr val="000000"/>
              </a:solidFill>
              <a:latin typeface="Arial"/>
              <a:ea typeface="Arial"/>
              <a:cs typeface="Arial"/>
              <a:sym typeface="Arial"/>
            </a:endParaRPr>
          </a:p>
        </p:txBody>
      </p:sp>
      <p:sp>
        <p:nvSpPr>
          <p:cNvPr id="247" name="Google Shape;247;g3bb5fbf5691_0_283"/>
          <p:cNvSpPr txBox="1"/>
          <p:nvPr/>
        </p:nvSpPr>
        <p:spPr>
          <a:xfrm>
            <a:off x="309250" y="16103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pic>
        <p:nvPicPr>
          <p:cNvPr id="248" name="Google Shape;248;g3bb5fbf5691_0_283"/>
          <p:cNvPicPr preferRelativeResize="0"/>
          <p:nvPr/>
        </p:nvPicPr>
        <p:blipFill rotWithShape="1">
          <a:blip r:embed="rId4">
            <a:alphaModFix/>
          </a:blip>
          <a:srcRect b="0" l="0" r="0" t="0"/>
          <a:stretch/>
        </p:blipFill>
        <p:spPr>
          <a:xfrm>
            <a:off x="406075" y="1995200"/>
            <a:ext cx="3396378" cy="2002099"/>
          </a:xfrm>
          <a:prstGeom prst="rect">
            <a:avLst/>
          </a:prstGeom>
          <a:noFill/>
          <a:ln>
            <a:noFill/>
          </a:ln>
        </p:spPr>
      </p:pic>
      <p:pic>
        <p:nvPicPr>
          <p:cNvPr id="249" name="Google Shape;249;g3bb5fbf5691_0_283"/>
          <p:cNvPicPr preferRelativeResize="0"/>
          <p:nvPr/>
        </p:nvPicPr>
        <p:blipFill rotWithShape="1">
          <a:blip r:embed="rId5">
            <a:alphaModFix/>
          </a:blip>
          <a:srcRect b="0" l="0" r="0" t="0"/>
          <a:stretch/>
        </p:blipFill>
        <p:spPr>
          <a:xfrm>
            <a:off x="5048000" y="1899250"/>
            <a:ext cx="3396374" cy="2026283"/>
          </a:xfrm>
          <a:prstGeom prst="rect">
            <a:avLst/>
          </a:prstGeom>
          <a:noFill/>
          <a:ln>
            <a:noFill/>
          </a:ln>
        </p:spPr>
      </p:pic>
      <p:pic>
        <p:nvPicPr>
          <p:cNvPr id="250" name="Google Shape;250;g3bb5fbf5691_0_283"/>
          <p:cNvPicPr preferRelativeResize="0"/>
          <p:nvPr/>
        </p:nvPicPr>
        <p:blipFill rotWithShape="1">
          <a:blip r:embed="rId6">
            <a:alphaModFix/>
          </a:blip>
          <a:srcRect b="0" l="5033" r="0" t="11854"/>
          <a:stretch/>
        </p:blipFill>
        <p:spPr>
          <a:xfrm>
            <a:off x="1209700" y="4045875"/>
            <a:ext cx="6858002" cy="2402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4" name="Shape 254"/>
        <p:cNvGrpSpPr/>
        <p:nvPr/>
      </p:nvGrpSpPr>
      <p:grpSpPr>
        <a:xfrm>
          <a:off x="0" y="0"/>
          <a:ext cx="0" cy="0"/>
          <a:chOff x="0" y="0"/>
          <a:chExt cx="0" cy="0"/>
        </a:xfrm>
      </p:grpSpPr>
      <p:sp>
        <p:nvSpPr>
          <p:cNvPr id="255" name="Google Shape;255;g3bb5fbf5691_0_15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56" name="Google Shape;256;g3bb5fbf5691_0_15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57" name="Google Shape;257;g3bb5fbf5691_0_15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(Rotation)</a:t>
            </a:r>
            <a:endParaRPr b="0" i="0" sz="3800" u="none" cap="none" strike="noStrike">
              <a:solidFill>
                <a:schemeClr val="lt1"/>
              </a:solidFill>
              <a:latin typeface="Calibri"/>
              <a:ea typeface="Calibri"/>
              <a:cs typeface="Calibri"/>
              <a:sym typeface="Calibri"/>
            </a:endParaRPr>
          </a:p>
        </p:txBody>
      </p:sp>
      <p:pic>
        <p:nvPicPr>
          <p:cNvPr id="258" name="Google Shape;258;g3bb5fbf5691_0_15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59" name="Google Shape;259;g3bb5fbf5691_0_158"/>
          <p:cNvSpPr txBox="1"/>
          <p:nvPr/>
        </p:nvSpPr>
        <p:spPr>
          <a:xfrm>
            <a:off x="318350" y="1136925"/>
            <a:ext cx="5520900" cy="40842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A two-dimensional rotation is applied to an object by repositioning it along a circular path in the xy-plane.</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Initial angle of the object P with respect to origin = Φ</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 Rotation angle = θ</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Let us suppose you want to rotate it at the angle θ. After rotating it to a new location, you will get a new point P’ (x’, y’).</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1155CC"/>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This rotation is achieved by using the following rotation equations:</a:t>
            </a:r>
            <a:endParaRPr b="0" i="0" sz="2000" u="none" cap="none" strike="noStrike">
              <a:solidFill>
                <a:srgbClr val="000000"/>
              </a:solidFill>
              <a:latin typeface="Times New Roman"/>
              <a:ea typeface="Times New Roman"/>
              <a:cs typeface="Times New Roman"/>
              <a:sym typeface="Times New Roman"/>
            </a:endParaRPr>
          </a:p>
        </p:txBody>
      </p:sp>
      <p:pic>
        <p:nvPicPr>
          <p:cNvPr id="260" name="Google Shape;260;g3bb5fbf5691_0_158" title="rotateAnimate (1).gif"/>
          <p:cNvPicPr preferRelativeResize="0"/>
          <p:nvPr/>
        </p:nvPicPr>
        <p:blipFill rotWithShape="1">
          <a:blip r:embed="rId4">
            <a:alphaModFix/>
          </a:blip>
          <a:srcRect b="0" l="0" r="0" t="0"/>
          <a:stretch/>
        </p:blipFill>
        <p:spPr>
          <a:xfrm>
            <a:off x="6115049" y="1300725"/>
            <a:ext cx="2973166" cy="2061088"/>
          </a:xfrm>
          <a:prstGeom prst="rect">
            <a:avLst/>
          </a:prstGeom>
          <a:noFill/>
          <a:ln>
            <a:noFill/>
          </a:ln>
        </p:spPr>
      </p:pic>
      <p:pic>
        <p:nvPicPr>
          <p:cNvPr id="261" name="Google Shape;261;g3bb5fbf5691_0_158"/>
          <p:cNvPicPr preferRelativeResize="0"/>
          <p:nvPr/>
        </p:nvPicPr>
        <p:blipFill rotWithShape="1">
          <a:blip r:embed="rId5">
            <a:alphaModFix/>
          </a:blip>
          <a:srcRect b="21367" l="0" r="0" t="19012"/>
          <a:stretch/>
        </p:blipFill>
        <p:spPr>
          <a:xfrm>
            <a:off x="1864574" y="5153299"/>
            <a:ext cx="2555750" cy="1015849"/>
          </a:xfrm>
          <a:prstGeom prst="rect">
            <a:avLst/>
          </a:prstGeom>
          <a:noFill/>
          <a:ln>
            <a:noFill/>
          </a:ln>
        </p:spPr>
      </p:pic>
      <p:pic>
        <p:nvPicPr>
          <p:cNvPr id="262" name="Google Shape;262;g3bb5fbf5691_0_158"/>
          <p:cNvPicPr preferRelativeResize="0"/>
          <p:nvPr/>
        </p:nvPicPr>
        <p:blipFill rotWithShape="1">
          <a:blip r:embed="rId6">
            <a:alphaModFix/>
          </a:blip>
          <a:srcRect b="0" l="11063" r="4290" t="0"/>
          <a:stretch/>
        </p:blipFill>
        <p:spPr>
          <a:xfrm>
            <a:off x="6284975" y="4019300"/>
            <a:ext cx="2729449" cy="2149850"/>
          </a:xfrm>
          <a:prstGeom prst="rect">
            <a:avLst/>
          </a:prstGeom>
          <a:noFill/>
          <a:ln>
            <a:noFill/>
          </a:ln>
        </p:spPr>
      </p:pic>
      <p:sp>
        <p:nvSpPr>
          <p:cNvPr id="263" name="Google Shape;263;g3bb5fbf5691_0_158"/>
          <p:cNvSpPr txBox="1"/>
          <p:nvPr/>
        </p:nvSpPr>
        <p:spPr>
          <a:xfrm>
            <a:off x="6381625" y="3555488"/>
            <a:ext cx="2706600" cy="46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Times New Roman"/>
                <a:ea typeface="Times New Roman"/>
                <a:cs typeface="Times New Roman"/>
                <a:sym typeface="Times New Roman"/>
              </a:rPr>
              <a:t>Rotation of objects</a:t>
            </a:r>
            <a:endParaRPr b="1" i="0" sz="18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7" name="Shape 267"/>
        <p:cNvGrpSpPr/>
        <p:nvPr/>
      </p:nvGrpSpPr>
      <p:grpSpPr>
        <a:xfrm>
          <a:off x="0" y="0"/>
          <a:ext cx="0" cy="0"/>
          <a:chOff x="0" y="0"/>
          <a:chExt cx="0" cy="0"/>
        </a:xfrm>
      </p:grpSpPr>
      <p:sp>
        <p:nvSpPr>
          <p:cNvPr id="268" name="Google Shape;268;g3bb5fbf5691_0_23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69" name="Google Shape;269;g3bb5fbf5691_0_23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0" name="Google Shape;270;g3bb5fbf5691_0_233"/>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(Rotation)</a:t>
            </a:r>
            <a:endParaRPr b="0" i="0" sz="3800" u="none" cap="none" strike="noStrike">
              <a:solidFill>
                <a:schemeClr val="lt1"/>
              </a:solidFill>
              <a:latin typeface="Calibri"/>
              <a:ea typeface="Calibri"/>
              <a:cs typeface="Calibri"/>
              <a:sym typeface="Calibri"/>
            </a:endParaRPr>
          </a:p>
        </p:txBody>
      </p:sp>
      <p:pic>
        <p:nvPicPr>
          <p:cNvPr id="271" name="Google Shape;271;g3bb5fbf5691_0_23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72" name="Google Shape;272;g3bb5fbf5691_0_233"/>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273" name="Google Shape;273;g3bb5fbf5691_0_233"/>
          <p:cNvSpPr txBox="1"/>
          <p:nvPr/>
        </p:nvSpPr>
        <p:spPr>
          <a:xfrm>
            <a:off x="454775" y="1297575"/>
            <a:ext cx="3765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Arial"/>
                <a:ea typeface="Arial"/>
                <a:cs typeface="Arial"/>
                <a:sym typeface="Arial"/>
              </a:rPr>
              <a:t>Derivation of the rotation: </a:t>
            </a:r>
            <a:endParaRPr b="1" i="0" sz="1800" u="none" cap="none" strike="noStrike">
              <a:solidFill>
                <a:srgbClr val="980000"/>
              </a:solidFill>
              <a:latin typeface="Arial"/>
              <a:ea typeface="Arial"/>
              <a:cs typeface="Arial"/>
              <a:sym typeface="Arial"/>
            </a:endParaRPr>
          </a:p>
        </p:txBody>
      </p:sp>
      <p:sp>
        <p:nvSpPr>
          <p:cNvPr id="274" name="Google Shape;274;g3bb5fbf5691_0_233"/>
          <p:cNvSpPr txBox="1"/>
          <p:nvPr/>
        </p:nvSpPr>
        <p:spPr>
          <a:xfrm>
            <a:off x="928687" y="2143125"/>
            <a:ext cx="1495500" cy="752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g3bb5fbf5691_0_233"/>
          <p:cNvSpPr txBox="1"/>
          <p:nvPr/>
        </p:nvSpPr>
        <p:spPr>
          <a:xfrm>
            <a:off x="428625" y="3143250"/>
            <a:ext cx="4500600" cy="10002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 name="Google Shape;276;g3bb5fbf5691_0_233"/>
          <p:cNvSpPr txBox="1"/>
          <p:nvPr/>
        </p:nvSpPr>
        <p:spPr>
          <a:xfrm>
            <a:off x="428625" y="4071937"/>
            <a:ext cx="4286400" cy="8955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7" name="Google Shape;277;g3bb5fbf5691_0_233"/>
          <p:cNvSpPr txBox="1"/>
          <p:nvPr/>
        </p:nvSpPr>
        <p:spPr>
          <a:xfrm>
            <a:off x="428625" y="5143500"/>
            <a:ext cx="2886000" cy="9144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278" name="Google Shape;278;g3bb5fbf5691_0_233"/>
          <p:cNvPicPr preferRelativeResize="0"/>
          <p:nvPr/>
        </p:nvPicPr>
        <p:blipFill rotWithShape="1">
          <a:blip r:embed="rId8">
            <a:alphaModFix/>
          </a:blip>
          <a:srcRect b="0" l="0" r="0" t="0"/>
          <a:stretch/>
        </p:blipFill>
        <p:spPr>
          <a:xfrm>
            <a:off x="4990675" y="2490750"/>
            <a:ext cx="3909974" cy="32144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2" name="Shape 282"/>
        <p:cNvGrpSpPr/>
        <p:nvPr/>
      </p:nvGrpSpPr>
      <p:grpSpPr>
        <a:xfrm>
          <a:off x="0" y="0"/>
          <a:ext cx="0" cy="0"/>
          <a:chOff x="0" y="0"/>
          <a:chExt cx="0" cy="0"/>
        </a:xfrm>
      </p:grpSpPr>
      <p:sp>
        <p:nvSpPr>
          <p:cNvPr id="283" name="Google Shape;283;g3bbe9322812_0_2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84" name="Google Shape;284;g3bbe9322812_0_2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5" name="Google Shape;285;g3bbe9322812_0_2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(Rotation)</a:t>
            </a:r>
            <a:endParaRPr b="0" i="0" sz="3800" u="none" cap="none" strike="noStrike">
              <a:solidFill>
                <a:schemeClr val="lt1"/>
              </a:solidFill>
              <a:latin typeface="Calibri"/>
              <a:ea typeface="Calibri"/>
              <a:cs typeface="Calibri"/>
              <a:sym typeface="Calibri"/>
            </a:endParaRPr>
          </a:p>
        </p:txBody>
      </p:sp>
      <p:pic>
        <p:nvPicPr>
          <p:cNvPr id="286" name="Google Shape;286;g3bbe9322812_0_2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87" name="Google Shape;287;g3bbe9322812_0_20"/>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288" name="Google Shape;288;g3bbe9322812_0_20"/>
          <p:cNvSpPr txBox="1"/>
          <p:nvPr/>
        </p:nvSpPr>
        <p:spPr>
          <a:xfrm>
            <a:off x="454775" y="1297575"/>
            <a:ext cx="4429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980000"/>
                </a:solidFill>
                <a:latin typeface="Arial"/>
                <a:ea typeface="Arial"/>
                <a:cs typeface="Arial"/>
                <a:sym typeface="Arial"/>
              </a:rPr>
              <a:t>Derivation of the rotation (continued): </a:t>
            </a:r>
            <a:endParaRPr b="1" i="0" sz="1800" u="none" cap="none" strike="noStrike">
              <a:solidFill>
                <a:srgbClr val="980000"/>
              </a:solidFill>
              <a:latin typeface="Arial"/>
              <a:ea typeface="Arial"/>
              <a:cs typeface="Arial"/>
              <a:sym typeface="Arial"/>
            </a:endParaRPr>
          </a:p>
        </p:txBody>
      </p:sp>
      <p:pic>
        <p:nvPicPr>
          <p:cNvPr id="289" name="Google Shape;289;g3bbe9322812_0_20"/>
          <p:cNvPicPr preferRelativeResize="0"/>
          <p:nvPr/>
        </p:nvPicPr>
        <p:blipFill rotWithShape="1">
          <a:blip r:embed="rId4">
            <a:alphaModFix/>
          </a:blip>
          <a:srcRect b="0" l="0" r="0" t="0"/>
          <a:stretch/>
        </p:blipFill>
        <p:spPr>
          <a:xfrm>
            <a:off x="4990675" y="2490750"/>
            <a:ext cx="3909974" cy="3214490"/>
          </a:xfrm>
          <a:prstGeom prst="rect">
            <a:avLst/>
          </a:prstGeom>
          <a:noFill/>
          <a:ln>
            <a:noFill/>
          </a:ln>
        </p:spPr>
      </p:pic>
      <p:sp>
        <p:nvSpPr>
          <p:cNvPr id="290" name="Google Shape;290;g3bbe9322812_0_20"/>
          <p:cNvSpPr txBox="1"/>
          <p:nvPr/>
        </p:nvSpPr>
        <p:spPr>
          <a:xfrm>
            <a:off x="635751" y="1913500"/>
            <a:ext cx="2574900" cy="8424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 name="Google Shape;291;g3bbe9322812_0_20"/>
          <p:cNvSpPr txBox="1"/>
          <p:nvPr/>
        </p:nvSpPr>
        <p:spPr>
          <a:xfrm>
            <a:off x="635750" y="3038050"/>
            <a:ext cx="1865400" cy="9186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 name="Google Shape;292;g3bbe9322812_0_20"/>
          <p:cNvSpPr txBox="1"/>
          <p:nvPr/>
        </p:nvSpPr>
        <p:spPr>
          <a:xfrm>
            <a:off x="363825" y="3930488"/>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Rewriting in matrix form gives us :</a:t>
            </a:r>
            <a:endParaRPr b="0" i="0" sz="1400" u="none" cap="none" strike="noStrike">
              <a:solidFill>
                <a:srgbClr val="000000"/>
              </a:solidFill>
              <a:latin typeface="Arial"/>
              <a:ea typeface="Arial"/>
              <a:cs typeface="Arial"/>
              <a:sym typeface="Arial"/>
            </a:endParaRPr>
          </a:p>
        </p:txBody>
      </p:sp>
      <p:sp>
        <p:nvSpPr>
          <p:cNvPr id="293" name="Google Shape;293;g3bbe9322812_0_20"/>
          <p:cNvSpPr txBox="1"/>
          <p:nvPr/>
        </p:nvSpPr>
        <p:spPr>
          <a:xfrm>
            <a:off x="477050" y="4417900"/>
            <a:ext cx="2670000" cy="7695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 name="Google Shape;294;g3bbe9322812_0_20"/>
          <p:cNvSpPr txBox="1"/>
          <p:nvPr/>
        </p:nvSpPr>
        <p:spPr>
          <a:xfrm>
            <a:off x="635750" y="5571125"/>
            <a:ext cx="1032900" cy="4617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g3bbe9322812_0_41"/>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00" name="Google Shape;300;g3bbe9322812_0_4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1" name="Google Shape;301;g3bbe9322812_0_41"/>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(Rotation Example)</a:t>
            </a:r>
            <a:endParaRPr b="0" i="0" sz="3600" u="none" cap="none" strike="noStrike">
              <a:solidFill>
                <a:schemeClr val="lt1"/>
              </a:solidFill>
              <a:latin typeface="Calibri"/>
              <a:ea typeface="Calibri"/>
              <a:cs typeface="Calibri"/>
              <a:sym typeface="Calibri"/>
            </a:endParaRPr>
          </a:p>
        </p:txBody>
      </p:sp>
      <p:pic>
        <p:nvPicPr>
          <p:cNvPr id="302" name="Google Shape;302;g3bbe9322812_0_4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03" name="Google Shape;303;g3bbe9322812_0_41"/>
          <p:cNvSpPr txBox="1"/>
          <p:nvPr/>
        </p:nvSpPr>
        <p:spPr>
          <a:xfrm>
            <a:off x="227325" y="1036900"/>
            <a:ext cx="86862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line segment with starting point as (0, 0) and ending point as (4, 4). Apply a 30-degree rotation in the anticlockwise direction on the line segment and find out the new coordinates of the line.</a:t>
            </a:r>
            <a:endParaRPr b="0" i="0" sz="1400" u="none" cap="none" strike="noStrike">
              <a:solidFill>
                <a:srgbClr val="000000"/>
              </a:solidFill>
              <a:latin typeface="Arial"/>
              <a:ea typeface="Arial"/>
              <a:cs typeface="Arial"/>
              <a:sym typeface="Arial"/>
            </a:endParaRPr>
          </a:p>
        </p:txBody>
      </p:sp>
      <p:sp>
        <p:nvSpPr>
          <p:cNvPr id="304" name="Google Shape;304;g3bbe9322812_0_41"/>
          <p:cNvSpPr txBox="1"/>
          <p:nvPr/>
        </p:nvSpPr>
        <p:spPr>
          <a:xfrm>
            <a:off x="327425" y="15734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305" name="Google Shape;305;g3bbe9322812_0_41"/>
          <p:cNvSpPr txBox="1"/>
          <p:nvPr/>
        </p:nvSpPr>
        <p:spPr>
          <a:xfrm>
            <a:off x="363825" y="1973750"/>
            <a:ext cx="77895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We rotate a straight line by its end points with the same angle. Then, we redraw a line between the new end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Old ending coordinates of the line = (x, y) = (4,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Rotation angle = θ = 30º</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Let the new ending coordinates of the line after rotation be (x’, y’).</a:t>
            </a:r>
            <a:endParaRPr b="0" i="0" sz="1400" u="none" cap="none" strike="noStrike">
              <a:solidFill>
                <a:srgbClr val="000000"/>
              </a:solidFill>
              <a:latin typeface="Arial"/>
              <a:ea typeface="Arial"/>
              <a:cs typeface="Arial"/>
              <a:sym typeface="Arial"/>
            </a:endParaRPr>
          </a:p>
        </p:txBody>
      </p:sp>
      <p:sp>
        <p:nvSpPr>
          <p:cNvPr id="306" name="Google Shape;306;g3bbe9322812_0_41"/>
          <p:cNvSpPr txBox="1"/>
          <p:nvPr/>
        </p:nvSpPr>
        <p:spPr>
          <a:xfrm>
            <a:off x="454775" y="3755000"/>
            <a:ext cx="4206600" cy="246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Applying the rotation equations, we have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xcosθ – ysinθ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4 x cos30º – 4 x sin30º</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4 x (√3 / 2) – 4 x (1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2√3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2(√3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2(1.73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1.46</a:t>
            </a:r>
            <a:endParaRPr b="0" i="0" sz="1400" u="none" cap="none" strike="noStrike">
              <a:solidFill>
                <a:srgbClr val="000000"/>
              </a:solidFill>
              <a:latin typeface="Arial"/>
              <a:ea typeface="Arial"/>
              <a:cs typeface="Arial"/>
              <a:sym typeface="Arial"/>
            </a:endParaRPr>
          </a:p>
        </p:txBody>
      </p:sp>
      <p:sp>
        <p:nvSpPr>
          <p:cNvPr id="307" name="Google Shape;307;g3bbe9322812_0_41"/>
          <p:cNvSpPr txBox="1"/>
          <p:nvPr/>
        </p:nvSpPr>
        <p:spPr>
          <a:xfrm>
            <a:off x="4829700" y="4125625"/>
            <a:ext cx="30000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y</a:t>
            </a: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xsinθ + ycosθ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4 x sin30º + 4 x cos30º</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4 x (1 / 2) + 4 x (√3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 + 2√3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2(1 +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2(1 + 1.73)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5.46</a:t>
            </a:r>
            <a:endParaRPr b="0" i="0" sz="1400" u="none" cap="none" strike="noStrike">
              <a:solidFill>
                <a:srgbClr val="000000"/>
              </a:solidFill>
              <a:latin typeface="Arial"/>
              <a:ea typeface="Arial"/>
              <a:cs typeface="Arial"/>
              <a:sym typeface="Arial"/>
            </a:endParaRPr>
          </a:p>
        </p:txBody>
      </p:sp>
      <p:sp>
        <p:nvSpPr>
          <p:cNvPr id="308" name="Google Shape;308;g3bbe9322812_0_41"/>
          <p:cNvSpPr txBox="1"/>
          <p:nvPr/>
        </p:nvSpPr>
        <p:spPr>
          <a:xfrm>
            <a:off x="1058075" y="5779200"/>
            <a:ext cx="6582000" cy="713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300"/>
              </a:spcBef>
              <a:spcAft>
                <a:spcPts val="0"/>
              </a:spcAft>
              <a:buClr>
                <a:srgbClr val="000000"/>
              </a:buClr>
              <a:buSzPts val="1250"/>
              <a:buFont typeface="Arial"/>
              <a:buNone/>
            </a:pPr>
            <a:r>
              <a:rPr b="0" i="0" lang="en-US" sz="1250" u="none" cap="none" strike="noStrike">
                <a:solidFill>
                  <a:srgbClr val="303030"/>
                </a:solidFill>
                <a:latin typeface="Arial"/>
                <a:ea typeface="Arial"/>
                <a:cs typeface="Arial"/>
                <a:sym typeface="Arial"/>
              </a:rPr>
              <a:t> </a:t>
            </a:r>
            <a:endParaRPr b="0" i="0" sz="1250" u="none" cap="none" strike="noStrike">
              <a:solidFill>
                <a:srgbClr val="303030"/>
              </a:solidFill>
              <a:latin typeface="Arial"/>
              <a:ea typeface="Arial"/>
              <a:cs typeface="Arial"/>
              <a:sym typeface="Arial"/>
            </a:endParaRPr>
          </a:p>
          <a:p>
            <a:pPr indent="0" lvl="0" marL="0" marR="0" rtl="0" algn="just">
              <a:lnSpc>
                <a:spcPct val="115000"/>
              </a:lnSpc>
              <a:spcBef>
                <a:spcPts val="900"/>
              </a:spcBef>
              <a:spcAft>
                <a:spcPts val="900"/>
              </a:spcAft>
              <a:buClr>
                <a:srgbClr val="000000"/>
              </a:buClr>
              <a:buSzPts val="1250"/>
              <a:buFont typeface="Arial"/>
              <a:buNone/>
            </a:pPr>
            <a:r>
              <a:rPr b="0" i="0" lang="en-US" sz="1250" u="none" cap="none" strike="noStrike">
                <a:solidFill>
                  <a:srgbClr val="303030"/>
                </a:solidFill>
                <a:latin typeface="Arial"/>
                <a:ea typeface="Arial"/>
                <a:cs typeface="Arial"/>
                <a:sym typeface="Arial"/>
              </a:rPr>
              <a:t>Thus, the new ending coordinates of the line after rotation are (1.46, 5.46).</a:t>
            </a:r>
            <a:endParaRPr b="0" i="0" sz="1250" u="none" cap="none" strike="noStrike">
              <a:solidFill>
                <a:srgbClr val="30303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2" name="Shape 312"/>
        <p:cNvGrpSpPr/>
        <p:nvPr/>
      </p:nvGrpSpPr>
      <p:grpSpPr>
        <a:xfrm>
          <a:off x="0" y="0"/>
          <a:ext cx="0" cy="0"/>
          <a:chOff x="0" y="0"/>
          <a:chExt cx="0" cy="0"/>
        </a:xfrm>
      </p:grpSpPr>
      <p:sp>
        <p:nvSpPr>
          <p:cNvPr id="313" name="Google Shape;313;g3bbe9322812_0_72"/>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(Rotation Example)</a:t>
            </a:r>
            <a:endParaRPr b="0" i="0" sz="3600" u="none" cap="none" strike="noStrike">
              <a:solidFill>
                <a:schemeClr val="lt1"/>
              </a:solidFill>
              <a:latin typeface="Calibri"/>
              <a:ea typeface="Calibri"/>
              <a:cs typeface="Calibri"/>
              <a:sym typeface="Calibri"/>
            </a:endParaRPr>
          </a:p>
        </p:txBody>
      </p:sp>
      <p:pic>
        <p:nvPicPr>
          <p:cNvPr id="314" name="Google Shape;314;g3bbe9322812_0_7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id="315" name="Google Shape;315;g3bbe9322812_0_72"/>
          <p:cNvPicPr preferRelativeResize="0"/>
          <p:nvPr/>
        </p:nvPicPr>
        <p:blipFill rotWithShape="1">
          <a:blip r:embed="rId4">
            <a:alphaModFix/>
          </a:blip>
          <a:srcRect b="0" l="0" r="0" t="0"/>
          <a:stretch/>
        </p:blipFill>
        <p:spPr>
          <a:xfrm>
            <a:off x="716300" y="1914400"/>
            <a:ext cx="2263400" cy="743338"/>
          </a:xfrm>
          <a:prstGeom prst="rect">
            <a:avLst/>
          </a:prstGeom>
          <a:noFill/>
          <a:ln>
            <a:noFill/>
          </a:ln>
        </p:spPr>
      </p:pic>
      <p:sp>
        <p:nvSpPr>
          <p:cNvPr id="316" name="Google Shape;316;g3bbe9322812_0_72"/>
          <p:cNvSpPr txBox="1"/>
          <p:nvPr/>
        </p:nvSpPr>
        <p:spPr>
          <a:xfrm>
            <a:off x="363820" y="929500"/>
            <a:ext cx="78816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Alternatively,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 matrix form, the new ending coordinates of the line after rotation may be obtained as</a:t>
            </a:r>
            <a:endParaRPr b="0" i="0" sz="1400" u="none" cap="none" strike="noStrike">
              <a:solidFill>
                <a:srgbClr val="000000"/>
              </a:solidFill>
              <a:latin typeface="Arial"/>
              <a:ea typeface="Arial"/>
              <a:cs typeface="Arial"/>
              <a:sym typeface="Arial"/>
            </a:endParaRPr>
          </a:p>
        </p:txBody>
      </p:sp>
      <p:pic>
        <p:nvPicPr>
          <p:cNvPr id="317" name="Google Shape;317;g3bbe9322812_0_72"/>
          <p:cNvPicPr preferRelativeResize="0"/>
          <p:nvPr/>
        </p:nvPicPr>
        <p:blipFill rotWithShape="1">
          <a:blip r:embed="rId5">
            <a:alphaModFix/>
          </a:blip>
          <a:srcRect b="0" l="0" r="0" t="0"/>
          <a:stretch/>
        </p:blipFill>
        <p:spPr>
          <a:xfrm>
            <a:off x="716300" y="2841525"/>
            <a:ext cx="2448880" cy="699700"/>
          </a:xfrm>
          <a:prstGeom prst="rect">
            <a:avLst/>
          </a:prstGeom>
          <a:noFill/>
          <a:ln>
            <a:noFill/>
          </a:ln>
        </p:spPr>
      </p:pic>
      <p:pic>
        <p:nvPicPr>
          <p:cNvPr id="318" name="Google Shape;318;g3bbe9322812_0_72"/>
          <p:cNvPicPr preferRelativeResize="0"/>
          <p:nvPr/>
        </p:nvPicPr>
        <p:blipFill rotWithShape="1">
          <a:blip r:embed="rId6">
            <a:alphaModFix/>
          </a:blip>
          <a:srcRect b="0" l="0" r="0" t="0"/>
          <a:stretch/>
        </p:blipFill>
        <p:spPr>
          <a:xfrm>
            <a:off x="716300" y="3725000"/>
            <a:ext cx="2522118" cy="699700"/>
          </a:xfrm>
          <a:prstGeom prst="rect">
            <a:avLst/>
          </a:prstGeom>
          <a:noFill/>
          <a:ln>
            <a:noFill/>
          </a:ln>
        </p:spPr>
      </p:pic>
      <p:pic>
        <p:nvPicPr>
          <p:cNvPr id="319" name="Google Shape;319;g3bbe9322812_0_72"/>
          <p:cNvPicPr preferRelativeResize="0"/>
          <p:nvPr/>
        </p:nvPicPr>
        <p:blipFill rotWithShape="1">
          <a:blip r:embed="rId7">
            <a:alphaModFix/>
          </a:blip>
          <a:srcRect b="0" l="0" r="0" t="0"/>
          <a:stretch/>
        </p:blipFill>
        <p:spPr>
          <a:xfrm>
            <a:off x="716300" y="4608475"/>
            <a:ext cx="2785501" cy="621425"/>
          </a:xfrm>
          <a:prstGeom prst="rect">
            <a:avLst/>
          </a:prstGeom>
          <a:noFill/>
          <a:ln>
            <a:noFill/>
          </a:ln>
        </p:spPr>
      </p:pic>
      <p:pic>
        <p:nvPicPr>
          <p:cNvPr id="320" name="Google Shape;320;g3bbe9322812_0_72"/>
          <p:cNvPicPr preferRelativeResize="0"/>
          <p:nvPr/>
        </p:nvPicPr>
        <p:blipFill rotWithShape="1">
          <a:blip r:embed="rId8">
            <a:alphaModFix/>
          </a:blip>
          <a:srcRect b="0" l="0" r="0" t="0"/>
          <a:stretch/>
        </p:blipFill>
        <p:spPr>
          <a:xfrm>
            <a:off x="716300" y="5292375"/>
            <a:ext cx="1338936" cy="699700"/>
          </a:xfrm>
          <a:prstGeom prst="rect">
            <a:avLst/>
          </a:prstGeom>
          <a:noFill/>
          <a:ln>
            <a:noFill/>
          </a:ln>
        </p:spPr>
      </p:pic>
      <p:sp>
        <p:nvSpPr>
          <p:cNvPr id="321" name="Google Shape;321;g3bbe9322812_0_72"/>
          <p:cNvSpPr txBox="1"/>
          <p:nvPr/>
        </p:nvSpPr>
        <p:spPr>
          <a:xfrm>
            <a:off x="559245" y="6054550"/>
            <a:ext cx="812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Thus, the new ending coordinates of the line after rotation are (1.46, 5.46).</a:t>
            </a:r>
            <a:endParaRPr b="0" i="0" sz="1400" u="none" cap="none" strike="noStrike">
              <a:solidFill>
                <a:srgbClr val="000000"/>
              </a:solidFill>
              <a:latin typeface="Arial"/>
              <a:ea typeface="Arial"/>
              <a:cs typeface="Arial"/>
              <a:sym typeface="Arial"/>
            </a:endParaRPr>
          </a:p>
        </p:txBody>
      </p:sp>
      <p:pic>
        <p:nvPicPr>
          <p:cNvPr descr="Rotation in Computer Graphics | Problem-1 | Solution" id="322" name="Google Shape;322;g3bbe9322812_0_72"/>
          <p:cNvPicPr preferRelativeResize="0"/>
          <p:nvPr/>
        </p:nvPicPr>
        <p:blipFill rotWithShape="1">
          <a:blip r:embed="rId9">
            <a:alphaModFix/>
          </a:blip>
          <a:srcRect b="0" l="0" r="0" t="0"/>
          <a:stretch/>
        </p:blipFill>
        <p:spPr>
          <a:xfrm>
            <a:off x="4245375" y="2250925"/>
            <a:ext cx="3705225" cy="2905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6" name="Shape 326"/>
        <p:cNvGrpSpPr/>
        <p:nvPr/>
      </p:nvGrpSpPr>
      <p:grpSpPr>
        <a:xfrm>
          <a:off x="0" y="0"/>
          <a:ext cx="0" cy="0"/>
          <a:chOff x="0" y="0"/>
          <a:chExt cx="0" cy="0"/>
        </a:xfrm>
      </p:grpSpPr>
      <p:sp>
        <p:nvSpPr>
          <p:cNvPr id="327" name="Google Shape;327;g3bb5fbf5691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28" name="Google Shape;328;g3bb5fbf5691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9" name="Google Shape;329;g3bb5fbf5691_0_22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(Reflection)</a:t>
            </a:r>
            <a:endParaRPr b="0" i="0" sz="3800" u="none" cap="none" strike="noStrike">
              <a:solidFill>
                <a:schemeClr val="lt1"/>
              </a:solidFill>
              <a:latin typeface="Calibri"/>
              <a:ea typeface="Calibri"/>
              <a:cs typeface="Calibri"/>
              <a:sym typeface="Calibri"/>
            </a:endParaRPr>
          </a:p>
        </p:txBody>
      </p:sp>
      <p:pic>
        <p:nvPicPr>
          <p:cNvPr id="330" name="Google Shape;330;g3bb5fbf5691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31" name="Google Shape;331;g3bb5fbf5691_0_224"/>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32" name="Google Shape;332;g3bb5fbf5691_0_224"/>
          <p:cNvSpPr txBox="1"/>
          <p:nvPr/>
        </p:nvSpPr>
        <p:spPr>
          <a:xfrm>
            <a:off x="363825" y="1227900"/>
            <a:ext cx="8151600" cy="9234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0"/>
              </a:spcBef>
              <a:spcAft>
                <a:spcPts val="0"/>
              </a:spcAft>
              <a:buClr>
                <a:srgbClr val="0B5394"/>
              </a:buClr>
              <a:buSzPts val="1700"/>
              <a:buFont typeface="Arial"/>
              <a:buChar char="■"/>
            </a:pPr>
            <a:r>
              <a:rPr b="0" i="0" lang="en-US" sz="1400" u="none" cap="none" strike="noStrike">
                <a:solidFill>
                  <a:srgbClr val="000000"/>
                </a:solidFill>
                <a:latin typeface="Arial"/>
                <a:ea typeface="Arial"/>
                <a:cs typeface="Arial"/>
                <a:sym typeface="Arial"/>
              </a:rPr>
              <a:t>Reflection is the mirror image of the original object. In other words, we can say that it is a rotation operation with 180°. </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B5394"/>
              </a:buClr>
              <a:buSzPts val="1700"/>
              <a:buFont typeface="Arial"/>
              <a:buChar char="■"/>
            </a:pPr>
            <a:r>
              <a:rPr b="0" i="0" lang="en-US" sz="1400" u="none" cap="none" strike="noStrike">
                <a:solidFill>
                  <a:srgbClr val="000000"/>
                </a:solidFill>
                <a:latin typeface="Arial"/>
                <a:ea typeface="Arial"/>
                <a:cs typeface="Arial"/>
                <a:sym typeface="Arial"/>
              </a:rPr>
              <a:t>In reflection transformation, the size of the object does not change.</a:t>
            </a:r>
            <a:endParaRPr b="0" i="0" sz="1400" u="none" cap="none" strike="noStrike">
              <a:solidFill>
                <a:srgbClr val="000000"/>
              </a:solidFill>
              <a:latin typeface="Arial"/>
              <a:ea typeface="Arial"/>
              <a:cs typeface="Arial"/>
              <a:sym typeface="Arial"/>
            </a:endParaRPr>
          </a:p>
        </p:txBody>
      </p:sp>
      <p:pic>
        <p:nvPicPr>
          <p:cNvPr id="333" name="Google Shape;333;g3bb5fbf5691_0_224"/>
          <p:cNvPicPr preferRelativeResize="0"/>
          <p:nvPr/>
        </p:nvPicPr>
        <p:blipFill rotWithShape="1">
          <a:blip r:embed="rId4">
            <a:alphaModFix/>
          </a:blip>
          <a:srcRect b="0" l="0" r="0" t="0"/>
          <a:stretch/>
        </p:blipFill>
        <p:spPr>
          <a:xfrm>
            <a:off x="1025575" y="2544525"/>
            <a:ext cx="5943600" cy="2295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7" name="Shape 337"/>
        <p:cNvGrpSpPr/>
        <p:nvPr/>
      </p:nvGrpSpPr>
      <p:grpSpPr>
        <a:xfrm>
          <a:off x="0" y="0"/>
          <a:ext cx="0" cy="0"/>
          <a:chOff x="0" y="0"/>
          <a:chExt cx="0" cy="0"/>
        </a:xfrm>
      </p:grpSpPr>
      <p:sp>
        <p:nvSpPr>
          <p:cNvPr id="338" name="Google Shape;338;g3bbe9322812_0_10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39" name="Google Shape;339;g3bbe9322812_0_10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0" name="Google Shape;340;g3bbe9322812_0_10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(Reflection)</a:t>
            </a:r>
            <a:endParaRPr b="0" i="0" sz="3800" u="none" cap="none" strike="noStrike">
              <a:solidFill>
                <a:schemeClr val="lt1"/>
              </a:solidFill>
              <a:latin typeface="Calibri"/>
              <a:ea typeface="Calibri"/>
              <a:cs typeface="Calibri"/>
              <a:sym typeface="Calibri"/>
            </a:endParaRPr>
          </a:p>
        </p:txBody>
      </p:sp>
      <p:pic>
        <p:nvPicPr>
          <p:cNvPr id="341" name="Google Shape;341;g3bbe9322812_0_10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42" name="Google Shape;342;g3bbe9322812_0_104"/>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43" name="Google Shape;343;g3bbe9322812_0_104"/>
          <p:cNvSpPr txBox="1"/>
          <p:nvPr/>
        </p:nvSpPr>
        <p:spPr>
          <a:xfrm>
            <a:off x="507125" y="115292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on X-Axis:</a:t>
            </a:r>
            <a:endParaRPr b="1" i="0" sz="1300" u="sng" cap="none" strike="noStrike">
              <a:solidFill>
                <a:srgbClr val="303030"/>
              </a:solidFill>
              <a:latin typeface="Arial"/>
              <a:ea typeface="Arial"/>
              <a:cs typeface="Arial"/>
              <a:sym typeface="Arial"/>
            </a:endParaRPr>
          </a:p>
        </p:txBody>
      </p:sp>
      <p:pic>
        <p:nvPicPr>
          <p:cNvPr id="344" name="Google Shape;344;g3bbe9322812_0_104"/>
          <p:cNvPicPr preferRelativeResize="0"/>
          <p:nvPr/>
        </p:nvPicPr>
        <p:blipFill rotWithShape="1">
          <a:blip r:embed="rId4">
            <a:alphaModFix/>
          </a:blip>
          <a:srcRect b="0" l="0" r="0" t="0"/>
          <a:stretch/>
        </p:blipFill>
        <p:spPr>
          <a:xfrm>
            <a:off x="414450" y="1753123"/>
            <a:ext cx="2432600" cy="1731900"/>
          </a:xfrm>
          <a:prstGeom prst="rect">
            <a:avLst/>
          </a:prstGeom>
          <a:noFill/>
          <a:ln>
            <a:noFill/>
          </a:ln>
        </p:spPr>
      </p:pic>
      <p:sp>
        <p:nvSpPr>
          <p:cNvPr id="345" name="Google Shape;345;g3bbe9322812_0_104"/>
          <p:cNvSpPr txBox="1"/>
          <p:nvPr/>
        </p:nvSpPr>
        <p:spPr>
          <a:xfrm>
            <a:off x="4074950" y="1674250"/>
            <a:ext cx="4575000" cy="532200"/>
          </a:xfrm>
          <a:prstGeom prst="rect">
            <a:avLst/>
          </a:prstGeom>
          <a:noFill/>
          <a:ln>
            <a:noFill/>
          </a:ln>
        </p:spPr>
        <p:txBody>
          <a:bodyPr anchorCtr="0" anchor="t" bIns="91425" lIns="91425" spcFirstLastPara="1" rIns="91425" wrap="square" tIns="91425">
            <a:spAutoFit/>
          </a:bodyPr>
          <a:lstStyle/>
          <a:p>
            <a:pPr indent="0" lvl="0" marL="139700" marR="0" rtl="0" algn="l">
              <a:lnSpc>
                <a:spcPct val="115000"/>
              </a:lnSpc>
              <a:spcBef>
                <a:spcPts val="0"/>
              </a:spcBef>
              <a:spcAft>
                <a:spcPts val="0"/>
              </a:spcAft>
              <a:buClr>
                <a:srgbClr val="000000"/>
              </a:buClr>
              <a:buSzPts val="1050"/>
              <a:buFont typeface="Arial"/>
              <a:buNone/>
            </a:pPr>
            <a:r>
              <a:rPr b="1" i="0" lang="en-US" sz="1050" u="none" cap="none" strike="noStrike">
                <a:solidFill>
                  <a:srgbClr val="0E0E0E"/>
                </a:solidFill>
                <a:latin typeface="Arial"/>
                <a:ea typeface="Arial"/>
                <a:cs typeface="Arial"/>
                <a:sym typeface="Arial"/>
              </a:rPr>
              <a:t>Reflection about the line y = 0, the X-axis, is accomplished with the transformation matrix.</a:t>
            </a:r>
            <a:endParaRPr b="1" i="0" sz="1050" u="none" cap="none" strike="noStrike">
              <a:solidFill>
                <a:srgbClr val="0E0E0E"/>
              </a:solidFill>
              <a:latin typeface="Arial"/>
              <a:ea typeface="Arial"/>
              <a:cs typeface="Arial"/>
              <a:sym typeface="Arial"/>
            </a:endParaRPr>
          </a:p>
        </p:txBody>
      </p:sp>
      <p:sp>
        <p:nvSpPr>
          <p:cNvPr id="346" name="Google Shape;346;g3bbe9322812_0_104"/>
          <p:cNvSpPr txBox="1"/>
          <p:nvPr/>
        </p:nvSpPr>
        <p:spPr>
          <a:xfrm>
            <a:off x="414450" y="4256675"/>
            <a:ext cx="5946900" cy="108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This reflection is achieved by using the following reflection equations:</a:t>
            </a:r>
            <a:endParaRPr b="0" i="0" sz="1150" u="none" cap="none" strike="noStrike">
              <a:solidFill>
                <a:srgbClr val="303030"/>
              </a:solidFill>
              <a:latin typeface="Arial"/>
              <a:ea typeface="Arial"/>
              <a:cs typeface="Arial"/>
              <a:sym typeface="Arial"/>
            </a:endParaRPr>
          </a:p>
          <a:p>
            <a:pPr indent="-339725" lvl="0" marL="596900" marR="0" rtl="0" algn="l">
              <a:lnSpc>
                <a:spcPct val="115000"/>
              </a:lnSpc>
              <a:spcBef>
                <a:spcPts val="900"/>
              </a:spcBef>
              <a:spcAft>
                <a:spcPts val="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x’ = x</a:t>
            </a:r>
            <a:endParaRPr b="0" i="0" sz="1700" u="none" cap="none" strike="noStrike">
              <a:solidFill>
                <a:schemeClr val="dk1"/>
              </a:solidFill>
              <a:latin typeface="Arial"/>
              <a:ea typeface="Arial"/>
              <a:cs typeface="Arial"/>
              <a:sym typeface="Arial"/>
            </a:endParaRPr>
          </a:p>
          <a:p>
            <a:pPr indent="-339725" lvl="0" marL="596900" marR="0" rtl="0" algn="l">
              <a:lnSpc>
                <a:spcPct val="115000"/>
              </a:lnSpc>
              <a:spcBef>
                <a:spcPts val="0"/>
              </a:spcBef>
              <a:spcAft>
                <a:spcPts val="150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y’= -y</a:t>
            </a:r>
            <a:endParaRPr b="0" i="0" sz="1700" u="none" cap="none" strike="noStrike">
              <a:solidFill>
                <a:schemeClr val="dk1"/>
              </a:solidFill>
              <a:latin typeface="Arial"/>
              <a:ea typeface="Arial"/>
              <a:cs typeface="Arial"/>
              <a:sym typeface="Arial"/>
            </a:endParaRPr>
          </a:p>
        </p:txBody>
      </p:sp>
      <p:pic>
        <p:nvPicPr>
          <p:cNvPr id="347" name="Google Shape;347;g3bbe9322812_0_104"/>
          <p:cNvPicPr preferRelativeResize="0"/>
          <p:nvPr/>
        </p:nvPicPr>
        <p:blipFill rotWithShape="1">
          <a:blip r:embed="rId5">
            <a:alphaModFix/>
          </a:blip>
          <a:srcRect b="0" l="0" r="0" t="0"/>
          <a:stretch/>
        </p:blipFill>
        <p:spPr>
          <a:xfrm>
            <a:off x="4903000" y="2349750"/>
            <a:ext cx="3086100" cy="11697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1" name="Shape 351"/>
        <p:cNvGrpSpPr/>
        <p:nvPr/>
      </p:nvGrpSpPr>
      <p:grpSpPr>
        <a:xfrm>
          <a:off x="0" y="0"/>
          <a:ext cx="0" cy="0"/>
          <a:chOff x="0" y="0"/>
          <a:chExt cx="0" cy="0"/>
        </a:xfrm>
      </p:grpSpPr>
      <p:sp>
        <p:nvSpPr>
          <p:cNvPr id="352" name="Google Shape;352;g3bbe9322812_0_13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53" name="Google Shape;353;g3bbe9322812_0_13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4" name="Google Shape;354;g3bbe9322812_0_13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(Reflection)</a:t>
            </a:r>
            <a:endParaRPr b="0" i="0" sz="3800" u="none" cap="none" strike="noStrike">
              <a:solidFill>
                <a:schemeClr val="lt1"/>
              </a:solidFill>
              <a:latin typeface="Calibri"/>
              <a:ea typeface="Calibri"/>
              <a:cs typeface="Calibri"/>
              <a:sym typeface="Calibri"/>
            </a:endParaRPr>
          </a:p>
        </p:txBody>
      </p:sp>
      <p:pic>
        <p:nvPicPr>
          <p:cNvPr id="355" name="Google Shape;355;g3bbe9322812_0_13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56" name="Google Shape;356;g3bbe9322812_0_132"/>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57" name="Google Shape;357;g3bbe9322812_0_132"/>
          <p:cNvSpPr txBox="1"/>
          <p:nvPr/>
        </p:nvSpPr>
        <p:spPr>
          <a:xfrm>
            <a:off x="507125" y="115292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on Y-Axis:</a:t>
            </a:r>
            <a:endParaRPr b="1" i="0" sz="1300" u="sng" cap="none" strike="noStrike">
              <a:solidFill>
                <a:srgbClr val="303030"/>
              </a:solidFill>
              <a:latin typeface="Arial"/>
              <a:ea typeface="Arial"/>
              <a:cs typeface="Arial"/>
              <a:sym typeface="Arial"/>
            </a:endParaRPr>
          </a:p>
        </p:txBody>
      </p:sp>
      <p:sp>
        <p:nvSpPr>
          <p:cNvPr id="358" name="Google Shape;358;g3bbe9322812_0_132"/>
          <p:cNvSpPr txBox="1"/>
          <p:nvPr/>
        </p:nvSpPr>
        <p:spPr>
          <a:xfrm>
            <a:off x="4074950" y="1674250"/>
            <a:ext cx="4575000" cy="532200"/>
          </a:xfrm>
          <a:prstGeom prst="rect">
            <a:avLst/>
          </a:prstGeom>
          <a:noFill/>
          <a:ln>
            <a:noFill/>
          </a:ln>
        </p:spPr>
        <p:txBody>
          <a:bodyPr anchorCtr="0" anchor="t" bIns="91425" lIns="91425" spcFirstLastPara="1" rIns="91425" wrap="square" tIns="91425">
            <a:spAutoFit/>
          </a:bodyPr>
          <a:lstStyle/>
          <a:p>
            <a:pPr indent="0" lvl="0" marL="139700" marR="0" rtl="0" algn="l">
              <a:lnSpc>
                <a:spcPct val="115000"/>
              </a:lnSpc>
              <a:spcBef>
                <a:spcPts val="0"/>
              </a:spcBef>
              <a:spcAft>
                <a:spcPts val="0"/>
              </a:spcAft>
              <a:buClr>
                <a:srgbClr val="000000"/>
              </a:buClr>
              <a:buSzPts val="1050"/>
              <a:buFont typeface="Arial"/>
              <a:buNone/>
            </a:pPr>
            <a:r>
              <a:rPr b="1" i="0" lang="en-US" sz="1050" u="none" cap="none" strike="noStrike">
                <a:solidFill>
                  <a:srgbClr val="0E0E0E"/>
                </a:solidFill>
                <a:latin typeface="Arial"/>
                <a:ea typeface="Arial"/>
                <a:cs typeface="Arial"/>
                <a:sym typeface="Arial"/>
              </a:rPr>
              <a:t>Reflection about the line x = 0, the Y-axis, is accomplished with the transformation matrix.</a:t>
            </a:r>
            <a:endParaRPr b="1" i="0" sz="1050" u="none" cap="none" strike="noStrike">
              <a:solidFill>
                <a:srgbClr val="0E0E0E"/>
              </a:solidFill>
              <a:latin typeface="Arial"/>
              <a:ea typeface="Arial"/>
              <a:cs typeface="Arial"/>
              <a:sym typeface="Arial"/>
            </a:endParaRPr>
          </a:p>
        </p:txBody>
      </p:sp>
      <p:sp>
        <p:nvSpPr>
          <p:cNvPr id="359" name="Google Shape;359;g3bbe9322812_0_132"/>
          <p:cNvSpPr txBox="1"/>
          <p:nvPr/>
        </p:nvSpPr>
        <p:spPr>
          <a:xfrm>
            <a:off x="414450" y="4256675"/>
            <a:ext cx="5946900" cy="108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This reflection is achieved by using the following reflection equations:</a:t>
            </a:r>
            <a:endParaRPr b="0" i="0" sz="1150" u="none" cap="none" strike="noStrike">
              <a:solidFill>
                <a:srgbClr val="303030"/>
              </a:solidFill>
              <a:latin typeface="Arial"/>
              <a:ea typeface="Arial"/>
              <a:cs typeface="Arial"/>
              <a:sym typeface="Arial"/>
            </a:endParaRPr>
          </a:p>
          <a:p>
            <a:pPr indent="-339725" lvl="0" marL="596900" marR="0" rtl="0" algn="l">
              <a:lnSpc>
                <a:spcPct val="115000"/>
              </a:lnSpc>
              <a:spcBef>
                <a:spcPts val="900"/>
              </a:spcBef>
              <a:spcAft>
                <a:spcPts val="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x’ = -x</a:t>
            </a:r>
            <a:endParaRPr b="0" i="0" sz="1700" u="none" cap="none" strike="noStrike">
              <a:solidFill>
                <a:schemeClr val="dk1"/>
              </a:solidFill>
              <a:latin typeface="Arial"/>
              <a:ea typeface="Arial"/>
              <a:cs typeface="Arial"/>
              <a:sym typeface="Arial"/>
            </a:endParaRPr>
          </a:p>
          <a:p>
            <a:pPr indent="-339725" lvl="0" marL="596900" marR="0" rtl="0" algn="l">
              <a:lnSpc>
                <a:spcPct val="115000"/>
              </a:lnSpc>
              <a:spcBef>
                <a:spcPts val="0"/>
              </a:spcBef>
              <a:spcAft>
                <a:spcPts val="150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y’= y</a:t>
            </a:r>
            <a:endParaRPr b="0" i="0" sz="1700" u="none" cap="none" strike="noStrike">
              <a:solidFill>
                <a:schemeClr val="dk1"/>
              </a:solidFill>
              <a:latin typeface="Arial"/>
              <a:ea typeface="Arial"/>
              <a:cs typeface="Arial"/>
              <a:sym typeface="Arial"/>
            </a:endParaRPr>
          </a:p>
        </p:txBody>
      </p:sp>
      <p:pic>
        <p:nvPicPr>
          <p:cNvPr id="360" name="Google Shape;360;g3bbe9322812_0_132"/>
          <p:cNvPicPr preferRelativeResize="0"/>
          <p:nvPr/>
        </p:nvPicPr>
        <p:blipFill rotWithShape="1">
          <a:blip r:embed="rId4">
            <a:alphaModFix/>
          </a:blip>
          <a:srcRect b="0" l="0" r="0" t="0"/>
          <a:stretch/>
        </p:blipFill>
        <p:spPr>
          <a:xfrm>
            <a:off x="552625" y="1737375"/>
            <a:ext cx="3040100" cy="1719550"/>
          </a:xfrm>
          <a:prstGeom prst="rect">
            <a:avLst/>
          </a:prstGeom>
          <a:noFill/>
          <a:ln>
            <a:noFill/>
          </a:ln>
        </p:spPr>
      </p:pic>
      <p:pic>
        <p:nvPicPr>
          <p:cNvPr id="361" name="Google Shape;361;g3bbe9322812_0_132"/>
          <p:cNvPicPr preferRelativeResize="0"/>
          <p:nvPr/>
        </p:nvPicPr>
        <p:blipFill rotWithShape="1">
          <a:blip r:embed="rId5">
            <a:alphaModFix/>
          </a:blip>
          <a:srcRect b="0" l="0" r="0" t="0"/>
          <a:stretch/>
        </p:blipFill>
        <p:spPr>
          <a:xfrm>
            <a:off x="5157150" y="2374225"/>
            <a:ext cx="2865075" cy="96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5" name="Shape 365"/>
        <p:cNvGrpSpPr/>
        <p:nvPr/>
      </p:nvGrpSpPr>
      <p:grpSpPr>
        <a:xfrm>
          <a:off x="0" y="0"/>
          <a:ext cx="0" cy="0"/>
          <a:chOff x="0" y="0"/>
          <a:chExt cx="0" cy="0"/>
        </a:xfrm>
      </p:grpSpPr>
      <p:sp>
        <p:nvSpPr>
          <p:cNvPr id="366" name="Google Shape;366;g3bbe9322812_0_15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67" name="Google Shape;367;g3bbe9322812_0_15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8" name="Google Shape;368;g3bbe9322812_0_151"/>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(Reflection)</a:t>
            </a:r>
            <a:endParaRPr b="0" i="0" sz="3800" u="none" cap="none" strike="noStrike">
              <a:solidFill>
                <a:schemeClr val="lt1"/>
              </a:solidFill>
              <a:latin typeface="Calibri"/>
              <a:ea typeface="Calibri"/>
              <a:cs typeface="Calibri"/>
              <a:sym typeface="Calibri"/>
            </a:endParaRPr>
          </a:p>
        </p:txBody>
      </p:sp>
      <p:pic>
        <p:nvPicPr>
          <p:cNvPr id="369" name="Google Shape;369;g3bbe9322812_0_15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70" name="Google Shape;370;g3bbe9322812_0_151"/>
          <p:cNvSpPr txBox="1"/>
          <p:nvPr/>
        </p:nvSpPr>
        <p:spPr>
          <a:xfrm>
            <a:off x="363825" y="5505275"/>
            <a:ext cx="7977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400" u="none" cap="none" strike="noStrike">
                <a:solidFill>
                  <a:srgbClr val="000000"/>
                </a:solidFill>
                <a:latin typeface="Times New Roman"/>
                <a:ea typeface="Times New Roman"/>
                <a:cs typeface="Times New Roman"/>
                <a:sym typeface="Times New Roman"/>
              </a:rPr>
              <a:t>In this value of x and y, both will be reversed. This is also called a half revolution about the origin.</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71" name="Google Shape;371;g3bbe9322812_0_151"/>
          <p:cNvSpPr txBox="1"/>
          <p:nvPr/>
        </p:nvSpPr>
        <p:spPr>
          <a:xfrm>
            <a:off x="507125" y="1152925"/>
            <a:ext cx="7833600" cy="6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Reflection about an axis perpendicular to xy plane and passing through origin:</a:t>
            </a:r>
            <a:endParaRPr b="1" i="0" sz="1300" u="sng" cap="none" strike="noStrike">
              <a:solidFill>
                <a:srgbClr val="30303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300"/>
              <a:buFont typeface="Arial"/>
              <a:buNone/>
            </a:pPr>
            <a:r>
              <a:t/>
            </a:r>
            <a:endParaRPr b="1" i="0" sz="1300" u="sng" cap="none" strike="noStrike">
              <a:solidFill>
                <a:srgbClr val="303030"/>
              </a:solidFill>
              <a:latin typeface="Arial"/>
              <a:ea typeface="Arial"/>
              <a:cs typeface="Arial"/>
              <a:sym typeface="Arial"/>
            </a:endParaRPr>
          </a:p>
        </p:txBody>
      </p:sp>
      <p:sp>
        <p:nvSpPr>
          <p:cNvPr id="372" name="Google Shape;372;g3bbe9322812_0_151"/>
          <p:cNvSpPr txBox="1"/>
          <p:nvPr/>
        </p:nvSpPr>
        <p:spPr>
          <a:xfrm>
            <a:off x="4447850" y="1674250"/>
            <a:ext cx="45750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200"/>
              <a:buFont typeface="Arial"/>
              <a:buNone/>
            </a:pPr>
            <a:r>
              <a:rPr b="0" i="0" lang="en-US" sz="1200" u="none" cap="none" strike="noStrike">
                <a:solidFill>
                  <a:srgbClr val="333333"/>
                </a:solidFill>
                <a:latin typeface="Roboto"/>
                <a:ea typeface="Roboto"/>
                <a:cs typeface="Roboto"/>
                <a:sym typeface="Roboto"/>
              </a:rPr>
              <a:t>The matrix of this transformation is given below</a:t>
            </a:r>
            <a:endParaRPr b="1" i="0" sz="1050" u="none" cap="none" strike="noStrike">
              <a:solidFill>
                <a:srgbClr val="0E0E0E"/>
              </a:solidFill>
              <a:latin typeface="Arial"/>
              <a:ea typeface="Arial"/>
              <a:cs typeface="Arial"/>
              <a:sym typeface="Arial"/>
            </a:endParaRPr>
          </a:p>
        </p:txBody>
      </p:sp>
      <p:sp>
        <p:nvSpPr>
          <p:cNvPr id="373" name="Google Shape;373;g3bbe9322812_0_151"/>
          <p:cNvSpPr txBox="1"/>
          <p:nvPr/>
        </p:nvSpPr>
        <p:spPr>
          <a:xfrm>
            <a:off x="414450" y="4256675"/>
            <a:ext cx="5946900" cy="110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Clr>
                <a:srgbClr val="000000"/>
              </a:buClr>
              <a:buSzPts val="1250"/>
              <a:buFont typeface="Arial"/>
              <a:buNone/>
            </a:pPr>
            <a:r>
              <a:rPr b="0" i="0" lang="en-US" sz="1250" u="none" cap="none" strike="noStrike">
                <a:solidFill>
                  <a:srgbClr val="303030"/>
                </a:solidFill>
                <a:latin typeface="Arial"/>
                <a:ea typeface="Arial"/>
                <a:cs typeface="Arial"/>
                <a:sym typeface="Arial"/>
              </a:rPr>
              <a:t>This reflection is achieved by using the following reflection equations:</a:t>
            </a:r>
            <a:endParaRPr b="0" i="0" sz="1250" u="none" cap="none" strike="noStrike">
              <a:solidFill>
                <a:srgbClr val="303030"/>
              </a:solidFill>
              <a:latin typeface="Arial"/>
              <a:ea typeface="Arial"/>
              <a:cs typeface="Arial"/>
              <a:sym typeface="Arial"/>
            </a:endParaRPr>
          </a:p>
          <a:p>
            <a:pPr indent="-339725" lvl="0" marL="596900" marR="0" rtl="0" algn="l">
              <a:lnSpc>
                <a:spcPct val="115000"/>
              </a:lnSpc>
              <a:spcBef>
                <a:spcPts val="900"/>
              </a:spcBef>
              <a:spcAft>
                <a:spcPts val="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x’ = -x</a:t>
            </a:r>
            <a:endParaRPr b="0" i="0" sz="1700" u="none" cap="none" strike="noStrike">
              <a:solidFill>
                <a:schemeClr val="dk1"/>
              </a:solidFill>
              <a:latin typeface="Arial"/>
              <a:ea typeface="Arial"/>
              <a:cs typeface="Arial"/>
              <a:sym typeface="Arial"/>
            </a:endParaRPr>
          </a:p>
          <a:p>
            <a:pPr indent="-339725" lvl="0" marL="596900" marR="0" rtl="0" algn="l">
              <a:lnSpc>
                <a:spcPct val="115000"/>
              </a:lnSpc>
              <a:spcBef>
                <a:spcPts val="0"/>
              </a:spcBef>
              <a:spcAft>
                <a:spcPts val="1500"/>
              </a:spcAft>
              <a:buClr>
                <a:srgbClr val="303030"/>
              </a:buClr>
              <a:buSzPts val="1750"/>
              <a:buFont typeface="Arial"/>
              <a:buChar char="●"/>
            </a:pPr>
            <a:r>
              <a:rPr b="0" i="0" lang="en-US" sz="1750" u="none" cap="none" strike="noStrike">
                <a:solidFill>
                  <a:srgbClr val="303030"/>
                </a:solidFill>
                <a:latin typeface="Arial"/>
                <a:ea typeface="Arial"/>
                <a:cs typeface="Arial"/>
                <a:sym typeface="Arial"/>
              </a:rPr>
              <a:t>y’= -y</a:t>
            </a:r>
            <a:endParaRPr b="0" i="0" sz="1700" u="none" cap="none" strike="noStrike">
              <a:solidFill>
                <a:schemeClr val="dk1"/>
              </a:solidFill>
              <a:latin typeface="Arial"/>
              <a:ea typeface="Arial"/>
              <a:cs typeface="Arial"/>
              <a:sym typeface="Arial"/>
            </a:endParaRPr>
          </a:p>
        </p:txBody>
      </p:sp>
      <p:pic>
        <p:nvPicPr>
          <p:cNvPr id="374" name="Google Shape;374;g3bbe9322812_0_151"/>
          <p:cNvPicPr preferRelativeResize="0"/>
          <p:nvPr/>
        </p:nvPicPr>
        <p:blipFill rotWithShape="1">
          <a:blip r:embed="rId4">
            <a:alphaModFix/>
          </a:blip>
          <a:srcRect b="0" l="0" r="0" t="0"/>
          <a:stretch/>
        </p:blipFill>
        <p:spPr>
          <a:xfrm>
            <a:off x="643550" y="1582925"/>
            <a:ext cx="3431400" cy="2329625"/>
          </a:xfrm>
          <a:prstGeom prst="rect">
            <a:avLst/>
          </a:prstGeom>
          <a:noFill/>
          <a:ln>
            <a:noFill/>
          </a:ln>
        </p:spPr>
      </p:pic>
      <p:pic>
        <p:nvPicPr>
          <p:cNvPr id="375" name="Google Shape;375;g3bbe9322812_0_151"/>
          <p:cNvPicPr preferRelativeResize="0"/>
          <p:nvPr/>
        </p:nvPicPr>
        <p:blipFill rotWithShape="1">
          <a:blip r:embed="rId5">
            <a:alphaModFix/>
          </a:blip>
          <a:srcRect b="0" l="0" r="0" t="0"/>
          <a:stretch/>
        </p:blipFill>
        <p:spPr>
          <a:xfrm>
            <a:off x="5024250" y="2143163"/>
            <a:ext cx="2723925" cy="907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9" name="Shape 379"/>
        <p:cNvGrpSpPr/>
        <p:nvPr/>
      </p:nvGrpSpPr>
      <p:grpSpPr>
        <a:xfrm>
          <a:off x="0" y="0"/>
          <a:ext cx="0" cy="0"/>
          <a:chOff x="0" y="0"/>
          <a:chExt cx="0" cy="0"/>
        </a:xfrm>
      </p:grpSpPr>
      <p:sp>
        <p:nvSpPr>
          <p:cNvPr id="380" name="Google Shape;380;g3bbe9322812_0_225"/>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81" name="Google Shape;381;g3bbe9322812_0_22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2" name="Google Shape;382;g3bbe9322812_0_225"/>
          <p:cNvSpPr txBox="1"/>
          <p:nvPr/>
        </p:nvSpPr>
        <p:spPr>
          <a:xfrm>
            <a:off x="363725" y="10327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a:t>
            </a:r>
            <a:r>
              <a:rPr lang="en-US" sz="3600">
                <a:solidFill>
                  <a:schemeClr val="lt1"/>
                </a:solidFill>
                <a:latin typeface="Calibri"/>
                <a:ea typeface="Calibri"/>
                <a:cs typeface="Calibri"/>
                <a:sym typeface="Calibri"/>
              </a:rPr>
              <a:t>Reflection</a:t>
            </a:r>
            <a:r>
              <a:rPr b="0" i="0" lang="en-US" sz="3600" u="none" cap="none" strike="noStrike">
                <a:solidFill>
                  <a:schemeClr val="lt1"/>
                </a:solidFill>
                <a:latin typeface="Calibri"/>
                <a:ea typeface="Calibri"/>
                <a:cs typeface="Calibri"/>
                <a:sym typeface="Calibri"/>
              </a:rPr>
              <a:t> Example)</a:t>
            </a:r>
            <a:endParaRPr b="0" i="0" sz="3600" u="none" cap="none" strike="noStrike">
              <a:solidFill>
                <a:schemeClr val="lt1"/>
              </a:solidFill>
              <a:latin typeface="Calibri"/>
              <a:ea typeface="Calibri"/>
              <a:cs typeface="Calibri"/>
              <a:sym typeface="Calibri"/>
            </a:endParaRPr>
          </a:p>
        </p:txBody>
      </p:sp>
      <p:pic>
        <p:nvPicPr>
          <p:cNvPr id="383" name="Google Shape;383;g3bbe9322812_0_22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384" name="Google Shape;384;g3bbe9322812_0_225"/>
          <p:cNvSpPr txBox="1"/>
          <p:nvPr/>
        </p:nvSpPr>
        <p:spPr>
          <a:xfrm>
            <a:off x="227325" y="994700"/>
            <a:ext cx="8686200" cy="61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triangle with coordinate points A(3, 4), B(6, 4), and C(5, 6). Apply the reflection on the X axis and obtain the new coordinates of the object.</a:t>
            </a:r>
            <a:endParaRPr b="0" i="0" sz="1400" u="none" cap="none" strike="noStrike">
              <a:solidFill>
                <a:srgbClr val="000000"/>
              </a:solidFill>
              <a:latin typeface="Arial"/>
              <a:ea typeface="Arial"/>
              <a:cs typeface="Arial"/>
              <a:sym typeface="Arial"/>
            </a:endParaRPr>
          </a:p>
        </p:txBody>
      </p:sp>
      <p:sp>
        <p:nvSpPr>
          <p:cNvPr id="385" name="Google Shape;385;g3bbe9322812_0_225"/>
          <p:cNvSpPr txBox="1"/>
          <p:nvPr/>
        </p:nvSpPr>
        <p:spPr>
          <a:xfrm>
            <a:off x="309250" y="16103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386" name="Google Shape;386;g3bbe9322812_0_225"/>
          <p:cNvSpPr txBox="1"/>
          <p:nvPr/>
        </p:nvSpPr>
        <p:spPr>
          <a:xfrm>
            <a:off x="436525" y="1991925"/>
            <a:ext cx="63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 a reflection across the x-axis, the matrix equation is:</a:t>
            </a:r>
            <a:endParaRPr b="0" i="0" sz="1400" u="none" cap="none" strike="noStrike">
              <a:solidFill>
                <a:srgbClr val="000000"/>
              </a:solidFill>
              <a:latin typeface="Arial"/>
              <a:ea typeface="Arial"/>
              <a:cs typeface="Arial"/>
              <a:sym typeface="Arial"/>
            </a:endParaRPr>
          </a:p>
        </p:txBody>
      </p:sp>
      <p:pic>
        <p:nvPicPr>
          <p:cNvPr id="387" name="Google Shape;387;g3bbe9322812_0_225"/>
          <p:cNvPicPr preferRelativeResize="0"/>
          <p:nvPr/>
        </p:nvPicPr>
        <p:blipFill rotWithShape="1">
          <a:blip r:embed="rId4">
            <a:alphaModFix/>
          </a:blip>
          <a:srcRect b="0" l="0" r="0" t="0"/>
          <a:stretch/>
        </p:blipFill>
        <p:spPr>
          <a:xfrm>
            <a:off x="946600" y="2444475"/>
            <a:ext cx="1936675" cy="687200"/>
          </a:xfrm>
          <a:prstGeom prst="rect">
            <a:avLst/>
          </a:prstGeom>
          <a:noFill/>
          <a:ln>
            <a:noFill/>
          </a:ln>
        </p:spPr>
      </p:pic>
      <p:sp>
        <p:nvSpPr>
          <p:cNvPr id="388" name="Google Shape;388;g3bbe9322812_0_225"/>
          <p:cNvSpPr txBox="1"/>
          <p:nvPr/>
        </p:nvSpPr>
        <p:spPr>
          <a:xfrm>
            <a:off x="498025" y="33574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For Point A (3, 4):</a:t>
            </a:r>
            <a:endParaRPr b="1" i="0" sz="1400" u="none" cap="none" strike="noStrike">
              <a:solidFill>
                <a:srgbClr val="0B5394"/>
              </a:solidFill>
              <a:latin typeface="Arial"/>
              <a:ea typeface="Arial"/>
              <a:cs typeface="Arial"/>
              <a:sym typeface="Arial"/>
            </a:endParaRPr>
          </a:p>
        </p:txBody>
      </p:sp>
      <p:pic>
        <p:nvPicPr>
          <p:cNvPr id="389" name="Google Shape;389;g3bbe9322812_0_225"/>
          <p:cNvPicPr preferRelativeResize="0"/>
          <p:nvPr/>
        </p:nvPicPr>
        <p:blipFill rotWithShape="1">
          <a:blip r:embed="rId5">
            <a:alphaModFix/>
          </a:blip>
          <a:srcRect b="0" l="0" r="0" t="0"/>
          <a:stretch/>
        </p:blipFill>
        <p:spPr>
          <a:xfrm>
            <a:off x="2092125" y="3325413"/>
            <a:ext cx="3315248" cy="547700"/>
          </a:xfrm>
          <a:prstGeom prst="rect">
            <a:avLst/>
          </a:prstGeom>
          <a:noFill/>
          <a:ln>
            <a:noFill/>
          </a:ln>
        </p:spPr>
      </p:pic>
      <p:sp>
        <p:nvSpPr>
          <p:cNvPr id="390" name="Google Shape;390;g3bbe9322812_0_225"/>
          <p:cNvSpPr txBox="1"/>
          <p:nvPr/>
        </p:nvSpPr>
        <p:spPr>
          <a:xfrm>
            <a:off x="498025" y="4209963"/>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For Point B (6, 4)</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391" name="Google Shape;391;g3bbe9322812_0_225"/>
          <p:cNvPicPr preferRelativeResize="0"/>
          <p:nvPr/>
        </p:nvPicPr>
        <p:blipFill rotWithShape="1">
          <a:blip r:embed="rId6">
            <a:alphaModFix/>
          </a:blip>
          <a:srcRect b="0" l="5934" r="0" t="0"/>
          <a:stretch/>
        </p:blipFill>
        <p:spPr>
          <a:xfrm>
            <a:off x="2130200" y="4030650"/>
            <a:ext cx="1901250" cy="687175"/>
          </a:xfrm>
          <a:prstGeom prst="rect">
            <a:avLst/>
          </a:prstGeom>
          <a:noFill/>
          <a:ln>
            <a:noFill/>
          </a:ln>
        </p:spPr>
      </p:pic>
      <p:sp>
        <p:nvSpPr>
          <p:cNvPr id="392" name="Google Shape;392;g3bbe9322812_0_225"/>
          <p:cNvSpPr txBox="1"/>
          <p:nvPr/>
        </p:nvSpPr>
        <p:spPr>
          <a:xfrm>
            <a:off x="498013" y="5062538"/>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For Point C(5, 6):</a:t>
            </a:r>
            <a:endParaRPr b="1" i="0" sz="1400" u="none" cap="none" strike="noStrike">
              <a:solidFill>
                <a:srgbClr val="0B5394"/>
              </a:solidFill>
              <a:latin typeface="Arial"/>
              <a:ea typeface="Arial"/>
              <a:cs typeface="Arial"/>
              <a:sym typeface="Arial"/>
            </a:endParaRPr>
          </a:p>
        </p:txBody>
      </p:sp>
      <p:pic>
        <p:nvPicPr>
          <p:cNvPr id="393" name="Google Shape;393;g3bbe9322812_0_225"/>
          <p:cNvPicPr preferRelativeResize="0"/>
          <p:nvPr/>
        </p:nvPicPr>
        <p:blipFill rotWithShape="1">
          <a:blip r:embed="rId7">
            <a:alphaModFix/>
          </a:blip>
          <a:srcRect b="0" l="9436" r="0" t="0"/>
          <a:stretch/>
        </p:blipFill>
        <p:spPr>
          <a:xfrm>
            <a:off x="2130200" y="4875375"/>
            <a:ext cx="1721825" cy="687200"/>
          </a:xfrm>
          <a:prstGeom prst="rect">
            <a:avLst/>
          </a:prstGeom>
          <a:noFill/>
          <a:ln>
            <a:noFill/>
          </a:ln>
        </p:spPr>
      </p:pic>
      <p:sp>
        <p:nvSpPr>
          <p:cNvPr id="394" name="Google Shape;394;g3bbe9322812_0_225"/>
          <p:cNvSpPr txBox="1"/>
          <p:nvPr/>
        </p:nvSpPr>
        <p:spPr>
          <a:xfrm>
            <a:off x="520750" y="5651663"/>
            <a:ext cx="4761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New Point:</a:t>
            </a:r>
            <a:r>
              <a:rPr b="0" i="0" lang="en-US" sz="1400" u="none" cap="none" strike="noStrike">
                <a:solidFill>
                  <a:srgbClr val="000000"/>
                </a:solidFill>
                <a:latin typeface="Arial"/>
                <a:ea typeface="Arial"/>
                <a:cs typeface="Arial"/>
                <a:sym typeface="Arial"/>
              </a:rPr>
              <a:t> A' = (3, -4), </a:t>
            </a:r>
            <a:r>
              <a:rPr b="0" i="0" lang="en-US" sz="1400" u="none" cap="none" strike="noStrike">
                <a:solidFill>
                  <a:schemeClr val="dk1"/>
                </a:solidFill>
                <a:latin typeface="Arial"/>
                <a:ea typeface="Arial"/>
                <a:cs typeface="Arial"/>
                <a:sym typeface="Arial"/>
              </a:rPr>
              <a:t>B' = (6, -4), C' = (5, -6)</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Reflection in Computer Graphics | Problem-01 | Solution" id="395" name="Google Shape;395;g3bbe9322812_0_225"/>
          <p:cNvPicPr preferRelativeResize="0"/>
          <p:nvPr/>
        </p:nvPicPr>
        <p:blipFill rotWithShape="1">
          <a:blip r:embed="rId8">
            <a:alphaModFix/>
          </a:blip>
          <a:srcRect b="0" l="0" r="0" t="0"/>
          <a:stretch/>
        </p:blipFill>
        <p:spPr>
          <a:xfrm>
            <a:off x="5339600" y="2335325"/>
            <a:ext cx="3764976" cy="3522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9" name="Shape 399"/>
        <p:cNvGrpSpPr/>
        <p:nvPr/>
      </p:nvGrpSpPr>
      <p:grpSpPr>
        <a:xfrm>
          <a:off x="0" y="0"/>
          <a:ext cx="0" cy="0"/>
          <a:chOff x="0" y="0"/>
          <a:chExt cx="0" cy="0"/>
        </a:xfrm>
      </p:grpSpPr>
      <p:sp>
        <p:nvSpPr>
          <p:cNvPr id="400" name="Google Shape;400;g3bbe9322812_0_245"/>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01" name="Google Shape;401;g3bbe9322812_0_24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2" name="Google Shape;402;g3bbe9322812_0_245"/>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(Shearing)</a:t>
            </a:r>
            <a:endParaRPr b="0" i="0" sz="3800" u="none" cap="none" strike="noStrike">
              <a:solidFill>
                <a:schemeClr val="lt1"/>
              </a:solidFill>
              <a:latin typeface="Calibri"/>
              <a:ea typeface="Calibri"/>
              <a:cs typeface="Calibri"/>
              <a:sym typeface="Calibri"/>
            </a:endParaRPr>
          </a:p>
        </p:txBody>
      </p:sp>
      <p:pic>
        <p:nvPicPr>
          <p:cNvPr id="403" name="Google Shape;403;g3bbe9322812_0_24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04" name="Google Shape;404;g3bbe9322812_0_245"/>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405" name="Google Shape;405;g3bbe9322812_0_245"/>
          <p:cNvSpPr txBox="1"/>
          <p:nvPr/>
        </p:nvSpPr>
        <p:spPr>
          <a:xfrm>
            <a:off x="236475" y="1227900"/>
            <a:ext cx="4575000" cy="2098500"/>
          </a:xfrm>
          <a:prstGeom prst="rect">
            <a:avLst/>
          </a:prstGeom>
          <a:noFill/>
          <a:ln>
            <a:noFill/>
          </a:ln>
        </p:spPr>
        <p:txBody>
          <a:bodyPr anchorCtr="0" anchor="t" bIns="91425" lIns="91425" spcFirstLastPara="1" rIns="91425" wrap="square" tIns="91425">
            <a:spAutoFit/>
          </a:bodyPr>
          <a:lstStyle/>
          <a:p>
            <a:pPr indent="-330200" lvl="0" marL="457200" marR="0" rtl="0" algn="just">
              <a:lnSpc>
                <a:spcPct val="100000"/>
              </a:lnSpc>
              <a:spcBef>
                <a:spcPts val="1000"/>
              </a:spcBef>
              <a:spcAft>
                <a:spcPts val="0"/>
              </a:spcAft>
              <a:buClr>
                <a:srgbClr val="0B5394"/>
              </a:buClr>
              <a:buSzPts val="1600"/>
              <a:buFont typeface="Arial"/>
              <a:buChar char="■"/>
            </a:pPr>
            <a:r>
              <a:rPr b="0" i="0" lang="en-US" sz="1400" u="none" cap="none" strike="noStrike">
                <a:solidFill>
                  <a:srgbClr val="000000"/>
                </a:solidFill>
                <a:latin typeface="Arial"/>
                <a:ea typeface="Arial"/>
                <a:cs typeface="Arial"/>
                <a:sym typeface="Arial"/>
              </a:rPr>
              <a:t>Shear is a transformation that distorts the shape of an object such that the transformed shape appears as if the object were composed of internal layers that had been caused to slide over each other</a:t>
            </a:r>
            <a:endParaRPr b="0" i="0" sz="1400" u="none" cap="none" strike="noStrike">
              <a:solidFill>
                <a:srgbClr val="000000"/>
              </a:solidFill>
              <a:latin typeface="Arial"/>
              <a:ea typeface="Arial"/>
              <a:cs typeface="Arial"/>
              <a:sym typeface="Arial"/>
            </a:endParaRPr>
          </a:p>
          <a:p>
            <a:pPr indent="-330200" lvl="0" marL="457200" marR="0" rtl="0" algn="just">
              <a:lnSpc>
                <a:spcPct val="100000"/>
              </a:lnSpc>
              <a:spcBef>
                <a:spcPts val="1000"/>
              </a:spcBef>
              <a:spcAft>
                <a:spcPts val="0"/>
              </a:spcAft>
              <a:buClr>
                <a:srgbClr val="0B5394"/>
              </a:buClr>
              <a:buSzPts val="1600"/>
              <a:buFont typeface="Arial"/>
              <a:buChar char="■"/>
            </a:pPr>
            <a:r>
              <a:rPr b="0" i="0" lang="en-US" sz="1400" u="none" cap="none" strike="noStrike">
                <a:solidFill>
                  <a:srgbClr val="000000"/>
                </a:solidFill>
                <a:latin typeface="Arial"/>
                <a:ea typeface="Arial"/>
                <a:cs typeface="Arial"/>
                <a:sym typeface="Arial"/>
              </a:rPr>
              <a:t> Two common shearing transformations are those that shift coordinate x values and those that shift y values</a:t>
            </a:r>
            <a:endParaRPr b="0" i="0" sz="1400" u="none" cap="none" strike="noStrike">
              <a:solidFill>
                <a:srgbClr val="000000"/>
              </a:solidFill>
              <a:latin typeface="Arial"/>
              <a:ea typeface="Arial"/>
              <a:cs typeface="Arial"/>
              <a:sym typeface="Arial"/>
            </a:endParaRPr>
          </a:p>
        </p:txBody>
      </p:sp>
      <p:pic>
        <p:nvPicPr>
          <p:cNvPr id="406" name="Google Shape;406;g3bbe9322812_0_245" title="shearAnimate.gif"/>
          <p:cNvPicPr preferRelativeResize="0"/>
          <p:nvPr/>
        </p:nvPicPr>
        <p:blipFill rotWithShape="1">
          <a:blip r:embed="rId4">
            <a:alphaModFix/>
          </a:blip>
          <a:srcRect b="0" l="0" r="0" t="0"/>
          <a:stretch/>
        </p:blipFill>
        <p:spPr>
          <a:xfrm>
            <a:off x="4982750" y="1090025"/>
            <a:ext cx="4008850" cy="2975650"/>
          </a:xfrm>
          <a:prstGeom prst="rect">
            <a:avLst/>
          </a:prstGeom>
          <a:noFill/>
          <a:ln>
            <a:noFill/>
          </a:ln>
        </p:spPr>
      </p:pic>
      <p:pic>
        <p:nvPicPr>
          <p:cNvPr descr="Versions of Shearing in 2D plane" id="407" name="Google Shape;407;g3bbe9322812_0_245"/>
          <p:cNvPicPr preferRelativeResize="0"/>
          <p:nvPr/>
        </p:nvPicPr>
        <p:blipFill rotWithShape="1">
          <a:blip r:embed="rId5">
            <a:alphaModFix/>
          </a:blip>
          <a:srcRect b="-7456" l="0" r="-7456" t="0"/>
          <a:stretch/>
        </p:blipFill>
        <p:spPr>
          <a:xfrm>
            <a:off x="645775" y="3889550"/>
            <a:ext cx="3336276" cy="971675"/>
          </a:xfrm>
          <a:prstGeom prst="rect">
            <a:avLst/>
          </a:prstGeom>
          <a:noFill/>
          <a:ln>
            <a:noFill/>
          </a:ln>
        </p:spPr>
      </p:pic>
      <p:pic>
        <p:nvPicPr>
          <p:cNvPr id="408" name="Google Shape;408;g3bbe9322812_0_245"/>
          <p:cNvPicPr preferRelativeResize="0"/>
          <p:nvPr/>
        </p:nvPicPr>
        <p:blipFill rotWithShape="1">
          <a:blip r:embed="rId6">
            <a:alphaModFix/>
          </a:blip>
          <a:srcRect b="0" l="0" r="0" t="0"/>
          <a:stretch/>
        </p:blipFill>
        <p:spPr>
          <a:xfrm>
            <a:off x="4452820" y="3745475"/>
            <a:ext cx="4117204" cy="2098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2" name="Shape 412"/>
        <p:cNvGrpSpPr/>
        <p:nvPr/>
      </p:nvGrpSpPr>
      <p:grpSpPr>
        <a:xfrm>
          <a:off x="0" y="0"/>
          <a:ext cx="0" cy="0"/>
          <a:chOff x="0" y="0"/>
          <a:chExt cx="0" cy="0"/>
        </a:xfrm>
      </p:grpSpPr>
      <p:sp>
        <p:nvSpPr>
          <p:cNvPr id="413" name="Google Shape;413;g3bbe9322812_0_264"/>
          <p:cNvSpPr txBox="1"/>
          <p:nvPr/>
        </p:nvSpPr>
        <p:spPr>
          <a:xfrm>
            <a:off x="3371850" y="63927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14" name="Google Shape;414;g3bbe9322812_0_26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15" name="Google Shape;415;g3bbe9322812_0_26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2D Transformations (Shearing)</a:t>
            </a:r>
            <a:endParaRPr b="0" i="0" sz="3800" u="none" cap="none" strike="noStrike">
              <a:solidFill>
                <a:schemeClr val="lt1"/>
              </a:solidFill>
              <a:latin typeface="Calibri"/>
              <a:ea typeface="Calibri"/>
              <a:cs typeface="Calibri"/>
              <a:sym typeface="Calibri"/>
            </a:endParaRPr>
          </a:p>
        </p:txBody>
      </p:sp>
      <p:pic>
        <p:nvPicPr>
          <p:cNvPr id="416" name="Google Shape;416;g3bbe9322812_0_26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17" name="Google Shape;417;g3bbe9322812_0_264"/>
          <p:cNvSpPr txBox="1"/>
          <p:nvPr/>
        </p:nvSpPr>
        <p:spPr>
          <a:xfrm>
            <a:off x="236475" y="1227900"/>
            <a:ext cx="6739800" cy="842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300"/>
              </a:spcBef>
              <a:spcAft>
                <a:spcPts val="0"/>
              </a:spcAft>
              <a:buClr>
                <a:srgbClr val="0B5394"/>
              </a:buClr>
              <a:buSzPts val="1600"/>
              <a:buFont typeface="Arial"/>
              <a:buChar char="■"/>
            </a:pPr>
            <a:r>
              <a:rPr b="0" i="0" lang="en-US" sz="1150" u="none" cap="none" strike="noStrike">
                <a:solidFill>
                  <a:srgbClr val="303030"/>
                </a:solidFill>
                <a:latin typeface="Arial"/>
                <a:ea typeface="Arial"/>
                <a:cs typeface="Arial"/>
                <a:sym typeface="Arial"/>
              </a:rPr>
              <a:t>Consider a point object O that has to be sheared in a 2D plane.</a:t>
            </a:r>
            <a:endParaRPr b="0" i="0" sz="1150" u="none" cap="none" strike="noStrike">
              <a:solidFill>
                <a:srgbClr val="303030"/>
              </a:solidFill>
              <a:latin typeface="Arial"/>
              <a:ea typeface="Arial"/>
              <a:cs typeface="Arial"/>
              <a:sym typeface="Arial"/>
            </a:endParaRPr>
          </a:p>
          <a:p>
            <a:pPr indent="-330200" lvl="0" marL="457200" marR="0" rtl="0" algn="just">
              <a:lnSpc>
                <a:spcPct val="100000"/>
              </a:lnSpc>
              <a:spcBef>
                <a:spcPts val="1000"/>
              </a:spcBef>
              <a:spcAft>
                <a:spcPts val="0"/>
              </a:spcAft>
              <a:buClr>
                <a:srgbClr val="0B5394"/>
              </a:buClr>
              <a:buSzPts val="1600"/>
              <a:buFont typeface="Arial"/>
              <a:buChar char="■"/>
            </a:pPr>
            <a:r>
              <a:t/>
            </a:r>
            <a:endParaRPr b="0" i="0" sz="1400" u="none" cap="none" strike="noStrike">
              <a:solidFill>
                <a:srgbClr val="000000"/>
              </a:solidFill>
              <a:latin typeface="Arial"/>
              <a:ea typeface="Arial"/>
              <a:cs typeface="Arial"/>
              <a:sym typeface="Arial"/>
            </a:endParaRPr>
          </a:p>
        </p:txBody>
      </p:sp>
      <p:sp>
        <p:nvSpPr>
          <p:cNvPr id="418" name="Google Shape;418;g3bbe9322812_0_264"/>
          <p:cNvSpPr txBox="1"/>
          <p:nvPr/>
        </p:nvSpPr>
        <p:spPr>
          <a:xfrm>
            <a:off x="752725" y="1762300"/>
            <a:ext cx="4731900" cy="1291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Let-</a:t>
            </a:r>
            <a:endParaRPr b="0" i="0" sz="1150" u="none" cap="none" strike="noStrike">
              <a:solidFill>
                <a:srgbClr val="303030"/>
              </a:solidFill>
              <a:latin typeface="Arial"/>
              <a:ea typeface="Arial"/>
              <a:cs typeface="Arial"/>
              <a:sym typeface="Arial"/>
            </a:endParaRPr>
          </a:p>
          <a:p>
            <a:pPr indent="-301625" lvl="0" marL="596900" marR="0" rtl="0" algn="l">
              <a:lnSpc>
                <a:spcPct val="115000"/>
              </a:lnSpc>
              <a:spcBef>
                <a:spcPts val="900"/>
              </a:spcBef>
              <a:spcAft>
                <a:spcPts val="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Initial coordinates of the object O = (X, Y)</a:t>
            </a:r>
            <a:endParaRPr b="0" i="0" sz="1100" u="none" cap="none" strike="noStrike">
              <a:solidFill>
                <a:schemeClr val="dk1"/>
              </a:solidFill>
              <a:latin typeface="Arial"/>
              <a:ea typeface="Arial"/>
              <a:cs typeface="Arial"/>
              <a:sym typeface="Arial"/>
            </a:endParaRPr>
          </a:p>
          <a:p>
            <a:pPr indent="-301625" lvl="0" marL="596900" marR="0" rtl="0" algn="l">
              <a:lnSpc>
                <a:spcPct val="115000"/>
              </a:lnSpc>
              <a:spcBef>
                <a:spcPts val="0"/>
              </a:spcBef>
              <a:spcAft>
                <a:spcPts val="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Shearing parameter towards X direction = Sh</a:t>
            </a:r>
            <a:r>
              <a:rPr b="0" baseline="-25000" i="0" lang="en-US" sz="1150" u="none" cap="none" strike="noStrike">
                <a:solidFill>
                  <a:srgbClr val="303030"/>
                </a:solidFill>
                <a:latin typeface="Arial"/>
                <a:ea typeface="Arial"/>
                <a:cs typeface="Arial"/>
                <a:sym typeface="Arial"/>
              </a:rPr>
              <a:t>x</a:t>
            </a:r>
            <a:endParaRPr b="0" i="0" sz="1100" u="none" cap="none" strike="noStrike">
              <a:solidFill>
                <a:schemeClr val="dk1"/>
              </a:solidFill>
              <a:latin typeface="Arial"/>
              <a:ea typeface="Arial"/>
              <a:cs typeface="Arial"/>
              <a:sym typeface="Arial"/>
            </a:endParaRPr>
          </a:p>
          <a:p>
            <a:pPr indent="-301625" lvl="0" marL="596900" marR="0" rtl="0" algn="l">
              <a:lnSpc>
                <a:spcPct val="115000"/>
              </a:lnSpc>
              <a:spcBef>
                <a:spcPts val="0"/>
              </a:spcBef>
              <a:spcAft>
                <a:spcPts val="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Shearing parameter towards Y direction = Sh</a:t>
            </a:r>
            <a:r>
              <a:rPr b="0" baseline="-25000" i="0" lang="en-US" sz="1150" u="none" cap="none" strike="noStrike">
                <a:solidFill>
                  <a:srgbClr val="303030"/>
                </a:solidFill>
                <a:latin typeface="Arial"/>
                <a:ea typeface="Arial"/>
                <a:cs typeface="Arial"/>
                <a:sym typeface="Arial"/>
              </a:rPr>
              <a:t>y</a:t>
            </a:r>
            <a:endParaRPr b="0" i="0" sz="1100" u="none" cap="none" strike="noStrike">
              <a:solidFill>
                <a:schemeClr val="dk1"/>
              </a:solidFill>
              <a:latin typeface="Arial"/>
              <a:ea typeface="Arial"/>
              <a:cs typeface="Arial"/>
              <a:sym typeface="Arial"/>
            </a:endParaRPr>
          </a:p>
          <a:p>
            <a:pPr indent="-301625" lvl="0" marL="596900" marR="0" rtl="0" algn="l">
              <a:lnSpc>
                <a:spcPct val="115000"/>
              </a:lnSpc>
              <a:spcBef>
                <a:spcPts val="0"/>
              </a:spcBef>
              <a:spcAft>
                <a:spcPts val="150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New coordinates of the object O after shearing = (X, Y)</a:t>
            </a:r>
            <a:endParaRPr b="0" i="0" sz="1100" u="none" cap="none" strike="noStrike">
              <a:solidFill>
                <a:schemeClr val="dk1"/>
              </a:solidFill>
              <a:latin typeface="Arial"/>
              <a:ea typeface="Arial"/>
              <a:cs typeface="Arial"/>
              <a:sym typeface="Arial"/>
            </a:endParaRPr>
          </a:p>
        </p:txBody>
      </p:sp>
      <p:sp>
        <p:nvSpPr>
          <p:cNvPr id="419" name="Google Shape;419;g3bbe9322812_0_264"/>
          <p:cNvSpPr txBox="1"/>
          <p:nvPr/>
        </p:nvSpPr>
        <p:spPr>
          <a:xfrm>
            <a:off x="450350" y="3294775"/>
            <a:ext cx="4288500" cy="1745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Shearing in X Axis-</a:t>
            </a:r>
            <a:endParaRPr b="1" i="0" sz="1300" u="sng" cap="none" strike="noStrike">
              <a:solidFill>
                <a:srgbClr val="303030"/>
              </a:solidFill>
              <a:latin typeface="Arial"/>
              <a:ea typeface="Arial"/>
              <a:cs typeface="Arial"/>
              <a:sym typeface="Arial"/>
            </a:endParaRPr>
          </a:p>
          <a:p>
            <a:pPr indent="0" lvl="0" marL="0" marR="0" rtl="0" algn="l">
              <a:lnSpc>
                <a:spcPct val="115000"/>
              </a:lnSpc>
              <a:spcBef>
                <a:spcPts val="3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 </a:t>
            </a:r>
            <a:endParaRPr b="0" i="0" sz="1150" u="none" cap="none" strike="noStrike">
              <a:solidFill>
                <a:srgbClr val="303030"/>
              </a:solidFill>
              <a:latin typeface="Arial"/>
              <a:ea typeface="Arial"/>
              <a:cs typeface="Arial"/>
              <a:sym typeface="Arial"/>
            </a:endParaRPr>
          </a:p>
          <a:p>
            <a:pPr indent="0" lvl="0" marL="0" marR="0" rtl="0" algn="l">
              <a:lnSpc>
                <a:spcPct val="115000"/>
              </a:lnSpc>
              <a:spcBef>
                <a:spcPts val="9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Shearing in X axis is achieved by using the following shearing equations:</a:t>
            </a:r>
            <a:endParaRPr b="0" i="0" sz="1150" u="none" cap="none" strike="noStrike">
              <a:solidFill>
                <a:srgbClr val="303030"/>
              </a:solidFill>
              <a:latin typeface="Arial"/>
              <a:ea typeface="Arial"/>
              <a:cs typeface="Arial"/>
              <a:sym typeface="Arial"/>
            </a:endParaRPr>
          </a:p>
          <a:p>
            <a:pPr indent="-301625" lvl="0" marL="596900" marR="0" rtl="0" algn="l">
              <a:lnSpc>
                <a:spcPct val="115000"/>
              </a:lnSpc>
              <a:spcBef>
                <a:spcPts val="900"/>
              </a:spcBef>
              <a:spcAft>
                <a:spcPts val="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x’ = x + Sh</a:t>
            </a:r>
            <a:r>
              <a:rPr b="0" baseline="-25000" i="0" lang="en-US" sz="1150" u="none" cap="none" strike="noStrike">
                <a:solidFill>
                  <a:srgbClr val="303030"/>
                </a:solidFill>
                <a:latin typeface="Arial"/>
                <a:ea typeface="Arial"/>
                <a:cs typeface="Arial"/>
                <a:sym typeface="Arial"/>
              </a:rPr>
              <a:t>x</a:t>
            </a:r>
            <a:r>
              <a:rPr b="0" i="0" lang="en-US" sz="1150" u="none" cap="none" strike="noStrike">
                <a:solidFill>
                  <a:srgbClr val="303030"/>
                </a:solidFill>
                <a:latin typeface="Arial"/>
                <a:ea typeface="Arial"/>
                <a:cs typeface="Arial"/>
                <a:sym typeface="Arial"/>
              </a:rPr>
              <a:t> . y</a:t>
            </a:r>
            <a:endParaRPr b="0" i="0" sz="1100" u="none" cap="none" strike="noStrike">
              <a:solidFill>
                <a:schemeClr val="dk1"/>
              </a:solidFill>
              <a:latin typeface="Arial"/>
              <a:ea typeface="Arial"/>
              <a:cs typeface="Arial"/>
              <a:sym typeface="Arial"/>
            </a:endParaRPr>
          </a:p>
          <a:p>
            <a:pPr indent="-301625" lvl="0" marL="596900" marR="0" rtl="0" algn="l">
              <a:lnSpc>
                <a:spcPct val="115000"/>
              </a:lnSpc>
              <a:spcBef>
                <a:spcPts val="0"/>
              </a:spcBef>
              <a:spcAft>
                <a:spcPts val="150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y’= y</a:t>
            </a:r>
            <a:endParaRPr b="0" i="0" sz="1100" u="none" cap="none" strike="noStrike">
              <a:solidFill>
                <a:schemeClr val="dk1"/>
              </a:solidFill>
              <a:latin typeface="Arial"/>
              <a:ea typeface="Arial"/>
              <a:cs typeface="Arial"/>
              <a:sym typeface="Arial"/>
            </a:endParaRPr>
          </a:p>
        </p:txBody>
      </p:sp>
      <p:sp>
        <p:nvSpPr>
          <p:cNvPr id="420" name="Google Shape;420;g3bbe9322812_0_264"/>
          <p:cNvSpPr txBox="1"/>
          <p:nvPr/>
        </p:nvSpPr>
        <p:spPr>
          <a:xfrm>
            <a:off x="320700" y="4920750"/>
            <a:ext cx="4063200" cy="56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900"/>
              </a:spcAft>
              <a:buClr>
                <a:srgbClr val="000000"/>
              </a:buClr>
              <a:buSzPts val="1150"/>
              <a:buFont typeface="Arial"/>
              <a:buNone/>
            </a:pPr>
            <a:r>
              <a:rPr b="0" i="0" lang="en-US" sz="1150" u="none" cap="none" strike="noStrike">
                <a:solidFill>
                  <a:srgbClr val="303030"/>
                </a:solidFill>
                <a:latin typeface="Arial"/>
                <a:ea typeface="Arial"/>
                <a:cs typeface="Arial"/>
                <a:sym typeface="Arial"/>
              </a:rPr>
              <a:t>In Matrix form, the above shearing equations may be represented as</a:t>
            </a:r>
            <a:endParaRPr b="0" i="0" sz="1150" u="none" cap="none" strike="noStrike">
              <a:solidFill>
                <a:srgbClr val="303030"/>
              </a:solidFill>
              <a:latin typeface="Arial"/>
              <a:ea typeface="Arial"/>
              <a:cs typeface="Arial"/>
              <a:sym typeface="Arial"/>
            </a:endParaRPr>
          </a:p>
        </p:txBody>
      </p:sp>
      <p:sp>
        <p:nvSpPr>
          <p:cNvPr id="421" name="Google Shape;421;g3bbe9322812_0_264"/>
          <p:cNvSpPr txBox="1"/>
          <p:nvPr/>
        </p:nvSpPr>
        <p:spPr>
          <a:xfrm>
            <a:off x="5343075" y="3735625"/>
            <a:ext cx="3000000" cy="108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Clr>
                <a:srgbClr val="000000"/>
              </a:buClr>
              <a:buSzPts val="1150"/>
              <a:buFont typeface="Arial"/>
              <a:buNone/>
            </a:pPr>
            <a:r>
              <a:rPr b="0" i="0" lang="en-US" sz="1150" u="none" cap="none" strike="noStrike">
                <a:solidFill>
                  <a:srgbClr val="303030"/>
                </a:solidFill>
                <a:latin typeface="Arial"/>
                <a:ea typeface="Arial"/>
                <a:cs typeface="Arial"/>
                <a:sym typeface="Arial"/>
              </a:rPr>
              <a:t>Shearing in Y axis is achieved by using the following shearing equations:</a:t>
            </a:r>
            <a:endParaRPr b="0" i="0" sz="1150" u="none" cap="none" strike="noStrike">
              <a:solidFill>
                <a:srgbClr val="303030"/>
              </a:solidFill>
              <a:latin typeface="Arial"/>
              <a:ea typeface="Arial"/>
              <a:cs typeface="Arial"/>
              <a:sym typeface="Arial"/>
            </a:endParaRPr>
          </a:p>
          <a:p>
            <a:pPr indent="-301625" lvl="0" marL="596900" marR="0" rtl="0" algn="l">
              <a:lnSpc>
                <a:spcPct val="115000"/>
              </a:lnSpc>
              <a:spcBef>
                <a:spcPts val="900"/>
              </a:spcBef>
              <a:spcAft>
                <a:spcPts val="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x’=  x</a:t>
            </a:r>
            <a:endParaRPr b="0" i="0" sz="1100" u="none" cap="none" strike="noStrike">
              <a:solidFill>
                <a:schemeClr val="dk1"/>
              </a:solidFill>
              <a:latin typeface="Arial"/>
              <a:ea typeface="Arial"/>
              <a:cs typeface="Arial"/>
              <a:sym typeface="Arial"/>
            </a:endParaRPr>
          </a:p>
          <a:p>
            <a:pPr indent="-301625" lvl="0" marL="596900" marR="0" rtl="0" algn="l">
              <a:lnSpc>
                <a:spcPct val="115000"/>
              </a:lnSpc>
              <a:spcBef>
                <a:spcPts val="0"/>
              </a:spcBef>
              <a:spcAft>
                <a:spcPts val="1500"/>
              </a:spcAft>
              <a:buClr>
                <a:srgbClr val="303030"/>
              </a:buClr>
              <a:buSzPts val="1150"/>
              <a:buFont typeface="Arial"/>
              <a:buChar char="●"/>
            </a:pPr>
            <a:r>
              <a:rPr b="0" i="0" lang="en-US" sz="1150" u="none" cap="none" strike="noStrike">
                <a:solidFill>
                  <a:srgbClr val="303030"/>
                </a:solidFill>
                <a:latin typeface="Arial"/>
                <a:ea typeface="Arial"/>
                <a:cs typeface="Arial"/>
                <a:sym typeface="Arial"/>
              </a:rPr>
              <a:t>y’ = y + Sh</a:t>
            </a:r>
            <a:r>
              <a:rPr b="0" baseline="-25000" i="0" lang="en-US" sz="1150" u="none" cap="none" strike="noStrike">
                <a:solidFill>
                  <a:srgbClr val="303030"/>
                </a:solidFill>
                <a:latin typeface="Arial"/>
                <a:ea typeface="Arial"/>
                <a:cs typeface="Arial"/>
                <a:sym typeface="Arial"/>
              </a:rPr>
              <a:t>y</a:t>
            </a:r>
            <a:r>
              <a:rPr b="0" i="0" lang="en-US" sz="1150" u="none" cap="none" strike="noStrike">
                <a:solidFill>
                  <a:srgbClr val="303030"/>
                </a:solidFill>
                <a:latin typeface="Arial"/>
                <a:ea typeface="Arial"/>
                <a:cs typeface="Arial"/>
                <a:sym typeface="Arial"/>
              </a:rPr>
              <a:t>. x</a:t>
            </a:r>
            <a:endParaRPr b="0" i="0" sz="1100" u="none" cap="none" strike="noStrike">
              <a:solidFill>
                <a:schemeClr val="dk1"/>
              </a:solidFill>
              <a:latin typeface="Arial"/>
              <a:ea typeface="Arial"/>
              <a:cs typeface="Arial"/>
              <a:sym typeface="Arial"/>
            </a:endParaRPr>
          </a:p>
        </p:txBody>
      </p:sp>
      <p:sp>
        <p:nvSpPr>
          <p:cNvPr id="422" name="Google Shape;422;g3bbe9322812_0_264"/>
          <p:cNvSpPr txBox="1"/>
          <p:nvPr/>
        </p:nvSpPr>
        <p:spPr>
          <a:xfrm>
            <a:off x="5153325" y="3236538"/>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Shearing in Y Axis-</a:t>
            </a:r>
            <a:endParaRPr b="1" i="0" sz="1300" u="sng" cap="none" strike="noStrike">
              <a:solidFill>
                <a:srgbClr val="303030"/>
              </a:solidFill>
              <a:latin typeface="Arial"/>
              <a:ea typeface="Arial"/>
              <a:cs typeface="Arial"/>
              <a:sym typeface="Arial"/>
            </a:endParaRPr>
          </a:p>
        </p:txBody>
      </p:sp>
      <p:sp>
        <p:nvSpPr>
          <p:cNvPr id="423" name="Google Shape;423;g3bbe9322812_0_264"/>
          <p:cNvSpPr txBox="1"/>
          <p:nvPr/>
        </p:nvSpPr>
        <p:spPr>
          <a:xfrm>
            <a:off x="4811475" y="4920750"/>
            <a:ext cx="4332600" cy="56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900"/>
              </a:spcAft>
              <a:buClr>
                <a:srgbClr val="000000"/>
              </a:buClr>
              <a:buSzPts val="1150"/>
              <a:buFont typeface="Arial"/>
              <a:buNone/>
            </a:pPr>
            <a:r>
              <a:rPr b="0" i="0" lang="en-US" sz="1150" u="none" cap="none" strike="noStrike">
                <a:solidFill>
                  <a:srgbClr val="303030"/>
                </a:solidFill>
                <a:latin typeface="Arial"/>
                <a:ea typeface="Arial"/>
                <a:cs typeface="Arial"/>
                <a:sym typeface="Arial"/>
              </a:rPr>
              <a:t>In Matrix form, the above shearing equations may be represented as</a:t>
            </a:r>
            <a:endParaRPr b="0" i="0" sz="1150" u="none" cap="none" strike="noStrike">
              <a:solidFill>
                <a:srgbClr val="303030"/>
              </a:solidFill>
              <a:latin typeface="Arial"/>
              <a:ea typeface="Arial"/>
              <a:cs typeface="Arial"/>
              <a:sym typeface="Arial"/>
            </a:endParaRPr>
          </a:p>
        </p:txBody>
      </p:sp>
      <p:pic>
        <p:nvPicPr>
          <p:cNvPr id="424" name="Google Shape;424;g3bbe9322812_0_264"/>
          <p:cNvPicPr preferRelativeResize="0"/>
          <p:nvPr/>
        </p:nvPicPr>
        <p:blipFill rotWithShape="1">
          <a:blip r:embed="rId4">
            <a:alphaModFix/>
          </a:blip>
          <a:srcRect b="0" l="0" r="0" t="0"/>
          <a:stretch/>
        </p:blipFill>
        <p:spPr>
          <a:xfrm>
            <a:off x="5261150" y="5583275"/>
            <a:ext cx="2264757" cy="769500"/>
          </a:xfrm>
          <a:prstGeom prst="rect">
            <a:avLst/>
          </a:prstGeom>
          <a:noFill/>
          <a:ln>
            <a:noFill/>
          </a:ln>
        </p:spPr>
      </p:pic>
      <p:pic>
        <p:nvPicPr>
          <p:cNvPr id="425" name="Google Shape;425;g3bbe9322812_0_264"/>
          <p:cNvPicPr preferRelativeResize="0"/>
          <p:nvPr/>
        </p:nvPicPr>
        <p:blipFill rotWithShape="1">
          <a:blip r:embed="rId5">
            <a:alphaModFix/>
          </a:blip>
          <a:srcRect b="0" l="0" r="0" t="0"/>
          <a:stretch/>
        </p:blipFill>
        <p:spPr>
          <a:xfrm>
            <a:off x="501450" y="5583275"/>
            <a:ext cx="2809300" cy="682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g3bbe9322812_0_295"/>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31" name="Google Shape;431;g3bbe9322812_0_29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32" name="Google Shape;432;g3bbe9322812_0_295"/>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(Shearing Example)</a:t>
            </a:r>
            <a:endParaRPr b="0" i="0" sz="3600" u="none" cap="none" strike="noStrike">
              <a:solidFill>
                <a:schemeClr val="lt1"/>
              </a:solidFill>
              <a:latin typeface="Calibri"/>
              <a:ea typeface="Calibri"/>
              <a:cs typeface="Calibri"/>
              <a:sym typeface="Calibri"/>
            </a:endParaRPr>
          </a:p>
        </p:txBody>
      </p:sp>
      <p:pic>
        <p:nvPicPr>
          <p:cNvPr id="433" name="Google Shape;433;g3bbe9322812_0_29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34" name="Google Shape;434;g3bbe9322812_0_295"/>
          <p:cNvSpPr txBox="1"/>
          <p:nvPr/>
        </p:nvSpPr>
        <p:spPr>
          <a:xfrm>
            <a:off x="227325" y="1036900"/>
            <a:ext cx="8686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triangle with points (1, 1), (0, 0) and (1, 0). Apply shear parameter 2 on X axis and 2 on Y axis and find out the new coordinates of the object.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3bbe9322812_0_295"/>
          <p:cNvSpPr txBox="1"/>
          <p:nvPr/>
        </p:nvSpPr>
        <p:spPr>
          <a:xfrm>
            <a:off x="327425" y="15734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436" name="Google Shape;436;g3bbe9322812_0_295"/>
          <p:cNvSpPr txBox="1"/>
          <p:nvPr/>
        </p:nvSpPr>
        <p:spPr>
          <a:xfrm>
            <a:off x="363825" y="1973750"/>
            <a:ext cx="7789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Initial coordinates of the triangle = A (1, 1), B(0, 0), C(1,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Shearing parameter towards X direction </a:t>
            </a:r>
            <a:r>
              <a:rPr b="0" i="0" lang="en-US" sz="1400" u="none" cap="none" strike="noStrike">
                <a:solidFill>
                  <a:srgbClr val="303030"/>
                </a:solidFill>
                <a:latin typeface="Arial"/>
                <a:ea typeface="Arial"/>
                <a:cs typeface="Arial"/>
                <a:sym typeface="Arial"/>
              </a:rPr>
              <a:t>Sh</a:t>
            </a:r>
            <a:r>
              <a:rPr b="0" baseline="-25000" i="0" lang="en-US" sz="1400" u="none" cap="none" strike="noStrike">
                <a:solidFill>
                  <a:srgbClr val="303030"/>
                </a:solidFill>
                <a:latin typeface="Arial"/>
                <a:ea typeface="Arial"/>
                <a:cs typeface="Arial"/>
                <a:sym typeface="Arial"/>
              </a:rPr>
              <a:t>x</a:t>
            </a:r>
            <a:r>
              <a:rPr b="0" i="0" lang="en-US" sz="1400" u="none" cap="none" strike="noStrike">
                <a:solidFill>
                  <a:srgbClr val="303030"/>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Shearing parameter towards Y direction </a:t>
            </a:r>
            <a:r>
              <a:rPr b="0" i="0" lang="en-US" sz="1400" u="none" cap="none" strike="noStrike">
                <a:solidFill>
                  <a:srgbClr val="303030"/>
                </a:solidFill>
                <a:latin typeface="Arial"/>
                <a:ea typeface="Arial"/>
                <a:cs typeface="Arial"/>
                <a:sym typeface="Arial"/>
              </a:rPr>
              <a:t>Sh</a:t>
            </a:r>
            <a:r>
              <a:rPr b="0" baseline="-25000" i="0" lang="en-US" sz="1400" u="none" cap="none" strike="noStrike">
                <a:solidFill>
                  <a:srgbClr val="30303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p:txBody>
      </p:sp>
      <p:sp>
        <p:nvSpPr>
          <p:cNvPr id="437" name="Google Shape;437;g3bbe9322812_0_295"/>
          <p:cNvSpPr txBox="1"/>
          <p:nvPr/>
        </p:nvSpPr>
        <p:spPr>
          <a:xfrm>
            <a:off x="454775" y="2910600"/>
            <a:ext cx="4511400" cy="145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1" i="0" lang="en-US" sz="1700" u="sng" cap="none" strike="noStrike">
                <a:solidFill>
                  <a:srgbClr val="303030"/>
                </a:solidFill>
                <a:latin typeface="Arial"/>
                <a:ea typeface="Arial"/>
                <a:cs typeface="Arial"/>
                <a:sym typeface="Arial"/>
              </a:rPr>
              <a:t>Shearing in X Axis-</a:t>
            </a:r>
            <a:endParaRPr b="0" i="0" sz="1150" u="none" cap="none" strike="noStrike">
              <a:solidFill>
                <a:srgbClr val="30303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rPr b="1" i="0" lang="en-US" sz="1300" u="sng" cap="none" strike="noStrike">
                <a:solidFill>
                  <a:srgbClr val="303030"/>
                </a:solidFill>
                <a:latin typeface="Arial"/>
                <a:ea typeface="Arial"/>
                <a:cs typeface="Arial"/>
                <a:sym typeface="Arial"/>
              </a:rPr>
              <a:t>For Coordinates A(1, 1)</a:t>
            </a:r>
            <a:endParaRPr b="0" i="0" sz="1150" u="none" cap="none" strike="noStrike">
              <a:solidFill>
                <a:srgbClr val="303030"/>
              </a:solidFill>
              <a:latin typeface="Arial"/>
              <a:ea typeface="Arial"/>
              <a:cs typeface="Arial"/>
              <a:sym typeface="Arial"/>
            </a:endParaRPr>
          </a:p>
          <a:p>
            <a:pPr indent="0" lvl="0" marL="0" marR="0" rtl="0" algn="l">
              <a:lnSpc>
                <a:spcPct val="115000"/>
              </a:lnSpc>
              <a:spcBef>
                <a:spcPts val="300"/>
              </a:spcBef>
              <a:spcAft>
                <a:spcPts val="0"/>
              </a:spcAft>
              <a:buClr>
                <a:schemeClr val="dk1"/>
              </a:buClr>
              <a:buSzPts val="1100"/>
              <a:buFont typeface="Arial"/>
              <a:buNone/>
            </a:pPr>
            <a:r>
              <a:t/>
            </a:r>
            <a:endParaRPr b="0" i="0" sz="1150" u="none" cap="none" strike="noStrike">
              <a:solidFill>
                <a:srgbClr val="30303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8" name="Google Shape;438;g3bbe9322812_0_295"/>
          <p:cNvPicPr preferRelativeResize="0"/>
          <p:nvPr/>
        </p:nvPicPr>
        <p:blipFill rotWithShape="1">
          <a:blip r:embed="rId4">
            <a:alphaModFix/>
          </a:blip>
          <a:srcRect b="0" l="0" r="0" t="0"/>
          <a:stretch/>
        </p:blipFill>
        <p:spPr>
          <a:xfrm>
            <a:off x="227325" y="3761925"/>
            <a:ext cx="3990100" cy="1684497"/>
          </a:xfrm>
          <a:prstGeom prst="rect">
            <a:avLst/>
          </a:prstGeom>
          <a:noFill/>
          <a:ln>
            <a:noFill/>
          </a:ln>
        </p:spPr>
      </p:pic>
      <p:sp>
        <p:nvSpPr>
          <p:cNvPr id="439" name="Google Shape;439;g3bbe9322812_0_295"/>
          <p:cNvSpPr txBox="1"/>
          <p:nvPr/>
        </p:nvSpPr>
        <p:spPr>
          <a:xfrm>
            <a:off x="5339050" y="322890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sng" cap="none" strike="noStrike">
                <a:solidFill>
                  <a:srgbClr val="000000"/>
                </a:solidFill>
                <a:latin typeface="Arial"/>
                <a:ea typeface="Arial"/>
                <a:cs typeface="Arial"/>
                <a:sym typeface="Arial"/>
              </a:rPr>
              <a:t>For Coordinates B(0, 0)</a:t>
            </a:r>
            <a:endParaRPr b="1" i="0" sz="1300" u="sng" cap="none" strike="noStrike">
              <a:solidFill>
                <a:srgbClr val="000000"/>
              </a:solidFill>
              <a:latin typeface="Arial"/>
              <a:ea typeface="Arial"/>
              <a:cs typeface="Arial"/>
              <a:sym typeface="Arial"/>
            </a:endParaRPr>
          </a:p>
        </p:txBody>
      </p:sp>
      <p:pic>
        <p:nvPicPr>
          <p:cNvPr id="440" name="Google Shape;440;g3bbe9322812_0_295"/>
          <p:cNvPicPr preferRelativeResize="0"/>
          <p:nvPr/>
        </p:nvPicPr>
        <p:blipFill rotWithShape="1">
          <a:blip r:embed="rId5">
            <a:alphaModFix/>
          </a:blip>
          <a:srcRect b="0" l="0" r="0" t="0"/>
          <a:stretch/>
        </p:blipFill>
        <p:spPr>
          <a:xfrm>
            <a:off x="4539125" y="3747089"/>
            <a:ext cx="4374400" cy="1803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4" name="Shape 444"/>
        <p:cNvGrpSpPr/>
        <p:nvPr/>
      </p:nvGrpSpPr>
      <p:grpSpPr>
        <a:xfrm>
          <a:off x="0" y="0"/>
          <a:ext cx="0" cy="0"/>
          <a:chOff x="0" y="0"/>
          <a:chExt cx="0" cy="0"/>
        </a:xfrm>
      </p:grpSpPr>
      <p:sp>
        <p:nvSpPr>
          <p:cNvPr id="445" name="Google Shape;445;g3bbe9322812_0_317"/>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46" name="Google Shape;446;g3bbe9322812_0_317"/>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7" name="Google Shape;447;g3bbe9322812_0_317"/>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(Shearing Example)</a:t>
            </a:r>
            <a:endParaRPr b="0" i="0" sz="3600" u="none" cap="none" strike="noStrike">
              <a:solidFill>
                <a:schemeClr val="lt1"/>
              </a:solidFill>
              <a:latin typeface="Calibri"/>
              <a:ea typeface="Calibri"/>
              <a:cs typeface="Calibri"/>
              <a:sym typeface="Calibri"/>
            </a:endParaRPr>
          </a:p>
        </p:txBody>
      </p:sp>
      <p:pic>
        <p:nvPicPr>
          <p:cNvPr id="448" name="Google Shape;448;g3bbe9322812_0_317"/>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49" name="Google Shape;449;g3bbe9322812_0_317"/>
          <p:cNvSpPr txBox="1"/>
          <p:nvPr/>
        </p:nvSpPr>
        <p:spPr>
          <a:xfrm>
            <a:off x="227325" y="1036900"/>
            <a:ext cx="8686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triangle with points (1, 1), (0, 0) and (1, 0). Apply shear parameter 2 on the X axis and 2 on the Y axis and find out the new coordinates of the object.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bbe9322812_0_317"/>
          <p:cNvSpPr txBox="1"/>
          <p:nvPr/>
        </p:nvSpPr>
        <p:spPr>
          <a:xfrm>
            <a:off x="327425" y="15734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451" name="Google Shape;451;g3bbe9322812_0_317"/>
          <p:cNvSpPr txBox="1"/>
          <p:nvPr/>
        </p:nvSpPr>
        <p:spPr>
          <a:xfrm>
            <a:off x="327425" y="2082550"/>
            <a:ext cx="4511400" cy="1057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For Coordinates C(1, 0)</a:t>
            </a:r>
            <a:endParaRPr b="0" i="0" sz="1150" u="none" cap="none" strike="noStrike">
              <a:solidFill>
                <a:srgbClr val="303030"/>
              </a:solidFill>
              <a:latin typeface="Arial"/>
              <a:ea typeface="Arial"/>
              <a:cs typeface="Arial"/>
              <a:sym typeface="Arial"/>
            </a:endParaRPr>
          </a:p>
          <a:p>
            <a:pPr indent="0" lvl="0" marL="0" marR="0" rtl="0" algn="l">
              <a:lnSpc>
                <a:spcPct val="115000"/>
              </a:lnSpc>
              <a:spcBef>
                <a:spcPts val="300"/>
              </a:spcBef>
              <a:spcAft>
                <a:spcPts val="0"/>
              </a:spcAft>
              <a:buClr>
                <a:srgbClr val="000000"/>
              </a:buClr>
              <a:buSzPts val="1150"/>
              <a:buFont typeface="Arial"/>
              <a:buNone/>
            </a:pPr>
            <a:r>
              <a:t/>
            </a:r>
            <a:endParaRPr b="0" i="0" sz="1150" u="none" cap="none" strike="noStrike">
              <a:solidFill>
                <a:srgbClr val="30303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2" name="Google Shape;452;g3bbe9322812_0_317"/>
          <p:cNvPicPr preferRelativeResize="0"/>
          <p:nvPr/>
        </p:nvPicPr>
        <p:blipFill rotWithShape="1">
          <a:blip r:embed="rId4">
            <a:alphaModFix/>
          </a:blip>
          <a:srcRect b="0" l="0" r="0" t="0"/>
          <a:stretch/>
        </p:blipFill>
        <p:spPr>
          <a:xfrm>
            <a:off x="227325" y="2601475"/>
            <a:ext cx="4147599" cy="1602875"/>
          </a:xfrm>
          <a:prstGeom prst="rect">
            <a:avLst/>
          </a:prstGeom>
          <a:noFill/>
          <a:ln>
            <a:noFill/>
          </a:ln>
        </p:spPr>
      </p:pic>
      <p:sp>
        <p:nvSpPr>
          <p:cNvPr id="453" name="Google Shape;453;g3bbe9322812_0_317"/>
          <p:cNvSpPr txBox="1"/>
          <p:nvPr/>
        </p:nvSpPr>
        <p:spPr>
          <a:xfrm>
            <a:off x="363825" y="4502250"/>
            <a:ext cx="7940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Thus, New coordinates of the triangle after shearing in X axis = A (3, 1), B(0, 0), C(1, 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7" name="Shape 457"/>
        <p:cNvGrpSpPr/>
        <p:nvPr/>
      </p:nvGrpSpPr>
      <p:grpSpPr>
        <a:xfrm>
          <a:off x="0" y="0"/>
          <a:ext cx="0" cy="0"/>
          <a:chOff x="0" y="0"/>
          <a:chExt cx="0" cy="0"/>
        </a:xfrm>
      </p:grpSpPr>
      <p:sp>
        <p:nvSpPr>
          <p:cNvPr id="458" name="Google Shape;458;g3bbe9322812_0_336"/>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59" name="Google Shape;459;g3bbe9322812_0_33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0" name="Google Shape;460;g3bbe9322812_0_336"/>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(Shearing Example)</a:t>
            </a:r>
            <a:endParaRPr b="0" i="0" sz="3600" u="none" cap="none" strike="noStrike">
              <a:solidFill>
                <a:schemeClr val="lt1"/>
              </a:solidFill>
              <a:latin typeface="Calibri"/>
              <a:ea typeface="Calibri"/>
              <a:cs typeface="Calibri"/>
              <a:sym typeface="Calibri"/>
            </a:endParaRPr>
          </a:p>
        </p:txBody>
      </p:sp>
      <p:pic>
        <p:nvPicPr>
          <p:cNvPr id="461" name="Google Shape;461;g3bbe9322812_0_33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62" name="Google Shape;462;g3bbe9322812_0_336"/>
          <p:cNvSpPr txBox="1"/>
          <p:nvPr/>
        </p:nvSpPr>
        <p:spPr>
          <a:xfrm>
            <a:off x="227325" y="1036900"/>
            <a:ext cx="8686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triangle with points (1, 1), (0, 0) and (1, 0). Apply shear parameter 2 on X axis and 2 on Y axis and find out the new coordinates of the object.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bbe9322812_0_336"/>
          <p:cNvSpPr txBox="1"/>
          <p:nvPr/>
        </p:nvSpPr>
        <p:spPr>
          <a:xfrm>
            <a:off x="327425" y="15734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464" name="Google Shape;464;g3bbe9322812_0_336"/>
          <p:cNvSpPr txBox="1"/>
          <p:nvPr/>
        </p:nvSpPr>
        <p:spPr>
          <a:xfrm>
            <a:off x="363825" y="1973750"/>
            <a:ext cx="7789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Initial coordinates of the triangle = A (1, 1), B(0, 0), C(1,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Shearing parameter towards X direction </a:t>
            </a:r>
            <a:r>
              <a:rPr b="0" i="0" lang="en-US" sz="1400" u="none" cap="none" strike="noStrike">
                <a:solidFill>
                  <a:srgbClr val="303030"/>
                </a:solidFill>
                <a:latin typeface="Arial"/>
                <a:ea typeface="Arial"/>
                <a:cs typeface="Arial"/>
                <a:sym typeface="Arial"/>
              </a:rPr>
              <a:t>Sh</a:t>
            </a:r>
            <a:r>
              <a:rPr b="0" baseline="-25000" i="0" lang="en-US" sz="1400" u="none" cap="none" strike="noStrike">
                <a:solidFill>
                  <a:srgbClr val="303030"/>
                </a:solidFill>
                <a:latin typeface="Arial"/>
                <a:ea typeface="Arial"/>
                <a:cs typeface="Arial"/>
                <a:sym typeface="Arial"/>
              </a:rPr>
              <a:t>x</a:t>
            </a:r>
            <a:r>
              <a:rPr b="0" i="0" lang="en-US" sz="1400" u="none" cap="none" strike="noStrike">
                <a:solidFill>
                  <a:srgbClr val="303030"/>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Shearing parameter towards Y direction </a:t>
            </a:r>
            <a:r>
              <a:rPr b="0" i="0" lang="en-US" sz="1400" u="none" cap="none" strike="noStrike">
                <a:solidFill>
                  <a:srgbClr val="303030"/>
                </a:solidFill>
                <a:latin typeface="Arial"/>
                <a:ea typeface="Arial"/>
                <a:cs typeface="Arial"/>
                <a:sym typeface="Arial"/>
              </a:rPr>
              <a:t>Sh</a:t>
            </a:r>
            <a:r>
              <a:rPr b="0" baseline="-25000" i="0" lang="en-US" sz="1400" u="none" cap="none" strike="noStrike">
                <a:solidFill>
                  <a:srgbClr val="30303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 2</a:t>
            </a:r>
            <a:endParaRPr b="0" i="0" sz="1400" u="none" cap="none" strike="noStrike">
              <a:solidFill>
                <a:srgbClr val="000000"/>
              </a:solidFill>
              <a:latin typeface="Arial"/>
              <a:ea typeface="Arial"/>
              <a:cs typeface="Arial"/>
              <a:sym typeface="Arial"/>
            </a:endParaRPr>
          </a:p>
        </p:txBody>
      </p:sp>
      <p:sp>
        <p:nvSpPr>
          <p:cNvPr id="465" name="Google Shape;465;g3bbe9322812_0_336"/>
          <p:cNvSpPr txBox="1"/>
          <p:nvPr/>
        </p:nvSpPr>
        <p:spPr>
          <a:xfrm>
            <a:off x="454775" y="2910600"/>
            <a:ext cx="4511400" cy="145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700"/>
              <a:buFont typeface="Arial"/>
              <a:buNone/>
            </a:pPr>
            <a:r>
              <a:rPr b="1" i="0" lang="en-US" sz="1700" u="sng" cap="none" strike="noStrike">
                <a:solidFill>
                  <a:srgbClr val="303030"/>
                </a:solidFill>
                <a:latin typeface="Arial"/>
                <a:ea typeface="Arial"/>
                <a:cs typeface="Arial"/>
                <a:sym typeface="Arial"/>
              </a:rPr>
              <a:t>Shearing in Y Axis-</a:t>
            </a:r>
            <a:endParaRPr b="0" i="0" sz="1150" u="none" cap="none" strike="noStrike">
              <a:solidFill>
                <a:srgbClr val="30303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For Coordinates A(1, 1)</a:t>
            </a:r>
            <a:endParaRPr b="0" i="0" sz="1150" u="none" cap="none" strike="noStrike">
              <a:solidFill>
                <a:srgbClr val="303030"/>
              </a:solidFill>
              <a:latin typeface="Arial"/>
              <a:ea typeface="Arial"/>
              <a:cs typeface="Arial"/>
              <a:sym typeface="Arial"/>
            </a:endParaRPr>
          </a:p>
          <a:p>
            <a:pPr indent="0" lvl="0" marL="0" marR="0" rtl="0" algn="l">
              <a:lnSpc>
                <a:spcPct val="115000"/>
              </a:lnSpc>
              <a:spcBef>
                <a:spcPts val="300"/>
              </a:spcBef>
              <a:spcAft>
                <a:spcPts val="0"/>
              </a:spcAft>
              <a:buClr>
                <a:srgbClr val="000000"/>
              </a:buClr>
              <a:buSzPts val="1150"/>
              <a:buFont typeface="Arial"/>
              <a:buNone/>
            </a:pPr>
            <a:r>
              <a:t/>
            </a:r>
            <a:endParaRPr b="0" i="0" sz="1150" u="none" cap="none" strike="noStrike">
              <a:solidFill>
                <a:srgbClr val="30303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3bbe9322812_0_336"/>
          <p:cNvSpPr txBox="1"/>
          <p:nvPr/>
        </p:nvSpPr>
        <p:spPr>
          <a:xfrm>
            <a:off x="5339050" y="322890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sng" cap="none" strike="noStrike">
                <a:solidFill>
                  <a:srgbClr val="000000"/>
                </a:solidFill>
                <a:latin typeface="Arial"/>
                <a:ea typeface="Arial"/>
                <a:cs typeface="Arial"/>
                <a:sym typeface="Arial"/>
              </a:rPr>
              <a:t>For Coordinates B(0, 0)</a:t>
            </a:r>
            <a:endParaRPr b="1" i="0" sz="1300" u="sng" cap="none" strike="noStrike">
              <a:solidFill>
                <a:srgbClr val="000000"/>
              </a:solidFill>
              <a:latin typeface="Arial"/>
              <a:ea typeface="Arial"/>
              <a:cs typeface="Arial"/>
              <a:sym typeface="Arial"/>
            </a:endParaRPr>
          </a:p>
        </p:txBody>
      </p:sp>
      <p:pic>
        <p:nvPicPr>
          <p:cNvPr id="467" name="Google Shape;467;g3bbe9322812_0_336"/>
          <p:cNvPicPr preferRelativeResize="0"/>
          <p:nvPr/>
        </p:nvPicPr>
        <p:blipFill rotWithShape="1">
          <a:blip r:embed="rId4">
            <a:alphaModFix/>
          </a:blip>
          <a:srcRect b="0" l="0" r="0" t="0"/>
          <a:stretch/>
        </p:blipFill>
        <p:spPr>
          <a:xfrm>
            <a:off x="181925" y="3922850"/>
            <a:ext cx="4206500" cy="1587505"/>
          </a:xfrm>
          <a:prstGeom prst="rect">
            <a:avLst/>
          </a:prstGeom>
          <a:noFill/>
          <a:ln>
            <a:noFill/>
          </a:ln>
        </p:spPr>
      </p:pic>
      <p:pic>
        <p:nvPicPr>
          <p:cNvPr id="468" name="Google Shape;468;g3bbe9322812_0_336"/>
          <p:cNvPicPr preferRelativeResize="0"/>
          <p:nvPr/>
        </p:nvPicPr>
        <p:blipFill rotWithShape="1">
          <a:blip r:embed="rId5">
            <a:alphaModFix/>
          </a:blip>
          <a:srcRect b="0" l="0" r="0" t="0"/>
          <a:stretch/>
        </p:blipFill>
        <p:spPr>
          <a:xfrm>
            <a:off x="4570425" y="3936625"/>
            <a:ext cx="3957801" cy="1638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2" name="Shape 472"/>
        <p:cNvGrpSpPr/>
        <p:nvPr/>
      </p:nvGrpSpPr>
      <p:grpSpPr>
        <a:xfrm>
          <a:off x="0" y="0"/>
          <a:ext cx="0" cy="0"/>
          <a:chOff x="0" y="0"/>
          <a:chExt cx="0" cy="0"/>
        </a:xfrm>
      </p:grpSpPr>
      <p:sp>
        <p:nvSpPr>
          <p:cNvPr id="473" name="Google Shape;473;g3bbe9322812_0_352"/>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74" name="Google Shape;474;g3bbe9322812_0_3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5" name="Google Shape;475;g3bbe9322812_0_352"/>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(Shearing Example)</a:t>
            </a:r>
            <a:endParaRPr b="0" i="0" sz="3600" u="none" cap="none" strike="noStrike">
              <a:solidFill>
                <a:schemeClr val="lt1"/>
              </a:solidFill>
              <a:latin typeface="Calibri"/>
              <a:ea typeface="Calibri"/>
              <a:cs typeface="Calibri"/>
              <a:sym typeface="Calibri"/>
            </a:endParaRPr>
          </a:p>
        </p:txBody>
      </p:sp>
      <p:pic>
        <p:nvPicPr>
          <p:cNvPr id="476" name="Google Shape;476;g3bbe9322812_0_3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477" name="Google Shape;477;g3bbe9322812_0_352"/>
          <p:cNvSpPr txBox="1"/>
          <p:nvPr/>
        </p:nvSpPr>
        <p:spPr>
          <a:xfrm>
            <a:off x="227325" y="1036900"/>
            <a:ext cx="8686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Given a triangle with points (1, 1), (0, 0) and (1, 0). Apply shear parameter 2 on the X axis and 2 on the Y axis and find out the new coordinates of the object.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3bbe9322812_0_352"/>
          <p:cNvSpPr txBox="1"/>
          <p:nvPr/>
        </p:nvSpPr>
        <p:spPr>
          <a:xfrm>
            <a:off x="327425" y="1573400"/>
            <a:ext cx="1500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980000"/>
                </a:solidFill>
                <a:latin typeface="Calibri"/>
                <a:ea typeface="Calibri"/>
                <a:cs typeface="Calibri"/>
                <a:sym typeface="Calibri"/>
              </a:rPr>
              <a:t>Solutions: </a:t>
            </a:r>
            <a:endParaRPr b="1" i="0" sz="1600" u="none" cap="none" strike="noStrike">
              <a:solidFill>
                <a:srgbClr val="980000"/>
              </a:solidFill>
              <a:latin typeface="Calibri"/>
              <a:ea typeface="Calibri"/>
              <a:cs typeface="Calibri"/>
              <a:sym typeface="Calibri"/>
            </a:endParaRPr>
          </a:p>
        </p:txBody>
      </p:sp>
      <p:sp>
        <p:nvSpPr>
          <p:cNvPr id="479" name="Google Shape;479;g3bbe9322812_0_352"/>
          <p:cNvSpPr txBox="1"/>
          <p:nvPr/>
        </p:nvSpPr>
        <p:spPr>
          <a:xfrm>
            <a:off x="327425" y="2082550"/>
            <a:ext cx="4511400" cy="1057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300"/>
              <a:buFont typeface="Arial"/>
              <a:buNone/>
            </a:pPr>
            <a:r>
              <a:rPr b="1" i="0" lang="en-US" sz="1300" u="sng" cap="none" strike="noStrike">
                <a:solidFill>
                  <a:srgbClr val="303030"/>
                </a:solidFill>
                <a:latin typeface="Arial"/>
                <a:ea typeface="Arial"/>
                <a:cs typeface="Arial"/>
                <a:sym typeface="Arial"/>
              </a:rPr>
              <a:t>For Coordinates C(1, 0)</a:t>
            </a:r>
            <a:endParaRPr b="0" i="0" sz="1150" u="none" cap="none" strike="noStrike">
              <a:solidFill>
                <a:srgbClr val="303030"/>
              </a:solidFill>
              <a:latin typeface="Arial"/>
              <a:ea typeface="Arial"/>
              <a:cs typeface="Arial"/>
              <a:sym typeface="Arial"/>
            </a:endParaRPr>
          </a:p>
          <a:p>
            <a:pPr indent="0" lvl="0" marL="0" marR="0" rtl="0" algn="l">
              <a:lnSpc>
                <a:spcPct val="115000"/>
              </a:lnSpc>
              <a:spcBef>
                <a:spcPts val="300"/>
              </a:spcBef>
              <a:spcAft>
                <a:spcPts val="0"/>
              </a:spcAft>
              <a:buClr>
                <a:srgbClr val="000000"/>
              </a:buClr>
              <a:buSzPts val="1150"/>
              <a:buFont typeface="Arial"/>
              <a:buNone/>
            </a:pPr>
            <a:r>
              <a:t/>
            </a:r>
            <a:endParaRPr b="0" i="0" sz="1150" u="none" cap="none" strike="noStrike">
              <a:solidFill>
                <a:srgbClr val="30303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bbe9322812_0_352"/>
          <p:cNvSpPr txBox="1"/>
          <p:nvPr/>
        </p:nvSpPr>
        <p:spPr>
          <a:xfrm>
            <a:off x="427275" y="4635725"/>
            <a:ext cx="7940400" cy="36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900"/>
              </a:spcAft>
              <a:buClr>
                <a:schemeClr val="dk1"/>
              </a:buClr>
              <a:buSzPts val="1100"/>
              <a:buFont typeface="Arial"/>
              <a:buNone/>
            </a:pPr>
            <a:r>
              <a:rPr b="0" i="0" lang="en-US" sz="1150" u="none" cap="none" strike="noStrike">
                <a:solidFill>
                  <a:srgbClr val="303030"/>
                </a:solidFill>
                <a:latin typeface="Arial"/>
                <a:ea typeface="Arial"/>
                <a:cs typeface="Arial"/>
                <a:sym typeface="Arial"/>
              </a:rPr>
              <a:t>Thus, New coordinates of the triangle after shearing in Y axis = A (1, 3), B(0, 0), C(1, 2).</a:t>
            </a:r>
            <a:endParaRPr b="0" i="0" sz="1400" u="none" cap="none" strike="noStrike">
              <a:solidFill>
                <a:srgbClr val="000000"/>
              </a:solidFill>
              <a:latin typeface="Arial"/>
              <a:ea typeface="Arial"/>
              <a:cs typeface="Arial"/>
              <a:sym typeface="Arial"/>
            </a:endParaRPr>
          </a:p>
        </p:txBody>
      </p:sp>
      <p:pic>
        <p:nvPicPr>
          <p:cNvPr id="481" name="Google Shape;481;g3bbe9322812_0_352"/>
          <p:cNvPicPr preferRelativeResize="0"/>
          <p:nvPr/>
        </p:nvPicPr>
        <p:blipFill rotWithShape="1">
          <a:blip r:embed="rId4">
            <a:alphaModFix/>
          </a:blip>
          <a:srcRect b="0" l="0" r="0" t="0"/>
          <a:stretch/>
        </p:blipFill>
        <p:spPr>
          <a:xfrm>
            <a:off x="427263" y="2740175"/>
            <a:ext cx="4411574" cy="1750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5" name="Shape 485"/>
        <p:cNvGrpSpPr/>
        <p:nvPr/>
      </p:nvGrpSpPr>
      <p:grpSpPr>
        <a:xfrm>
          <a:off x="0" y="0"/>
          <a:ext cx="0" cy="0"/>
          <a:chOff x="0" y="0"/>
          <a:chExt cx="0" cy="0"/>
        </a:xfrm>
      </p:grpSpPr>
      <p:sp>
        <p:nvSpPr>
          <p:cNvPr id="486" name="Google Shape;486;g3bbe9322812_0_365"/>
          <p:cNvSpPr txBox="1"/>
          <p:nvPr/>
        </p:nvSpPr>
        <p:spPr>
          <a:xfrm>
            <a:off x="3027375" y="64929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487" name="Google Shape;487;g3bbe9322812_0_36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8" name="Google Shape;488;g3bbe9322812_0_365"/>
          <p:cNvSpPr txBox="1"/>
          <p:nvPr/>
        </p:nvSpPr>
        <p:spPr>
          <a:xfrm>
            <a:off x="363825" y="168125"/>
            <a:ext cx="7789500" cy="7389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2D Transformations (Shearing Example)</a:t>
            </a:r>
            <a:endParaRPr b="0" i="0" sz="3600" u="none" cap="none" strike="noStrike">
              <a:solidFill>
                <a:schemeClr val="lt1"/>
              </a:solidFill>
              <a:latin typeface="Calibri"/>
              <a:ea typeface="Calibri"/>
              <a:cs typeface="Calibri"/>
              <a:sym typeface="Calibri"/>
            </a:endParaRPr>
          </a:p>
        </p:txBody>
      </p:sp>
      <p:pic>
        <p:nvPicPr>
          <p:cNvPr id="489" name="Google Shape;489;g3bbe9322812_0_36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pic>
        <p:nvPicPr>
          <p:cNvPr descr="Shearing in Computer Graphics | Problem-01 | Solution" id="490" name="Google Shape;490;g3bbe9322812_0_365"/>
          <p:cNvPicPr preferRelativeResize="0"/>
          <p:nvPr/>
        </p:nvPicPr>
        <p:blipFill rotWithShape="1">
          <a:blip r:embed="rId4">
            <a:alphaModFix/>
          </a:blip>
          <a:srcRect b="0" l="0" r="0" t="0"/>
          <a:stretch/>
        </p:blipFill>
        <p:spPr>
          <a:xfrm>
            <a:off x="1117475" y="1400700"/>
            <a:ext cx="6643700" cy="4297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497" name="Google Shape;497;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498" name="Google Shape;498;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499" name="Google Shape;499;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500" name="Google Shape;500;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7"/>
                                        </p:tgtEl>
                                        <p:attrNameLst>
                                          <p:attrName>style.visibility</p:attrName>
                                        </p:attrNameLst>
                                      </p:cBhvr>
                                      <p:to>
                                        <p:strVal val="visible"/>
                                      </p:to>
                                    </p:set>
                                    <p:anim calcmode="lin" valueType="num">
                                      <p:cBhvr additive="base">
                                        <p:cTn dur="1000"/>
                                        <p:tgtEl>
                                          <p:spTgt spid="497"/>
                                        </p:tgtEl>
                                        <p:attrNameLst>
                                          <p:attrName>ppt_w</p:attrName>
                                        </p:attrNameLst>
                                      </p:cBhvr>
                                      <p:tavLst>
                                        <p:tav fmla="" tm="0">
                                          <p:val>
                                            <p:strVal val="0"/>
                                          </p:val>
                                        </p:tav>
                                        <p:tav fmla="" tm="100000">
                                          <p:val>
                                            <p:strVal val="#ppt_w"/>
                                          </p:val>
                                        </p:tav>
                                      </p:tavLst>
                                    </p:anim>
                                    <p:anim calcmode="lin" valueType="num">
                                      <p:cBhvr additive="base">
                                        <p:cTn dur="1000"/>
                                        <p:tgtEl>
                                          <p:spTgt spid="49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