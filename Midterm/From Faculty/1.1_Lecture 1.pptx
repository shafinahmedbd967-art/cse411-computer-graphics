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9144000"/>
  <p:notesSz cx="9296400" cy="7010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8" roundtripDataSignature="AMtx7mhj+GmbMz0M7jtvGv1DAVPm0lFO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89BE8B7-4E6D-4B39-AF4F-004337BFB8A8}">
  <a:tblStyle styleId="{289BE8B7-4E6D-4B39-AF4F-004337BFB8A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customschemas.google.com/relationships/presentationmetadata" Target="meta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92d2eb36f_0_0:notes"/>
          <p:cNvSpPr/>
          <p:nvPr>
            <p:ph idx="2" type="sldImg"/>
          </p:nvPr>
        </p:nvSpPr>
        <p:spPr>
          <a:xfrm>
            <a:off x="3061907" y="525409"/>
            <a:ext cx="3172800" cy="2628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 name="Google Shape;58;g3e92d2eb36f_0_0:notes"/>
          <p:cNvSpPr txBox="1"/>
          <p:nvPr>
            <p:ph idx="1" type="body"/>
          </p:nvPr>
        </p:nvSpPr>
        <p:spPr>
          <a:xfrm>
            <a:off x="930389" y="3329243"/>
            <a:ext cx="7437000" cy="315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9" name="Google Shape;59;g3e92d2eb36f_0_0:notes"/>
          <p:cNvSpPr txBox="1"/>
          <p:nvPr/>
        </p:nvSpPr>
        <p:spPr>
          <a:xfrm>
            <a:off x="5265224" y="6658488"/>
            <a:ext cx="4029900" cy="3504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 name="Google Shape;69;p2:notes"/>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3:notes"/>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92d2eb36f_0_243:notes"/>
          <p:cNvSpPr txBox="1"/>
          <p:nvPr>
            <p:ph idx="1" type="body"/>
          </p:nvPr>
        </p:nvSpPr>
        <p:spPr>
          <a:xfrm>
            <a:off x="929625" y="3329925"/>
            <a:ext cx="7437000" cy="315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g3e92d2eb36f_0_243: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4:notes"/>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92d2eb36f_0_250:notes"/>
          <p:cNvSpPr txBox="1"/>
          <p:nvPr>
            <p:ph idx="1" type="body"/>
          </p:nvPr>
        </p:nvSpPr>
        <p:spPr>
          <a:xfrm>
            <a:off x="929625" y="3329925"/>
            <a:ext cx="7437000" cy="315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g3e92d2eb36f_0_250: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5:notes"/>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92d2eb36f_0_257:notes"/>
          <p:cNvSpPr txBox="1"/>
          <p:nvPr>
            <p:ph idx="1" type="body"/>
          </p:nvPr>
        </p:nvSpPr>
        <p:spPr>
          <a:xfrm>
            <a:off x="929625" y="3329925"/>
            <a:ext cx="7437000" cy="315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g3e92d2eb36f_0_257: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6:notes"/>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92d2eb36f_0_264:notes"/>
          <p:cNvSpPr txBox="1"/>
          <p:nvPr>
            <p:ph idx="1" type="body"/>
          </p:nvPr>
        </p:nvSpPr>
        <p:spPr>
          <a:xfrm>
            <a:off x="929625" y="3329925"/>
            <a:ext cx="7437000" cy="315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g3e92d2eb36f_0_264: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7:notes"/>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92d2eb36f_0_272:notes"/>
          <p:cNvSpPr txBox="1"/>
          <p:nvPr>
            <p:ph idx="1" type="body"/>
          </p:nvPr>
        </p:nvSpPr>
        <p:spPr>
          <a:xfrm>
            <a:off x="929625" y="3329925"/>
            <a:ext cx="7437000" cy="315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e92d2eb36f_0_272: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8:notes"/>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92d2eb36f_0_279:notes"/>
          <p:cNvSpPr txBox="1"/>
          <p:nvPr>
            <p:ph idx="1" type="body"/>
          </p:nvPr>
        </p:nvSpPr>
        <p:spPr>
          <a:xfrm>
            <a:off x="929625" y="3329925"/>
            <a:ext cx="7437000" cy="315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e92d2eb36f_0_279: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9:notes"/>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955f72aec_0_9: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955f72aec_0_9:notes"/>
          <p:cNvSpPr txBox="1"/>
          <p:nvPr>
            <p:ph idx="1" type="body"/>
          </p:nvPr>
        </p:nvSpPr>
        <p:spPr>
          <a:xfrm>
            <a:off x="929625" y="3329925"/>
            <a:ext cx="7437000" cy="31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955f72aec_0_2: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955f72aec_0_2:notes"/>
          <p:cNvSpPr txBox="1"/>
          <p:nvPr>
            <p:ph idx="1" type="body"/>
          </p:nvPr>
        </p:nvSpPr>
        <p:spPr>
          <a:xfrm>
            <a:off x="929625" y="3329925"/>
            <a:ext cx="7437000" cy="31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92d2eb36f_0_286:notes"/>
          <p:cNvSpPr txBox="1"/>
          <p:nvPr>
            <p:ph idx="1" type="body"/>
          </p:nvPr>
        </p:nvSpPr>
        <p:spPr>
          <a:xfrm>
            <a:off x="929625" y="3329925"/>
            <a:ext cx="7437000" cy="315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3e92d2eb36f_0_286: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txBox="1"/>
          <p:nvPr>
            <p:ph idx="1" type="body"/>
          </p:nvPr>
        </p:nvSpPr>
        <p:spPr>
          <a:xfrm>
            <a:off x="929625" y="3329925"/>
            <a:ext cx="74371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10:notes"/>
          <p:cNvSpPr/>
          <p:nvPr>
            <p:ph idx="2" type="sldImg"/>
          </p:nvPr>
        </p:nvSpPr>
        <p:spPr>
          <a:xfrm>
            <a:off x="1549700" y="525775"/>
            <a:ext cx="61979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92d2eb36f_0_293:notes"/>
          <p:cNvSpPr txBox="1"/>
          <p:nvPr>
            <p:ph idx="1" type="body"/>
          </p:nvPr>
        </p:nvSpPr>
        <p:spPr>
          <a:xfrm>
            <a:off x="929625" y="3329925"/>
            <a:ext cx="7437000" cy="315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g3e92d2eb36f_0_293: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92d2eb36f_0_162:notes"/>
          <p:cNvSpPr txBox="1"/>
          <p:nvPr>
            <p:ph idx="1" type="body"/>
          </p:nvPr>
        </p:nvSpPr>
        <p:spPr>
          <a:xfrm>
            <a:off x="930389" y="3329243"/>
            <a:ext cx="7437000" cy="315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e92d2eb36f_0_162:notes"/>
          <p:cNvSpPr/>
          <p:nvPr>
            <p:ph idx="2" type="sldImg"/>
          </p:nvPr>
        </p:nvSpPr>
        <p:spPr>
          <a:xfrm>
            <a:off x="3061907" y="525409"/>
            <a:ext cx="3172800" cy="2628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e92d2eb36f_0_90"/>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g3e92d2eb36f_0_90"/>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g3e92d2eb36f_0_9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g3e92d2eb36f_0_131"/>
          <p:cNvSpPr txBox="1"/>
          <p:nvPr>
            <p:ph type="title"/>
          </p:nvPr>
        </p:nvSpPr>
        <p:spPr>
          <a:xfrm>
            <a:off x="301625" y="228600"/>
            <a:ext cx="8534400" cy="7587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2800"/>
              <a:buNone/>
              <a:defRPr>
                <a:solidFill>
                  <a:srgbClr val="AB2728"/>
                </a:solidFill>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5" name="Google Shape;15;g3e92d2eb36f_0_131"/>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Autofit/>
          </a:bodyPr>
          <a:lstStyle>
            <a:lvl1pPr indent="-325755" lvl="0" marL="457200" algn="l">
              <a:lnSpc>
                <a:spcPct val="115000"/>
              </a:lnSpc>
              <a:spcBef>
                <a:spcPts val="360"/>
              </a:spcBef>
              <a:spcAft>
                <a:spcPts val="0"/>
              </a:spcAft>
              <a:buSzPts val="1530"/>
              <a:buChar char="●"/>
              <a:defRPr/>
            </a:lvl1pPr>
            <a:lvl2pPr indent="-308610" lvl="1" marL="914400" algn="l">
              <a:lnSpc>
                <a:spcPct val="115000"/>
              </a:lnSpc>
              <a:spcBef>
                <a:spcPts val="360"/>
              </a:spcBef>
              <a:spcAft>
                <a:spcPts val="0"/>
              </a:spcAft>
              <a:buSzPts val="1260"/>
              <a:buChar char="○"/>
              <a:defRPr/>
            </a:lvl2pPr>
            <a:lvl3pPr indent="-314325" lvl="2" marL="1371600" algn="l">
              <a:lnSpc>
                <a:spcPct val="115000"/>
              </a:lnSpc>
              <a:spcBef>
                <a:spcPts val="360"/>
              </a:spcBef>
              <a:spcAft>
                <a:spcPts val="0"/>
              </a:spcAft>
              <a:buSzPts val="1350"/>
              <a:buChar char="■"/>
              <a:defRPr/>
            </a:lvl3pPr>
            <a:lvl4pPr indent="-308610" lvl="3" marL="1828800" algn="l">
              <a:lnSpc>
                <a:spcPct val="115000"/>
              </a:lnSpc>
              <a:spcBef>
                <a:spcPts val="360"/>
              </a:spcBef>
              <a:spcAft>
                <a:spcPts val="0"/>
              </a:spcAft>
              <a:buSzPts val="1260"/>
              <a:buChar char="●"/>
              <a:defRPr/>
            </a:lvl4pPr>
            <a:lvl5pPr indent="-342900" lvl="4" marL="2286000" algn="l">
              <a:lnSpc>
                <a:spcPct val="115000"/>
              </a:lnSpc>
              <a:spcBef>
                <a:spcPts val="360"/>
              </a:spcBef>
              <a:spcAft>
                <a:spcPts val="0"/>
              </a:spcAft>
              <a:buSzPts val="1800"/>
              <a:buChar char="○"/>
              <a:defRPr/>
            </a:lvl5pPr>
            <a:lvl6pPr indent="-320040" lvl="5" marL="2743200" algn="l">
              <a:lnSpc>
                <a:spcPct val="115000"/>
              </a:lnSpc>
              <a:spcBef>
                <a:spcPts val="360"/>
              </a:spcBef>
              <a:spcAft>
                <a:spcPts val="0"/>
              </a:spcAft>
              <a:buSzPts val="1440"/>
              <a:buChar char="■"/>
              <a:defRPr/>
            </a:lvl6pPr>
            <a:lvl7pPr indent="-331470" lvl="6" marL="3200400" algn="l">
              <a:lnSpc>
                <a:spcPct val="115000"/>
              </a:lnSpc>
              <a:spcBef>
                <a:spcPts val="1200"/>
              </a:spcBef>
              <a:spcAft>
                <a:spcPts val="0"/>
              </a:spcAft>
              <a:buSzPts val="1620"/>
              <a:buChar char="●"/>
              <a:defRPr/>
            </a:lvl7pPr>
            <a:lvl8pPr indent="-342900" lvl="7" marL="3657600" algn="l">
              <a:lnSpc>
                <a:spcPct val="115000"/>
              </a:lnSpc>
              <a:spcBef>
                <a:spcPts val="1200"/>
              </a:spcBef>
              <a:spcAft>
                <a:spcPts val="0"/>
              </a:spcAft>
              <a:buSzPts val="1800"/>
              <a:buChar char="○"/>
              <a:defRPr/>
            </a:lvl8pPr>
            <a:lvl9pPr indent="-331470" lvl="8" marL="4114800" algn="l">
              <a:lnSpc>
                <a:spcPct val="115000"/>
              </a:lnSpc>
              <a:spcBef>
                <a:spcPts val="1200"/>
              </a:spcBef>
              <a:spcAft>
                <a:spcPts val="1200"/>
              </a:spcAft>
              <a:buSzPts val="1620"/>
              <a:buChar char="■"/>
              <a:defRPr/>
            </a:lvl9pPr>
          </a:lstStyle>
          <a:p/>
        </p:txBody>
      </p:sp>
      <p:sp>
        <p:nvSpPr>
          <p:cNvPr id="16" name="Google Shape;16;g3e92d2eb36f_0_131"/>
          <p:cNvSpPr txBox="1"/>
          <p:nvPr>
            <p:ph idx="10" type="dt"/>
          </p:nvPr>
        </p:nvSpPr>
        <p:spPr>
          <a:xfrm>
            <a:off x="5791200" y="6405562"/>
            <a:ext cx="3044700" cy="3651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7" name="Google Shape;17;g3e92d2eb36f_0_131"/>
          <p:cNvSpPr txBox="1"/>
          <p:nvPr>
            <p:ph idx="11" type="ftr"/>
          </p:nvPr>
        </p:nvSpPr>
        <p:spPr>
          <a:xfrm>
            <a:off x="304800" y="6410325"/>
            <a:ext cx="3581400" cy="3666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 name="Google Shape;18;g3e92d2eb36f_0_131"/>
          <p:cNvSpPr txBox="1"/>
          <p:nvPr>
            <p:ph idx="12" type="sldNum"/>
          </p:nvPr>
        </p:nvSpPr>
        <p:spPr>
          <a:xfrm>
            <a:off x="4362450" y="1027112"/>
            <a:ext cx="457200" cy="441300"/>
          </a:xfrm>
          <a:prstGeom prst="rect">
            <a:avLst/>
          </a:prstGeom>
          <a:noFill/>
          <a:ln>
            <a:noFill/>
          </a:ln>
        </p:spPr>
        <p:txBody>
          <a:bodyPr anchorCtr="0" anchor="ctr" bIns="45700" lIns="45700" spcFirstLastPara="1" rIns="45700" wrap="square" tIns="45700">
            <a:normAutofit/>
          </a:bodyPr>
          <a:lstStyle>
            <a:lvl1pPr indent="0" lvl="0" marL="0" marR="0" algn="ctr">
              <a:lnSpc>
                <a:spcPct val="100000"/>
              </a:lnSpc>
              <a:spcBef>
                <a:spcPts val="0"/>
              </a:spcBef>
              <a:spcAft>
                <a:spcPts val="0"/>
              </a:spcAft>
              <a:buClr>
                <a:srgbClr val="AB2627"/>
              </a:buClr>
              <a:buSzPts val="1600"/>
              <a:buFont typeface="Georgia"/>
              <a:buNone/>
              <a:defRPr b="0" i="0" sz="1600" u="none" cap="none" strike="noStrike">
                <a:solidFill>
                  <a:srgbClr val="AB2627"/>
                </a:solidFill>
                <a:latin typeface="Georgia"/>
                <a:ea typeface="Georgia"/>
                <a:cs typeface="Georgia"/>
                <a:sym typeface="Georgia"/>
              </a:defRPr>
            </a:lvl1pPr>
            <a:lvl2pPr indent="0" lvl="1" marL="0" marR="0" algn="ctr">
              <a:lnSpc>
                <a:spcPct val="100000"/>
              </a:lnSpc>
              <a:spcBef>
                <a:spcPts val="0"/>
              </a:spcBef>
              <a:spcAft>
                <a:spcPts val="0"/>
              </a:spcAft>
              <a:buClr>
                <a:srgbClr val="AB2627"/>
              </a:buClr>
              <a:buSzPts val="1600"/>
              <a:buFont typeface="Georgia"/>
              <a:buNone/>
              <a:defRPr b="0" i="0" sz="1600" u="none" cap="none" strike="noStrike">
                <a:solidFill>
                  <a:srgbClr val="AB2627"/>
                </a:solidFill>
                <a:latin typeface="Georgia"/>
                <a:ea typeface="Georgia"/>
                <a:cs typeface="Georgia"/>
                <a:sym typeface="Georgia"/>
              </a:defRPr>
            </a:lvl2pPr>
            <a:lvl3pPr indent="0" lvl="2" marL="0" marR="0" algn="ctr">
              <a:lnSpc>
                <a:spcPct val="100000"/>
              </a:lnSpc>
              <a:spcBef>
                <a:spcPts val="0"/>
              </a:spcBef>
              <a:spcAft>
                <a:spcPts val="0"/>
              </a:spcAft>
              <a:buClr>
                <a:srgbClr val="AB2627"/>
              </a:buClr>
              <a:buSzPts val="1600"/>
              <a:buFont typeface="Georgia"/>
              <a:buNone/>
              <a:defRPr b="0" i="0" sz="1600" u="none" cap="none" strike="noStrike">
                <a:solidFill>
                  <a:srgbClr val="AB2627"/>
                </a:solidFill>
                <a:latin typeface="Georgia"/>
                <a:ea typeface="Georgia"/>
                <a:cs typeface="Georgia"/>
                <a:sym typeface="Georgia"/>
              </a:defRPr>
            </a:lvl3pPr>
            <a:lvl4pPr indent="0" lvl="3" marL="0" marR="0" algn="ctr">
              <a:lnSpc>
                <a:spcPct val="100000"/>
              </a:lnSpc>
              <a:spcBef>
                <a:spcPts val="0"/>
              </a:spcBef>
              <a:spcAft>
                <a:spcPts val="0"/>
              </a:spcAft>
              <a:buClr>
                <a:srgbClr val="AB2627"/>
              </a:buClr>
              <a:buSzPts val="1600"/>
              <a:buFont typeface="Georgia"/>
              <a:buNone/>
              <a:defRPr b="0" i="0" sz="1600" u="none" cap="none" strike="noStrike">
                <a:solidFill>
                  <a:srgbClr val="AB2627"/>
                </a:solidFill>
                <a:latin typeface="Georgia"/>
                <a:ea typeface="Georgia"/>
                <a:cs typeface="Georgia"/>
                <a:sym typeface="Georgia"/>
              </a:defRPr>
            </a:lvl4pPr>
            <a:lvl5pPr indent="0" lvl="4" marL="0" marR="0" algn="ctr">
              <a:lnSpc>
                <a:spcPct val="100000"/>
              </a:lnSpc>
              <a:spcBef>
                <a:spcPts val="0"/>
              </a:spcBef>
              <a:spcAft>
                <a:spcPts val="0"/>
              </a:spcAft>
              <a:buClr>
                <a:srgbClr val="AB2627"/>
              </a:buClr>
              <a:buSzPts val="1600"/>
              <a:buFont typeface="Georgia"/>
              <a:buNone/>
              <a:defRPr b="0" i="0" sz="1600" u="none" cap="none" strike="noStrike">
                <a:solidFill>
                  <a:srgbClr val="AB2627"/>
                </a:solidFill>
                <a:latin typeface="Georgia"/>
                <a:ea typeface="Georgia"/>
                <a:cs typeface="Georgia"/>
                <a:sym typeface="Georgia"/>
              </a:defRPr>
            </a:lvl5pPr>
            <a:lvl6pPr indent="0" lvl="5" marL="0" marR="0" algn="ctr">
              <a:lnSpc>
                <a:spcPct val="100000"/>
              </a:lnSpc>
              <a:spcBef>
                <a:spcPts val="0"/>
              </a:spcBef>
              <a:spcAft>
                <a:spcPts val="0"/>
              </a:spcAft>
              <a:buClr>
                <a:srgbClr val="AB2627"/>
              </a:buClr>
              <a:buSzPts val="1600"/>
              <a:buFont typeface="Georgia"/>
              <a:buNone/>
              <a:defRPr b="0" i="0" sz="1600" u="none" cap="none" strike="noStrike">
                <a:solidFill>
                  <a:srgbClr val="AB2627"/>
                </a:solidFill>
                <a:latin typeface="Georgia"/>
                <a:ea typeface="Georgia"/>
                <a:cs typeface="Georgia"/>
                <a:sym typeface="Georgia"/>
              </a:defRPr>
            </a:lvl6pPr>
            <a:lvl7pPr indent="0" lvl="6" marL="0" marR="0" algn="ctr">
              <a:lnSpc>
                <a:spcPct val="100000"/>
              </a:lnSpc>
              <a:spcBef>
                <a:spcPts val="0"/>
              </a:spcBef>
              <a:spcAft>
                <a:spcPts val="0"/>
              </a:spcAft>
              <a:buClr>
                <a:srgbClr val="AB2627"/>
              </a:buClr>
              <a:buSzPts val="1600"/>
              <a:buFont typeface="Georgia"/>
              <a:buNone/>
              <a:defRPr b="0" i="0" sz="1600" u="none" cap="none" strike="noStrike">
                <a:solidFill>
                  <a:srgbClr val="AB2627"/>
                </a:solidFill>
                <a:latin typeface="Georgia"/>
                <a:ea typeface="Georgia"/>
                <a:cs typeface="Georgia"/>
                <a:sym typeface="Georgia"/>
              </a:defRPr>
            </a:lvl7pPr>
            <a:lvl8pPr indent="0" lvl="7" marL="0" marR="0" algn="ctr">
              <a:lnSpc>
                <a:spcPct val="100000"/>
              </a:lnSpc>
              <a:spcBef>
                <a:spcPts val="0"/>
              </a:spcBef>
              <a:spcAft>
                <a:spcPts val="0"/>
              </a:spcAft>
              <a:buClr>
                <a:srgbClr val="AB2627"/>
              </a:buClr>
              <a:buSzPts val="1600"/>
              <a:buFont typeface="Georgia"/>
              <a:buNone/>
              <a:defRPr b="0" i="0" sz="1600" u="none" cap="none" strike="noStrike">
                <a:solidFill>
                  <a:srgbClr val="AB2627"/>
                </a:solidFill>
                <a:latin typeface="Georgia"/>
                <a:ea typeface="Georgia"/>
                <a:cs typeface="Georgia"/>
                <a:sym typeface="Georgia"/>
              </a:defRPr>
            </a:lvl8pPr>
            <a:lvl9pPr indent="0" lvl="8" marL="0" marR="0" algn="ctr">
              <a:lnSpc>
                <a:spcPct val="100000"/>
              </a:lnSpc>
              <a:spcBef>
                <a:spcPts val="0"/>
              </a:spcBef>
              <a:spcAft>
                <a:spcPts val="0"/>
              </a:spcAft>
              <a:buClr>
                <a:srgbClr val="AB2627"/>
              </a:buClr>
              <a:buSzPts val="1600"/>
              <a:buFont typeface="Georgia"/>
              <a:buNone/>
              <a:defRPr b="0" i="0" sz="1600" u="none" cap="none" strike="noStrike">
                <a:solidFill>
                  <a:srgbClr val="AB2627"/>
                </a:solidFill>
                <a:latin typeface="Georgia"/>
                <a:ea typeface="Georgia"/>
                <a:cs typeface="Georgia"/>
                <a:sym typeface="Georgia"/>
              </a:defRPr>
            </a:lvl9pPr>
          </a:lstStyle>
          <a:p>
            <a:pPr indent="0" lvl="0" marL="0" rtl="0" algn="ct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g3e92d2eb36f_0_94"/>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g3e92d2eb36f_0_9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g3e92d2eb36f_0_9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g3e92d2eb36f_0_97"/>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g3e92d2eb36f_0_9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g3e92d2eb36f_0_10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g3e92d2eb36f_0_101"/>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g3e92d2eb36f_0_101"/>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g3e92d2eb36f_0_10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g3e92d2eb36f_0_10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g3e92d2eb36f_0_10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g3e92d2eb36f_0_109"/>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g3e92d2eb36f_0_109"/>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g3e92d2eb36f_0_10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g3e92d2eb36f_0_113"/>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g3e92d2eb36f_0_1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g3e92d2eb36f_0_116"/>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g3e92d2eb36f_0_116"/>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g3e92d2eb36f_0_116"/>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g3e92d2eb36f_0_116"/>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g3e92d2eb36f_0_11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g3e92d2eb36f_0_122"/>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9" name="Google Shape;49;g3e92d2eb36f_0_1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g3e92d2eb36f_0_125"/>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g3e92d2eb36f_0_125"/>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3" name="Google Shape;53;g3e92d2eb36f_0_12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g3e92d2eb36f_0_12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e92d2eb36f_0_8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3e92d2eb36f_0_8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3e92d2eb36f_0_8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3e92d2eb36f_0_0"/>
          <p:cNvSpPr txBox="1"/>
          <p:nvPr>
            <p:ph type="ctrTitle"/>
          </p:nvPr>
        </p:nvSpPr>
        <p:spPr>
          <a:xfrm>
            <a:off x="990600" y="1162468"/>
            <a:ext cx="6858000" cy="11061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100"/>
              <a:buFont typeface="Calibri"/>
              <a:buNone/>
            </a:pPr>
            <a:r>
              <a:rPr b="1" lang="en-US" sz="3000">
                <a:latin typeface="Cambria"/>
                <a:ea typeface="Cambria"/>
                <a:cs typeface="Cambria"/>
                <a:sym typeface="Cambria"/>
              </a:rPr>
              <a:t>Lecture 1</a:t>
            </a:r>
            <a:endParaRPr b="1" sz="3000">
              <a:latin typeface="Cambria"/>
              <a:ea typeface="Cambria"/>
              <a:cs typeface="Cambria"/>
              <a:sym typeface="Cambria"/>
            </a:endParaRPr>
          </a:p>
          <a:p>
            <a:pPr indent="0" lvl="0" marL="0" rtl="0" algn="ctr">
              <a:lnSpc>
                <a:spcPct val="90000"/>
              </a:lnSpc>
              <a:spcBef>
                <a:spcPts val="0"/>
              </a:spcBef>
              <a:spcAft>
                <a:spcPts val="0"/>
              </a:spcAft>
              <a:buClr>
                <a:schemeClr val="dk1"/>
              </a:buClr>
              <a:buSzPts val="4100"/>
              <a:buFont typeface="Calibri"/>
              <a:buNone/>
            </a:pPr>
            <a:r>
              <a:rPr b="1" i="0" lang="en-US" sz="3000" u="none">
                <a:solidFill>
                  <a:schemeClr val="dk1"/>
                </a:solidFill>
                <a:latin typeface="Cambria"/>
                <a:ea typeface="Cambria"/>
                <a:cs typeface="Cambria"/>
                <a:sym typeface="Cambria"/>
              </a:rPr>
              <a:t>Introduction </a:t>
            </a:r>
            <a:r>
              <a:rPr b="1" lang="en-US" sz="3000">
                <a:latin typeface="Cambria"/>
                <a:ea typeface="Cambria"/>
                <a:cs typeface="Cambria"/>
                <a:sym typeface="Cambria"/>
              </a:rPr>
              <a:t>to </a:t>
            </a:r>
            <a:r>
              <a:rPr b="1" i="0" lang="en-US" sz="3000" u="none">
                <a:solidFill>
                  <a:schemeClr val="dk1"/>
                </a:solidFill>
                <a:latin typeface="Cambria"/>
                <a:ea typeface="Cambria"/>
                <a:cs typeface="Cambria"/>
                <a:sym typeface="Cambria"/>
              </a:rPr>
              <a:t>Computer Graphics</a:t>
            </a:r>
            <a:endParaRPr sz="3000"/>
          </a:p>
        </p:txBody>
      </p:sp>
      <p:sp>
        <p:nvSpPr>
          <p:cNvPr descr="Diu Logo PNG Images - CleanPNG" id="62" name="Google Shape;62;g3e92d2eb36f_0_0"/>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63" name="Google Shape;63;g3e92d2eb36f_0_0"/>
          <p:cNvPicPr preferRelativeResize="0"/>
          <p:nvPr/>
        </p:nvPicPr>
        <p:blipFill rotWithShape="1">
          <a:blip r:embed="rId3">
            <a:alphaModFix/>
          </a:blip>
          <a:srcRect b="0" l="0" r="0" t="0"/>
          <a:stretch/>
        </p:blipFill>
        <p:spPr>
          <a:xfrm>
            <a:off x="3733800" y="381000"/>
            <a:ext cx="1371600" cy="685800"/>
          </a:xfrm>
          <a:prstGeom prst="rect">
            <a:avLst/>
          </a:prstGeom>
          <a:noFill/>
          <a:ln>
            <a:noFill/>
          </a:ln>
        </p:spPr>
      </p:pic>
      <p:sp>
        <p:nvSpPr>
          <p:cNvPr id="64" name="Google Shape;64;g3e92d2eb36f_0_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pic>
        <p:nvPicPr>
          <p:cNvPr id="65" name="Google Shape;65;g3e92d2eb36f_0_0"/>
          <p:cNvPicPr preferRelativeResize="0"/>
          <p:nvPr/>
        </p:nvPicPr>
        <p:blipFill rotWithShape="1">
          <a:blip r:embed="rId4">
            <a:alphaModFix/>
          </a:blip>
          <a:srcRect b="0" l="0" r="0" t="0"/>
          <a:stretch/>
        </p:blipFill>
        <p:spPr>
          <a:xfrm>
            <a:off x="3534641" y="2465844"/>
            <a:ext cx="1933575" cy="1933575"/>
          </a:xfrm>
          <a:prstGeom prst="rect">
            <a:avLst/>
          </a:prstGeom>
          <a:noFill/>
          <a:ln>
            <a:noFill/>
          </a:ln>
        </p:spPr>
      </p:pic>
      <p:graphicFrame>
        <p:nvGraphicFramePr>
          <p:cNvPr id="66" name="Google Shape;66;g3e92d2eb36f_0_0"/>
          <p:cNvGraphicFramePr/>
          <p:nvPr/>
        </p:nvGraphicFramePr>
        <p:xfrm>
          <a:off x="1468112" y="4682283"/>
          <a:ext cx="3000000" cy="3000000"/>
        </p:xfrm>
        <a:graphic>
          <a:graphicData uri="http://schemas.openxmlformats.org/drawingml/2006/table">
            <a:tbl>
              <a:tblPr>
                <a:noFill/>
                <a:tableStyleId>{289BE8B7-4E6D-4B39-AF4F-004337BFB8A8}</a:tableStyleId>
              </a:tblPr>
              <a:tblGrid>
                <a:gridCol w="3922050"/>
                <a:gridCol w="2801400"/>
              </a:tblGrid>
              <a:tr h="381000">
                <a:tc>
                  <a:txBody>
                    <a:bodyPr/>
                    <a:lstStyle/>
                    <a:p>
                      <a:pPr indent="0" lvl="0" marL="0" rtl="0" algn="l">
                        <a:lnSpc>
                          <a:spcPct val="90000"/>
                        </a:lnSpc>
                        <a:spcBef>
                          <a:spcPts val="700"/>
                        </a:spcBef>
                        <a:spcAft>
                          <a:spcPts val="0"/>
                        </a:spcAft>
                        <a:buNone/>
                      </a:pPr>
                      <a:r>
                        <a:rPr b="1" lang="en-US" sz="1700">
                          <a:solidFill>
                            <a:srgbClr val="000000"/>
                          </a:solidFill>
                          <a:latin typeface="Cambria"/>
                          <a:ea typeface="Cambria"/>
                          <a:cs typeface="Cambria"/>
                          <a:sym typeface="Cambria"/>
                        </a:rPr>
                        <a:t>Prepared by</a:t>
                      </a:r>
                      <a:endParaRPr b="1"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None/>
                      </a:pPr>
                      <a:r>
                        <a:rPr lang="en-US" sz="1700">
                          <a:solidFill>
                            <a:srgbClr val="000000"/>
                          </a:solidFill>
                          <a:latin typeface="Cambria"/>
                          <a:ea typeface="Cambria"/>
                          <a:cs typeface="Cambria"/>
                          <a:sym typeface="Cambria"/>
                        </a:rPr>
                        <a:t>Tapasy Rabeya</a:t>
                      </a:r>
                      <a:endParaRPr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None/>
                      </a:pPr>
                      <a:r>
                        <a:rPr lang="en-US" sz="1700">
                          <a:solidFill>
                            <a:srgbClr val="000000"/>
                          </a:solidFill>
                          <a:latin typeface="Cambria"/>
                          <a:ea typeface="Cambria"/>
                          <a:cs typeface="Cambria"/>
                          <a:sym typeface="Cambria"/>
                        </a:rPr>
                        <a:t>Senior Lecturer</a:t>
                      </a:r>
                      <a:endParaRPr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None/>
                      </a:pPr>
                      <a:r>
                        <a:rPr lang="en-US" sz="1700">
                          <a:solidFill>
                            <a:srgbClr val="000000"/>
                          </a:solidFill>
                          <a:latin typeface="Cambria"/>
                          <a:ea typeface="Cambria"/>
                          <a:cs typeface="Cambria"/>
                          <a:sym typeface="Cambria"/>
                        </a:rPr>
                        <a:t>CSE, DIU</a:t>
                      </a:r>
                      <a:endParaRPr sz="1700">
                        <a:solidFill>
                          <a:srgbClr val="000000"/>
                        </a:solidFill>
                        <a:latin typeface="Cambria"/>
                        <a:ea typeface="Cambria"/>
                        <a:cs typeface="Cambria"/>
                        <a:sym typeface="Cambri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90000"/>
                        </a:lnSpc>
                        <a:spcBef>
                          <a:spcPts val="700"/>
                        </a:spcBef>
                        <a:spcAft>
                          <a:spcPts val="0"/>
                        </a:spcAft>
                        <a:buNone/>
                      </a:pPr>
                      <a:r>
                        <a:rPr b="1" lang="en-US" sz="1700">
                          <a:solidFill>
                            <a:srgbClr val="000000"/>
                          </a:solidFill>
                          <a:latin typeface="Cambria"/>
                          <a:ea typeface="Cambria"/>
                          <a:cs typeface="Cambria"/>
                          <a:sym typeface="Cambria"/>
                        </a:rPr>
                        <a:t>Course Teacher</a:t>
                      </a:r>
                      <a:endParaRPr b="1" sz="1700">
                        <a:solidFill>
                          <a:srgbClr val="000000"/>
                        </a:solidFill>
                        <a:latin typeface="Cambria"/>
                        <a:ea typeface="Cambria"/>
                        <a:cs typeface="Cambria"/>
                        <a:sym typeface="Cambria"/>
                      </a:endParaRPr>
                    </a:p>
                    <a:p>
                      <a:pPr indent="0" lvl="0" marL="0" rtl="0" algn="l">
                        <a:lnSpc>
                          <a:spcPct val="90000"/>
                        </a:lnSpc>
                        <a:spcBef>
                          <a:spcPts val="700"/>
                        </a:spcBef>
                        <a:spcAft>
                          <a:spcPts val="0"/>
                        </a:spcAft>
                        <a:buNone/>
                      </a:pPr>
                      <a:r>
                        <a:rPr lang="en-US" sz="1700">
                          <a:solidFill>
                            <a:srgbClr val="000000"/>
                          </a:solidFill>
                          <a:latin typeface="Cambria"/>
                          <a:ea typeface="Cambria"/>
                          <a:cs typeface="Cambria"/>
                          <a:sym typeface="Cambria"/>
                        </a:rPr>
                        <a:t>Nushrat Jahan Oyshi</a:t>
                      </a:r>
                      <a:br>
                        <a:rPr lang="en-US" sz="1700">
                          <a:solidFill>
                            <a:srgbClr val="000000"/>
                          </a:solidFill>
                          <a:latin typeface="Cambria"/>
                          <a:ea typeface="Cambria"/>
                          <a:cs typeface="Cambria"/>
                          <a:sym typeface="Cambria"/>
                        </a:rPr>
                      </a:br>
                      <a:r>
                        <a:rPr lang="en-US" sz="1700">
                          <a:solidFill>
                            <a:srgbClr val="000000"/>
                          </a:solidFill>
                          <a:latin typeface="Cambria"/>
                          <a:ea typeface="Cambria"/>
                          <a:cs typeface="Cambria"/>
                          <a:sym typeface="Cambria"/>
                        </a:rPr>
                        <a:t>Lecturer</a:t>
                      </a:r>
                      <a:endParaRPr sz="1700">
                        <a:solidFill>
                          <a:srgbClr val="000000"/>
                        </a:solidFill>
                        <a:latin typeface="Cambria"/>
                        <a:ea typeface="Cambria"/>
                        <a:cs typeface="Cambria"/>
                        <a:sym typeface="Cambria"/>
                      </a:endParaRPr>
                    </a:p>
                    <a:p>
                      <a:pPr indent="0" lvl="0" marL="0" rtl="0" algn="l">
                        <a:lnSpc>
                          <a:spcPct val="90000"/>
                        </a:lnSpc>
                        <a:spcBef>
                          <a:spcPts val="700"/>
                        </a:spcBef>
                        <a:spcAft>
                          <a:spcPts val="0"/>
                        </a:spcAft>
                        <a:buNone/>
                      </a:pPr>
                      <a:r>
                        <a:rPr lang="en-US" sz="1700">
                          <a:solidFill>
                            <a:srgbClr val="000000"/>
                          </a:solidFill>
                          <a:latin typeface="Cambria"/>
                          <a:ea typeface="Cambria"/>
                          <a:cs typeface="Cambria"/>
                          <a:sym typeface="Cambria"/>
                        </a:rPr>
                        <a:t>CSE, DIU</a:t>
                      </a:r>
                      <a:endParaRPr sz="1700">
                        <a:solidFill>
                          <a:srgbClr val="000000"/>
                        </a:solidFill>
                        <a:latin typeface="Cambria"/>
                        <a:ea typeface="Cambria"/>
                        <a:cs typeface="Cambria"/>
                        <a:sym typeface="Cambri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ph idx="1" type="body"/>
          </p:nvPr>
        </p:nvSpPr>
        <p:spPr>
          <a:xfrm>
            <a:off x="628651" y="1535834"/>
            <a:ext cx="8177100" cy="4572000"/>
          </a:xfrm>
          <a:prstGeom prst="rect">
            <a:avLst/>
          </a:prstGeom>
          <a:noFill/>
          <a:ln>
            <a:noFill/>
          </a:ln>
        </p:spPr>
        <p:txBody>
          <a:bodyPr anchorCtr="0" anchor="t" bIns="45700" lIns="91425" spcFirstLastPara="1" rIns="91425" wrap="square" tIns="45700">
            <a:normAutofit/>
          </a:bodyPr>
          <a:lstStyle/>
          <a:p>
            <a:pPr indent="0" lvl="0" marL="0" marR="0" rtl="0" algn="just">
              <a:lnSpc>
                <a:spcPct val="100000"/>
              </a:lnSpc>
              <a:spcBef>
                <a:spcPts val="540"/>
              </a:spcBef>
              <a:spcAft>
                <a:spcPts val="0"/>
              </a:spcAft>
              <a:buClr>
                <a:schemeClr val="accent1"/>
              </a:buClr>
              <a:buSzPts val="2295"/>
              <a:buFont typeface="Noto Sans Symbols"/>
              <a:buNone/>
            </a:pPr>
            <a:r>
              <a:rPr b="0" i="0" lang="en-US" sz="2000" u="none" cap="none" strike="noStrike">
                <a:solidFill>
                  <a:schemeClr val="dk1"/>
                </a:solidFill>
                <a:latin typeface="Georgia"/>
                <a:ea typeface="Georgia"/>
                <a:cs typeface="Georgia"/>
                <a:sym typeface="Georgia"/>
              </a:rPr>
              <a:t>Computer Graphics is the use of computers to display and manipulate information in graphical or pictorial form, either on a visual-display unit or via a printer or plotter.</a:t>
            </a:r>
            <a:endParaRPr sz="2000"/>
          </a:p>
          <a:p>
            <a:pPr indent="-127318" lvl="0" marL="273050" marR="0" rtl="0" algn="l">
              <a:lnSpc>
                <a:spcPct val="115000"/>
              </a:lnSpc>
              <a:spcBef>
                <a:spcPts val="540"/>
              </a:spcBef>
              <a:spcAft>
                <a:spcPts val="0"/>
              </a:spcAft>
              <a:buClr>
                <a:schemeClr val="accent1"/>
              </a:buClr>
              <a:buSzPts val="2295"/>
              <a:buFont typeface="Noto Sans Symbols"/>
              <a:buNone/>
            </a:pPr>
            <a:r>
              <a:t/>
            </a:r>
            <a:endParaRPr b="0" i="0" sz="2000" u="none">
              <a:solidFill>
                <a:schemeClr val="dk1"/>
              </a:solidFill>
              <a:latin typeface="Georgia"/>
              <a:ea typeface="Georgia"/>
              <a:cs typeface="Georgia"/>
              <a:sym typeface="Georgia"/>
            </a:endParaRPr>
          </a:p>
        </p:txBody>
      </p:sp>
      <p:sp>
        <p:nvSpPr>
          <p:cNvPr id="72" name="Google Shape;72;p2"/>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AB2627"/>
              </a:buClr>
              <a:buSzPts val="3300"/>
              <a:buFont typeface="Georgia"/>
              <a:buNone/>
            </a:pPr>
            <a:r>
              <a:rPr b="1" i="0" lang="en-US" sz="2600" u="none" cap="none" strike="noStrike">
                <a:solidFill>
                  <a:schemeClr val="dk1"/>
                </a:solidFill>
                <a:latin typeface="Georgia"/>
                <a:ea typeface="Georgia"/>
                <a:cs typeface="Georgia"/>
                <a:sym typeface="Georgia"/>
              </a:rPr>
              <a:t>Graphics Systems and Models</a:t>
            </a:r>
            <a:endParaRPr b="0" i="0" sz="2100" u="none" cap="none" strike="noStrike">
              <a:solidFill>
                <a:schemeClr val="dk1"/>
              </a:solidFill>
              <a:latin typeface="Arial"/>
              <a:ea typeface="Arial"/>
              <a:cs typeface="Arial"/>
              <a:sym typeface="Arial"/>
            </a:endParaRPr>
          </a:p>
        </p:txBody>
      </p:sp>
      <p:pic>
        <p:nvPicPr>
          <p:cNvPr id="73" name="Google Shape;73;p2"/>
          <p:cNvPicPr preferRelativeResize="0"/>
          <p:nvPr/>
        </p:nvPicPr>
        <p:blipFill rotWithShape="1">
          <a:blip r:embed="rId3">
            <a:alphaModFix/>
          </a:blip>
          <a:srcRect b="0" l="0" r="0" t="0"/>
          <a:stretch/>
        </p:blipFill>
        <p:spPr>
          <a:xfrm>
            <a:off x="8083855" y="482200"/>
            <a:ext cx="1224300" cy="612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idx="1" type="body"/>
          </p:nvPr>
        </p:nvSpPr>
        <p:spPr>
          <a:xfrm>
            <a:off x="301750" y="1359475"/>
            <a:ext cx="8503800" cy="4739700"/>
          </a:xfrm>
          <a:prstGeom prst="rect">
            <a:avLst/>
          </a:prstGeom>
          <a:noFill/>
          <a:ln>
            <a:noFill/>
          </a:ln>
        </p:spPr>
        <p:txBody>
          <a:bodyPr anchorCtr="0" anchor="t" bIns="45700" lIns="91425" spcFirstLastPara="1" rIns="91425" wrap="square" tIns="45700">
            <a:normAutofit lnSpcReduction="20000"/>
          </a:bodyPr>
          <a:lstStyle/>
          <a:p>
            <a:pPr indent="0" lvl="0" marL="273050" marR="0" rtl="0" algn="l">
              <a:lnSpc>
                <a:spcPct val="90000"/>
              </a:lnSpc>
              <a:spcBef>
                <a:spcPts val="0"/>
              </a:spcBef>
              <a:spcAft>
                <a:spcPts val="0"/>
              </a:spcAft>
              <a:buSzPts val="1530"/>
              <a:buNone/>
            </a:pPr>
            <a:r>
              <a:rPr b="1" i="0" lang="en-US" sz="2000" u="none">
                <a:solidFill>
                  <a:schemeClr val="dk1"/>
                </a:solidFill>
                <a:latin typeface="Georgia"/>
                <a:ea typeface="Georgia"/>
                <a:cs typeface="Georgia"/>
                <a:sym typeface="Georgia"/>
              </a:rPr>
              <a:t>COMPUTER AIDED DESIGN</a:t>
            </a:r>
            <a:endParaRPr sz="2000">
              <a:solidFill>
                <a:schemeClr val="dk1"/>
              </a:solidFill>
            </a:endParaRPr>
          </a:p>
          <a:p>
            <a:pPr indent="-241299" lvl="1" marL="547687" marR="0" rtl="0" algn="just">
              <a:lnSpc>
                <a:spcPct val="90000"/>
              </a:lnSpc>
              <a:spcBef>
                <a:spcPts val="1000"/>
              </a:spcBef>
              <a:spcAft>
                <a:spcPts val="0"/>
              </a:spcAft>
              <a:buClr>
                <a:schemeClr val="dk1"/>
              </a:buClr>
              <a:buSzPts val="900"/>
              <a:buFont typeface="Noto Sans Symbols"/>
              <a:buChar char="⚪"/>
            </a:pPr>
            <a:r>
              <a:rPr b="0" i="0" lang="en-US" sz="1900" u="none" cap="none" strike="noStrike">
                <a:solidFill>
                  <a:schemeClr val="dk1"/>
                </a:solidFill>
                <a:latin typeface="Georgia"/>
                <a:ea typeface="Georgia"/>
                <a:cs typeface="Georgia"/>
                <a:sym typeface="Georgia"/>
              </a:rPr>
              <a:t>Animations are often used in CAD applications.</a:t>
            </a:r>
            <a:endParaRPr sz="1900">
              <a:solidFill>
                <a:schemeClr val="dk1"/>
              </a:solidFill>
            </a:endParaRPr>
          </a:p>
          <a:p>
            <a:pPr indent="-241299" lvl="1" marL="547687" marR="0" rtl="0" algn="just">
              <a:lnSpc>
                <a:spcPct val="90000"/>
              </a:lnSpc>
              <a:spcBef>
                <a:spcPts val="1000"/>
              </a:spcBef>
              <a:spcAft>
                <a:spcPts val="0"/>
              </a:spcAft>
              <a:buClr>
                <a:schemeClr val="dk1"/>
              </a:buClr>
              <a:buSzPts val="900"/>
              <a:buFont typeface="Noto Sans Symbols"/>
              <a:buChar char="⚪"/>
            </a:pPr>
            <a:r>
              <a:rPr b="0" i="0" lang="en-US" sz="1900" u="none" cap="none" strike="noStrike">
                <a:solidFill>
                  <a:schemeClr val="dk1"/>
                </a:solidFill>
                <a:latin typeface="Georgia"/>
                <a:ea typeface="Georgia"/>
                <a:cs typeface="Georgia"/>
                <a:sym typeface="Georgia"/>
              </a:rPr>
              <a:t>Real-time animations using wire frame displays are useful for t</a:t>
            </a:r>
            <a:r>
              <a:rPr b="1" i="0" lang="en-US" sz="1900" u="none" cap="none" strike="noStrike">
                <a:solidFill>
                  <a:schemeClr val="dk1"/>
                </a:solidFill>
                <a:latin typeface="Georgia"/>
                <a:ea typeface="Georgia"/>
                <a:cs typeface="Georgia"/>
                <a:sym typeface="Georgia"/>
              </a:rPr>
              <a:t>esting performance of a vehicle</a:t>
            </a:r>
            <a:r>
              <a:rPr b="0" i="0" lang="en-US" sz="1900" u="none" cap="none" strike="noStrike">
                <a:solidFill>
                  <a:schemeClr val="dk1"/>
                </a:solidFill>
                <a:latin typeface="Georgia"/>
                <a:ea typeface="Georgia"/>
                <a:cs typeface="Georgia"/>
                <a:sym typeface="Georgia"/>
              </a:rPr>
              <a:t>.</a:t>
            </a:r>
            <a:endParaRPr sz="1900">
              <a:solidFill>
                <a:schemeClr val="dk1"/>
              </a:solidFill>
            </a:endParaRPr>
          </a:p>
          <a:p>
            <a:pPr indent="-241299" lvl="1" marL="547687" marR="0" rtl="0" algn="just">
              <a:lnSpc>
                <a:spcPct val="90000"/>
              </a:lnSpc>
              <a:spcBef>
                <a:spcPts val="1000"/>
              </a:spcBef>
              <a:spcAft>
                <a:spcPts val="0"/>
              </a:spcAft>
              <a:buClr>
                <a:schemeClr val="dk1"/>
              </a:buClr>
              <a:buSzPts val="900"/>
              <a:buFont typeface="Noto Sans Symbols"/>
              <a:buChar char="⚪"/>
            </a:pPr>
            <a:r>
              <a:rPr b="0" i="0" lang="en-US" sz="1900" u="none" cap="none" strike="noStrike">
                <a:solidFill>
                  <a:schemeClr val="dk1"/>
                </a:solidFill>
                <a:latin typeface="Georgia"/>
                <a:ea typeface="Georgia"/>
                <a:cs typeface="Georgia"/>
                <a:sym typeface="Georgia"/>
              </a:rPr>
              <a:t>Wire frame models allow the designer to see the interior parts of the vehicle during motion.</a:t>
            </a:r>
            <a:endParaRPr sz="1900">
              <a:solidFill>
                <a:schemeClr val="dk1"/>
              </a:solidFill>
            </a:endParaRPr>
          </a:p>
          <a:p>
            <a:pPr indent="-241299" lvl="1" marL="547687" marR="0" rtl="0" algn="just">
              <a:lnSpc>
                <a:spcPct val="90000"/>
              </a:lnSpc>
              <a:spcBef>
                <a:spcPts val="1000"/>
              </a:spcBef>
              <a:spcAft>
                <a:spcPts val="0"/>
              </a:spcAft>
              <a:buClr>
                <a:schemeClr val="dk1"/>
              </a:buClr>
              <a:buSzPts val="900"/>
              <a:buFont typeface="Noto Sans Symbols"/>
              <a:buChar char="⚪"/>
            </a:pPr>
            <a:r>
              <a:rPr b="0" i="0" lang="en-US" sz="1900" u="none" cap="none" strike="noStrike">
                <a:solidFill>
                  <a:schemeClr val="dk1"/>
                </a:solidFill>
                <a:latin typeface="Georgia"/>
                <a:ea typeface="Georgia"/>
                <a:cs typeface="Georgia"/>
                <a:sym typeface="Georgia"/>
              </a:rPr>
              <a:t>When object designs are complete, </a:t>
            </a:r>
            <a:r>
              <a:rPr b="1" i="0" lang="en-US" sz="1900" u="none" cap="none" strike="noStrike">
                <a:solidFill>
                  <a:schemeClr val="dk1"/>
                </a:solidFill>
                <a:latin typeface="Georgia"/>
                <a:ea typeface="Georgia"/>
                <a:cs typeface="Georgia"/>
                <a:sym typeface="Georgia"/>
              </a:rPr>
              <a:t>realistic lighting models</a:t>
            </a:r>
            <a:r>
              <a:rPr b="0" i="0" lang="en-US" sz="1900" u="none" cap="none" strike="noStrike">
                <a:solidFill>
                  <a:schemeClr val="dk1"/>
                </a:solidFill>
                <a:latin typeface="Georgia"/>
                <a:ea typeface="Georgia"/>
                <a:cs typeface="Georgia"/>
                <a:sym typeface="Georgia"/>
              </a:rPr>
              <a:t> and surface rendering are applied.</a:t>
            </a:r>
            <a:endParaRPr sz="1900">
              <a:solidFill>
                <a:schemeClr val="dk1"/>
              </a:solidFill>
            </a:endParaRPr>
          </a:p>
          <a:p>
            <a:pPr indent="-241299" lvl="1" marL="547687" marR="0" rtl="0" algn="just">
              <a:lnSpc>
                <a:spcPct val="90000"/>
              </a:lnSpc>
              <a:spcBef>
                <a:spcPts val="1000"/>
              </a:spcBef>
              <a:spcAft>
                <a:spcPts val="0"/>
              </a:spcAft>
              <a:buClr>
                <a:schemeClr val="dk1"/>
              </a:buClr>
              <a:buSzPts val="900"/>
              <a:buFont typeface="Noto Sans Symbols"/>
              <a:buChar char="⚪"/>
            </a:pPr>
            <a:r>
              <a:rPr b="0" i="0" lang="en-US" sz="1900" u="none" cap="none" strike="noStrike">
                <a:solidFill>
                  <a:schemeClr val="dk1"/>
                </a:solidFill>
                <a:latin typeface="Georgia"/>
                <a:ea typeface="Georgia"/>
                <a:cs typeface="Georgia"/>
                <a:sym typeface="Georgia"/>
              </a:rPr>
              <a:t>Manufacturing process of object can also be controlled through CAD.</a:t>
            </a:r>
            <a:endParaRPr sz="1900">
              <a:solidFill>
                <a:schemeClr val="dk1"/>
              </a:solidFill>
            </a:endParaRPr>
          </a:p>
          <a:p>
            <a:pPr indent="-241299" lvl="1" marL="547687" marR="0" rtl="0" algn="just">
              <a:lnSpc>
                <a:spcPct val="90000"/>
              </a:lnSpc>
              <a:spcBef>
                <a:spcPts val="1000"/>
              </a:spcBef>
              <a:spcAft>
                <a:spcPts val="0"/>
              </a:spcAft>
              <a:buClr>
                <a:schemeClr val="dk1"/>
              </a:buClr>
              <a:buSzPts val="900"/>
              <a:buFont typeface="Noto Sans Symbols"/>
              <a:buChar char="⚪"/>
            </a:pPr>
            <a:r>
              <a:rPr b="0" i="0" lang="en-US" sz="1900" u="none" cap="none" strike="noStrike">
                <a:solidFill>
                  <a:schemeClr val="dk1"/>
                </a:solidFill>
                <a:latin typeface="Georgia"/>
                <a:ea typeface="Georgia"/>
                <a:cs typeface="Georgia"/>
                <a:sym typeface="Georgia"/>
              </a:rPr>
              <a:t>Interactive graphics methods are used to </a:t>
            </a:r>
            <a:r>
              <a:rPr b="1" i="0" lang="en-US" sz="1900" u="none" cap="none" strike="noStrike">
                <a:solidFill>
                  <a:schemeClr val="dk1"/>
                </a:solidFill>
                <a:latin typeface="Georgia"/>
                <a:ea typeface="Georgia"/>
                <a:cs typeface="Georgia"/>
                <a:sym typeface="Georgia"/>
              </a:rPr>
              <a:t>layout the buildings</a:t>
            </a:r>
            <a:r>
              <a:rPr b="0" i="0" lang="en-US" sz="1900" u="none" cap="none" strike="noStrike">
                <a:solidFill>
                  <a:schemeClr val="dk1"/>
                </a:solidFill>
                <a:latin typeface="Georgia"/>
                <a:ea typeface="Georgia"/>
                <a:cs typeface="Georgia"/>
                <a:sym typeface="Georgia"/>
              </a:rPr>
              <a:t>.</a:t>
            </a:r>
            <a:endParaRPr sz="1900">
              <a:solidFill>
                <a:schemeClr val="dk1"/>
              </a:solidFill>
            </a:endParaRPr>
          </a:p>
          <a:p>
            <a:pPr indent="-241299" lvl="1" marL="547687" marR="0" rtl="0" algn="just">
              <a:lnSpc>
                <a:spcPct val="90000"/>
              </a:lnSpc>
              <a:spcBef>
                <a:spcPts val="1000"/>
              </a:spcBef>
              <a:spcAft>
                <a:spcPts val="0"/>
              </a:spcAft>
              <a:buClr>
                <a:schemeClr val="dk1"/>
              </a:buClr>
              <a:buSzPts val="900"/>
              <a:buFont typeface="Noto Sans Symbols"/>
              <a:buChar char="⚪"/>
            </a:pPr>
            <a:r>
              <a:rPr b="1" i="0" lang="en-US" sz="1900" u="none" cap="none" strike="noStrike">
                <a:solidFill>
                  <a:schemeClr val="dk1"/>
                </a:solidFill>
                <a:latin typeface="Georgia"/>
                <a:ea typeface="Georgia"/>
                <a:cs typeface="Georgia"/>
                <a:sym typeface="Georgia"/>
              </a:rPr>
              <a:t>Three-dimensional interior layouts </a:t>
            </a:r>
            <a:r>
              <a:rPr b="0" i="0" lang="en-US" sz="1900" u="none" cap="none" strike="noStrike">
                <a:solidFill>
                  <a:schemeClr val="dk1"/>
                </a:solidFill>
                <a:latin typeface="Georgia"/>
                <a:ea typeface="Georgia"/>
                <a:cs typeface="Georgia"/>
                <a:sym typeface="Georgia"/>
              </a:rPr>
              <a:t>and lighting also provided.</a:t>
            </a:r>
            <a:endParaRPr sz="1900">
              <a:solidFill>
                <a:schemeClr val="dk1"/>
              </a:solidFill>
            </a:endParaRPr>
          </a:p>
          <a:p>
            <a:pPr indent="-241299" lvl="1" marL="547687" marR="0" rtl="0" algn="just">
              <a:lnSpc>
                <a:spcPct val="90000"/>
              </a:lnSpc>
              <a:spcBef>
                <a:spcPts val="1000"/>
              </a:spcBef>
              <a:spcAft>
                <a:spcPts val="0"/>
              </a:spcAft>
              <a:buClr>
                <a:schemeClr val="dk1"/>
              </a:buClr>
              <a:buSzPts val="900"/>
              <a:buFont typeface="Noto Sans Symbols"/>
              <a:buChar char="⚪"/>
            </a:pPr>
            <a:r>
              <a:rPr b="0" i="0" lang="en-US" sz="1900" u="none" cap="none" strike="noStrike">
                <a:solidFill>
                  <a:schemeClr val="dk1"/>
                </a:solidFill>
                <a:latin typeface="Georgia"/>
                <a:ea typeface="Georgia"/>
                <a:cs typeface="Georgia"/>
                <a:sym typeface="Georgia"/>
              </a:rPr>
              <a:t>With </a:t>
            </a:r>
            <a:r>
              <a:rPr b="1" i="0" lang="en-US" sz="1900" u="none" cap="none" strike="noStrike">
                <a:solidFill>
                  <a:schemeClr val="dk1"/>
                </a:solidFill>
                <a:latin typeface="Georgia"/>
                <a:ea typeface="Georgia"/>
                <a:cs typeface="Georgia"/>
                <a:sym typeface="Georgia"/>
              </a:rPr>
              <a:t>virtual-reality systems</a:t>
            </a:r>
            <a:r>
              <a:rPr b="0" i="0" lang="en-US" sz="1900" u="none" cap="none" strike="noStrike">
                <a:solidFill>
                  <a:schemeClr val="dk1"/>
                </a:solidFill>
                <a:latin typeface="Georgia"/>
                <a:ea typeface="Georgia"/>
                <a:cs typeface="Georgia"/>
                <a:sym typeface="Georgia"/>
              </a:rPr>
              <a:t>, the designers can go for a simulated walk inside the building.</a:t>
            </a:r>
            <a:endParaRPr sz="1900">
              <a:solidFill>
                <a:schemeClr val="dk1"/>
              </a:solidFill>
            </a:endParaRPr>
          </a:p>
          <a:p>
            <a:pPr indent="-165100" lvl="0" marL="273050" rtl="0" algn="l">
              <a:lnSpc>
                <a:spcPct val="115000"/>
              </a:lnSpc>
              <a:spcBef>
                <a:spcPts val="1000"/>
              </a:spcBef>
              <a:spcAft>
                <a:spcPts val="0"/>
              </a:spcAft>
              <a:buSzPts val="1530"/>
              <a:buNone/>
            </a:pPr>
            <a:r>
              <a:rPr lang="en-US" sz="1900">
                <a:solidFill>
                  <a:schemeClr val="dk1"/>
                </a:solidFill>
                <a:latin typeface="Georgia"/>
                <a:ea typeface="Georgia"/>
                <a:cs typeface="Georgia"/>
                <a:sym typeface="Georgia"/>
              </a:rPr>
              <a:t>    Example: AutoCAD, SolidWorks</a:t>
            </a:r>
            <a:endParaRPr sz="1900">
              <a:solidFill>
                <a:schemeClr val="dk1"/>
              </a:solidFill>
              <a:latin typeface="Georgia"/>
              <a:ea typeface="Georgia"/>
              <a:cs typeface="Georgia"/>
              <a:sym typeface="Georgia"/>
            </a:endParaRPr>
          </a:p>
          <a:p>
            <a:pPr indent="-165100" lvl="0" marL="273050" marR="0" rtl="0" algn="l">
              <a:lnSpc>
                <a:spcPct val="115000"/>
              </a:lnSpc>
              <a:spcBef>
                <a:spcPts val="1000"/>
              </a:spcBef>
              <a:spcAft>
                <a:spcPts val="0"/>
              </a:spcAft>
              <a:buClr>
                <a:schemeClr val="accent1"/>
              </a:buClr>
              <a:buSzPts val="1700"/>
              <a:buFont typeface="Noto Sans Symbols"/>
              <a:buNone/>
            </a:pPr>
            <a:r>
              <a:t/>
            </a:r>
            <a:endParaRPr sz="2000">
              <a:solidFill>
                <a:schemeClr val="dk1"/>
              </a:solidFill>
              <a:latin typeface="Georgia"/>
              <a:ea typeface="Georgia"/>
              <a:cs typeface="Georgia"/>
              <a:sym typeface="Georgia"/>
            </a:endParaRPr>
          </a:p>
        </p:txBody>
      </p:sp>
      <p:sp>
        <p:nvSpPr>
          <p:cNvPr id="79" name="Google Shape;79;p3"/>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AB2627"/>
              </a:buClr>
              <a:buSzPct val="89189"/>
              <a:buFont typeface="Georgia"/>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80" name="Google Shape;80;p3"/>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3e92d2eb36f_0_243"/>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rmAutofit/>
          </a:bodyPr>
          <a:lstStyle/>
          <a:p>
            <a:pPr indent="-165100" lvl="0" marL="273050" marR="0" rtl="0" algn="l">
              <a:lnSpc>
                <a:spcPct val="115000"/>
              </a:lnSpc>
              <a:spcBef>
                <a:spcPts val="400"/>
              </a:spcBef>
              <a:spcAft>
                <a:spcPts val="0"/>
              </a:spcAft>
              <a:buClr>
                <a:schemeClr val="accent1"/>
              </a:buClr>
              <a:buSzPts val="1700"/>
              <a:buFont typeface="Noto Sans Symbols"/>
              <a:buNone/>
            </a:pPr>
            <a:r>
              <a:rPr lang="en-US" sz="2000">
                <a:solidFill>
                  <a:schemeClr val="dk1"/>
                </a:solidFill>
                <a:latin typeface="Georgia"/>
                <a:ea typeface="Georgia"/>
                <a:cs typeface="Georgia"/>
                <a:sym typeface="Georgia"/>
              </a:rPr>
              <a:t> </a:t>
            </a:r>
            <a:endParaRPr b="0" i="0" sz="2000" u="none" cap="none" strike="noStrike">
              <a:solidFill>
                <a:schemeClr val="dk1"/>
              </a:solidFill>
              <a:latin typeface="Georgia"/>
              <a:ea typeface="Georgia"/>
              <a:cs typeface="Georgia"/>
              <a:sym typeface="Georgia"/>
            </a:endParaRPr>
          </a:p>
        </p:txBody>
      </p:sp>
      <p:sp>
        <p:nvSpPr>
          <p:cNvPr id="86" name="Google Shape;86;g3e92d2eb36f_0_243"/>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87" name="Google Shape;87;g3e92d2eb36f_0_243"/>
          <p:cNvPicPr preferRelativeResize="0"/>
          <p:nvPr/>
        </p:nvPicPr>
        <p:blipFill rotWithShape="1">
          <a:blip r:embed="rId3">
            <a:alphaModFix/>
          </a:blip>
          <a:srcRect b="0" l="0" r="0" t="0"/>
          <a:stretch/>
        </p:blipFill>
        <p:spPr>
          <a:xfrm>
            <a:off x="8101173" y="482200"/>
            <a:ext cx="1224300" cy="612150"/>
          </a:xfrm>
          <a:prstGeom prst="rect">
            <a:avLst/>
          </a:prstGeom>
          <a:noFill/>
          <a:ln>
            <a:noFill/>
          </a:ln>
        </p:spPr>
      </p:pic>
      <p:pic>
        <p:nvPicPr>
          <p:cNvPr id="88" name="Google Shape;88;g3e92d2eb36f_0_243"/>
          <p:cNvPicPr preferRelativeResize="0"/>
          <p:nvPr/>
        </p:nvPicPr>
        <p:blipFill rotWithShape="1">
          <a:blip r:embed="rId4">
            <a:alphaModFix/>
          </a:blip>
          <a:srcRect b="0" l="0" r="0" t="0"/>
          <a:stretch/>
        </p:blipFill>
        <p:spPr>
          <a:xfrm>
            <a:off x="628651" y="2215764"/>
            <a:ext cx="3897252" cy="2599450"/>
          </a:xfrm>
          <a:prstGeom prst="rect">
            <a:avLst/>
          </a:prstGeom>
          <a:noFill/>
          <a:ln>
            <a:noFill/>
          </a:ln>
        </p:spPr>
      </p:pic>
      <p:pic>
        <p:nvPicPr>
          <p:cNvPr id="89" name="Google Shape;89;g3e92d2eb36f_0_243"/>
          <p:cNvPicPr preferRelativeResize="0"/>
          <p:nvPr/>
        </p:nvPicPr>
        <p:blipFill rotWithShape="1">
          <a:blip r:embed="rId5">
            <a:alphaModFix/>
          </a:blip>
          <a:srcRect b="0" l="0" r="0" t="0"/>
          <a:stretch/>
        </p:blipFill>
        <p:spPr>
          <a:xfrm>
            <a:off x="4572000" y="2215759"/>
            <a:ext cx="4233550" cy="2599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txBox="1"/>
          <p:nvPr>
            <p:ph idx="1" type="body"/>
          </p:nvPr>
        </p:nvSpPr>
        <p:spPr>
          <a:xfrm>
            <a:off x="301750" y="1527050"/>
            <a:ext cx="8418000" cy="4572000"/>
          </a:xfrm>
          <a:prstGeom prst="rect">
            <a:avLst/>
          </a:prstGeom>
          <a:noFill/>
          <a:ln>
            <a:noFill/>
          </a:ln>
        </p:spPr>
        <p:txBody>
          <a:bodyPr anchorCtr="0" anchor="t" bIns="45700" lIns="91425" spcFirstLastPara="1" rIns="91425" wrap="square" tIns="45700">
            <a:noAutofit/>
          </a:bodyPr>
          <a:lstStyle/>
          <a:p>
            <a:pPr indent="0" lvl="0" marL="273050" marR="0" rtl="0" algn="l">
              <a:lnSpc>
                <a:spcPct val="100000"/>
              </a:lnSpc>
              <a:spcBef>
                <a:spcPts val="0"/>
              </a:spcBef>
              <a:spcAft>
                <a:spcPts val="0"/>
              </a:spcAft>
              <a:buSzPts val="1530"/>
              <a:buNone/>
            </a:pPr>
            <a:r>
              <a:rPr b="1" i="0" lang="en-US" sz="2000" u="none">
                <a:solidFill>
                  <a:schemeClr val="dk1"/>
                </a:solidFill>
                <a:latin typeface="Georgia"/>
                <a:ea typeface="Georgia"/>
                <a:cs typeface="Georgia"/>
                <a:sym typeface="Georgia"/>
              </a:rPr>
              <a:t>PRESENTATION GRAPHICS</a:t>
            </a:r>
            <a:endParaRPr sz="2000">
              <a:solidFill>
                <a:schemeClr val="dk1"/>
              </a:solidFill>
            </a:endParaRPr>
          </a:p>
          <a:p>
            <a:pPr indent="-226059" lvl="1" marL="547687" marR="0" rtl="0" algn="just">
              <a:lnSpc>
                <a:spcPct val="100000"/>
              </a:lnSpc>
              <a:spcBef>
                <a:spcPts val="100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It is used to produce illustrations for reports or to generate slide</a:t>
            </a:r>
            <a:r>
              <a:rPr lang="en-US" sz="2000">
                <a:solidFill>
                  <a:schemeClr val="dk1"/>
                </a:solidFill>
                <a:latin typeface="Georgia"/>
                <a:ea typeface="Georgia"/>
                <a:cs typeface="Georgia"/>
                <a:sym typeface="Georgia"/>
              </a:rPr>
              <a:t> </a:t>
            </a:r>
            <a:r>
              <a:rPr b="0" i="0" lang="en-US" sz="2000" u="none" cap="none" strike="noStrike">
                <a:solidFill>
                  <a:schemeClr val="dk1"/>
                </a:solidFill>
                <a:latin typeface="Georgia"/>
                <a:ea typeface="Georgia"/>
                <a:cs typeface="Georgia"/>
                <a:sym typeface="Georgia"/>
              </a:rPr>
              <a:t>with projections.</a:t>
            </a:r>
            <a:endParaRPr sz="2000">
              <a:solidFill>
                <a:schemeClr val="dk1"/>
              </a:solidFill>
            </a:endParaRPr>
          </a:p>
          <a:p>
            <a:pPr indent="-226059" lvl="1" marL="547687"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Examples of presentation graphics are bar charts, line graphs, surface graphs, pie charts and displays showing relationships between parameters.</a:t>
            </a:r>
            <a:endParaRPr sz="2000">
              <a:solidFill>
                <a:schemeClr val="dk1"/>
              </a:solidFill>
            </a:endParaRPr>
          </a:p>
          <a:p>
            <a:pPr indent="-226059" lvl="1" marL="547687"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3D graphics can provide more attraction to the presentation.</a:t>
            </a:r>
            <a:endParaRPr sz="2000">
              <a:solidFill>
                <a:schemeClr val="dk1"/>
              </a:solidFill>
            </a:endParaRPr>
          </a:p>
          <a:p>
            <a:pPr indent="-165100" lvl="0" marL="273050" rtl="0" algn="l">
              <a:lnSpc>
                <a:spcPct val="115000"/>
              </a:lnSpc>
              <a:spcBef>
                <a:spcPts val="400"/>
              </a:spcBef>
              <a:spcAft>
                <a:spcPts val="0"/>
              </a:spcAft>
              <a:buSzPts val="1530"/>
              <a:buNone/>
            </a:pPr>
            <a:r>
              <a:t/>
            </a:r>
            <a:endParaRPr sz="2000">
              <a:solidFill>
                <a:schemeClr val="dk1"/>
              </a:solidFill>
              <a:latin typeface="Georgia"/>
              <a:ea typeface="Georgia"/>
              <a:cs typeface="Georgia"/>
              <a:sym typeface="Georgia"/>
            </a:endParaRPr>
          </a:p>
          <a:p>
            <a:pPr indent="-165100" lvl="0" marL="273050" rtl="0" algn="l">
              <a:lnSpc>
                <a:spcPct val="115000"/>
              </a:lnSpc>
              <a:spcBef>
                <a:spcPts val="400"/>
              </a:spcBef>
              <a:spcAft>
                <a:spcPts val="0"/>
              </a:spcAft>
              <a:buSzPts val="1530"/>
              <a:buNone/>
            </a:pPr>
            <a:r>
              <a:rPr lang="en-US" sz="2000">
                <a:solidFill>
                  <a:schemeClr val="dk1"/>
                </a:solidFill>
                <a:latin typeface="Georgia"/>
                <a:ea typeface="Georgia"/>
                <a:cs typeface="Georgia"/>
                <a:sym typeface="Georgia"/>
              </a:rPr>
              <a:t>Example: Microsoft PowerPoint, Microsoft Excel</a:t>
            </a:r>
            <a:endParaRPr sz="2000">
              <a:solidFill>
                <a:schemeClr val="dk1"/>
              </a:solidFill>
              <a:latin typeface="Georgia"/>
              <a:ea typeface="Georgia"/>
              <a:cs typeface="Georgia"/>
              <a:sym typeface="Georgia"/>
            </a:endParaRPr>
          </a:p>
          <a:p>
            <a:pPr indent="-165100" lvl="0" marL="273050" rtl="0" algn="l">
              <a:lnSpc>
                <a:spcPct val="115000"/>
              </a:lnSpc>
              <a:spcBef>
                <a:spcPts val="400"/>
              </a:spcBef>
              <a:spcAft>
                <a:spcPts val="0"/>
              </a:spcAft>
              <a:buSzPts val="1530"/>
              <a:buNone/>
            </a:pPr>
            <a:r>
              <a:t/>
            </a:r>
            <a:endParaRPr sz="2000">
              <a:solidFill>
                <a:schemeClr val="dk1"/>
              </a:solidFill>
              <a:latin typeface="Georgia"/>
              <a:ea typeface="Georgia"/>
              <a:cs typeface="Georgia"/>
              <a:sym typeface="Georgia"/>
            </a:endParaRPr>
          </a:p>
        </p:txBody>
      </p:sp>
      <p:sp>
        <p:nvSpPr>
          <p:cNvPr id="95" name="Google Shape;95;p4"/>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96" name="Google Shape;96;p4"/>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e92d2eb36f_0_250"/>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Autofit/>
          </a:bodyPr>
          <a:lstStyle/>
          <a:p>
            <a:pPr indent="-154305" lvl="0" marL="273050" marR="0" rtl="0" algn="l">
              <a:lnSpc>
                <a:spcPct val="115000"/>
              </a:lnSpc>
              <a:spcBef>
                <a:spcPts val="440"/>
              </a:spcBef>
              <a:spcAft>
                <a:spcPts val="0"/>
              </a:spcAft>
              <a:buClr>
                <a:schemeClr val="accent1"/>
              </a:buClr>
              <a:buSzPts val="1870"/>
              <a:buFont typeface="Noto Sans Symbols"/>
              <a:buNone/>
            </a:pPr>
            <a:r>
              <a:rPr lang="en-US" sz="2000">
                <a:solidFill>
                  <a:schemeClr val="dk1"/>
                </a:solidFill>
                <a:latin typeface="Georgia"/>
                <a:ea typeface="Georgia"/>
                <a:cs typeface="Georgia"/>
                <a:sym typeface="Georgia"/>
              </a:rPr>
              <a:t> </a:t>
            </a:r>
            <a:endParaRPr b="0" i="0" sz="2000" u="none" cap="none" strike="noStrike">
              <a:solidFill>
                <a:schemeClr val="dk1"/>
              </a:solidFill>
              <a:latin typeface="Georgia"/>
              <a:ea typeface="Georgia"/>
              <a:cs typeface="Georgia"/>
              <a:sym typeface="Georgia"/>
            </a:endParaRPr>
          </a:p>
        </p:txBody>
      </p:sp>
      <p:sp>
        <p:nvSpPr>
          <p:cNvPr id="102" name="Google Shape;102;g3e92d2eb36f_0_250"/>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03" name="Google Shape;103;g3e92d2eb36f_0_250"/>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pic>
        <p:nvPicPr>
          <p:cNvPr id="104" name="Google Shape;104;g3e92d2eb36f_0_250"/>
          <p:cNvPicPr preferRelativeResize="0"/>
          <p:nvPr/>
        </p:nvPicPr>
        <p:blipFill rotWithShape="1">
          <a:blip r:embed="rId4">
            <a:alphaModFix/>
          </a:blip>
          <a:srcRect b="0" l="0" r="0" t="0"/>
          <a:stretch/>
        </p:blipFill>
        <p:spPr>
          <a:xfrm>
            <a:off x="628650" y="2438670"/>
            <a:ext cx="4727849" cy="2467075"/>
          </a:xfrm>
          <a:prstGeom prst="rect">
            <a:avLst/>
          </a:prstGeom>
          <a:noFill/>
          <a:ln>
            <a:noFill/>
          </a:ln>
        </p:spPr>
      </p:pic>
      <p:pic>
        <p:nvPicPr>
          <p:cNvPr id="105" name="Google Shape;105;g3e92d2eb36f_0_250"/>
          <p:cNvPicPr preferRelativeResize="0"/>
          <p:nvPr/>
        </p:nvPicPr>
        <p:blipFill rotWithShape="1">
          <a:blip r:embed="rId5">
            <a:alphaModFix/>
          </a:blip>
          <a:srcRect b="0" l="0" r="0" t="0"/>
          <a:stretch/>
        </p:blipFill>
        <p:spPr>
          <a:xfrm>
            <a:off x="5629263" y="2497048"/>
            <a:ext cx="2619375" cy="2305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Autofit/>
          </a:bodyPr>
          <a:lstStyle/>
          <a:p>
            <a:pPr indent="0" lvl="0" marL="273050" marR="0" rtl="0" algn="l">
              <a:lnSpc>
                <a:spcPct val="100000"/>
              </a:lnSpc>
              <a:spcBef>
                <a:spcPts val="0"/>
              </a:spcBef>
              <a:spcAft>
                <a:spcPts val="0"/>
              </a:spcAft>
              <a:buSzPts val="1530"/>
              <a:buNone/>
            </a:pPr>
            <a:r>
              <a:rPr b="1" i="0" lang="en-US" sz="2000" u="none">
                <a:solidFill>
                  <a:schemeClr val="dk1"/>
                </a:solidFill>
                <a:latin typeface="Georgia"/>
                <a:ea typeface="Georgia"/>
                <a:cs typeface="Georgia"/>
                <a:sym typeface="Georgia"/>
              </a:rPr>
              <a:t>COMPUTER ART</a:t>
            </a:r>
            <a:endParaRPr sz="2000">
              <a:solidFill>
                <a:schemeClr val="dk1"/>
              </a:solidFill>
            </a:endParaRPr>
          </a:p>
          <a:p>
            <a:pPr indent="-226059" lvl="1" marL="547687" marR="0" rtl="0" algn="just">
              <a:lnSpc>
                <a:spcPct val="100000"/>
              </a:lnSpc>
              <a:spcBef>
                <a:spcPts val="100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Computer graphics methods are widely used in both fine art and commercial art applications. </a:t>
            </a:r>
            <a:endParaRPr sz="2000">
              <a:solidFill>
                <a:schemeClr val="dk1"/>
              </a:solidFill>
            </a:endParaRPr>
          </a:p>
          <a:p>
            <a:pPr indent="-226059" lvl="1" marL="547687"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The artist uses a combination of 3D modeling packages, texture mapping, drawing programs and CAD software.</a:t>
            </a:r>
            <a:endParaRPr sz="2000">
              <a:solidFill>
                <a:schemeClr val="dk1"/>
              </a:solidFill>
            </a:endParaRPr>
          </a:p>
          <a:p>
            <a:pPr indent="-226059" lvl="1" marL="547687"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 “Mathematical Art” can be produced using mathematical functions, fractal procedures. </a:t>
            </a:r>
            <a:endParaRPr sz="2000">
              <a:solidFill>
                <a:schemeClr val="dk1"/>
              </a:solidFill>
            </a:endParaRPr>
          </a:p>
          <a:p>
            <a:pPr indent="-226059" lvl="1" marL="547687"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Photorealistic techniques are used to render images of a product.</a:t>
            </a:r>
            <a:endParaRPr sz="2000">
              <a:solidFill>
                <a:schemeClr val="dk1"/>
              </a:solidFill>
            </a:endParaRPr>
          </a:p>
          <a:p>
            <a:pPr indent="-226060" lvl="1" marL="547688"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Animations are also used frequently in advertising and television commercials which are produced frame by frame. </a:t>
            </a:r>
            <a:endParaRPr b="0" i="0" sz="2000" u="none" cap="none" strike="noStrike">
              <a:solidFill>
                <a:schemeClr val="dk1"/>
              </a:solidFill>
              <a:latin typeface="Georgia"/>
              <a:ea typeface="Georgia"/>
              <a:cs typeface="Georgia"/>
              <a:sym typeface="Georgia"/>
            </a:endParaRPr>
          </a:p>
          <a:p>
            <a:pPr indent="0" lvl="0" marL="0" rtl="0" algn="l">
              <a:lnSpc>
                <a:spcPct val="115000"/>
              </a:lnSpc>
              <a:spcBef>
                <a:spcPts val="400"/>
              </a:spcBef>
              <a:spcAft>
                <a:spcPts val="0"/>
              </a:spcAft>
              <a:buSzPts val="1530"/>
              <a:buNone/>
            </a:pPr>
            <a:r>
              <a:rPr lang="en-US" sz="2000">
                <a:solidFill>
                  <a:schemeClr val="dk1"/>
                </a:solidFill>
                <a:latin typeface="Georgia"/>
                <a:ea typeface="Georgia"/>
                <a:cs typeface="Georgia"/>
                <a:sym typeface="Georgia"/>
              </a:rPr>
              <a:t>         </a:t>
            </a:r>
            <a:r>
              <a:rPr lang="en-US" sz="2000">
                <a:solidFill>
                  <a:schemeClr val="dk1"/>
                </a:solidFill>
                <a:latin typeface="Georgia"/>
                <a:ea typeface="Georgia"/>
                <a:cs typeface="Georgia"/>
                <a:sym typeface="Georgia"/>
              </a:rPr>
              <a:t>Example: Adobe Photoshop, Blender</a:t>
            </a:r>
            <a:endParaRPr sz="2000">
              <a:solidFill>
                <a:schemeClr val="dk1"/>
              </a:solidFill>
              <a:latin typeface="Georgia"/>
              <a:ea typeface="Georgia"/>
              <a:cs typeface="Georgia"/>
              <a:sym typeface="Georgia"/>
            </a:endParaRPr>
          </a:p>
          <a:p>
            <a:pPr indent="-165100" lvl="0" marL="273050" rtl="0" algn="l">
              <a:lnSpc>
                <a:spcPct val="115000"/>
              </a:lnSpc>
              <a:spcBef>
                <a:spcPts val="400"/>
              </a:spcBef>
              <a:spcAft>
                <a:spcPts val="0"/>
              </a:spcAft>
              <a:buSzPts val="1530"/>
              <a:buNone/>
            </a:pPr>
            <a:r>
              <a:t/>
            </a:r>
            <a:endParaRPr b="1" sz="2000">
              <a:solidFill>
                <a:schemeClr val="dk1"/>
              </a:solidFill>
              <a:latin typeface="Georgia"/>
              <a:ea typeface="Georgia"/>
              <a:cs typeface="Georgia"/>
              <a:sym typeface="Georgia"/>
            </a:endParaRPr>
          </a:p>
          <a:p>
            <a:pPr indent="-154305" lvl="0" marL="273050" marR="0" rtl="0" algn="l">
              <a:lnSpc>
                <a:spcPct val="115000"/>
              </a:lnSpc>
              <a:spcBef>
                <a:spcPts val="440"/>
              </a:spcBef>
              <a:spcAft>
                <a:spcPts val="0"/>
              </a:spcAft>
              <a:buClr>
                <a:schemeClr val="accent1"/>
              </a:buClr>
              <a:buSzPts val="1870"/>
              <a:buFont typeface="Noto Sans Symbols"/>
              <a:buNone/>
            </a:pPr>
            <a:r>
              <a:t/>
            </a:r>
            <a:endParaRPr b="0" i="0" sz="2000" u="none" cap="none" strike="noStrike">
              <a:solidFill>
                <a:schemeClr val="dk1"/>
              </a:solidFill>
              <a:latin typeface="Georgia"/>
              <a:ea typeface="Georgia"/>
              <a:cs typeface="Georgia"/>
              <a:sym typeface="Georgia"/>
            </a:endParaRPr>
          </a:p>
        </p:txBody>
      </p:sp>
      <p:sp>
        <p:nvSpPr>
          <p:cNvPr id="111" name="Google Shape;111;p5"/>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12" name="Google Shape;112;p5"/>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e92d2eb36f_0_257"/>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Autofit/>
          </a:bodyPr>
          <a:lstStyle/>
          <a:p>
            <a:pPr indent="-154305" lvl="0" marL="273050" marR="0" rtl="0" algn="l">
              <a:lnSpc>
                <a:spcPct val="115000"/>
              </a:lnSpc>
              <a:spcBef>
                <a:spcPts val="440"/>
              </a:spcBef>
              <a:spcAft>
                <a:spcPts val="0"/>
              </a:spcAft>
              <a:buClr>
                <a:schemeClr val="accent1"/>
              </a:buClr>
              <a:buSzPts val="1870"/>
              <a:buFont typeface="Noto Sans Symbols"/>
              <a:buNone/>
            </a:pPr>
            <a:r>
              <a:rPr lang="en-US" sz="2000">
                <a:solidFill>
                  <a:schemeClr val="dk1"/>
                </a:solidFill>
                <a:latin typeface="Georgia"/>
                <a:ea typeface="Georgia"/>
                <a:cs typeface="Georgia"/>
                <a:sym typeface="Georgia"/>
              </a:rPr>
              <a:t> </a:t>
            </a:r>
            <a:endParaRPr b="0" i="0" sz="2000" u="none" cap="none" strike="noStrike">
              <a:solidFill>
                <a:schemeClr val="dk1"/>
              </a:solidFill>
              <a:latin typeface="Georgia"/>
              <a:ea typeface="Georgia"/>
              <a:cs typeface="Georgia"/>
              <a:sym typeface="Georgia"/>
            </a:endParaRPr>
          </a:p>
        </p:txBody>
      </p:sp>
      <p:sp>
        <p:nvSpPr>
          <p:cNvPr id="118" name="Google Shape;118;g3e92d2eb36f_0_257"/>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19" name="Google Shape;119;g3e92d2eb36f_0_257"/>
          <p:cNvPicPr preferRelativeResize="0"/>
          <p:nvPr/>
        </p:nvPicPr>
        <p:blipFill rotWithShape="1">
          <a:blip r:embed="rId3">
            <a:alphaModFix/>
          </a:blip>
          <a:srcRect b="0" l="0" r="0" t="0"/>
          <a:stretch/>
        </p:blipFill>
        <p:spPr>
          <a:xfrm>
            <a:off x="8101173" y="482200"/>
            <a:ext cx="1224300" cy="612150"/>
          </a:xfrm>
          <a:prstGeom prst="rect">
            <a:avLst/>
          </a:prstGeom>
          <a:noFill/>
          <a:ln>
            <a:noFill/>
          </a:ln>
        </p:spPr>
      </p:pic>
      <p:pic>
        <p:nvPicPr>
          <p:cNvPr id="120" name="Google Shape;120;g3e92d2eb36f_0_257"/>
          <p:cNvPicPr preferRelativeResize="0"/>
          <p:nvPr/>
        </p:nvPicPr>
        <p:blipFill rotWithShape="1">
          <a:blip r:embed="rId4">
            <a:alphaModFix/>
          </a:blip>
          <a:srcRect b="0" l="0" r="0" t="0"/>
          <a:stretch/>
        </p:blipFill>
        <p:spPr>
          <a:xfrm>
            <a:off x="524741" y="2138144"/>
            <a:ext cx="3642825" cy="3642825"/>
          </a:xfrm>
          <a:prstGeom prst="rect">
            <a:avLst/>
          </a:prstGeom>
          <a:noFill/>
          <a:ln>
            <a:noFill/>
          </a:ln>
        </p:spPr>
      </p:pic>
      <p:pic>
        <p:nvPicPr>
          <p:cNvPr id="121" name="Google Shape;121;g3e92d2eb36f_0_257"/>
          <p:cNvPicPr preferRelativeResize="0"/>
          <p:nvPr/>
        </p:nvPicPr>
        <p:blipFill rotWithShape="1">
          <a:blip r:embed="rId5">
            <a:alphaModFix/>
          </a:blip>
          <a:srcRect b="0" l="0" r="0" t="0"/>
          <a:stretch/>
        </p:blipFill>
        <p:spPr>
          <a:xfrm>
            <a:off x="4346864" y="2183401"/>
            <a:ext cx="4400725" cy="3537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rmAutofit/>
          </a:bodyPr>
          <a:lstStyle/>
          <a:p>
            <a:pPr indent="0" lvl="0" marL="273050" marR="0" rtl="0" algn="l">
              <a:lnSpc>
                <a:spcPct val="100000"/>
              </a:lnSpc>
              <a:spcBef>
                <a:spcPts val="0"/>
              </a:spcBef>
              <a:spcAft>
                <a:spcPts val="0"/>
              </a:spcAft>
              <a:buSzPts val="1530"/>
              <a:buNone/>
            </a:pPr>
            <a:r>
              <a:rPr b="1" i="0" lang="en-US" sz="2000" u="none">
                <a:solidFill>
                  <a:schemeClr val="dk1"/>
                </a:solidFill>
                <a:latin typeface="Georgia"/>
                <a:ea typeface="Georgia"/>
                <a:cs typeface="Georgia"/>
                <a:sym typeface="Georgia"/>
              </a:rPr>
              <a:t>ENTERTAINMENT</a:t>
            </a:r>
            <a:endParaRPr sz="2000">
              <a:solidFill>
                <a:schemeClr val="dk1"/>
              </a:solidFill>
            </a:endParaRPr>
          </a:p>
          <a:p>
            <a:pPr indent="-226060" lvl="1" marL="547688" marR="0" rtl="0" algn="just">
              <a:lnSpc>
                <a:spcPct val="100000"/>
              </a:lnSpc>
              <a:spcBef>
                <a:spcPts val="100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CG methods are now commonly used in making motion pictures, music videos and television shows.</a:t>
            </a:r>
            <a:endParaRPr sz="2000">
              <a:solidFill>
                <a:schemeClr val="dk1"/>
              </a:solidFill>
            </a:endParaRPr>
          </a:p>
          <a:p>
            <a:pPr indent="-226059" lvl="1" marL="547687"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Many TV series regularly employ computer graphics method.</a:t>
            </a:r>
            <a:endParaRPr sz="2000">
              <a:solidFill>
                <a:schemeClr val="dk1"/>
              </a:solidFill>
            </a:endParaRPr>
          </a:p>
          <a:p>
            <a:pPr indent="-226059" lvl="1" marL="547687"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Graphics objects can be combined with a live action.</a:t>
            </a:r>
            <a:endParaRPr sz="2000">
              <a:solidFill>
                <a:schemeClr val="dk1"/>
              </a:solidFill>
            </a:endParaRPr>
          </a:p>
          <a:p>
            <a:pPr indent="-165100" lvl="0" marL="273050" rtl="0" algn="l">
              <a:lnSpc>
                <a:spcPct val="115000"/>
              </a:lnSpc>
              <a:spcBef>
                <a:spcPts val="400"/>
              </a:spcBef>
              <a:spcAft>
                <a:spcPts val="0"/>
              </a:spcAft>
              <a:buSzPts val="1530"/>
              <a:buNone/>
            </a:pPr>
            <a:r>
              <a:rPr lang="en-US" sz="2000">
                <a:solidFill>
                  <a:schemeClr val="dk1"/>
                </a:solidFill>
                <a:latin typeface="Georgia"/>
                <a:ea typeface="Georgia"/>
                <a:cs typeface="Georgia"/>
                <a:sym typeface="Georgia"/>
              </a:rPr>
              <a:t>       </a:t>
            </a:r>
            <a:r>
              <a:rPr lang="en-US" sz="2000">
                <a:solidFill>
                  <a:schemeClr val="dk1"/>
                </a:solidFill>
                <a:latin typeface="Georgia"/>
                <a:ea typeface="Georgia"/>
                <a:cs typeface="Georgia"/>
                <a:sym typeface="Georgia"/>
              </a:rPr>
              <a:t>Example:Pixar, Avatar</a:t>
            </a:r>
            <a:endParaRPr sz="2000">
              <a:solidFill>
                <a:schemeClr val="dk1"/>
              </a:solidFill>
              <a:latin typeface="Georgia"/>
              <a:ea typeface="Georgia"/>
              <a:cs typeface="Georgia"/>
              <a:sym typeface="Georgia"/>
            </a:endParaRPr>
          </a:p>
          <a:p>
            <a:pPr indent="0" lvl="0" marL="107950" rtl="0" algn="l">
              <a:lnSpc>
                <a:spcPct val="100000"/>
              </a:lnSpc>
              <a:spcBef>
                <a:spcPts val="1000"/>
              </a:spcBef>
              <a:spcAft>
                <a:spcPts val="0"/>
              </a:spcAft>
              <a:buSzPts val="1530"/>
              <a:buNone/>
            </a:pPr>
            <a:r>
              <a:rPr lang="en-US">
                <a:solidFill>
                  <a:schemeClr val="dk1"/>
                </a:solidFill>
                <a:latin typeface="Georgia"/>
                <a:ea typeface="Georgia"/>
                <a:cs typeface="Georgia"/>
                <a:sym typeface="Georgia"/>
              </a:rPr>
              <a:t>Computer-Generated Imagery (CGI) is the application of computer graphics to create or improve still and moving images in art, films, television programs, commercials, and video games. It primarily refers to 3D computer graphics used to design characters, virtual environments, and special effects.</a:t>
            </a:r>
            <a:endParaRPr>
              <a:solidFill>
                <a:schemeClr val="dk1"/>
              </a:solidFill>
              <a:latin typeface="Georgia"/>
              <a:ea typeface="Georgia"/>
              <a:cs typeface="Georgia"/>
              <a:sym typeface="Georgia"/>
            </a:endParaRPr>
          </a:p>
          <a:p>
            <a:pPr indent="0" lvl="0" marL="107950" rtl="0" algn="l">
              <a:lnSpc>
                <a:spcPct val="100000"/>
              </a:lnSpc>
              <a:spcBef>
                <a:spcPts val="1000"/>
              </a:spcBef>
              <a:spcAft>
                <a:spcPts val="0"/>
              </a:spcAft>
              <a:buSzPts val="1530"/>
              <a:buNone/>
            </a:pPr>
            <a:r>
              <a:rPr lang="en-US">
                <a:solidFill>
                  <a:schemeClr val="dk1"/>
                </a:solidFill>
                <a:latin typeface="Georgia"/>
                <a:ea typeface="Georgia"/>
                <a:cs typeface="Georgia"/>
                <a:sym typeface="Georgia"/>
              </a:rPr>
              <a:t>Example: Visual Effects (VFX), CGI Animation</a:t>
            </a:r>
            <a:endParaRPr>
              <a:solidFill>
                <a:schemeClr val="dk1"/>
              </a:solidFill>
              <a:latin typeface="Georgia"/>
              <a:ea typeface="Georgia"/>
              <a:cs typeface="Georgia"/>
              <a:sym typeface="Georgia"/>
            </a:endParaRPr>
          </a:p>
          <a:p>
            <a:pPr indent="-165100" lvl="0" marL="273050" rtl="0" algn="l">
              <a:lnSpc>
                <a:spcPct val="115000"/>
              </a:lnSpc>
              <a:spcBef>
                <a:spcPts val="400"/>
              </a:spcBef>
              <a:spcAft>
                <a:spcPts val="0"/>
              </a:spcAft>
              <a:buSzPts val="1530"/>
              <a:buNone/>
            </a:pPr>
            <a:r>
              <a:t/>
            </a:r>
            <a:endParaRPr sz="2000">
              <a:solidFill>
                <a:schemeClr val="dk1"/>
              </a:solidFill>
              <a:latin typeface="Georgia"/>
              <a:ea typeface="Georgia"/>
              <a:cs typeface="Georgia"/>
              <a:sym typeface="Georgia"/>
            </a:endParaRPr>
          </a:p>
        </p:txBody>
      </p:sp>
      <p:sp>
        <p:nvSpPr>
          <p:cNvPr id="127" name="Google Shape;127;p6"/>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28" name="Google Shape;128;p6"/>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e92d2eb36f_0_264"/>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rmAutofit/>
          </a:bodyPr>
          <a:lstStyle/>
          <a:p>
            <a:pPr indent="-154305" lvl="0" marL="273050" marR="0" rtl="0" algn="l">
              <a:lnSpc>
                <a:spcPct val="115000"/>
              </a:lnSpc>
              <a:spcBef>
                <a:spcPts val="440"/>
              </a:spcBef>
              <a:spcAft>
                <a:spcPts val="0"/>
              </a:spcAft>
              <a:buClr>
                <a:schemeClr val="accent1"/>
              </a:buClr>
              <a:buSzPts val="1870"/>
              <a:buFont typeface="Noto Sans Symbols"/>
              <a:buNone/>
            </a:pPr>
            <a:r>
              <a:rPr lang="en-US" sz="2000">
                <a:solidFill>
                  <a:schemeClr val="dk1"/>
                </a:solidFill>
                <a:latin typeface="Georgia"/>
                <a:ea typeface="Georgia"/>
                <a:cs typeface="Georgia"/>
                <a:sym typeface="Georgia"/>
              </a:rPr>
              <a:t> </a:t>
            </a:r>
            <a:endParaRPr b="0" i="0" sz="2000" u="none" cap="none" strike="noStrike">
              <a:solidFill>
                <a:schemeClr val="dk1"/>
              </a:solidFill>
              <a:latin typeface="Georgia"/>
              <a:ea typeface="Georgia"/>
              <a:cs typeface="Georgia"/>
              <a:sym typeface="Georgia"/>
            </a:endParaRPr>
          </a:p>
        </p:txBody>
      </p:sp>
      <p:sp>
        <p:nvSpPr>
          <p:cNvPr id="134" name="Google Shape;134;g3e92d2eb36f_0_264"/>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35" name="Google Shape;135;g3e92d2eb36f_0_264"/>
          <p:cNvPicPr preferRelativeResize="0"/>
          <p:nvPr/>
        </p:nvPicPr>
        <p:blipFill rotWithShape="1">
          <a:blip r:embed="rId3">
            <a:alphaModFix/>
          </a:blip>
          <a:srcRect b="0" l="0" r="0" t="0"/>
          <a:stretch/>
        </p:blipFill>
        <p:spPr>
          <a:xfrm>
            <a:off x="8109832" y="482200"/>
            <a:ext cx="1224300" cy="612150"/>
          </a:xfrm>
          <a:prstGeom prst="rect">
            <a:avLst/>
          </a:prstGeom>
          <a:noFill/>
          <a:ln>
            <a:noFill/>
          </a:ln>
        </p:spPr>
      </p:pic>
      <p:pic>
        <p:nvPicPr>
          <p:cNvPr id="136" name="Google Shape;136;g3e92d2eb36f_0_264"/>
          <p:cNvPicPr preferRelativeResize="0"/>
          <p:nvPr/>
        </p:nvPicPr>
        <p:blipFill rotWithShape="1">
          <a:blip r:embed="rId4">
            <a:alphaModFix/>
          </a:blip>
          <a:srcRect b="0" l="0" r="0" t="0"/>
          <a:stretch/>
        </p:blipFill>
        <p:spPr>
          <a:xfrm>
            <a:off x="923925" y="1590675"/>
            <a:ext cx="7153826" cy="4025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rmAutofit/>
          </a:bodyPr>
          <a:lstStyle/>
          <a:p>
            <a:pPr indent="0" lvl="0" marL="273050" marR="0" rtl="0" algn="l">
              <a:lnSpc>
                <a:spcPct val="100000"/>
              </a:lnSpc>
              <a:spcBef>
                <a:spcPts val="0"/>
              </a:spcBef>
              <a:spcAft>
                <a:spcPts val="0"/>
              </a:spcAft>
              <a:buSzPts val="1530"/>
              <a:buNone/>
            </a:pPr>
            <a:r>
              <a:rPr b="1" i="0" lang="en-US" sz="2000" u="none">
                <a:solidFill>
                  <a:schemeClr val="dk1"/>
                </a:solidFill>
                <a:latin typeface="Georgia"/>
                <a:ea typeface="Georgia"/>
                <a:cs typeface="Georgia"/>
                <a:sym typeface="Georgia"/>
              </a:rPr>
              <a:t>EDUCATION AND TRAINING</a:t>
            </a:r>
            <a:endParaRPr sz="2000">
              <a:solidFill>
                <a:schemeClr val="dk1"/>
              </a:solidFill>
            </a:endParaRPr>
          </a:p>
          <a:p>
            <a:pPr indent="-219709" lvl="1" marL="547687" marR="0" rtl="0" algn="just">
              <a:lnSpc>
                <a:spcPct val="100000"/>
              </a:lnSpc>
              <a:spcBef>
                <a:spcPts val="1000"/>
              </a:spcBef>
              <a:spcAft>
                <a:spcPts val="0"/>
              </a:spcAft>
              <a:buClr>
                <a:schemeClr val="dk1"/>
              </a:buClr>
              <a:buSzPts val="700"/>
              <a:buFont typeface="Noto Sans Symbols"/>
              <a:buChar char="⚪"/>
            </a:pPr>
            <a:r>
              <a:rPr b="0" i="0" lang="en-US" sz="2000" u="none" cap="none" strike="noStrike">
                <a:solidFill>
                  <a:schemeClr val="dk1"/>
                </a:solidFill>
                <a:latin typeface="Georgia"/>
                <a:ea typeface="Georgia"/>
                <a:cs typeface="Georgia"/>
                <a:sym typeface="Georgia"/>
              </a:rPr>
              <a:t>Computer-generated models of physical, financial and economic systems are often used as educational aids.</a:t>
            </a:r>
            <a:endParaRPr sz="2000">
              <a:solidFill>
                <a:schemeClr val="dk1"/>
              </a:solidFill>
            </a:endParaRPr>
          </a:p>
          <a:p>
            <a:pPr indent="-219709" lvl="1" marL="547687" marR="0" rtl="0" algn="just">
              <a:lnSpc>
                <a:spcPct val="100000"/>
              </a:lnSpc>
              <a:spcBef>
                <a:spcPts val="440"/>
              </a:spcBef>
              <a:spcAft>
                <a:spcPts val="0"/>
              </a:spcAft>
              <a:buClr>
                <a:schemeClr val="dk1"/>
              </a:buClr>
              <a:buSzPts val="700"/>
              <a:buFont typeface="Noto Sans Symbols"/>
              <a:buChar char="⚪"/>
            </a:pPr>
            <a:r>
              <a:rPr b="0" i="0" lang="en-US" sz="2000" u="none" cap="none" strike="noStrike">
                <a:solidFill>
                  <a:schemeClr val="dk1"/>
                </a:solidFill>
                <a:latin typeface="Georgia"/>
                <a:ea typeface="Georgia"/>
                <a:cs typeface="Georgia"/>
                <a:sym typeface="Georgia"/>
              </a:rPr>
              <a:t>For some training applications, special systems are designed. Eg. Training of ship captains, aircraft pilots etc.,</a:t>
            </a:r>
            <a:endParaRPr sz="2000">
              <a:solidFill>
                <a:schemeClr val="dk1"/>
              </a:solidFill>
            </a:endParaRPr>
          </a:p>
          <a:p>
            <a:pPr indent="-219709" lvl="1" marL="547687" marR="0" rtl="0" algn="just">
              <a:lnSpc>
                <a:spcPct val="100000"/>
              </a:lnSpc>
              <a:spcBef>
                <a:spcPts val="440"/>
              </a:spcBef>
              <a:spcAft>
                <a:spcPts val="0"/>
              </a:spcAft>
              <a:buClr>
                <a:schemeClr val="dk1"/>
              </a:buClr>
              <a:buSzPts val="700"/>
              <a:buFont typeface="Noto Sans Symbols"/>
              <a:buChar char="⚪"/>
            </a:pPr>
            <a:r>
              <a:rPr b="0" i="0" lang="en-US" sz="2000" u="none" cap="none" strike="noStrike">
                <a:solidFill>
                  <a:schemeClr val="dk1"/>
                </a:solidFill>
                <a:latin typeface="Georgia"/>
                <a:ea typeface="Georgia"/>
                <a:cs typeface="Georgia"/>
                <a:sym typeface="Georgia"/>
              </a:rPr>
              <a:t>Some simulators have no video screens, but most simulators provide graphics screen for visual operation. </a:t>
            </a:r>
            <a:endParaRPr sz="2000">
              <a:solidFill>
                <a:schemeClr val="dk1"/>
              </a:solidFill>
            </a:endParaRPr>
          </a:p>
          <a:p>
            <a:pPr indent="-165100" lvl="0" marL="273050" rtl="0" algn="l">
              <a:lnSpc>
                <a:spcPct val="115000"/>
              </a:lnSpc>
              <a:spcBef>
                <a:spcPts val="1000"/>
              </a:spcBef>
              <a:spcAft>
                <a:spcPts val="0"/>
              </a:spcAft>
              <a:buSzPts val="1530"/>
              <a:buNone/>
            </a:pPr>
            <a:r>
              <a:rPr lang="en-US" sz="2000">
                <a:solidFill>
                  <a:schemeClr val="dk1"/>
                </a:solidFill>
                <a:latin typeface="Georgia"/>
                <a:ea typeface="Georgia"/>
                <a:cs typeface="Georgia"/>
                <a:sym typeface="Georgia"/>
              </a:rPr>
              <a:t>       </a:t>
            </a:r>
            <a:r>
              <a:rPr lang="en-US" sz="2000">
                <a:solidFill>
                  <a:schemeClr val="dk1"/>
                </a:solidFill>
                <a:latin typeface="Georgia"/>
                <a:ea typeface="Georgia"/>
                <a:cs typeface="Georgia"/>
                <a:sym typeface="Georgia"/>
              </a:rPr>
              <a:t>Example: Flight simulators for pilot training, Virtual labs in</a:t>
            </a:r>
            <a:endParaRPr sz="2000">
              <a:solidFill>
                <a:schemeClr val="dk1"/>
              </a:solidFill>
              <a:latin typeface="Georgia"/>
              <a:ea typeface="Georgia"/>
              <a:cs typeface="Georgia"/>
              <a:sym typeface="Georgia"/>
            </a:endParaRPr>
          </a:p>
          <a:p>
            <a:pPr indent="-165100" lvl="0" marL="273050" rtl="0" algn="l">
              <a:lnSpc>
                <a:spcPct val="115000"/>
              </a:lnSpc>
              <a:spcBef>
                <a:spcPts val="0"/>
              </a:spcBef>
              <a:spcAft>
                <a:spcPts val="0"/>
              </a:spcAft>
              <a:buSzPts val="1530"/>
              <a:buNone/>
            </a:pPr>
            <a:r>
              <a:rPr lang="en-US" sz="2000">
                <a:solidFill>
                  <a:schemeClr val="dk1"/>
                </a:solidFill>
                <a:latin typeface="Georgia"/>
                <a:ea typeface="Georgia"/>
                <a:cs typeface="Georgia"/>
                <a:sym typeface="Georgia"/>
              </a:rPr>
              <a:t>       universities</a:t>
            </a:r>
            <a:endParaRPr sz="2000">
              <a:solidFill>
                <a:schemeClr val="dk1"/>
              </a:solidFill>
              <a:latin typeface="Georgia"/>
              <a:ea typeface="Georgia"/>
              <a:cs typeface="Georgia"/>
              <a:sym typeface="Georgia"/>
            </a:endParaRPr>
          </a:p>
          <a:p>
            <a:pPr indent="-165100" lvl="0" marL="273050" rtl="0" algn="l">
              <a:lnSpc>
                <a:spcPct val="115000"/>
              </a:lnSpc>
              <a:spcBef>
                <a:spcPts val="1000"/>
              </a:spcBef>
              <a:spcAft>
                <a:spcPts val="0"/>
              </a:spcAft>
              <a:buSzPts val="1530"/>
              <a:buNone/>
            </a:pPr>
            <a:r>
              <a:t/>
            </a:r>
            <a:endParaRPr sz="2000">
              <a:solidFill>
                <a:schemeClr val="dk1"/>
              </a:solidFill>
              <a:latin typeface="Georgia"/>
              <a:ea typeface="Georgia"/>
              <a:cs typeface="Georgia"/>
              <a:sym typeface="Georgia"/>
            </a:endParaRPr>
          </a:p>
        </p:txBody>
      </p:sp>
      <p:sp>
        <p:nvSpPr>
          <p:cNvPr id="142" name="Google Shape;142;p7"/>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43" name="Google Shape;143;p7"/>
          <p:cNvPicPr preferRelativeResize="0"/>
          <p:nvPr/>
        </p:nvPicPr>
        <p:blipFill rotWithShape="1">
          <a:blip r:embed="rId3">
            <a:alphaModFix/>
          </a:blip>
          <a:srcRect b="0" l="0" r="0" t="0"/>
          <a:stretch/>
        </p:blipFill>
        <p:spPr>
          <a:xfrm>
            <a:off x="8075195" y="482200"/>
            <a:ext cx="1224300" cy="61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92d2eb36f_0_272"/>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rmAutofit/>
          </a:bodyPr>
          <a:lstStyle/>
          <a:p>
            <a:pPr indent="-154305" lvl="0" marL="273050" marR="0" rtl="0" algn="l">
              <a:lnSpc>
                <a:spcPct val="115000"/>
              </a:lnSpc>
              <a:spcBef>
                <a:spcPts val="440"/>
              </a:spcBef>
              <a:spcAft>
                <a:spcPts val="0"/>
              </a:spcAft>
              <a:buClr>
                <a:schemeClr val="accent1"/>
              </a:buClr>
              <a:buSzPts val="1870"/>
              <a:buFont typeface="Noto Sans Symbols"/>
              <a:buNone/>
            </a:pPr>
            <a:r>
              <a:rPr lang="en-US" sz="2000">
                <a:solidFill>
                  <a:schemeClr val="dk1"/>
                </a:solidFill>
                <a:latin typeface="Georgia"/>
                <a:ea typeface="Georgia"/>
                <a:cs typeface="Georgia"/>
                <a:sym typeface="Georgia"/>
              </a:rPr>
              <a:t> </a:t>
            </a:r>
            <a:endParaRPr b="0" i="0" sz="2000" u="none" cap="none" strike="noStrike">
              <a:solidFill>
                <a:schemeClr val="dk1"/>
              </a:solidFill>
              <a:latin typeface="Georgia"/>
              <a:ea typeface="Georgia"/>
              <a:cs typeface="Georgia"/>
              <a:sym typeface="Georgia"/>
            </a:endParaRPr>
          </a:p>
        </p:txBody>
      </p:sp>
      <p:sp>
        <p:nvSpPr>
          <p:cNvPr id="149" name="Google Shape;149;g3e92d2eb36f_0_272"/>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50" name="Google Shape;150;g3e92d2eb36f_0_272"/>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pic>
        <p:nvPicPr>
          <p:cNvPr id="151" name="Google Shape;151;g3e92d2eb36f_0_272"/>
          <p:cNvPicPr preferRelativeResize="0"/>
          <p:nvPr/>
        </p:nvPicPr>
        <p:blipFill rotWithShape="1">
          <a:blip r:embed="rId4">
            <a:alphaModFix/>
          </a:blip>
          <a:srcRect b="0" l="0" r="0" t="0"/>
          <a:stretch/>
        </p:blipFill>
        <p:spPr>
          <a:xfrm>
            <a:off x="628650" y="1727591"/>
            <a:ext cx="7620000" cy="43772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idx="1" type="body"/>
          </p:nvPr>
        </p:nvSpPr>
        <p:spPr>
          <a:xfrm>
            <a:off x="301750" y="1527050"/>
            <a:ext cx="83832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530"/>
              <a:buNone/>
            </a:pPr>
            <a:r>
              <a:rPr lang="en-US" sz="2000">
                <a:solidFill>
                  <a:schemeClr val="dk1"/>
                </a:solidFill>
                <a:latin typeface="Georgia"/>
                <a:ea typeface="Georgia"/>
                <a:cs typeface="Georgia"/>
                <a:sym typeface="Georgia"/>
              </a:rPr>
              <a:t>   </a:t>
            </a:r>
            <a:r>
              <a:rPr b="1" lang="en-US" sz="2000">
                <a:solidFill>
                  <a:schemeClr val="dk1"/>
                </a:solidFill>
                <a:latin typeface="Georgia"/>
                <a:ea typeface="Georgia"/>
                <a:cs typeface="Georgia"/>
                <a:sym typeface="Georgia"/>
              </a:rPr>
              <a:t> </a:t>
            </a:r>
            <a:r>
              <a:rPr b="1" lang="en-US" sz="2000" u="none">
                <a:solidFill>
                  <a:schemeClr val="dk1"/>
                </a:solidFill>
                <a:latin typeface="Georgia"/>
                <a:ea typeface="Georgia"/>
                <a:cs typeface="Georgia"/>
                <a:sym typeface="Georgia"/>
              </a:rPr>
              <a:t>VISUALIZATION</a:t>
            </a:r>
            <a:endParaRPr b="1" sz="2000">
              <a:solidFill>
                <a:schemeClr val="dk1"/>
              </a:solidFill>
            </a:endParaRPr>
          </a:p>
          <a:p>
            <a:pPr indent="-232409" lvl="1" marL="547687" marR="0" rtl="0" algn="just">
              <a:lnSpc>
                <a:spcPct val="100000"/>
              </a:lnSpc>
              <a:spcBef>
                <a:spcPts val="1000"/>
              </a:spcBef>
              <a:spcAft>
                <a:spcPts val="0"/>
              </a:spcAft>
              <a:buClr>
                <a:schemeClr val="dk1"/>
              </a:buClr>
              <a:buSzPts val="900"/>
              <a:buFont typeface="Noto Sans Symbols"/>
              <a:buChar char="⚪"/>
            </a:pPr>
            <a:r>
              <a:rPr lang="en-US" sz="2000" u="none" cap="none" strike="noStrike">
                <a:solidFill>
                  <a:schemeClr val="dk1"/>
                </a:solidFill>
                <a:latin typeface="Georgia"/>
                <a:ea typeface="Georgia"/>
                <a:cs typeface="Georgia"/>
                <a:sym typeface="Georgia"/>
              </a:rPr>
              <a:t>The numerical and scientific data are converted to a visual form for analysis and to study the behavior called visualization.</a:t>
            </a:r>
            <a:endParaRPr sz="2000">
              <a:solidFill>
                <a:schemeClr val="dk1"/>
              </a:solidFill>
            </a:endParaRPr>
          </a:p>
          <a:p>
            <a:pPr indent="-232409" lvl="1" marL="547687" marR="0" rtl="0" algn="just">
              <a:lnSpc>
                <a:spcPct val="100000"/>
              </a:lnSpc>
              <a:spcBef>
                <a:spcPts val="440"/>
              </a:spcBef>
              <a:spcAft>
                <a:spcPts val="0"/>
              </a:spcAft>
              <a:buClr>
                <a:schemeClr val="dk1"/>
              </a:buClr>
              <a:buSzPts val="900"/>
              <a:buFont typeface="Noto Sans Symbols"/>
              <a:buChar char="⚪"/>
            </a:pPr>
            <a:r>
              <a:rPr lang="en-US" sz="2000" u="none" cap="none" strike="noStrike">
                <a:solidFill>
                  <a:schemeClr val="dk1"/>
                </a:solidFill>
                <a:latin typeface="Georgia"/>
                <a:ea typeface="Georgia"/>
                <a:cs typeface="Georgia"/>
                <a:sym typeface="Georgia"/>
              </a:rPr>
              <a:t>Producing graphical representation for scientific data sets are calls scientific visualization.</a:t>
            </a:r>
            <a:endParaRPr sz="2000">
              <a:solidFill>
                <a:schemeClr val="dk1"/>
              </a:solidFill>
            </a:endParaRPr>
          </a:p>
          <a:p>
            <a:pPr indent="-232409" lvl="1" marL="547687" marR="0" rtl="0" algn="just">
              <a:lnSpc>
                <a:spcPct val="100000"/>
              </a:lnSpc>
              <a:spcBef>
                <a:spcPts val="440"/>
              </a:spcBef>
              <a:spcAft>
                <a:spcPts val="0"/>
              </a:spcAft>
              <a:buClr>
                <a:schemeClr val="dk1"/>
              </a:buClr>
              <a:buSzPts val="900"/>
              <a:buFont typeface="Noto Sans Symbols"/>
              <a:buChar char="⚪"/>
            </a:pPr>
            <a:r>
              <a:rPr lang="en-US" sz="2000" u="none" cap="none" strike="noStrike">
                <a:solidFill>
                  <a:schemeClr val="dk1"/>
                </a:solidFill>
                <a:latin typeface="Georgia"/>
                <a:ea typeface="Georgia"/>
                <a:cs typeface="Georgia"/>
                <a:sym typeface="Georgia"/>
              </a:rPr>
              <a:t>And business visualization is used to represent the data sets related to commerce and industry.</a:t>
            </a:r>
            <a:endParaRPr sz="2000">
              <a:solidFill>
                <a:schemeClr val="dk1"/>
              </a:solidFill>
            </a:endParaRPr>
          </a:p>
          <a:p>
            <a:pPr indent="-232410" lvl="1" marL="547688" marR="0" rtl="0" algn="just">
              <a:lnSpc>
                <a:spcPct val="100000"/>
              </a:lnSpc>
              <a:spcBef>
                <a:spcPts val="440"/>
              </a:spcBef>
              <a:spcAft>
                <a:spcPts val="0"/>
              </a:spcAft>
              <a:buClr>
                <a:schemeClr val="dk1"/>
              </a:buClr>
              <a:buSzPts val="900"/>
              <a:buFont typeface="Noto Sans Symbols"/>
              <a:buChar char="⚪"/>
            </a:pPr>
            <a:r>
              <a:rPr lang="en-US" sz="2000" u="none" cap="none" strike="noStrike">
                <a:solidFill>
                  <a:schemeClr val="dk1"/>
                </a:solidFill>
                <a:latin typeface="Georgia"/>
                <a:ea typeface="Georgia"/>
                <a:cs typeface="Georgia"/>
                <a:sym typeface="Georgia"/>
              </a:rPr>
              <a:t>The visualization can be either 2D or 3D.</a:t>
            </a:r>
            <a:endParaRPr sz="2000" u="none" cap="none" strike="noStrike">
              <a:solidFill>
                <a:schemeClr val="dk1"/>
              </a:solidFill>
              <a:latin typeface="Georgia"/>
              <a:ea typeface="Georgia"/>
              <a:cs typeface="Georgia"/>
              <a:sym typeface="Georgia"/>
            </a:endParaRPr>
          </a:p>
          <a:p>
            <a:pPr indent="-165100" lvl="0" marL="273050" rtl="0" algn="l">
              <a:lnSpc>
                <a:spcPct val="115000"/>
              </a:lnSpc>
              <a:spcBef>
                <a:spcPts val="1000"/>
              </a:spcBef>
              <a:spcAft>
                <a:spcPts val="0"/>
              </a:spcAft>
              <a:buSzPts val="1530"/>
              <a:buNone/>
            </a:pPr>
            <a:r>
              <a:rPr lang="en-US" sz="2000">
                <a:solidFill>
                  <a:schemeClr val="dk1"/>
                </a:solidFill>
                <a:latin typeface="Georgia"/>
                <a:ea typeface="Georgia"/>
                <a:cs typeface="Georgia"/>
                <a:sym typeface="Georgia"/>
              </a:rPr>
              <a:t>        </a:t>
            </a:r>
            <a:r>
              <a:rPr lang="en-US" sz="2000">
                <a:solidFill>
                  <a:schemeClr val="dk1"/>
                </a:solidFill>
                <a:latin typeface="Georgia"/>
                <a:ea typeface="Georgia"/>
                <a:cs typeface="Georgia"/>
                <a:sym typeface="Georgia"/>
              </a:rPr>
              <a:t>Example: COVID-19 dashboards, Weather forecasting systems</a:t>
            </a:r>
            <a:endParaRPr sz="2000">
              <a:solidFill>
                <a:schemeClr val="dk1"/>
              </a:solidFill>
              <a:latin typeface="Georgia"/>
              <a:ea typeface="Georgia"/>
              <a:cs typeface="Georgia"/>
              <a:sym typeface="Georgia"/>
            </a:endParaRPr>
          </a:p>
          <a:p>
            <a:pPr indent="-165100" lvl="0" marL="273050" rtl="0" algn="l">
              <a:lnSpc>
                <a:spcPct val="115000"/>
              </a:lnSpc>
              <a:spcBef>
                <a:spcPts val="400"/>
              </a:spcBef>
              <a:spcAft>
                <a:spcPts val="0"/>
              </a:spcAft>
              <a:buSzPts val="1530"/>
              <a:buNone/>
            </a:pPr>
            <a:r>
              <a:t/>
            </a:r>
            <a:endParaRPr sz="2000">
              <a:solidFill>
                <a:schemeClr val="dk1"/>
              </a:solidFill>
              <a:latin typeface="Georgia"/>
              <a:ea typeface="Georgia"/>
              <a:cs typeface="Georgia"/>
              <a:sym typeface="Georgia"/>
            </a:endParaRPr>
          </a:p>
          <a:p>
            <a:pPr indent="-154305" lvl="0" marL="273050" marR="0" rtl="0" algn="l">
              <a:lnSpc>
                <a:spcPct val="115000"/>
              </a:lnSpc>
              <a:spcBef>
                <a:spcPts val="440"/>
              </a:spcBef>
              <a:spcAft>
                <a:spcPts val="0"/>
              </a:spcAft>
              <a:buClr>
                <a:schemeClr val="accent1"/>
              </a:buClr>
              <a:buSzPts val="1870"/>
              <a:buFont typeface="Noto Sans Symbols"/>
              <a:buNone/>
            </a:pPr>
            <a:r>
              <a:t/>
            </a:r>
            <a:endParaRPr sz="2000" u="none" cap="none" strike="noStrike">
              <a:solidFill>
                <a:schemeClr val="dk1"/>
              </a:solidFill>
              <a:latin typeface="Georgia"/>
              <a:ea typeface="Georgia"/>
              <a:cs typeface="Georgia"/>
              <a:sym typeface="Georgia"/>
            </a:endParaRPr>
          </a:p>
        </p:txBody>
      </p:sp>
      <p:sp>
        <p:nvSpPr>
          <p:cNvPr id="157" name="Google Shape;157;p8"/>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58" name="Google Shape;158;p8"/>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92d2eb36f_0_279"/>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Autofit/>
          </a:bodyPr>
          <a:lstStyle/>
          <a:p>
            <a:pPr indent="-154305" lvl="0" marL="273050" marR="0" rtl="0" algn="l">
              <a:lnSpc>
                <a:spcPct val="115000"/>
              </a:lnSpc>
              <a:spcBef>
                <a:spcPts val="440"/>
              </a:spcBef>
              <a:spcAft>
                <a:spcPts val="0"/>
              </a:spcAft>
              <a:buClr>
                <a:schemeClr val="accent1"/>
              </a:buClr>
              <a:buSzPts val="1870"/>
              <a:buFont typeface="Noto Sans Symbols"/>
              <a:buNone/>
            </a:pPr>
            <a:r>
              <a:rPr lang="en-US" sz="2000">
                <a:solidFill>
                  <a:schemeClr val="dk1"/>
                </a:solidFill>
                <a:latin typeface="Georgia"/>
                <a:ea typeface="Georgia"/>
                <a:cs typeface="Georgia"/>
                <a:sym typeface="Georgia"/>
              </a:rPr>
              <a:t> </a:t>
            </a:r>
            <a:endParaRPr sz="2000" u="none" cap="none" strike="noStrike">
              <a:solidFill>
                <a:schemeClr val="dk1"/>
              </a:solidFill>
              <a:latin typeface="Georgia"/>
              <a:ea typeface="Georgia"/>
              <a:cs typeface="Georgia"/>
              <a:sym typeface="Georgia"/>
            </a:endParaRPr>
          </a:p>
        </p:txBody>
      </p:sp>
      <p:sp>
        <p:nvSpPr>
          <p:cNvPr id="164" name="Google Shape;164;g3e92d2eb36f_0_279"/>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65" name="Google Shape;165;g3e92d2eb36f_0_279"/>
          <p:cNvPicPr preferRelativeResize="0"/>
          <p:nvPr/>
        </p:nvPicPr>
        <p:blipFill rotWithShape="1">
          <a:blip r:embed="rId3">
            <a:alphaModFix/>
          </a:blip>
          <a:srcRect b="0" l="0" r="0" t="0"/>
          <a:stretch/>
        </p:blipFill>
        <p:spPr>
          <a:xfrm>
            <a:off x="8092514" y="482200"/>
            <a:ext cx="1224300" cy="612150"/>
          </a:xfrm>
          <a:prstGeom prst="rect">
            <a:avLst/>
          </a:prstGeom>
          <a:noFill/>
          <a:ln>
            <a:noFill/>
          </a:ln>
        </p:spPr>
      </p:pic>
      <p:pic>
        <p:nvPicPr>
          <p:cNvPr id="166" name="Google Shape;166;g3e92d2eb36f_0_279"/>
          <p:cNvPicPr preferRelativeResize="0"/>
          <p:nvPr/>
        </p:nvPicPr>
        <p:blipFill rotWithShape="1">
          <a:blip r:embed="rId4">
            <a:alphaModFix/>
          </a:blip>
          <a:srcRect b="0" l="0" r="0" t="0"/>
          <a:stretch/>
        </p:blipFill>
        <p:spPr>
          <a:xfrm>
            <a:off x="1320536" y="1622300"/>
            <a:ext cx="6184499" cy="41229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idx="1" type="body"/>
          </p:nvPr>
        </p:nvSpPr>
        <p:spPr>
          <a:xfrm>
            <a:off x="301750" y="1527050"/>
            <a:ext cx="8192700" cy="4572000"/>
          </a:xfrm>
          <a:prstGeom prst="rect">
            <a:avLst/>
          </a:prstGeom>
          <a:noFill/>
          <a:ln>
            <a:noFill/>
          </a:ln>
        </p:spPr>
        <p:txBody>
          <a:bodyPr anchorCtr="0" anchor="t" bIns="45700" lIns="91425" spcFirstLastPara="1" rIns="91425" wrap="square" tIns="45700">
            <a:normAutofit/>
          </a:bodyPr>
          <a:lstStyle/>
          <a:p>
            <a:pPr indent="0" lvl="0" marL="273050" marR="0" rtl="0" algn="l">
              <a:lnSpc>
                <a:spcPct val="100000"/>
              </a:lnSpc>
              <a:spcBef>
                <a:spcPts val="0"/>
              </a:spcBef>
              <a:spcAft>
                <a:spcPts val="0"/>
              </a:spcAft>
              <a:buSzPts val="1530"/>
              <a:buNone/>
            </a:pPr>
            <a:r>
              <a:rPr b="1" i="0" lang="en-US" sz="2000" u="none">
                <a:solidFill>
                  <a:schemeClr val="dk1"/>
                </a:solidFill>
                <a:latin typeface="Georgia"/>
                <a:ea typeface="Georgia"/>
                <a:cs typeface="Georgia"/>
                <a:sym typeface="Georgia"/>
              </a:rPr>
              <a:t>IMAGE PROCESSING</a:t>
            </a:r>
            <a:endParaRPr sz="2000">
              <a:solidFill>
                <a:schemeClr val="dk1"/>
              </a:solidFill>
            </a:endParaRPr>
          </a:p>
          <a:p>
            <a:pPr indent="-226059" lvl="1" marL="547687" marR="0" rtl="0" algn="just">
              <a:lnSpc>
                <a:spcPct val="100000"/>
              </a:lnSpc>
              <a:spcBef>
                <a:spcPts val="100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Image processing applies techniques to modify or interpret existing </a:t>
            </a:r>
            <a:r>
              <a:rPr lang="en-US" sz="2000">
                <a:solidFill>
                  <a:schemeClr val="dk1"/>
                </a:solidFill>
                <a:latin typeface="Georgia"/>
                <a:ea typeface="Georgia"/>
                <a:cs typeface="Georgia"/>
                <a:sym typeface="Georgia"/>
              </a:rPr>
              <a:t>image</a:t>
            </a:r>
            <a:r>
              <a:rPr b="0" i="0" lang="en-US" sz="2000" u="none" cap="none" strike="noStrike">
                <a:solidFill>
                  <a:schemeClr val="dk1"/>
                </a:solidFill>
                <a:latin typeface="Georgia"/>
                <a:ea typeface="Georgia"/>
                <a:cs typeface="Georgia"/>
                <a:sym typeface="Georgia"/>
              </a:rPr>
              <a:t>s or create new images.</a:t>
            </a:r>
            <a:endParaRPr sz="2000">
              <a:solidFill>
                <a:schemeClr val="dk1"/>
              </a:solidFill>
            </a:endParaRPr>
          </a:p>
          <a:p>
            <a:pPr indent="-226059" lvl="1" marL="547687"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To apply image processing methods, the image must be </a:t>
            </a:r>
            <a:r>
              <a:rPr b="1" i="0" lang="en-US" sz="2000" u="none" cap="none" strike="noStrike">
                <a:solidFill>
                  <a:schemeClr val="dk1"/>
                </a:solidFill>
                <a:latin typeface="Georgia"/>
                <a:ea typeface="Georgia"/>
                <a:cs typeface="Georgia"/>
                <a:sym typeface="Georgia"/>
              </a:rPr>
              <a:t>digitized first</a:t>
            </a:r>
            <a:r>
              <a:rPr b="0" i="0" lang="en-US" sz="2000" u="none" cap="none" strike="noStrike">
                <a:solidFill>
                  <a:schemeClr val="dk1"/>
                </a:solidFill>
                <a:latin typeface="Georgia"/>
                <a:ea typeface="Georgia"/>
                <a:cs typeface="Georgia"/>
                <a:sym typeface="Georgia"/>
              </a:rPr>
              <a:t>.</a:t>
            </a:r>
            <a:endParaRPr sz="2000">
              <a:solidFill>
                <a:schemeClr val="dk1"/>
              </a:solidFill>
            </a:endParaRPr>
          </a:p>
          <a:p>
            <a:pPr indent="-226059" lvl="1" marL="547687" marR="0" rtl="0" algn="just">
              <a:lnSpc>
                <a:spcPct val="100000"/>
              </a:lnSpc>
              <a:spcBef>
                <a:spcPts val="440"/>
              </a:spcBef>
              <a:spcAft>
                <a:spcPts val="0"/>
              </a:spcAft>
              <a:buClr>
                <a:schemeClr val="dk1"/>
              </a:buClr>
              <a:buSzPts val="800"/>
              <a:buFont typeface="Noto Sans Symbols"/>
              <a:buChar char="⚪"/>
            </a:pPr>
            <a:r>
              <a:rPr b="0" i="0" lang="en-US" sz="2000" u="none" cap="none" strike="noStrike">
                <a:solidFill>
                  <a:schemeClr val="dk1"/>
                </a:solidFill>
                <a:latin typeface="Georgia"/>
                <a:ea typeface="Georgia"/>
                <a:cs typeface="Georgia"/>
                <a:sym typeface="Georgia"/>
              </a:rPr>
              <a:t>Medical applications also make extensive use of image processing techniques for picture enhancements, simulations of operations, etc.</a:t>
            </a:r>
            <a:endParaRPr sz="2000">
              <a:solidFill>
                <a:schemeClr val="dk1"/>
              </a:solidFill>
            </a:endParaRPr>
          </a:p>
          <a:p>
            <a:pPr indent="-165100" lvl="0" marL="273050" rtl="0" algn="l">
              <a:lnSpc>
                <a:spcPct val="115000"/>
              </a:lnSpc>
              <a:spcBef>
                <a:spcPts val="1000"/>
              </a:spcBef>
              <a:spcAft>
                <a:spcPts val="0"/>
              </a:spcAft>
              <a:buSzPts val="1530"/>
              <a:buNone/>
            </a:pPr>
            <a:r>
              <a:rPr lang="en-US" sz="2000">
                <a:solidFill>
                  <a:schemeClr val="dk1"/>
                </a:solidFill>
                <a:latin typeface="Georgia"/>
                <a:ea typeface="Georgia"/>
                <a:cs typeface="Georgia"/>
                <a:sym typeface="Georgia"/>
              </a:rPr>
              <a:t>       </a:t>
            </a:r>
            <a:r>
              <a:rPr lang="en-US" sz="2000">
                <a:solidFill>
                  <a:schemeClr val="dk1"/>
                </a:solidFill>
                <a:latin typeface="Georgia"/>
                <a:ea typeface="Georgia"/>
                <a:cs typeface="Georgia"/>
                <a:sym typeface="Georgia"/>
              </a:rPr>
              <a:t>Example: Adobe Photoshop, Snapchat filters</a:t>
            </a:r>
            <a:endParaRPr sz="2000">
              <a:solidFill>
                <a:schemeClr val="dk1"/>
              </a:solidFill>
              <a:latin typeface="Georgia"/>
              <a:ea typeface="Georgia"/>
              <a:cs typeface="Georgia"/>
              <a:sym typeface="Georgia"/>
            </a:endParaRPr>
          </a:p>
          <a:p>
            <a:pPr indent="-165100" lvl="0" marL="273050" rtl="0" algn="l">
              <a:lnSpc>
                <a:spcPct val="115000"/>
              </a:lnSpc>
              <a:spcBef>
                <a:spcPts val="400"/>
              </a:spcBef>
              <a:spcAft>
                <a:spcPts val="0"/>
              </a:spcAft>
              <a:buSzPts val="1530"/>
              <a:buNone/>
            </a:pPr>
            <a:r>
              <a:t/>
            </a:r>
            <a:endParaRPr sz="2000">
              <a:solidFill>
                <a:schemeClr val="dk1"/>
              </a:solidFill>
              <a:latin typeface="Georgia"/>
              <a:ea typeface="Georgia"/>
              <a:cs typeface="Georgia"/>
              <a:sym typeface="Georgia"/>
            </a:endParaRPr>
          </a:p>
        </p:txBody>
      </p:sp>
      <p:sp>
        <p:nvSpPr>
          <p:cNvPr id="172" name="Google Shape;172;p9"/>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73" name="Google Shape;173;p9"/>
          <p:cNvPicPr preferRelativeResize="0"/>
          <p:nvPr/>
        </p:nvPicPr>
        <p:blipFill rotWithShape="1">
          <a:blip r:embed="rId3">
            <a:alphaModFix/>
          </a:blip>
          <a:srcRect b="0" l="0" r="0" t="0"/>
          <a:stretch/>
        </p:blipFill>
        <p:spPr>
          <a:xfrm>
            <a:off x="8096212" y="482200"/>
            <a:ext cx="1224300" cy="612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g3e955f72aec_0_9" title="Screenshot 2026-05-18 at 1.57.20 AM.png"/>
          <p:cNvPicPr preferRelativeResize="0"/>
          <p:nvPr/>
        </p:nvPicPr>
        <p:blipFill rotWithShape="1">
          <a:blip r:embed="rId3">
            <a:alphaModFix/>
          </a:blip>
          <a:srcRect b="14886" l="0" r="0" t="0"/>
          <a:stretch/>
        </p:blipFill>
        <p:spPr>
          <a:xfrm>
            <a:off x="438150" y="1315325"/>
            <a:ext cx="8267700" cy="3421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g3e955f72aec_0_2" title="3-s2.0-B9780128136577000182-f05-02-9780128136577.jpg"/>
          <p:cNvPicPr preferRelativeResize="0"/>
          <p:nvPr/>
        </p:nvPicPr>
        <p:blipFill>
          <a:blip r:embed="rId3">
            <a:alphaModFix/>
          </a:blip>
          <a:stretch>
            <a:fillRect/>
          </a:stretch>
        </p:blipFill>
        <p:spPr>
          <a:xfrm>
            <a:off x="3711302" y="3286120"/>
            <a:ext cx="4943475" cy="3143250"/>
          </a:xfrm>
          <a:prstGeom prst="rect">
            <a:avLst/>
          </a:prstGeom>
          <a:noFill/>
          <a:ln>
            <a:noFill/>
          </a:ln>
        </p:spPr>
      </p:pic>
      <p:pic>
        <p:nvPicPr>
          <p:cNvPr id="184" name="Google Shape;184;g3e955f72aec_0_2" title="img-rep.png"/>
          <p:cNvPicPr preferRelativeResize="0"/>
          <p:nvPr/>
        </p:nvPicPr>
        <p:blipFill>
          <a:blip r:embed="rId4">
            <a:alphaModFix/>
          </a:blip>
          <a:stretch>
            <a:fillRect/>
          </a:stretch>
        </p:blipFill>
        <p:spPr>
          <a:xfrm>
            <a:off x="723934" y="485605"/>
            <a:ext cx="3605600" cy="2709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e92d2eb36f_0_286"/>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rmAutofit/>
          </a:bodyPr>
          <a:lstStyle/>
          <a:p>
            <a:pPr indent="-154305" lvl="0" marL="273050" marR="0" rtl="0" algn="l">
              <a:lnSpc>
                <a:spcPct val="115000"/>
              </a:lnSpc>
              <a:spcBef>
                <a:spcPts val="440"/>
              </a:spcBef>
              <a:spcAft>
                <a:spcPts val="0"/>
              </a:spcAft>
              <a:buClr>
                <a:schemeClr val="accent1"/>
              </a:buClr>
              <a:buSzPts val="1870"/>
              <a:buFont typeface="Noto Sans Symbols"/>
              <a:buNone/>
            </a:pPr>
            <a:r>
              <a:rPr lang="en-US" sz="2000">
                <a:solidFill>
                  <a:schemeClr val="dk1"/>
                </a:solidFill>
                <a:latin typeface="Georgia"/>
                <a:ea typeface="Georgia"/>
                <a:cs typeface="Georgia"/>
                <a:sym typeface="Georgia"/>
              </a:rPr>
              <a:t> </a:t>
            </a:r>
            <a:endParaRPr b="0" i="0" sz="2000" u="none" cap="none" strike="noStrike">
              <a:solidFill>
                <a:schemeClr val="dk1"/>
              </a:solidFill>
              <a:latin typeface="Georgia"/>
              <a:ea typeface="Georgia"/>
              <a:cs typeface="Georgia"/>
              <a:sym typeface="Georgia"/>
            </a:endParaRPr>
          </a:p>
        </p:txBody>
      </p:sp>
      <p:sp>
        <p:nvSpPr>
          <p:cNvPr id="190" name="Google Shape;190;g3e92d2eb36f_0_286"/>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91" name="Google Shape;191;g3e92d2eb36f_0_286"/>
          <p:cNvPicPr preferRelativeResize="0"/>
          <p:nvPr/>
        </p:nvPicPr>
        <p:blipFill rotWithShape="1">
          <a:blip r:embed="rId3">
            <a:alphaModFix/>
          </a:blip>
          <a:srcRect b="0" l="0" r="0" t="0"/>
          <a:stretch/>
        </p:blipFill>
        <p:spPr>
          <a:xfrm>
            <a:off x="8075195" y="482200"/>
            <a:ext cx="1224300" cy="612150"/>
          </a:xfrm>
          <a:prstGeom prst="rect">
            <a:avLst/>
          </a:prstGeom>
          <a:noFill/>
          <a:ln>
            <a:noFill/>
          </a:ln>
        </p:spPr>
      </p:pic>
      <p:pic>
        <p:nvPicPr>
          <p:cNvPr id="192" name="Google Shape;192;g3e92d2eb36f_0_286"/>
          <p:cNvPicPr preferRelativeResize="0"/>
          <p:nvPr/>
        </p:nvPicPr>
        <p:blipFill rotWithShape="1">
          <a:blip r:embed="rId4">
            <a:alphaModFix/>
          </a:blip>
          <a:srcRect b="0" l="0" r="0" t="0"/>
          <a:stretch/>
        </p:blipFill>
        <p:spPr>
          <a:xfrm>
            <a:off x="1872000" y="1527050"/>
            <a:ext cx="4886999" cy="48869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0"/>
          <p:cNvSpPr txBox="1"/>
          <p:nvPr>
            <p:ph idx="1" type="body"/>
          </p:nvPr>
        </p:nvSpPr>
        <p:spPr>
          <a:xfrm>
            <a:off x="301750" y="1527050"/>
            <a:ext cx="8244900" cy="45720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2295"/>
              <a:buFont typeface="Noto Sans Symbols"/>
              <a:buNone/>
            </a:pPr>
            <a:r>
              <a:rPr b="1" lang="en-US" sz="2000">
                <a:solidFill>
                  <a:schemeClr val="dk1"/>
                </a:solidFill>
                <a:latin typeface="Times New Roman"/>
                <a:ea typeface="Times New Roman"/>
                <a:cs typeface="Times New Roman"/>
                <a:sym typeface="Times New Roman"/>
              </a:rPr>
              <a:t>    </a:t>
            </a:r>
            <a:r>
              <a:rPr b="1" i="0" lang="en-US" sz="2000" u="none">
                <a:solidFill>
                  <a:schemeClr val="dk1"/>
                </a:solidFill>
                <a:latin typeface="Times New Roman"/>
                <a:ea typeface="Times New Roman"/>
                <a:cs typeface="Times New Roman"/>
                <a:sym typeface="Times New Roman"/>
              </a:rPr>
              <a:t>GRAPHICAL USER INTERFACE</a:t>
            </a:r>
            <a:endParaRPr sz="2000">
              <a:solidFill>
                <a:schemeClr val="dk1"/>
              </a:solidFill>
              <a:latin typeface="Times New Roman"/>
              <a:ea typeface="Times New Roman"/>
              <a:cs typeface="Times New Roman"/>
              <a:sym typeface="Times New Roman"/>
            </a:endParaRPr>
          </a:p>
          <a:p>
            <a:pPr indent="-226059" lvl="1" marL="547687" marR="0" rtl="0" algn="just">
              <a:lnSpc>
                <a:spcPct val="100000"/>
              </a:lnSpc>
              <a:spcBef>
                <a:spcPts val="1000"/>
              </a:spcBef>
              <a:spcAft>
                <a:spcPts val="0"/>
              </a:spcAft>
              <a:buClr>
                <a:schemeClr val="dk1"/>
              </a:buClr>
              <a:buSzPts val="800"/>
              <a:buFont typeface="Times New Roman"/>
              <a:buChar char="⚪"/>
            </a:pPr>
            <a:r>
              <a:rPr i="0" lang="en-US" sz="2000" u="none" cap="none" strike="noStrike">
                <a:solidFill>
                  <a:schemeClr val="dk1"/>
                </a:solidFill>
                <a:latin typeface="Times New Roman"/>
                <a:ea typeface="Times New Roman"/>
                <a:cs typeface="Times New Roman"/>
                <a:sym typeface="Times New Roman"/>
              </a:rPr>
              <a:t>Nowadays software packages provide graphics user interface (GUI) for the user to work easily.</a:t>
            </a:r>
            <a:endParaRPr sz="2000">
              <a:solidFill>
                <a:schemeClr val="dk1"/>
              </a:solidFill>
              <a:latin typeface="Times New Roman"/>
              <a:ea typeface="Times New Roman"/>
              <a:cs typeface="Times New Roman"/>
              <a:sym typeface="Times New Roman"/>
            </a:endParaRPr>
          </a:p>
          <a:p>
            <a:pPr indent="-226059" lvl="1" marL="547687" marR="0" rtl="0" algn="just">
              <a:lnSpc>
                <a:spcPct val="100000"/>
              </a:lnSpc>
              <a:spcBef>
                <a:spcPts val="440"/>
              </a:spcBef>
              <a:spcAft>
                <a:spcPts val="0"/>
              </a:spcAft>
              <a:buClr>
                <a:schemeClr val="dk1"/>
              </a:buClr>
              <a:buSzPts val="800"/>
              <a:buFont typeface="Times New Roman"/>
              <a:buChar char="⚪"/>
            </a:pPr>
            <a:r>
              <a:rPr i="0" lang="en-US" sz="2000" u="none" cap="none" strike="noStrike">
                <a:solidFill>
                  <a:schemeClr val="dk1"/>
                </a:solidFill>
                <a:latin typeface="Times New Roman"/>
                <a:ea typeface="Times New Roman"/>
                <a:cs typeface="Times New Roman"/>
                <a:sym typeface="Times New Roman"/>
              </a:rPr>
              <a:t>A major component in GUI is a window. </a:t>
            </a:r>
            <a:endParaRPr sz="2000">
              <a:solidFill>
                <a:schemeClr val="dk1"/>
              </a:solidFill>
              <a:latin typeface="Times New Roman"/>
              <a:ea typeface="Times New Roman"/>
              <a:cs typeface="Times New Roman"/>
              <a:sym typeface="Times New Roman"/>
            </a:endParaRPr>
          </a:p>
          <a:p>
            <a:pPr indent="-226059" lvl="1" marL="547687" marR="0" rtl="0" algn="just">
              <a:lnSpc>
                <a:spcPct val="100000"/>
              </a:lnSpc>
              <a:spcBef>
                <a:spcPts val="440"/>
              </a:spcBef>
              <a:spcAft>
                <a:spcPts val="0"/>
              </a:spcAft>
              <a:buClr>
                <a:schemeClr val="dk1"/>
              </a:buClr>
              <a:buSzPts val="800"/>
              <a:buFont typeface="Times New Roman"/>
              <a:buChar char="⚪"/>
            </a:pPr>
            <a:r>
              <a:rPr i="0" lang="en-US" sz="2000" u="none" cap="none" strike="noStrike">
                <a:solidFill>
                  <a:schemeClr val="dk1"/>
                </a:solidFill>
                <a:latin typeface="Times New Roman"/>
                <a:ea typeface="Times New Roman"/>
                <a:cs typeface="Times New Roman"/>
                <a:sym typeface="Times New Roman"/>
              </a:rPr>
              <a:t>Multiple windows can be opened at a time.</a:t>
            </a:r>
            <a:endParaRPr sz="2000">
              <a:solidFill>
                <a:schemeClr val="dk1"/>
              </a:solidFill>
              <a:latin typeface="Times New Roman"/>
              <a:ea typeface="Times New Roman"/>
              <a:cs typeface="Times New Roman"/>
              <a:sym typeface="Times New Roman"/>
            </a:endParaRPr>
          </a:p>
          <a:p>
            <a:pPr indent="-226059" lvl="1" marL="547687" marR="0" rtl="0" algn="just">
              <a:lnSpc>
                <a:spcPct val="100000"/>
              </a:lnSpc>
              <a:spcBef>
                <a:spcPts val="440"/>
              </a:spcBef>
              <a:spcAft>
                <a:spcPts val="0"/>
              </a:spcAft>
              <a:buClr>
                <a:schemeClr val="dk1"/>
              </a:buClr>
              <a:buSzPts val="800"/>
              <a:buFont typeface="Times New Roman"/>
              <a:buChar char="⚪"/>
            </a:pPr>
            <a:r>
              <a:rPr i="0" lang="en-US" sz="2000" u="none" cap="none" strike="noStrike">
                <a:solidFill>
                  <a:schemeClr val="dk1"/>
                </a:solidFill>
                <a:latin typeface="Times New Roman"/>
                <a:ea typeface="Times New Roman"/>
                <a:cs typeface="Times New Roman"/>
                <a:sym typeface="Times New Roman"/>
              </a:rPr>
              <a:t>To activate any one of the window, the user needs just to check on that window. </a:t>
            </a:r>
            <a:endParaRPr sz="2000">
              <a:solidFill>
                <a:schemeClr val="dk1"/>
              </a:solidFill>
              <a:latin typeface="Times New Roman"/>
              <a:ea typeface="Times New Roman"/>
              <a:cs typeface="Times New Roman"/>
              <a:sym typeface="Times New Roman"/>
            </a:endParaRPr>
          </a:p>
          <a:p>
            <a:pPr indent="-226059" lvl="1" marL="547687" marR="0" rtl="0" algn="just">
              <a:lnSpc>
                <a:spcPct val="100000"/>
              </a:lnSpc>
              <a:spcBef>
                <a:spcPts val="440"/>
              </a:spcBef>
              <a:spcAft>
                <a:spcPts val="0"/>
              </a:spcAft>
              <a:buClr>
                <a:schemeClr val="dk1"/>
              </a:buClr>
              <a:buSzPts val="800"/>
              <a:buFont typeface="Times New Roman"/>
              <a:buChar char="⚪"/>
            </a:pPr>
            <a:r>
              <a:rPr i="0" lang="en-US" sz="2000" u="none" cap="none" strike="noStrike">
                <a:solidFill>
                  <a:schemeClr val="dk1"/>
                </a:solidFill>
                <a:latin typeface="Times New Roman"/>
                <a:ea typeface="Times New Roman"/>
                <a:cs typeface="Times New Roman"/>
                <a:sym typeface="Times New Roman"/>
              </a:rPr>
              <a:t>Menus and icons are used for fast selection of processing operations.</a:t>
            </a:r>
            <a:endParaRPr sz="2000">
              <a:solidFill>
                <a:schemeClr val="dk1"/>
              </a:solidFill>
              <a:latin typeface="Times New Roman"/>
              <a:ea typeface="Times New Roman"/>
              <a:cs typeface="Times New Roman"/>
              <a:sym typeface="Times New Roman"/>
            </a:endParaRPr>
          </a:p>
          <a:p>
            <a:pPr indent="-226059" lvl="1" marL="547687" marR="0" rtl="0" algn="just">
              <a:lnSpc>
                <a:spcPct val="100000"/>
              </a:lnSpc>
              <a:spcBef>
                <a:spcPts val="440"/>
              </a:spcBef>
              <a:spcAft>
                <a:spcPts val="0"/>
              </a:spcAft>
              <a:buClr>
                <a:schemeClr val="dk1"/>
              </a:buClr>
              <a:buSzPts val="800"/>
              <a:buFont typeface="Times New Roman"/>
              <a:buChar char="⚪"/>
            </a:pPr>
            <a:r>
              <a:rPr i="0" lang="en-US" sz="2000" u="none" cap="none" strike="noStrike">
                <a:solidFill>
                  <a:schemeClr val="dk1"/>
                </a:solidFill>
                <a:latin typeface="Times New Roman"/>
                <a:ea typeface="Times New Roman"/>
                <a:cs typeface="Times New Roman"/>
                <a:sym typeface="Times New Roman"/>
              </a:rPr>
              <a:t>Icons are used as shortcut to perform functions. The advantages of icons are which takes less screen space. </a:t>
            </a:r>
            <a:endParaRPr sz="2000">
              <a:solidFill>
                <a:schemeClr val="dk1"/>
              </a:solidFill>
              <a:latin typeface="Times New Roman"/>
              <a:ea typeface="Times New Roman"/>
              <a:cs typeface="Times New Roman"/>
              <a:sym typeface="Times New Roman"/>
            </a:endParaRPr>
          </a:p>
          <a:p>
            <a:pPr indent="-226060" lvl="1" marL="547688" marR="0" rtl="0" algn="just">
              <a:lnSpc>
                <a:spcPct val="100000"/>
              </a:lnSpc>
              <a:spcBef>
                <a:spcPts val="440"/>
              </a:spcBef>
              <a:spcAft>
                <a:spcPts val="0"/>
              </a:spcAft>
              <a:buClr>
                <a:schemeClr val="dk1"/>
              </a:buClr>
              <a:buSzPts val="800"/>
              <a:buFont typeface="Times New Roman"/>
              <a:buChar char="⚪"/>
            </a:pPr>
            <a:r>
              <a:rPr i="0" lang="en-US" sz="2000" u="none" cap="none" strike="noStrike">
                <a:solidFill>
                  <a:schemeClr val="dk1"/>
                </a:solidFill>
                <a:latin typeface="Times New Roman"/>
                <a:ea typeface="Times New Roman"/>
                <a:cs typeface="Times New Roman"/>
                <a:sym typeface="Times New Roman"/>
              </a:rPr>
              <a:t>And some other interfaces like text box, buttons, and list are also used.</a:t>
            </a:r>
            <a:endParaRPr i="0" sz="2000" u="none" cap="none" strike="noStrike">
              <a:solidFill>
                <a:schemeClr val="dk1"/>
              </a:solidFill>
              <a:latin typeface="Times New Roman"/>
              <a:ea typeface="Times New Roman"/>
              <a:cs typeface="Times New Roman"/>
              <a:sym typeface="Times New Roman"/>
            </a:endParaRPr>
          </a:p>
          <a:p>
            <a:pPr indent="-165100" lvl="0" marL="273050" rtl="0" algn="l">
              <a:lnSpc>
                <a:spcPct val="115000"/>
              </a:lnSpc>
              <a:spcBef>
                <a:spcPts val="1000"/>
              </a:spcBef>
              <a:spcAft>
                <a:spcPts val="0"/>
              </a:spcAft>
              <a:buSzPts val="1530"/>
              <a:buNone/>
            </a:pPr>
            <a:r>
              <a:rPr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Example: Microsoft Windows, Android mobile apps</a:t>
            </a:r>
            <a:endParaRPr sz="2000">
              <a:solidFill>
                <a:schemeClr val="dk1"/>
              </a:solidFill>
              <a:latin typeface="Times New Roman"/>
              <a:ea typeface="Times New Roman"/>
              <a:cs typeface="Times New Roman"/>
              <a:sym typeface="Times New Roman"/>
            </a:endParaRPr>
          </a:p>
          <a:p>
            <a:pPr indent="-154305" lvl="0" marL="273050" marR="0" rtl="0" algn="l">
              <a:lnSpc>
                <a:spcPct val="115000"/>
              </a:lnSpc>
              <a:spcBef>
                <a:spcPts val="440"/>
              </a:spcBef>
              <a:spcAft>
                <a:spcPts val="0"/>
              </a:spcAft>
              <a:buClr>
                <a:schemeClr val="accent1"/>
              </a:buClr>
              <a:buSzPts val="1870"/>
              <a:buFont typeface="Noto Sans Symbols"/>
              <a:buNone/>
            </a:pPr>
            <a:r>
              <a:t/>
            </a:r>
            <a:endParaRPr i="0" sz="2000" u="none" cap="none" strike="noStrike">
              <a:solidFill>
                <a:schemeClr val="dk1"/>
              </a:solidFill>
              <a:latin typeface="Times New Roman"/>
              <a:ea typeface="Times New Roman"/>
              <a:cs typeface="Times New Roman"/>
              <a:sym typeface="Times New Roman"/>
            </a:endParaRPr>
          </a:p>
        </p:txBody>
      </p:sp>
      <p:sp>
        <p:nvSpPr>
          <p:cNvPr id="198" name="Google Shape;198;p10"/>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199" name="Google Shape;199;p10"/>
          <p:cNvPicPr preferRelativeResize="0"/>
          <p:nvPr/>
        </p:nvPicPr>
        <p:blipFill rotWithShape="1">
          <a:blip r:embed="rId3">
            <a:alphaModFix/>
          </a:blip>
          <a:srcRect b="0" l="0" r="0" t="0"/>
          <a:stretch/>
        </p:blipFill>
        <p:spPr>
          <a:xfrm>
            <a:off x="8109832" y="482200"/>
            <a:ext cx="1224300" cy="612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e92d2eb36f_0_293"/>
          <p:cNvSpPr txBox="1"/>
          <p:nvPr>
            <p:ph idx="1" type="body"/>
          </p:nvPr>
        </p:nvSpPr>
        <p:spPr>
          <a:xfrm>
            <a:off x="301752" y="1527048"/>
            <a:ext cx="8503800" cy="4572000"/>
          </a:xfrm>
          <a:prstGeom prst="rect">
            <a:avLst/>
          </a:prstGeom>
          <a:noFill/>
          <a:ln>
            <a:noFill/>
          </a:ln>
        </p:spPr>
        <p:txBody>
          <a:bodyPr anchorCtr="0" anchor="t" bIns="45700" lIns="91425" spcFirstLastPara="1" rIns="91425" wrap="square" tIns="45700">
            <a:normAutofit/>
          </a:bodyPr>
          <a:lstStyle/>
          <a:p>
            <a:pPr indent="-154305" lvl="0" marL="273050" marR="0" rtl="0" algn="l">
              <a:lnSpc>
                <a:spcPct val="115000"/>
              </a:lnSpc>
              <a:spcBef>
                <a:spcPts val="440"/>
              </a:spcBef>
              <a:spcAft>
                <a:spcPts val="0"/>
              </a:spcAft>
              <a:buClr>
                <a:schemeClr val="accent1"/>
              </a:buClr>
              <a:buSzPts val="1870"/>
              <a:buFont typeface="Noto Sans Symbols"/>
              <a:buNone/>
            </a:pPr>
            <a:r>
              <a:rPr lang="en-US" sz="2000">
                <a:solidFill>
                  <a:schemeClr val="dk1"/>
                </a:solidFill>
                <a:latin typeface="Georgia"/>
                <a:ea typeface="Georgia"/>
                <a:cs typeface="Georgia"/>
                <a:sym typeface="Georgia"/>
              </a:rPr>
              <a:t> </a:t>
            </a:r>
            <a:endParaRPr b="0" i="0" sz="2000" u="none" cap="none" strike="noStrike">
              <a:solidFill>
                <a:schemeClr val="dk1"/>
              </a:solidFill>
              <a:latin typeface="Georgia"/>
              <a:ea typeface="Georgia"/>
              <a:cs typeface="Georgia"/>
              <a:sym typeface="Georgia"/>
            </a:endParaRPr>
          </a:p>
        </p:txBody>
      </p:sp>
      <p:sp>
        <p:nvSpPr>
          <p:cNvPr id="205" name="Google Shape;205;g3e92d2eb36f_0_293"/>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ct val="100000"/>
              <a:buFont typeface="Arial"/>
              <a:buNone/>
            </a:pPr>
            <a:r>
              <a:rPr b="1" i="0" lang="en-US" sz="3700" u="none" cap="none" strike="noStrike">
                <a:solidFill>
                  <a:schemeClr val="dk1"/>
                </a:solidFill>
                <a:latin typeface="Georgia"/>
                <a:ea typeface="Georgia"/>
                <a:cs typeface="Georgia"/>
                <a:sym typeface="Georgia"/>
              </a:rPr>
              <a:t>Applications of Computer Graphics</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600" u="none" cap="none" strike="noStrike">
              <a:solidFill>
                <a:schemeClr val="dk1"/>
              </a:solidFill>
              <a:latin typeface="Georgia"/>
              <a:ea typeface="Georgia"/>
              <a:cs typeface="Georgia"/>
              <a:sym typeface="Georgia"/>
            </a:endParaRPr>
          </a:p>
        </p:txBody>
      </p:sp>
      <p:pic>
        <p:nvPicPr>
          <p:cNvPr id="206" name="Google Shape;206;g3e92d2eb36f_0_293"/>
          <p:cNvPicPr preferRelativeResize="0"/>
          <p:nvPr/>
        </p:nvPicPr>
        <p:blipFill rotWithShape="1">
          <a:blip r:embed="rId3">
            <a:alphaModFix/>
          </a:blip>
          <a:srcRect b="0" l="0" r="0" t="0"/>
          <a:stretch/>
        </p:blipFill>
        <p:spPr>
          <a:xfrm>
            <a:off x="8083855" y="482200"/>
            <a:ext cx="1224300" cy="612150"/>
          </a:xfrm>
          <a:prstGeom prst="rect">
            <a:avLst/>
          </a:prstGeom>
          <a:noFill/>
          <a:ln>
            <a:noFill/>
          </a:ln>
        </p:spPr>
      </p:pic>
      <p:pic>
        <p:nvPicPr>
          <p:cNvPr id="207" name="Google Shape;207;g3e92d2eb36f_0_293"/>
          <p:cNvPicPr preferRelativeResize="0"/>
          <p:nvPr/>
        </p:nvPicPr>
        <p:blipFill rotWithShape="1">
          <a:blip r:embed="rId4">
            <a:alphaModFix/>
          </a:blip>
          <a:srcRect b="0" l="0" r="0" t="0"/>
          <a:stretch/>
        </p:blipFill>
        <p:spPr>
          <a:xfrm>
            <a:off x="2372600" y="1392325"/>
            <a:ext cx="4296401" cy="49460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e92d2eb36f_0_162"/>
          <p:cNvSpPr txBox="1"/>
          <p:nvPr>
            <p:ph type="title"/>
          </p:nvPr>
        </p:nvSpPr>
        <p:spPr>
          <a:xfrm>
            <a:off x="301625" y="228600"/>
            <a:ext cx="8534400" cy="758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213" name="Google Shape;213;g3e92d2eb36f_0_162"/>
          <p:cNvPicPr preferRelativeResize="0"/>
          <p:nvPr>
            <p:ph idx="1" type="body"/>
          </p:nvPr>
        </p:nvPicPr>
        <p:blipFill rotWithShape="1">
          <a:blip r:embed="rId3">
            <a:alphaModFix/>
          </a:blip>
          <a:srcRect b="0" l="0" r="0" t="0"/>
          <a:stretch/>
        </p:blipFill>
        <p:spPr>
          <a:xfrm>
            <a:off x="1671637" y="1295400"/>
            <a:ext cx="5800800" cy="4351200"/>
          </a:xfrm>
          <a:prstGeom prst="rect">
            <a:avLst/>
          </a:prstGeom>
          <a:noFill/>
          <a:ln>
            <a:noFill/>
          </a:ln>
        </p:spPr>
      </p:pic>
      <p:pic>
        <p:nvPicPr>
          <p:cNvPr id="214" name="Google Shape;214;g3e92d2eb36f_0_162"/>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