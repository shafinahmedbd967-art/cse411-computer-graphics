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9296400" cy="7010400"/>
  <p:embeddedFontLst>
    <p:embeddedFont>
      <p:font typeface="Tahom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39">
          <p15:clr>
            <a:srgbClr val="000000"/>
          </p15:clr>
        </p15:guide>
        <p15:guide id="2" pos="2879">
          <p15:clr>
            <a:srgbClr val="000000"/>
          </p15:clr>
        </p15:guide>
      </p15:sldGuideLst>
    </p:ext>
    <p:ext uri="GoogleSlidesCustomDataVersion2">
      <go:slidesCustomData xmlns:go="http://customooxmlschemas.google.com/" r:id="rId31" roundtripDataSignature="AMtx7mjnIJGad9N143gvAOO1Ia1V/1Xd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39" orient="horz"/>
        <p:guide pos="287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Tahoma-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7"/>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265737" y="0"/>
            <a:ext cx="4029075" cy="350837"/>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6657975"/>
            <a:ext cx="4029075" cy="350837"/>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b5fbf5691_0_2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0" name="Google Shape;110;g3bb5fbf5691_0_2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b5fbf5691_0_5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1" name="Google Shape;121;g3bb5fbf5691_0_5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b5fbf5691_0_39: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5" name="Google Shape;135;g3bb5fbf5691_0_39: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b5fbf5691_0_10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5" name="Google Shape;145;g3bb5fbf5691_0_10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b5fbf5691_0_12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0" name="Google Shape;170;g3bb5fbf5691_0_12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b5fbf5691_0_19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5" name="Google Shape;185;g3bb5fbf5691_0_19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c93f8e738_0_8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0" name="Google Shape;200;g3bc93f8e738_0_8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c93f8e738_0_14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6" name="Google Shape;216;g3bc93f8e738_0_14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b5fbf5691_0_15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2" name="Google Shape;232;g3bb5fbf5691_0_15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b5fbf5691_0_23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4" name="Google Shape;244;g3bb5fbf5691_0_23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be9322812_0_2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7" name="Google Shape;257;g3bbe9322812_0_2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c93f8e738_0_17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69" name="Google Shape;269;g3bc93f8e738_0_17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c93f8e738_0_20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84" name="Google Shape;284;g3bc93f8e738_0_20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b5fbf5691_0_22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9" name="Google Shape;299;g3bb5fbf5691_0_22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be9322812_0_10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0" name="Google Shape;310;g3bbe9322812_0_10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be9322812_0_13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24" name="Google Shape;324;g3bbe9322812_0_13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c93f8e738_0_22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35" name="Google Shape;335;g3bc93f8e738_0_22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be9322812_0_24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52" name="Google Shape;352;g3bbe9322812_0_24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be9322812_0_29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65" name="Google Shape;365;g3bbe9322812_0_29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bc93f8e738_0_27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80" name="Google Shape;380;g3bc93f8e738_0_27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7: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7: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97" name="Google Shape;397;p17: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1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2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2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2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p:nvPr>
            <p:ph idx="2" type="pic"/>
          </p:nvPr>
        </p:nvSpPr>
        <p:spPr>
          <a:xfrm>
            <a:off x="3887391" y="987426"/>
            <a:ext cx="4629150" cy="4873625"/>
          </a:xfrm>
          <a:prstGeom prst="rect">
            <a:avLst/>
          </a:prstGeom>
          <a:noFill/>
          <a:ln>
            <a:noFill/>
          </a:ln>
        </p:spPr>
      </p:sp>
      <p:sp>
        <p:nvSpPr>
          <p:cNvPr id="42" name="Google Shape;42;p2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3" name="Google Shape;43;p2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49" name="Google Shape;49;p2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0" name="Google Shape;50;p2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2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2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2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2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2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2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2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2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1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5.png"/><Relationship Id="rId5" Type="http://schemas.openxmlformats.org/officeDocument/2006/relationships/image" Target="../media/image4.png"/><Relationship Id="rId6" Type="http://schemas.openxmlformats.org/officeDocument/2006/relationships/image" Target="../media/image40.png"/><Relationship Id="rId7" Type="http://schemas.openxmlformats.org/officeDocument/2006/relationships/image" Target="../media/image7.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30.png"/><Relationship Id="rId7" Type="http://schemas.openxmlformats.org/officeDocument/2006/relationships/image" Target="../media/image22.png"/><Relationship Id="rId8" Type="http://schemas.openxmlformats.org/officeDocument/2006/relationships/image" Target="../media/image4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2.jp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42.png"/><Relationship Id="rId6"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36.png"/><Relationship Id="rId7" Type="http://schemas.openxmlformats.org/officeDocument/2006/relationships/image" Target="../media/image34.png"/><Relationship Id="rId8"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055800" y="730200"/>
            <a:ext cx="6838500" cy="1809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b="0" i="0" lang="en-US" sz="4100" u="none">
                <a:solidFill>
                  <a:schemeClr val="dk1"/>
                </a:solidFill>
                <a:latin typeface="Calibri"/>
                <a:ea typeface="Calibri"/>
                <a:cs typeface="Calibri"/>
                <a:sym typeface="Calibri"/>
              </a:rPr>
            </a:br>
            <a:r>
              <a:rPr b="1" i="0" lang="en-US" sz="3600" u="none">
                <a:solidFill>
                  <a:schemeClr val="dk1"/>
                </a:solidFill>
                <a:latin typeface="Calibri"/>
                <a:ea typeface="Calibri"/>
                <a:cs typeface="Calibri"/>
                <a:sym typeface="Calibri"/>
              </a:rPr>
              <a:t>Computer Graphics</a:t>
            </a:r>
            <a:br>
              <a:rPr b="1" i="0" lang="en-US" sz="3600" u="none">
                <a:solidFill>
                  <a:schemeClr val="dk1"/>
                </a:solidFill>
                <a:latin typeface="Calibri"/>
                <a:ea typeface="Calibri"/>
                <a:cs typeface="Calibri"/>
                <a:sym typeface="Calibri"/>
              </a:rPr>
            </a:br>
            <a:r>
              <a:rPr b="1" lang="en-US" sz="3266">
                <a:solidFill>
                  <a:srgbClr val="0B5394"/>
                </a:solidFill>
              </a:rPr>
              <a:t>3</a:t>
            </a:r>
            <a:r>
              <a:rPr b="1" lang="en-US" sz="3266">
                <a:solidFill>
                  <a:srgbClr val="0B5394"/>
                </a:solidFill>
              </a:rPr>
              <a:t>D Transformation</a:t>
            </a:r>
            <a:endParaRPr b="1" sz="3600">
              <a:solidFill>
                <a:srgbClr val="0B5394"/>
              </a:solidFill>
            </a:endParaRPr>
          </a:p>
          <a:p>
            <a:pPr indent="0" lvl="0" marL="0" rtl="0" algn="ctr">
              <a:lnSpc>
                <a:spcPct val="90000"/>
              </a:lnSpc>
              <a:spcBef>
                <a:spcPts val="0"/>
              </a:spcBef>
              <a:spcAft>
                <a:spcPts val="0"/>
              </a:spcAft>
              <a:buClr>
                <a:schemeClr val="dk1"/>
              </a:buClr>
              <a:buSzPct val="136666"/>
              <a:buFont typeface="Calibri"/>
              <a:buNone/>
            </a:pPr>
            <a:r>
              <a:rPr b="1" lang="en-US" sz="3000">
                <a:solidFill>
                  <a:srgbClr val="85200C"/>
                </a:solidFill>
              </a:rPr>
              <a:t>Lecture 7</a:t>
            </a:r>
            <a:endParaRPr>
              <a:solidFill>
                <a:srgbClr val="85200C"/>
              </a:solidFill>
            </a:endParaRPr>
          </a:p>
        </p:txBody>
      </p:sp>
      <p:sp>
        <p:nvSpPr>
          <p:cNvPr id="90" name="Google Shape;90;p1"/>
          <p:cNvSpPr txBox="1"/>
          <p:nvPr>
            <p:ph idx="1" type="subTitle"/>
          </p:nvPr>
        </p:nvSpPr>
        <p:spPr>
          <a:xfrm>
            <a:off x="263800" y="4964425"/>
            <a:ext cx="8422500" cy="1506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t/>
            </a:r>
            <a:endParaRPr b="0" i="0" sz="1800" u="none">
              <a:solidFill>
                <a:schemeClr val="dk1"/>
              </a:solidFill>
              <a:latin typeface="Calibri"/>
              <a:ea typeface="Calibri"/>
              <a:cs typeface="Calibri"/>
              <a:sym typeface="Calibri"/>
            </a:endParaRPr>
          </a:p>
          <a:p>
            <a:pPr indent="0" lvl="0" marL="0" rtl="0" algn="ctr">
              <a:lnSpc>
                <a:spcPct val="90000"/>
              </a:lnSpc>
              <a:spcBef>
                <a:spcPts val="700"/>
              </a:spcBef>
              <a:spcAft>
                <a:spcPts val="0"/>
              </a:spcAft>
              <a:buClr>
                <a:schemeClr val="dk1"/>
              </a:buClr>
              <a:buSzPts val="1800"/>
              <a:buNone/>
            </a:pPr>
            <a:r>
              <a:rPr b="1" lang="en-US">
                <a:solidFill>
                  <a:srgbClr val="980000"/>
                </a:solidFill>
              </a:rPr>
              <a:t>Syada Tasmia Alvi</a:t>
            </a:r>
            <a:endParaRPr b="1">
              <a:solidFill>
                <a:srgbClr val="980000"/>
              </a:solidFill>
            </a:endParaRPr>
          </a:p>
          <a:p>
            <a:pPr indent="0" lvl="0" marL="0" rtl="0" algn="ctr">
              <a:lnSpc>
                <a:spcPct val="90000"/>
              </a:lnSpc>
              <a:spcBef>
                <a:spcPts val="700"/>
              </a:spcBef>
              <a:spcAft>
                <a:spcPts val="0"/>
              </a:spcAft>
              <a:buClr>
                <a:schemeClr val="dk1"/>
              </a:buClr>
              <a:buSzPts val="1800"/>
              <a:buNone/>
            </a:pPr>
            <a:r>
              <a:rPr b="1" lang="en-US">
                <a:solidFill>
                  <a:srgbClr val="0B5394"/>
                </a:solidFill>
              </a:rPr>
              <a:t>Senior Lecturer</a:t>
            </a:r>
            <a:br>
              <a:rPr b="1" i="0" lang="en-US" sz="1800" u="none">
                <a:solidFill>
                  <a:srgbClr val="0B5394"/>
                </a:solidFill>
              </a:rPr>
            </a:br>
            <a:r>
              <a:rPr b="1" i="0" lang="en-US" sz="1800" u="none">
                <a:solidFill>
                  <a:srgbClr val="1C4587"/>
                </a:solidFill>
              </a:rPr>
              <a:t>Department of Computer Science and Engineering</a:t>
            </a:r>
            <a:br>
              <a:rPr b="1" i="0" lang="en-US" sz="1800" u="none">
                <a:solidFill>
                  <a:srgbClr val="1C4587"/>
                </a:solidFill>
              </a:rPr>
            </a:br>
            <a:r>
              <a:rPr b="1" i="0" lang="en-US" sz="1800" u="none">
                <a:solidFill>
                  <a:srgbClr val="1C4587"/>
                </a:solidFill>
              </a:rPr>
              <a:t>Daffodil International University, DIU</a:t>
            </a:r>
            <a:endParaRPr b="1">
              <a:solidFill>
                <a:srgbClr val="1C4587"/>
              </a:solidFill>
            </a:endParaRPr>
          </a:p>
        </p:txBody>
      </p:sp>
      <p:sp>
        <p:nvSpPr>
          <p:cNvPr descr="Diu Logo PNG Images - CleanPNG" id="91" name="Google Shape;91;p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89250" y="160350"/>
            <a:ext cx="1371600" cy="685800"/>
          </a:xfrm>
          <a:prstGeom prst="rect">
            <a:avLst/>
          </a:prstGeom>
          <a:noFill/>
          <a:ln>
            <a:noFill/>
          </a:ln>
        </p:spPr>
      </p:pic>
      <p:sp>
        <p:nvSpPr>
          <p:cNvPr id="93" name="Google Shape;93;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94" name="Google Shape;94;p1"/>
          <p:cNvPicPr preferRelativeResize="0"/>
          <p:nvPr/>
        </p:nvPicPr>
        <p:blipFill>
          <a:blip r:embed="rId4">
            <a:alphaModFix/>
          </a:blip>
          <a:stretch>
            <a:fillRect/>
          </a:stretch>
        </p:blipFill>
        <p:spPr>
          <a:xfrm>
            <a:off x="2528550" y="2539800"/>
            <a:ext cx="3892876" cy="2664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02" name="Google Shape;102;p2"/>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lang="en-US" sz="4000">
                <a:solidFill>
                  <a:schemeClr val="lt1"/>
                </a:solidFill>
                <a:latin typeface="Calibri"/>
                <a:ea typeface="Calibri"/>
                <a:cs typeface="Calibri"/>
                <a:sym typeface="Calibri"/>
              </a:rPr>
              <a:t>3D </a:t>
            </a:r>
            <a:r>
              <a:rPr b="0" i="0" lang="en-US" sz="4000" u="none" cap="none" strike="noStrike">
                <a:solidFill>
                  <a:schemeClr val="lt1"/>
                </a:solidFill>
                <a:latin typeface="Calibri"/>
                <a:ea typeface="Calibri"/>
                <a:cs typeface="Calibri"/>
                <a:sym typeface="Calibri"/>
              </a:rPr>
              <a:t>Transformations</a:t>
            </a:r>
            <a:endParaRPr b="0" i="0" sz="4000" u="none" cap="none" strike="noStrike">
              <a:solidFill>
                <a:schemeClr val="lt1"/>
              </a:solidFill>
              <a:latin typeface="Calibri"/>
              <a:ea typeface="Calibri"/>
              <a:cs typeface="Calibri"/>
              <a:sym typeface="Calibri"/>
            </a:endParaRPr>
          </a:p>
        </p:txBody>
      </p:sp>
      <p:sp>
        <p:nvSpPr>
          <p:cNvPr id="103" name="Google Shape;103;p2"/>
          <p:cNvSpPr txBox="1"/>
          <p:nvPr/>
        </p:nvSpPr>
        <p:spPr>
          <a:xfrm>
            <a:off x="270625" y="1128675"/>
            <a:ext cx="5113800" cy="2098500"/>
          </a:xfrm>
          <a:prstGeom prst="rect">
            <a:avLst/>
          </a:prstGeom>
          <a:noFill/>
          <a:ln>
            <a:noFill/>
          </a:ln>
        </p:spPr>
        <p:txBody>
          <a:bodyPr anchorCtr="0" anchor="t" bIns="91425" lIns="91425" spcFirstLastPara="1" rIns="91425" wrap="square" tIns="91425">
            <a:spAutoFit/>
          </a:bodyPr>
          <a:lstStyle/>
          <a:p>
            <a:pPr indent="-342900" lvl="0" marL="457200" marR="0" rtl="0" algn="just">
              <a:lnSpc>
                <a:spcPct val="100000"/>
              </a:lnSpc>
              <a:spcBef>
                <a:spcPts val="0"/>
              </a:spcBef>
              <a:spcAft>
                <a:spcPts val="0"/>
              </a:spcAft>
              <a:buClr>
                <a:srgbClr val="0B5394"/>
              </a:buClr>
              <a:buSzPts val="1800"/>
              <a:buFont typeface="Times New Roman"/>
              <a:buChar char="■"/>
            </a:pPr>
            <a:r>
              <a:rPr lang="en-US" sz="1800">
                <a:latin typeface="Times New Roman"/>
                <a:ea typeface="Times New Roman"/>
                <a:cs typeface="Times New Roman"/>
                <a:sym typeface="Times New Roman"/>
              </a:rPr>
              <a:t>When the transformation takes place on a 3D plane. It is called 3D transformation</a:t>
            </a:r>
            <a:endParaRPr b="0" i="0" sz="18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Generalize from 2D by including z coordinate Straight forward for translation and scale, rotation more difficult</a:t>
            </a:r>
            <a:endParaRPr sz="2000">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id="104" name="Google Shape;104;p2"/>
          <p:cNvPicPr preferRelativeResize="0"/>
          <p:nvPr/>
        </p:nvPicPr>
        <p:blipFill>
          <a:blip r:embed="rId4">
            <a:alphaModFix/>
          </a:blip>
          <a:stretch>
            <a:fillRect/>
          </a:stretch>
        </p:blipFill>
        <p:spPr>
          <a:xfrm>
            <a:off x="5775625" y="1498525"/>
            <a:ext cx="3250125" cy="1948675"/>
          </a:xfrm>
          <a:prstGeom prst="rect">
            <a:avLst/>
          </a:prstGeom>
          <a:noFill/>
          <a:ln>
            <a:noFill/>
          </a:ln>
        </p:spPr>
      </p:pic>
      <p:sp>
        <p:nvSpPr>
          <p:cNvPr id="105" name="Google Shape;105;p2"/>
          <p:cNvSpPr txBox="1"/>
          <p:nvPr/>
        </p:nvSpPr>
        <p:spPr>
          <a:xfrm>
            <a:off x="270625" y="3037475"/>
            <a:ext cx="58665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Homogeneous coordinates: 4 components   </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Transformation  matrices: 4×4 elements</a:t>
            </a:r>
            <a:endParaRPr sz="20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id="106" name="Google Shape;106;p2"/>
          <p:cNvPicPr preferRelativeResize="0"/>
          <p:nvPr/>
        </p:nvPicPr>
        <p:blipFill rotWithShape="1">
          <a:blip r:embed="rId5">
            <a:alphaModFix/>
          </a:blip>
          <a:srcRect b="0" l="0" r="0" t="0"/>
          <a:stretch/>
        </p:blipFill>
        <p:spPr>
          <a:xfrm>
            <a:off x="1260700" y="4299063"/>
            <a:ext cx="1857150" cy="1698499"/>
          </a:xfrm>
          <a:prstGeom prst="rect">
            <a:avLst/>
          </a:prstGeom>
          <a:noFill/>
          <a:ln>
            <a:noFill/>
          </a:ln>
        </p:spPr>
      </p:pic>
      <p:pic>
        <p:nvPicPr>
          <p:cNvPr id="107" name="Google Shape;107;p2" title="netsprism.gif"/>
          <p:cNvPicPr preferRelativeResize="0"/>
          <p:nvPr/>
        </p:nvPicPr>
        <p:blipFill rotWithShape="1">
          <a:blip r:embed="rId6">
            <a:alphaModFix/>
          </a:blip>
          <a:srcRect b="35640" l="31250" r="31665" t="21075"/>
          <a:stretch/>
        </p:blipFill>
        <p:spPr>
          <a:xfrm>
            <a:off x="6270388" y="3614025"/>
            <a:ext cx="2260600" cy="2098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 name="Shape 111"/>
        <p:cNvGrpSpPr/>
        <p:nvPr/>
      </p:nvGrpSpPr>
      <p:grpSpPr>
        <a:xfrm>
          <a:off x="0" y="0"/>
          <a:ext cx="0" cy="0"/>
          <a:chOff x="0" y="0"/>
          <a:chExt cx="0" cy="0"/>
        </a:xfrm>
      </p:grpSpPr>
      <p:sp>
        <p:nvSpPr>
          <p:cNvPr id="112" name="Google Shape;112;g3bb5fbf5691_0_2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13" name="Google Shape;113;g3bb5fbf5691_0_2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4" name="Google Shape;114;g3bb5fbf5691_0_2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Types</a:t>
            </a:r>
            <a:endParaRPr b="0" i="0" sz="3800" u="none" cap="none" strike="noStrike">
              <a:solidFill>
                <a:schemeClr val="lt1"/>
              </a:solidFill>
              <a:latin typeface="Calibri"/>
              <a:ea typeface="Calibri"/>
              <a:cs typeface="Calibri"/>
              <a:sym typeface="Calibri"/>
            </a:endParaRPr>
          </a:p>
        </p:txBody>
      </p:sp>
      <p:pic>
        <p:nvPicPr>
          <p:cNvPr id="115" name="Google Shape;115;g3bb5fbf5691_0_2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116" name="Google Shape;116;g3bb5fbf5691_0_28"/>
          <p:cNvPicPr preferRelativeResize="0"/>
          <p:nvPr/>
        </p:nvPicPr>
        <p:blipFill>
          <a:blip r:embed="rId4">
            <a:alphaModFix/>
          </a:blip>
          <a:stretch>
            <a:fillRect/>
          </a:stretch>
        </p:blipFill>
        <p:spPr>
          <a:xfrm>
            <a:off x="141075" y="1678388"/>
            <a:ext cx="4042849" cy="3569078"/>
          </a:xfrm>
          <a:prstGeom prst="rect">
            <a:avLst/>
          </a:prstGeom>
          <a:noFill/>
          <a:ln>
            <a:noFill/>
          </a:ln>
        </p:spPr>
      </p:pic>
      <p:pic>
        <p:nvPicPr>
          <p:cNvPr id="117" name="Google Shape;117;g3bb5fbf5691_0_28"/>
          <p:cNvPicPr preferRelativeResize="0"/>
          <p:nvPr/>
        </p:nvPicPr>
        <p:blipFill rotWithShape="1">
          <a:blip r:embed="rId5">
            <a:alphaModFix/>
          </a:blip>
          <a:srcRect b="-1579" l="-2420" r="2419" t="1579"/>
          <a:stretch/>
        </p:blipFill>
        <p:spPr>
          <a:xfrm>
            <a:off x="4472500" y="1546700"/>
            <a:ext cx="4042849" cy="4200576"/>
          </a:xfrm>
          <a:prstGeom prst="rect">
            <a:avLst/>
          </a:prstGeom>
          <a:noFill/>
          <a:ln>
            <a:noFill/>
          </a:ln>
        </p:spPr>
      </p:pic>
      <p:sp>
        <p:nvSpPr>
          <p:cNvPr id="118" name="Google Shape;118;g3bb5fbf5691_0_28"/>
          <p:cNvSpPr/>
          <p:nvPr/>
        </p:nvSpPr>
        <p:spPr>
          <a:xfrm>
            <a:off x="3835900" y="3356150"/>
            <a:ext cx="1095300" cy="365100"/>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9898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2" name="Shape 122"/>
        <p:cNvGrpSpPr/>
        <p:nvPr/>
      </p:nvGrpSpPr>
      <p:grpSpPr>
        <a:xfrm>
          <a:off x="0" y="0"/>
          <a:ext cx="0" cy="0"/>
          <a:chOff x="0" y="0"/>
          <a:chExt cx="0" cy="0"/>
        </a:xfrm>
      </p:grpSpPr>
      <p:sp>
        <p:nvSpPr>
          <p:cNvPr id="123" name="Google Shape;123;g3bb5fbf5691_0_5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24" name="Google Shape;124;g3bb5fbf5691_0_5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5" name="Google Shape;125;g3bb5fbf5691_0_5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(Translation)</a:t>
            </a:r>
            <a:endParaRPr b="0" i="0" sz="3800" u="none" cap="none" strike="noStrike">
              <a:solidFill>
                <a:schemeClr val="lt1"/>
              </a:solidFill>
              <a:latin typeface="Calibri"/>
              <a:ea typeface="Calibri"/>
              <a:cs typeface="Calibri"/>
              <a:sym typeface="Calibri"/>
            </a:endParaRPr>
          </a:p>
        </p:txBody>
      </p:sp>
      <p:pic>
        <p:nvPicPr>
          <p:cNvPr id="126" name="Google Shape;126;g3bb5fbf5691_0_5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27" name="Google Shape;127;g3bb5fbf5691_0_52"/>
          <p:cNvSpPr txBox="1"/>
          <p:nvPr/>
        </p:nvSpPr>
        <p:spPr>
          <a:xfrm>
            <a:off x="0" y="1023763"/>
            <a:ext cx="5175300" cy="19806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Moving of an object is called translation.</a:t>
            </a:r>
            <a:endParaRPr sz="2000">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In 3-dimensional homogeneous coordinate representation , a point is transformed from position P = ( x, y , z) to P’=( x’, y’, z’)</a:t>
            </a:r>
            <a:endParaRPr sz="2000">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This can be written as:- Using     P’ = T . P       </a:t>
            </a:r>
            <a:endParaRPr sz="2000">
              <a:solidFill>
                <a:srgbClr val="434343"/>
              </a:solidFill>
              <a:latin typeface="Times New Roman"/>
              <a:ea typeface="Times New Roman"/>
              <a:cs typeface="Times New Roman"/>
              <a:sym typeface="Times New Roman"/>
            </a:endParaRPr>
          </a:p>
        </p:txBody>
      </p:sp>
      <p:sp>
        <p:nvSpPr>
          <p:cNvPr id="128" name="Google Shape;128;g3bb5fbf5691_0_52"/>
          <p:cNvSpPr txBox="1"/>
          <p:nvPr/>
        </p:nvSpPr>
        <p:spPr>
          <a:xfrm>
            <a:off x="5929163" y="1255200"/>
            <a:ext cx="2937900" cy="48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Translation of objects</a:t>
            </a:r>
            <a:endParaRPr b="1" i="0" sz="1800" u="none" cap="none" strike="noStrike">
              <a:solidFill>
                <a:srgbClr val="980000"/>
              </a:solidFill>
              <a:latin typeface="Times New Roman"/>
              <a:ea typeface="Times New Roman"/>
              <a:cs typeface="Times New Roman"/>
              <a:sym typeface="Times New Roman"/>
            </a:endParaRPr>
          </a:p>
        </p:txBody>
      </p:sp>
      <p:sp>
        <p:nvSpPr>
          <p:cNvPr id="129" name="Google Shape;129;g3bb5fbf5691_0_52"/>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pic>
        <p:nvPicPr>
          <p:cNvPr id="130" name="Google Shape;130;g3bb5fbf5691_0_52"/>
          <p:cNvPicPr preferRelativeResize="0"/>
          <p:nvPr/>
        </p:nvPicPr>
        <p:blipFill rotWithShape="1">
          <a:blip r:embed="rId4">
            <a:alphaModFix/>
          </a:blip>
          <a:srcRect b="0" l="0" r="0" t="0"/>
          <a:stretch/>
        </p:blipFill>
        <p:spPr>
          <a:xfrm>
            <a:off x="698348" y="3239564"/>
            <a:ext cx="2503949" cy="1424459"/>
          </a:xfrm>
          <a:prstGeom prst="rect">
            <a:avLst/>
          </a:prstGeom>
          <a:noFill/>
          <a:ln>
            <a:noFill/>
          </a:ln>
        </p:spPr>
      </p:pic>
      <p:pic>
        <p:nvPicPr>
          <p:cNvPr id="131" name="Google Shape;131;g3bb5fbf5691_0_52"/>
          <p:cNvPicPr preferRelativeResize="0"/>
          <p:nvPr/>
        </p:nvPicPr>
        <p:blipFill>
          <a:blip r:embed="rId5">
            <a:alphaModFix/>
          </a:blip>
          <a:stretch>
            <a:fillRect/>
          </a:stretch>
        </p:blipFill>
        <p:spPr>
          <a:xfrm>
            <a:off x="5293550" y="1939800"/>
            <a:ext cx="2859775" cy="1906524"/>
          </a:xfrm>
          <a:prstGeom prst="rect">
            <a:avLst/>
          </a:prstGeom>
          <a:noFill/>
          <a:ln>
            <a:noFill/>
          </a:ln>
        </p:spPr>
      </p:pic>
      <p:pic>
        <p:nvPicPr>
          <p:cNvPr id="132" name="Google Shape;132;g3bb5fbf5691_0_52" title="affine-space-translation.gif"/>
          <p:cNvPicPr preferRelativeResize="0"/>
          <p:nvPr/>
        </p:nvPicPr>
        <p:blipFill>
          <a:blip r:embed="rId6">
            <a:alphaModFix/>
          </a:blip>
          <a:stretch>
            <a:fillRect/>
          </a:stretch>
        </p:blipFill>
        <p:spPr>
          <a:xfrm>
            <a:off x="5789475" y="3898900"/>
            <a:ext cx="2503950" cy="21970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6" name="Shape 136"/>
        <p:cNvGrpSpPr/>
        <p:nvPr/>
      </p:nvGrpSpPr>
      <p:grpSpPr>
        <a:xfrm>
          <a:off x="0" y="0"/>
          <a:ext cx="0" cy="0"/>
          <a:chOff x="0" y="0"/>
          <a:chExt cx="0" cy="0"/>
        </a:xfrm>
      </p:grpSpPr>
      <p:sp>
        <p:nvSpPr>
          <p:cNvPr id="137" name="Google Shape;137;g3bb5fbf5691_0_39"/>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38" name="Google Shape;138;g3bb5fbf5691_0_39"/>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9" name="Google Shape;139;g3bb5fbf5691_0_39"/>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(Translation)</a:t>
            </a:r>
            <a:endParaRPr b="0" i="0" sz="3800" u="none" cap="none" strike="noStrike">
              <a:solidFill>
                <a:schemeClr val="lt1"/>
              </a:solidFill>
              <a:latin typeface="Calibri"/>
              <a:ea typeface="Calibri"/>
              <a:cs typeface="Calibri"/>
              <a:sym typeface="Calibri"/>
            </a:endParaRPr>
          </a:p>
        </p:txBody>
      </p:sp>
      <p:pic>
        <p:nvPicPr>
          <p:cNvPr id="140" name="Google Shape;140;g3bb5fbf5691_0_39"/>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41" name="Google Shape;141;g3bb5fbf5691_0_39"/>
          <p:cNvSpPr txBox="1"/>
          <p:nvPr/>
        </p:nvSpPr>
        <p:spPr>
          <a:xfrm>
            <a:off x="219675" y="1271700"/>
            <a:ext cx="3886200" cy="367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Times New Roman"/>
                <a:ea typeface="Times New Roman"/>
                <a:cs typeface="Times New Roman"/>
                <a:sym typeface="Times New Roman"/>
              </a:rPr>
              <a:t>The matrix representation is equivalent to the three equation.</a:t>
            </a:r>
            <a:endParaRPr sz="1900">
              <a:solidFill>
                <a:schemeClr val="dk1"/>
              </a:solidFill>
            </a:endParaRPr>
          </a:p>
          <a:p>
            <a:pPr indent="0" lvl="0" marL="0" rtl="0" algn="l">
              <a:spcBef>
                <a:spcPts val="0"/>
              </a:spcBef>
              <a:spcAft>
                <a:spcPts val="0"/>
              </a:spcAft>
              <a:buNone/>
            </a:pPr>
            <a:r>
              <a:rPr lang="en-US" sz="1900">
                <a:solidFill>
                  <a:schemeClr val="dk1"/>
                </a:solidFill>
                <a:latin typeface="Times New Roman"/>
                <a:ea typeface="Times New Roman"/>
                <a:cs typeface="Times New Roman"/>
                <a:sym typeface="Times New Roman"/>
              </a:rPr>
              <a:t>          </a:t>
            </a:r>
            <a:r>
              <a:rPr i="1" lang="en-US" sz="1900">
                <a:solidFill>
                  <a:schemeClr val="dk1"/>
                </a:solidFill>
                <a:latin typeface="Times New Roman"/>
                <a:ea typeface="Times New Roman"/>
                <a:cs typeface="Times New Roman"/>
                <a:sym typeface="Times New Roman"/>
              </a:rPr>
              <a:t> </a:t>
            </a:r>
            <a:r>
              <a:rPr b="1" i="1" lang="en-US" sz="1900">
                <a:solidFill>
                  <a:schemeClr val="dk1"/>
                </a:solidFill>
                <a:latin typeface="Times New Roman"/>
                <a:ea typeface="Times New Roman"/>
                <a:cs typeface="Times New Roman"/>
                <a:sym typeface="Times New Roman"/>
              </a:rPr>
              <a:t>x’=x+ t</a:t>
            </a:r>
            <a:r>
              <a:rPr b="1" baseline="-25000" i="1" lang="en-US" sz="1900">
                <a:solidFill>
                  <a:schemeClr val="dk1"/>
                </a:solidFill>
                <a:latin typeface="Times New Roman"/>
                <a:ea typeface="Times New Roman"/>
                <a:cs typeface="Times New Roman"/>
                <a:sym typeface="Times New Roman"/>
              </a:rPr>
              <a:t>x </a:t>
            </a:r>
            <a:r>
              <a:rPr b="1" lang="en-US" sz="1900">
                <a:solidFill>
                  <a:schemeClr val="dk1"/>
                </a:solidFill>
                <a:latin typeface="Times New Roman"/>
                <a:ea typeface="Times New Roman"/>
                <a:cs typeface="Times New Roman"/>
                <a:sym typeface="Times New Roman"/>
              </a:rPr>
              <a:t>, </a:t>
            </a:r>
            <a:endParaRPr b="1"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900">
                <a:solidFill>
                  <a:schemeClr val="dk1"/>
                </a:solidFill>
                <a:latin typeface="Times New Roman"/>
                <a:ea typeface="Times New Roman"/>
                <a:cs typeface="Times New Roman"/>
                <a:sym typeface="Times New Roman"/>
              </a:rPr>
              <a:t>           </a:t>
            </a:r>
            <a:r>
              <a:rPr b="1" i="1" lang="en-US" sz="1900">
                <a:solidFill>
                  <a:schemeClr val="dk1"/>
                </a:solidFill>
                <a:latin typeface="Times New Roman"/>
                <a:ea typeface="Times New Roman"/>
                <a:cs typeface="Times New Roman"/>
                <a:sym typeface="Times New Roman"/>
              </a:rPr>
              <a:t>y’=y+ t</a:t>
            </a:r>
            <a:r>
              <a:rPr b="1" baseline="-25000" i="1" lang="en-US" sz="1900">
                <a:solidFill>
                  <a:schemeClr val="dk1"/>
                </a:solidFill>
                <a:latin typeface="Times New Roman"/>
                <a:ea typeface="Times New Roman"/>
                <a:cs typeface="Times New Roman"/>
                <a:sym typeface="Times New Roman"/>
              </a:rPr>
              <a:t>y</a:t>
            </a:r>
            <a:r>
              <a:rPr b="1" lang="en-US" sz="1900">
                <a:solidFill>
                  <a:schemeClr val="dk1"/>
                </a:solidFill>
                <a:latin typeface="Times New Roman"/>
                <a:ea typeface="Times New Roman"/>
                <a:cs typeface="Times New Roman"/>
                <a:sym typeface="Times New Roman"/>
              </a:rPr>
              <a:t> , </a:t>
            </a:r>
            <a:endParaRPr b="1"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900">
                <a:solidFill>
                  <a:schemeClr val="dk1"/>
                </a:solidFill>
                <a:latin typeface="Times New Roman"/>
                <a:ea typeface="Times New Roman"/>
                <a:cs typeface="Times New Roman"/>
                <a:sym typeface="Times New Roman"/>
              </a:rPr>
              <a:t>           </a:t>
            </a:r>
            <a:r>
              <a:rPr b="1" i="1" lang="en-US" sz="1900">
                <a:solidFill>
                  <a:schemeClr val="dk1"/>
                </a:solidFill>
                <a:latin typeface="Times New Roman"/>
                <a:ea typeface="Times New Roman"/>
                <a:cs typeface="Times New Roman"/>
                <a:sym typeface="Times New Roman"/>
              </a:rPr>
              <a:t>z’=z+ t</a:t>
            </a:r>
            <a:r>
              <a:rPr b="1" baseline="-25000" i="1" lang="en-US" sz="1900">
                <a:solidFill>
                  <a:schemeClr val="dk1"/>
                </a:solidFill>
                <a:latin typeface="Times New Roman"/>
                <a:ea typeface="Times New Roman"/>
                <a:cs typeface="Times New Roman"/>
                <a:sym typeface="Times New Roman"/>
              </a:rPr>
              <a:t>z</a:t>
            </a:r>
            <a:r>
              <a:rPr b="1" lang="en-US" sz="1900">
                <a:solidFill>
                  <a:schemeClr val="dk1"/>
                </a:solidFill>
                <a:latin typeface="Times New Roman"/>
                <a:ea typeface="Times New Roman"/>
                <a:cs typeface="Times New Roman"/>
                <a:sym typeface="Times New Roman"/>
              </a:rPr>
              <a:t> </a:t>
            </a:r>
            <a:endParaRPr b="1" sz="1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t/>
            </a:r>
            <a:endParaRPr b="1" sz="1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lang="en-US" sz="1900">
                <a:solidFill>
                  <a:schemeClr val="dk1"/>
                </a:solidFill>
                <a:latin typeface="Times New Roman"/>
                <a:ea typeface="Times New Roman"/>
                <a:cs typeface="Times New Roman"/>
                <a:sym typeface="Times New Roman"/>
              </a:rPr>
              <a:t>Where parameter </a:t>
            </a:r>
            <a:r>
              <a:rPr i="1" lang="en-US" sz="1900">
                <a:solidFill>
                  <a:schemeClr val="dk1"/>
                </a:solidFill>
                <a:latin typeface="Times New Roman"/>
                <a:ea typeface="Times New Roman"/>
                <a:cs typeface="Times New Roman"/>
                <a:sym typeface="Times New Roman"/>
              </a:rPr>
              <a:t> t</a:t>
            </a:r>
            <a:r>
              <a:rPr baseline="-25000" i="1" lang="en-US" sz="1900">
                <a:solidFill>
                  <a:schemeClr val="dk1"/>
                </a:solidFill>
                <a:latin typeface="Times New Roman"/>
                <a:ea typeface="Times New Roman"/>
                <a:cs typeface="Times New Roman"/>
                <a:sym typeface="Times New Roman"/>
              </a:rPr>
              <a:t>x , </a:t>
            </a:r>
            <a:r>
              <a:rPr i="1" lang="en-US" sz="1900">
                <a:solidFill>
                  <a:schemeClr val="dk1"/>
                </a:solidFill>
                <a:latin typeface="Times New Roman"/>
                <a:ea typeface="Times New Roman"/>
                <a:cs typeface="Times New Roman"/>
                <a:sym typeface="Times New Roman"/>
              </a:rPr>
              <a:t>t</a:t>
            </a:r>
            <a:r>
              <a:rPr baseline="-25000" i="1" lang="en-US" sz="1900">
                <a:solidFill>
                  <a:schemeClr val="dk1"/>
                </a:solidFill>
                <a:latin typeface="Times New Roman"/>
                <a:ea typeface="Times New Roman"/>
                <a:cs typeface="Times New Roman"/>
                <a:sym typeface="Times New Roman"/>
              </a:rPr>
              <a:t>y , </a:t>
            </a:r>
            <a:r>
              <a:rPr i="1" lang="en-US" sz="1900">
                <a:solidFill>
                  <a:schemeClr val="dk1"/>
                </a:solidFill>
                <a:latin typeface="Times New Roman"/>
                <a:ea typeface="Times New Roman"/>
                <a:cs typeface="Times New Roman"/>
                <a:sym typeface="Times New Roman"/>
              </a:rPr>
              <a:t>t</a:t>
            </a:r>
            <a:r>
              <a:rPr baseline="-25000" i="1" lang="en-US" sz="1900">
                <a:solidFill>
                  <a:schemeClr val="dk1"/>
                </a:solidFill>
                <a:latin typeface="Times New Roman"/>
                <a:ea typeface="Times New Roman"/>
                <a:cs typeface="Times New Roman"/>
                <a:sym typeface="Times New Roman"/>
              </a:rPr>
              <a:t>z </a:t>
            </a:r>
            <a:r>
              <a:rPr i="1" lang="en-US" sz="1900">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are specifying translation  distance for the coordinate directions x, y, and z,</a:t>
            </a:r>
            <a:r>
              <a:rPr i="1" lang="en-US" sz="1900">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are assigned any real value.</a:t>
            </a:r>
            <a:r>
              <a:rPr i="1" lang="en-US" sz="1900">
                <a:solidFill>
                  <a:schemeClr val="dk1"/>
                </a:solidFill>
                <a:latin typeface="Times New Roman"/>
                <a:ea typeface="Times New Roman"/>
                <a:cs typeface="Times New Roman"/>
                <a:sym typeface="Times New Roman"/>
              </a:rPr>
              <a:t>  </a:t>
            </a:r>
            <a:endParaRPr sz="1900">
              <a:solidFill>
                <a:schemeClr val="dk1"/>
              </a:solidFill>
            </a:endParaRPr>
          </a:p>
          <a:p>
            <a:pPr indent="0" lvl="0" marL="0" rtl="0" algn="l">
              <a:spcBef>
                <a:spcPts val="0"/>
              </a:spcBef>
              <a:spcAft>
                <a:spcPts val="0"/>
              </a:spcAft>
              <a:buClr>
                <a:schemeClr val="dk1"/>
              </a:buClr>
              <a:buFont typeface="Arial"/>
              <a:buNone/>
            </a:pPr>
            <a:r>
              <a:rPr lang="en-US" sz="1900">
                <a:solidFill>
                  <a:schemeClr val="dk1"/>
                </a:solidFill>
                <a:latin typeface="Times New Roman"/>
                <a:ea typeface="Times New Roman"/>
                <a:cs typeface="Times New Roman"/>
                <a:sym typeface="Times New Roman"/>
              </a:rPr>
              <a:t> </a:t>
            </a:r>
            <a:endParaRPr sz="1900">
              <a:solidFill>
                <a:schemeClr val="dk1"/>
              </a:solidFill>
            </a:endParaRPr>
          </a:p>
          <a:p>
            <a:pPr indent="0" lvl="0" marL="0" rtl="0" algn="l">
              <a:spcBef>
                <a:spcPts val="0"/>
              </a:spcBef>
              <a:spcAft>
                <a:spcPts val="0"/>
              </a:spcAft>
              <a:buNone/>
            </a:pPr>
            <a:r>
              <a:t/>
            </a:r>
            <a:endParaRPr sz="1800"/>
          </a:p>
        </p:txBody>
      </p:sp>
      <p:pic>
        <p:nvPicPr>
          <p:cNvPr id="142" name="Google Shape;142;g3bb5fbf5691_0_39"/>
          <p:cNvPicPr preferRelativeResize="0"/>
          <p:nvPr/>
        </p:nvPicPr>
        <p:blipFill>
          <a:blip r:embed="rId4">
            <a:alphaModFix/>
          </a:blip>
          <a:stretch>
            <a:fillRect/>
          </a:stretch>
        </p:blipFill>
        <p:spPr>
          <a:xfrm>
            <a:off x="5153750" y="1039526"/>
            <a:ext cx="2859774" cy="224045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6" name="Shape 146"/>
        <p:cNvGrpSpPr/>
        <p:nvPr/>
      </p:nvGrpSpPr>
      <p:grpSpPr>
        <a:xfrm>
          <a:off x="0" y="0"/>
          <a:ext cx="0" cy="0"/>
          <a:chOff x="0" y="0"/>
          <a:chExt cx="0" cy="0"/>
        </a:xfrm>
      </p:grpSpPr>
      <p:sp>
        <p:nvSpPr>
          <p:cNvPr id="147" name="Google Shape;147;g3bb5fbf5691_0_10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48" name="Google Shape;148;g3bb5fbf5691_0_10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9" name="Google Shape;149;g3bb5fbf5691_0_101"/>
          <p:cNvSpPr txBox="1"/>
          <p:nvPr/>
        </p:nvSpPr>
        <p:spPr>
          <a:xfrm>
            <a:off x="363825" y="168125"/>
            <a:ext cx="7789500" cy="708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Calibri"/>
                <a:ea typeface="Calibri"/>
                <a:cs typeface="Calibri"/>
                <a:sym typeface="Calibri"/>
              </a:rPr>
              <a:t>2D Transformations (Translation Example)</a:t>
            </a:r>
            <a:endParaRPr b="0" i="0" sz="3400" u="none" cap="none" strike="noStrike">
              <a:solidFill>
                <a:schemeClr val="lt1"/>
              </a:solidFill>
              <a:latin typeface="Calibri"/>
              <a:ea typeface="Calibri"/>
              <a:cs typeface="Calibri"/>
              <a:sym typeface="Calibri"/>
            </a:endParaRPr>
          </a:p>
        </p:txBody>
      </p:sp>
      <p:pic>
        <p:nvPicPr>
          <p:cNvPr id="150" name="Google Shape;150;g3bb5fbf5691_0_10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51" name="Google Shape;151;g3bb5fbf5691_0_101"/>
          <p:cNvSpPr txBox="1"/>
          <p:nvPr/>
        </p:nvSpPr>
        <p:spPr>
          <a:xfrm>
            <a:off x="299775" y="1117250"/>
            <a:ext cx="79572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Perform translation transformation on the following figure where the given translation distances are </a:t>
            </a:r>
            <a:r>
              <a:rPr b="1" i="1" lang="en-US" sz="1900">
                <a:solidFill>
                  <a:schemeClr val="dk1"/>
                </a:solidFill>
                <a:latin typeface="Times New Roman"/>
                <a:ea typeface="Times New Roman"/>
                <a:cs typeface="Times New Roman"/>
                <a:sym typeface="Times New Roman"/>
              </a:rPr>
              <a:t>t</a:t>
            </a:r>
            <a:r>
              <a:rPr b="1" baseline="-25000" i="1" lang="en-US" sz="1900">
                <a:solidFill>
                  <a:schemeClr val="dk1"/>
                </a:solidFill>
                <a:latin typeface="Times New Roman"/>
                <a:ea typeface="Times New Roman"/>
                <a:cs typeface="Times New Roman"/>
                <a:sym typeface="Times New Roman"/>
              </a:rPr>
              <a:t>x</a:t>
            </a:r>
            <a:r>
              <a:rPr lang="en-US"/>
              <a:t> = 35, </a:t>
            </a:r>
            <a:r>
              <a:rPr b="1" i="1" lang="en-US" sz="1900">
                <a:solidFill>
                  <a:schemeClr val="dk1"/>
                </a:solidFill>
                <a:latin typeface="Times New Roman"/>
                <a:ea typeface="Times New Roman"/>
                <a:cs typeface="Times New Roman"/>
                <a:sym typeface="Times New Roman"/>
              </a:rPr>
              <a:t>t</a:t>
            </a:r>
            <a:r>
              <a:rPr b="1" baseline="-25000" i="1" lang="en-US" sz="1900">
                <a:solidFill>
                  <a:schemeClr val="dk1"/>
                </a:solidFill>
                <a:latin typeface="Times New Roman"/>
                <a:ea typeface="Times New Roman"/>
                <a:cs typeface="Times New Roman"/>
                <a:sym typeface="Times New Roman"/>
              </a:rPr>
              <a:t>y</a:t>
            </a:r>
            <a:r>
              <a:rPr lang="en-US"/>
              <a:t>= 25, and </a:t>
            </a:r>
            <a:r>
              <a:rPr b="1" i="1" lang="en-US" sz="1900">
                <a:solidFill>
                  <a:schemeClr val="dk1"/>
                </a:solidFill>
                <a:latin typeface="Times New Roman"/>
                <a:ea typeface="Times New Roman"/>
                <a:cs typeface="Times New Roman"/>
                <a:sym typeface="Times New Roman"/>
              </a:rPr>
              <a:t>t</a:t>
            </a:r>
            <a:r>
              <a:rPr b="1" baseline="-25000" i="1" lang="en-US" sz="1900">
                <a:solidFill>
                  <a:schemeClr val="dk1"/>
                </a:solidFill>
                <a:latin typeface="Times New Roman"/>
                <a:ea typeface="Times New Roman"/>
                <a:cs typeface="Times New Roman"/>
                <a:sym typeface="Times New Roman"/>
              </a:rPr>
              <a:t>z</a:t>
            </a:r>
            <a:r>
              <a:rPr lang="en-US"/>
              <a:t> = 10</a:t>
            </a:r>
            <a:endParaRPr/>
          </a:p>
          <a:p>
            <a:pPr indent="0" lvl="0" marL="0" rtl="0" algn="l">
              <a:spcBef>
                <a:spcPts val="0"/>
              </a:spcBef>
              <a:spcAft>
                <a:spcPts val="0"/>
              </a:spcAft>
              <a:buNone/>
            </a:pPr>
            <a:r>
              <a:t/>
            </a:r>
            <a:endParaRPr/>
          </a:p>
        </p:txBody>
      </p:sp>
      <p:sp>
        <p:nvSpPr>
          <p:cNvPr id="152" name="Google Shape;152;g3bb5fbf5691_0_101"/>
          <p:cNvSpPr txBox="1"/>
          <p:nvPr/>
        </p:nvSpPr>
        <p:spPr>
          <a:xfrm>
            <a:off x="254375" y="1919775"/>
            <a:ext cx="177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980000"/>
                </a:solidFill>
              </a:rPr>
              <a:t>Solution: </a:t>
            </a:r>
            <a:endParaRPr b="1">
              <a:solidFill>
                <a:srgbClr val="980000"/>
              </a:solidFill>
            </a:endParaRPr>
          </a:p>
        </p:txBody>
      </p:sp>
      <p:pic>
        <p:nvPicPr>
          <p:cNvPr id="153" name="Google Shape;153;g3bb5fbf5691_0_101"/>
          <p:cNvPicPr preferRelativeResize="0"/>
          <p:nvPr/>
        </p:nvPicPr>
        <p:blipFill>
          <a:blip r:embed="rId4">
            <a:alphaModFix/>
          </a:blip>
          <a:stretch>
            <a:fillRect/>
          </a:stretch>
        </p:blipFill>
        <p:spPr>
          <a:xfrm>
            <a:off x="41150" y="4377725"/>
            <a:ext cx="1777500" cy="1326746"/>
          </a:xfrm>
          <a:prstGeom prst="rect">
            <a:avLst/>
          </a:prstGeom>
          <a:noFill/>
          <a:ln>
            <a:noFill/>
          </a:ln>
        </p:spPr>
      </p:pic>
      <p:sp>
        <p:nvSpPr>
          <p:cNvPr id="154" name="Google Shape;154;g3bb5fbf5691_0_101"/>
          <p:cNvSpPr txBox="1"/>
          <p:nvPr/>
        </p:nvSpPr>
        <p:spPr>
          <a:xfrm>
            <a:off x="0" y="3998400"/>
            <a:ext cx="2057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rgbClr val="980000"/>
                </a:solidFill>
              </a:rPr>
              <a:t>For Point A (10, 5, 8), </a:t>
            </a:r>
            <a:endParaRPr b="1" sz="1300">
              <a:solidFill>
                <a:srgbClr val="980000"/>
              </a:solidFill>
            </a:endParaRPr>
          </a:p>
        </p:txBody>
      </p:sp>
      <p:pic>
        <p:nvPicPr>
          <p:cNvPr id="155" name="Google Shape;155;g3bb5fbf5691_0_101"/>
          <p:cNvPicPr preferRelativeResize="0"/>
          <p:nvPr/>
        </p:nvPicPr>
        <p:blipFill>
          <a:blip r:embed="rId5">
            <a:alphaModFix/>
          </a:blip>
          <a:stretch>
            <a:fillRect/>
          </a:stretch>
        </p:blipFill>
        <p:spPr>
          <a:xfrm>
            <a:off x="299775" y="3075000"/>
            <a:ext cx="4704024" cy="547700"/>
          </a:xfrm>
          <a:prstGeom prst="rect">
            <a:avLst/>
          </a:prstGeom>
          <a:noFill/>
          <a:ln>
            <a:noFill/>
          </a:ln>
        </p:spPr>
      </p:pic>
      <p:pic>
        <p:nvPicPr>
          <p:cNvPr id="156" name="Google Shape;156;g3bb5fbf5691_0_101"/>
          <p:cNvPicPr preferRelativeResize="0"/>
          <p:nvPr/>
        </p:nvPicPr>
        <p:blipFill>
          <a:blip r:embed="rId6">
            <a:alphaModFix/>
          </a:blip>
          <a:stretch>
            <a:fillRect/>
          </a:stretch>
        </p:blipFill>
        <p:spPr>
          <a:xfrm>
            <a:off x="489400" y="2327625"/>
            <a:ext cx="4171500" cy="632225"/>
          </a:xfrm>
          <a:prstGeom prst="rect">
            <a:avLst/>
          </a:prstGeom>
          <a:noFill/>
          <a:ln>
            <a:noFill/>
          </a:ln>
        </p:spPr>
      </p:pic>
      <p:sp>
        <p:nvSpPr>
          <p:cNvPr id="157" name="Google Shape;157;g3bb5fbf5691_0_101"/>
          <p:cNvSpPr txBox="1"/>
          <p:nvPr/>
        </p:nvSpPr>
        <p:spPr>
          <a:xfrm>
            <a:off x="2084850" y="3990750"/>
            <a:ext cx="195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rgbClr val="980000"/>
                </a:solidFill>
              </a:rPr>
              <a:t>For </a:t>
            </a:r>
            <a:r>
              <a:rPr b="1" lang="en-US" sz="1300">
                <a:solidFill>
                  <a:srgbClr val="980000"/>
                </a:solidFill>
              </a:rPr>
              <a:t>Point B (30, 5, 10),</a:t>
            </a:r>
            <a:r>
              <a:rPr b="1" lang="en-US">
                <a:solidFill>
                  <a:srgbClr val="980000"/>
                </a:solidFill>
              </a:rPr>
              <a:t> </a:t>
            </a:r>
            <a:endParaRPr b="1">
              <a:solidFill>
                <a:srgbClr val="980000"/>
              </a:solidFill>
            </a:endParaRPr>
          </a:p>
        </p:txBody>
      </p:sp>
      <p:pic>
        <p:nvPicPr>
          <p:cNvPr id="158" name="Google Shape;158;g3bb5fbf5691_0_101"/>
          <p:cNvPicPr preferRelativeResize="0"/>
          <p:nvPr/>
        </p:nvPicPr>
        <p:blipFill>
          <a:blip r:embed="rId7">
            <a:alphaModFix/>
          </a:blip>
          <a:stretch>
            <a:fillRect/>
          </a:stretch>
        </p:blipFill>
        <p:spPr>
          <a:xfrm>
            <a:off x="2182769" y="4411350"/>
            <a:ext cx="1714500" cy="1409700"/>
          </a:xfrm>
          <a:prstGeom prst="rect">
            <a:avLst/>
          </a:prstGeom>
          <a:noFill/>
          <a:ln>
            <a:noFill/>
          </a:ln>
        </p:spPr>
      </p:pic>
      <p:sp>
        <p:nvSpPr>
          <p:cNvPr id="159" name="Google Shape;159;g3bb5fbf5691_0_101"/>
          <p:cNvSpPr txBox="1"/>
          <p:nvPr/>
        </p:nvSpPr>
        <p:spPr>
          <a:xfrm>
            <a:off x="4040550" y="3998400"/>
            <a:ext cx="2057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rgbClr val="980000"/>
                </a:solidFill>
              </a:rPr>
              <a:t>For Point C</a:t>
            </a:r>
            <a:r>
              <a:rPr b="1" lang="en-US" sz="1300">
                <a:solidFill>
                  <a:srgbClr val="980000"/>
                </a:solidFill>
              </a:rPr>
              <a:t> (20, 35, 10),</a:t>
            </a:r>
            <a:r>
              <a:rPr b="1" lang="en-US" sz="1300">
                <a:solidFill>
                  <a:srgbClr val="980000"/>
                </a:solidFill>
              </a:rPr>
              <a:t> </a:t>
            </a:r>
            <a:endParaRPr b="1" sz="1300">
              <a:solidFill>
                <a:srgbClr val="980000"/>
              </a:solidFill>
            </a:endParaRPr>
          </a:p>
        </p:txBody>
      </p:sp>
      <p:pic>
        <p:nvPicPr>
          <p:cNvPr id="160" name="Google Shape;160;g3bb5fbf5691_0_101"/>
          <p:cNvPicPr preferRelativeResize="0"/>
          <p:nvPr/>
        </p:nvPicPr>
        <p:blipFill>
          <a:blip r:embed="rId8">
            <a:alphaModFix/>
          </a:blip>
          <a:stretch>
            <a:fillRect/>
          </a:stretch>
        </p:blipFill>
        <p:spPr>
          <a:xfrm>
            <a:off x="4068000" y="4411350"/>
            <a:ext cx="1505126" cy="1292537"/>
          </a:xfrm>
          <a:prstGeom prst="rect">
            <a:avLst/>
          </a:prstGeom>
          <a:noFill/>
          <a:ln>
            <a:noFill/>
          </a:ln>
        </p:spPr>
      </p:pic>
      <p:pic>
        <p:nvPicPr>
          <p:cNvPr id="161" name="Google Shape;161;g3bb5fbf5691_0_101"/>
          <p:cNvPicPr preferRelativeResize="0"/>
          <p:nvPr/>
        </p:nvPicPr>
        <p:blipFill rotWithShape="1">
          <a:blip r:embed="rId9">
            <a:alphaModFix/>
          </a:blip>
          <a:srcRect b="0" l="5756" r="3441" t="0"/>
          <a:stretch/>
        </p:blipFill>
        <p:spPr>
          <a:xfrm>
            <a:off x="6350000" y="2797700"/>
            <a:ext cx="2489199" cy="1827500"/>
          </a:xfrm>
          <a:prstGeom prst="rect">
            <a:avLst/>
          </a:prstGeom>
          <a:noFill/>
          <a:ln>
            <a:noFill/>
          </a:ln>
        </p:spPr>
      </p:pic>
      <p:sp>
        <p:nvSpPr>
          <p:cNvPr id="162" name="Google Shape;162;g3bb5fbf5691_0_101"/>
          <p:cNvSpPr txBox="1"/>
          <p:nvPr/>
        </p:nvSpPr>
        <p:spPr>
          <a:xfrm>
            <a:off x="7501125" y="3454688"/>
            <a:ext cx="363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rgbClr val="980000"/>
                </a:solidFill>
              </a:rPr>
              <a:t>A′</a:t>
            </a:r>
            <a:endParaRPr b="1" sz="900">
              <a:solidFill>
                <a:srgbClr val="980000"/>
              </a:solidFill>
            </a:endParaRPr>
          </a:p>
        </p:txBody>
      </p:sp>
      <p:sp>
        <p:nvSpPr>
          <p:cNvPr id="163" name="Google Shape;163;g3bb5fbf5691_0_101"/>
          <p:cNvSpPr txBox="1"/>
          <p:nvPr/>
        </p:nvSpPr>
        <p:spPr>
          <a:xfrm>
            <a:off x="8153325" y="3437713"/>
            <a:ext cx="363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rgbClr val="980000"/>
                </a:solidFill>
              </a:rPr>
              <a:t>B′</a:t>
            </a:r>
            <a:endParaRPr b="1" sz="900">
              <a:solidFill>
                <a:srgbClr val="980000"/>
              </a:solidFill>
            </a:endParaRPr>
          </a:p>
        </p:txBody>
      </p:sp>
      <p:sp>
        <p:nvSpPr>
          <p:cNvPr id="164" name="Google Shape;164;g3bb5fbf5691_0_101"/>
          <p:cNvSpPr txBox="1"/>
          <p:nvPr/>
        </p:nvSpPr>
        <p:spPr>
          <a:xfrm>
            <a:off x="7964575" y="2698025"/>
            <a:ext cx="363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rgbClr val="980000"/>
                </a:solidFill>
              </a:rPr>
              <a:t>C′</a:t>
            </a:r>
            <a:endParaRPr b="1" sz="900">
              <a:solidFill>
                <a:srgbClr val="980000"/>
              </a:solidFill>
            </a:endParaRPr>
          </a:p>
        </p:txBody>
      </p:sp>
      <p:sp>
        <p:nvSpPr>
          <p:cNvPr id="165" name="Google Shape;165;g3bb5fbf5691_0_101"/>
          <p:cNvSpPr txBox="1"/>
          <p:nvPr/>
        </p:nvSpPr>
        <p:spPr>
          <a:xfrm>
            <a:off x="6546850" y="4078400"/>
            <a:ext cx="363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rgbClr val="980000"/>
                </a:solidFill>
              </a:rPr>
              <a:t>A</a:t>
            </a:r>
            <a:endParaRPr b="1" sz="900">
              <a:solidFill>
                <a:srgbClr val="980000"/>
              </a:solidFill>
            </a:endParaRPr>
          </a:p>
        </p:txBody>
      </p:sp>
      <p:sp>
        <p:nvSpPr>
          <p:cNvPr id="166" name="Google Shape;166;g3bb5fbf5691_0_101"/>
          <p:cNvSpPr txBox="1"/>
          <p:nvPr/>
        </p:nvSpPr>
        <p:spPr>
          <a:xfrm>
            <a:off x="7501125" y="4088250"/>
            <a:ext cx="363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rgbClr val="980000"/>
                </a:solidFill>
              </a:rPr>
              <a:t>B</a:t>
            </a:r>
            <a:endParaRPr b="1" sz="900">
              <a:solidFill>
                <a:srgbClr val="980000"/>
              </a:solidFill>
            </a:endParaRPr>
          </a:p>
        </p:txBody>
      </p:sp>
      <p:sp>
        <p:nvSpPr>
          <p:cNvPr id="167" name="Google Shape;167;g3bb5fbf5691_0_101"/>
          <p:cNvSpPr txBox="1"/>
          <p:nvPr/>
        </p:nvSpPr>
        <p:spPr>
          <a:xfrm>
            <a:off x="6848925" y="3187300"/>
            <a:ext cx="363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rgbClr val="980000"/>
                </a:solidFill>
              </a:rPr>
              <a:t>C</a:t>
            </a:r>
            <a:endParaRPr b="1" sz="900">
              <a:solidFill>
                <a:srgbClr val="98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sp>
        <p:nvSpPr>
          <p:cNvPr id="172" name="Google Shape;172;g3bb5fbf5691_0_12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3" name="Google Shape;173;g3bb5fbf5691_0_121"/>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(Scaling)</a:t>
            </a:r>
            <a:endParaRPr b="0" i="0" sz="3800" u="none" cap="none" strike="noStrike">
              <a:solidFill>
                <a:schemeClr val="lt1"/>
              </a:solidFill>
              <a:latin typeface="Calibri"/>
              <a:ea typeface="Calibri"/>
              <a:cs typeface="Calibri"/>
              <a:sym typeface="Calibri"/>
            </a:endParaRPr>
          </a:p>
        </p:txBody>
      </p:sp>
      <p:pic>
        <p:nvPicPr>
          <p:cNvPr id="174" name="Google Shape;174;g3bb5fbf5691_0_12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75" name="Google Shape;175;g3bb5fbf5691_0_121"/>
          <p:cNvSpPr txBox="1"/>
          <p:nvPr/>
        </p:nvSpPr>
        <p:spPr>
          <a:xfrm>
            <a:off x="118250" y="1136975"/>
            <a:ext cx="8722500" cy="12366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Changes the size of the object and repositions the object relative to the coordinate origin.</a:t>
            </a:r>
            <a:endParaRPr sz="2000">
              <a:solidFill>
                <a:srgbClr val="434343"/>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000"/>
              <a:buFont typeface="Arial"/>
              <a:buNone/>
            </a:pPr>
            <a:r>
              <a:t/>
            </a:r>
            <a:endParaRPr b="0" i="0" sz="2000" u="none" cap="none" strike="noStrike">
              <a:solidFill>
                <a:srgbClr val="434343"/>
              </a:solidFill>
              <a:latin typeface="Times New Roman"/>
              <a:ea typeface="Times New Roman"/>
              <a:cs typeface="Times New Roman"/>
              <a:sym typeface="Times New Roman"/>
            </a:endParaRPr>
          </a:p>
        </p:txBody>
      </p:sp>
      <p:sp>
        <p:nvSpPr>
          <p:cNvPr id="176" name="Google Shape;176;g3bb5fbf5691_0_121"/>
          <p:cNvSpPr txBox="1"/>
          <p:nvPr/>
        </p:nvSpPr>
        <p:spPr>
          <a:xfrm>
            <a:off x="4245825" y="3949501"/>
            <a:ext cx="2706600" cy="46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Scaling of objects</a:t>
            </a:r>
            <a:endParaRPr b="1" i="0" sz="1800" u="none" cap="none" strike="noStrike">
              <a:solidFill>
                <a:srgbClr val="980000"/>
              </a:solidFill>
              <a:latin typeface="Times New Roman"/>
              <a:ea typeface="Times New Roman"/>
              <a:cs typeface="Times New Roman"/>
              <a:sym typeface="Times New Roman"/>
            </a:endParaRPr>
          </a:p>
        </p:txBody>
      </p:sp>
      <p:pic>
        <p:nvPicPr>
          <p:cNvPr id="177" name="Google Shape;177;g3bb5fbf5691_0_121"/>
          <p:cNvPicPr preferRelativeResize="0"/>
          <p:nvPr/>
        </p:nvPicPr>
        <p:blipFill rotWithShape="1">
          <a:blip r:embed="rId4">
            <a:alphaModFix/>
          </a:blip>
          <a:srcRect b="0" l="0" r="0" t="0"/>
          <a:stretch/>
        </p:blipFill>
        <p:spPr>
          <a:xfrm>
            <a:off x="1062152" y="2329601"/>
            <a:ext cx="2703952" cy="1710077"/>
          </a:xfrm>
          <a:prstGeom prst="rect">
            <a:avLst/>
          </a:prstGeom>
          <a:noFill/>
          <a:ln>
            <a:noFill/>
          </a:ln>
        </p:spPr>
      </p:pic>
      <p:pic>
        <p:nvPicPr>
          <p:cNvPr id="178" name="Google Shape;178;g3bb5fbf5691_0_121"/>
          <p:cNvPicPr preferRelativeResize="0"/>
          <p:nvPr/>
        </p:nvPicPr>
        <p:blipFill rotWithShape="1">
          <a:blip r:embed="rId5">
            <a:alphaModFix/>
          </a:blip>
          <a:srcRect b="25312" l="28036" r="0" t="8545"/>
          <a:stretch/>
        </p:blipFill>
        <p:spPr>
          <a:xfrm>
            <a:off x="4570425" y="2016750"/>
            <a:ext cx="2057399" cy="1718825"/>
          </a:xfrm>
          <a:prstGeom prst="rect">
            <a:avLst/>
          </a:prstGeom>
          <a:noFill/>
          <a:ln>
            <a:noFill/>
          </a:ln>
        </p:spPr>
      </p:pic>
      <p:sp>
        <p:nvSpPr>
          <p:cNvPr id="179" name="Google Shape;179;g3bb5fbf5691_0_121"/>
          <p:cNvSpPr txBox="1"/>
          <p:nvPr/>
        </p:nvSpPr>
        <p:spPr>
          <a:xfrm>
            <a:off x="401000" y="4233400"/>
            <a:ext cx="815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Times New Roman"/>
                <a:ea typeface="Times New Roman"/>
                <a:cs typeface="Times New Roman"/>
                <a:sym typeface="Times New Roman"/>
              </a:rPr>
              <a:t>The equations for scaling, </a:t>
            </a:r>
            <a:endParaRPr sz="1800">
              <a:solidFill>
                <a:schemeClr val="dk1"/>
              </a:solidFill>
              <a:latin typeface="Times New Roman"/>
              <a:ea typeface="Times New Roman"/>
              <a:cs typeface="Times New Roman"/>
              <a:sym typeface="Times New Roman"/>
            </a:endParaRPr>
          </a:p>
        </p:txBody>
      </p:sp>
      <p:pic>
        <p:nvPicPr>
          <p:cNvPr id="180" name="Google Shape;180;g3bb5fbf5691_0_121"/>
          <p:cNvPicPr preferRelativeResize="0"/>
          <p:nvPr/>
        </p:nvPicPr>
        <p:blipFill>
          <a:blip r:embed="rId6">
            <a:alphaModFix/>
          </a:blip>
          <a:stretch>
            <a:fillRect/>
          </a:stretch>
        </p:blipFill>
        <p:spPr>
          <a:xfrm>
            <a:off x="2956900" y="4923475"/>
            <a:ext cx="3657875" cy="1551825"/>
          </a:xfrm>
          <a:prstGeom prst="rect">
            <a:avLst/>
          </a:prstGeom>
          <a:noFill/>
          <a:ln>
            <a:noFill/>
          </a:ln>
        </p:spPr>
      </p:pic>
      <p:pic>
        <p:nvPicPr>
          <p:cNvPr id="181" name="Google Shape;181;g3bb5fbf5691_0_121"/>
          <p:cNvPicPr preferRelativeResize="0"/>
          <p:nvPr/>
        </p:nvPicPr>
        <p:blipFill>
          <a:blip r:embed="rId7">
            <a:alphaModFix/>
          </a:blip>
          <a:stretch>
            <a:fillRect/>
          </a:stretch>
        </p:blipFill>
        <p:spPr>
          <a:xfrm>
            <a:off x="767525" y="4868075"/>
            <a:ext cx="2057400" cy="1662625"/>
          </a:xfrm>
          <a:prstGeom prst="rect">
            <a:avLst/>
          </a:prstGeom>
          <a:noFill/>
          <a:ln>
            <a:noFill/>
          </a:ln>
        </p:spPr>
      </p:pic>
      <p:pic>
        <p:nvPicPr>
          <p:cNvPr id="182" name="Google Shape;182;g3bb5fbf5691_0_121" title="affine-space-scaling.gif"/>
          <p:cNvPicPr preferRelativeResize="0"/>
          <p:nvPr/>
        </p:nvPicPr>
        <p:blipFill>
          <a:blip r:embed="rId8">
            <a:alphaModFix/>
          </a:blip>
          <a:stretch>
            <a:fillRect/>
          </a:stretch>
        </p:blipFill>
        <p:spPr>
          <a:xfrm>
            <a:off x="6614775" y="3558925"/>
            <a:ext cx="2373600" cy="2263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g3bb5fbf5691_0_19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88" name="Google Shape;188;g3bb5fbf5691_0_19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9" name="Google Shape;189;g3bb5fbf5691_0_19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(Scaling Example)</a:t>
            </a:r>
            <a:endParaRPr b="0" i="0" sz="3800" u="none" cap="none" strike="noStrike">
              <a:solidFill>
                <a:schemeClr val="lt1"/>
              </a:solidFill>
              <a:latin typeface="Calibri"/>
              <a:ea typeface="Calibri"/>
              <a:cs typeface="Calibri"/>
              <a:sym typeface="Calibri"/>
            </a:endParaRPr>
          </a:p>
        </p:txBody>
      </p:sp>
      <p:pic>
        <p:nvPicPr>
          <p:cNvPr id="190" name="Google Shape;190;g3bb5fbf5691_0_19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91" name="Google Shape;191;g3bb5fbf5691_0_190"/>
          <p:cNvSpPr txBox="1"/>
          <p:nvPr/>
        </p:nvSpPr>
        <p:spPr>
          <a:xfrm>
            <a:off x="215900" y="1143000"/>
            <a:ext cx="8445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Consider the above problem where a cube</a:t>
            </a:r>
            <a:r>
              <a:rPr lang="en-US"/>
              <a:t> "OABCDEFG"</a:t>
            </a:r>
            <a:r>
              <a:rPr lang="en-US"/>
              <a:t> is </a:t>
            </a:r>
            <a:r>
              <a:rPr lang="en-US"/>
              <a:t>given with</a:t>
            </a:r>
            <a:r>
              <a:rPr lang="en-US"/>
              <a:t> O(0, 0, 0</a:t>
            </a:r>
            <a:r>
              <a:rPr lang="en-US"/>
              <a:t>),</a:t>
            </a:r>
            <a:r>
              <a:rPr lang="en-US"/>
              <a:t> A(0, 4, 0), B(0, 4, 4), C(4, 4, 0), D(4, 4, 4), E(4, 0, 0), F(0, 0, 4), </a:t>
            </a:r>
            <a:r>
              <a:rPr lang="en-US"/>
              <a:t>and G(4, 0, 4),</a:t>
            </a:r>
            <a:r>
              <a:rPr lang="en-US"/>
              <a:t> 4) and we are given </a:t>
            </a:r>
            <a:r>
              <a:rPr lang="en-US"/>
              <a:t>the scaling factors</a:t>
            </a:r>
            <a:r>
              <a:rPr lang="en-US"/>
              <a:t> Sx, </a:t>
            </a:r>
            <a:r>
              <a:rPr lang="en-US"/>
              <a:t>Sy, and</a:t>
            </a:r>
            <a:r>
              <a:rPr lang="en-US"/>
              <a:t> Sz. Perform </a:t>
            </a:r>
            <a:r>
              <a:rPr lang="en-US"/>
              <a:t>a scaling</a:t>
            </a:r>
            <a:r>
              <a:rPr lang="en-US"/>
              <a:t> operation  over the cube.</a:t>
            </a:r>
            <a:endParaRPr/>
          </a:p>
        </p:txBody>
      </p:sp>
      <p:sp>
        <p:nvSpPr>
          <p:cNvPr id="192" name="Google Shape;192;g3bb5fbf5691_0_190"/>
          <p:cNvSpPr txBox="1"/>
          <p:nvPr/>
        </p:nvSpPr>
        <p:spPr>
          <a:xfrm>
            <a:off x="363825" y="2179675"/>
            <a:ext cx="6576300" cy="178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en-US" sz="1900">
                <a:solidFill>
                  <a:schemeClr val="dk1"/>
                </a:solidFill>
                <a:latin typeface="Times New Roman"/>
                <a:ea typeface="Times New Roman"/>
                <a:cs typeface="Times New Roman"/>
                <a:sym typeface="Times New Roman"/>
              </a:rPr>
              <a:t>Scaling factors: S</a:t>
            </a:r>
            <a:r>
              <a:rPr baseline="-25000" lang="en-US" sz="1900">
                <a:solidFill>
                  <a:schemeClr val="dk1"/>
                </a:solidFill>
                <a:latin typeface="Times New Roman"/>
                <a:ea typeface="Times New Roman"/>
                <a:cs typeface="Times New Roman"/>
                <a:sym typeface="Times New Roman"/>
              </a:rPr>
              <a:t>x</a:t>
            </a:r>
            <a:r>
              <a:rPr lang="en-US" sz="1900">
                <a:solidFill>
                  <a:schemeClr val="dk1"/>
                </a:solidFill>
                <a:latin typeface="Times New Roman"/>
                <a:ea typeface="Times New Roman"/>
                <a:cs typeface="Times New Roman"/>
                <a:sym typeface="Times New Roman"/>
              </a:rPr>
              <a:t> = 2, S</a:t>
            </a:r>
            <a:r>
              <a:rPr baseline="-25000" lang="en-US" sz="1900">
                <a:solidFill>
                  <a:schemeClr val="dk1"/>
                </a:solidFill>
                <a:latin typeface="Times New Roman"/>
                <a:ea typeface="Times New Roman"/>
                <a:cs typeface="Times New Roman"/>
                <a:sym typeface="Times New Roman"/>
              </a:rPr>
              <a:t>y</a:t>
            </a:r>
            <a:r>
              <a:rPr lang="en-US" sz="1900">
                <a:solidFill>
                  <a:schemeClr val="dk1"/>
                </a:solidFill>
                <a:latin typeface="Times New Roman"/>
                <a:ea typeface="Times New Roman"/>
                <a:cs typeface="Times New Roman"/>
                <a:sym typeface="Times New Roman"/>
              </a:rPr>
              <a:t> = 3,  S</a:t>
            </a:r>
            <a:r>
              <a:rPr baseline="-25000" lang="en-US" sz="1900">
                <a:solidFill>
                  <a:schemeClr val="dk1"/>
                </a:solidFill>
                <a:latin typeface="Times New Roman"/>
                <a:ea typeface="Times New Roman"/>
                <a:cs typeface="Times New Roman"/>
                <a:sym typeface="Times New Roman"/>
              </a:rPr>
              <a:t>z </a:t>
            </a:r>
            <a:r>
              <a:rPr lang="en-US" sz="1900">
                <a:solidFill>
                  <a:schemeClr val="dk1"/>
                </a:solidFill>
                <a:latin typeface="Times New Roman"/>
                <a:ea typeface="Times New Roman"/>
                <a:cs typeface="Times New Roman"/>
                <a:sym typeface="Times New Roman"/>
              </a:rPr>
              <a:t>= 2</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t/>
            </a:r>
            <a:endParaRPr sz="3200">
              <a:solidFill>
                <a:schemeClr val="dk1"/>
              </a:solidFill>
              <a:latin typeface="Calibri"/>
              <a:ea typeface="Calibri"/>
              <a:cs typeface="Calibri"/>
              <a:sym typeface="Calibri"/>
            </a:endParaRPr>
          </a:p>
          <a:p>
            <a:pPr indent="0" lvl="0" marL="0" rtl="0" algn="l">
              <a:lnSpc>
                <a:spcPct val="115000"/>
              </a:lnSpc>
              <a:spcBef>
                <a:spcPts val="800"/>
              </a:spcBef>
              <a:spcAft>
                <a:spcPts val="0"/>
              </a:spcAft>
              <a:buNone/>
            </a:pPr>
            <a:r>
              <a:t/>
            </a:r>
            <a:endParaRPr sz="3200">
              <a:solidFill>
                <a:schemeClr val="dk1"/>
              </a:solidFill>
              <a:latin typeface="Calibri"/>
              <a:ea typeface="Calibri"/>
              <a:cs typeface="Calibri"/>
              <a:sym typeface="Calibri"/>
            </a:endParaRPr>
          </a:p>
        </p:txBody>
      </p:sp>
      <p:sp>
        <p:nvSpPr>
          <p:cNvPr id="193" name="Google Shape;193;g3bb5fbf5691_0_190"/>
          <p:cNvSpPr txBox="1"/>
          <p:nvPr/>
        </p:nvSpPr>
        <p:spPr>
          <a:xfrm>
            <a:off x="5225925" y="3235775"/>
            <a:ext cx="1714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en-US" sz="2200">
                <a:solidFill>
                  <a:schemeClr val="dk1"/>
                </a:solidFill>
                <a:latin typeface="Times New Roman"/>
                <a:ea typeface="Times New Roman"/>
                <a:cs typeface="Times New Roman"/>
                <a:sym typeface="Times New Roman"/>
              </a:rPr>
              <a:t>P' = S × P</a:t>
            </a:r>
            <a:endParaRPr sz="2200">
              <a:latin typeface="Times New Roman"/>
              <a:ea typeface="Times New Roman"/>
              <a:cs typeface="Times New Roman"/>
              <a:sym typeface="Times New Roman"/>
            </a:endParaRPr>
          </a:p>
        </p:txBody>
      </p:sp>
      <p:sp>
        <p:nvSpPr>
          <p:cNvPr id="194" name="Google Shape;194;g3bb5fbf5691_0_190"/>
          <p:cNvSpPr txBox="1"/>
          <p:nvPr/>
        </p:nvSpPr>
        <p:spPr>
          <a:xfrm>
            <a:off x="393875" y="4136575"/>
            <a:ext cx="3000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Times New Roman"/>
                <a:ea typeface="Times New Roman"/>
                <a:cs typeface="Times New Roman"/>
                <a:sym typeface="Times New Roman"/>
              </a:rPr>
              <a:t>For a point P(x,y,z), </a:t>
            </a:r>
            <a:endParaRPr sz="1900">
              <a:latin typeface="Times New Roman"/>
              <a:ea typeface="Times New Roman"/>
              <a:cs typeface="Times New Roman"/>
              <a:sym typeface="Times New Roman"/>
            </a:endParaRPr>
          </a:p>
        </p:txBody>
      </p:sp>
      <p:pic>
        <p:nvPicPr>
          <p:cNvPr id="195" name="Google Shape;195;g3bb5fbf5691_0_190"/>
          <p:cNvPicPr preferRelativeResize="0"/>
          <p:nvPr/>
        </p:nvPicPr>
        <p:blipFill>
          <a:blip r:embed="rId4">
            <a:alphaModFix/>
          </a:blip>
          <a:stretch>
            <a:fillRect/>
          </a:stretch>
        </p:blipFill>
        <p:spPr>
          <a:xfrm>
            <a:off x="1090000" y="4621050"/>
            <a:ext cx="1753125" cy="1662625"/>
          </a:xfrm>
          <a:prstGeom prst="rect">
            <a:avLst/>
          </a:prstGeom>
          <a:noFill/>
          <a:ln>
            <a:noFill/>
          </a:ln>
        </p:spPr>
      </p:pic>
      <p:sp>
        <p:nvSpPr>
          <p:cNvPr id="196" name="Google Shape;196;g3bb5fbf5691_0_190"/>
          <p:cNvSpPr txBox="1"/>
          <p:nvPr/>
        </p:nvSpPr>
        <p:spPr>
          <a:xfrm>
            <a:off x="4859650" y="2434325"/>
            <a:ext cx="3000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Times New Roman"/>
                <a:ea typeface="Times New Roman"/>
                <a:cs typeface="Times New Roman"/>
                <a:sym typeface="Times New Roman"/>
              </a:rPr>
              <a:t>Transformation Equation, </a:t>
            </a:r>
            <a:endParaRPr sz="1900">
              <a:latin typeface="Times New Roman"/>
              <a:ea typeface="Times New Roman"/>
              <a:cs typeface="Times New Roman"/>
              <a:sym typeface="Times New Roman"/>
            </a:endParaRPr>
          </a:p>
        </p:txBody>
      </p:sp>
      <p:pic>
        <p:nvPicPr>
          <p:cNvPr id="197" name="Google Shape;197;g3bb5fbf5691_0_190"/>
          <p:cNvPicPr preferRelativeResize="0"/>
          <p:nvPr/>
        </p:nvPicPr>
        <p:blipFill>
          <a:blip r:embed="rId5">
            <a:alphaModFix/>
          </a:blip>
          <a:stretch>
            <a:fillRect/>
          </a:stretch>
        </p:blipFill>
        <p:spPr>
          <a:xfrm>
            <a:off x="812150" y="2837350"/>
            <a:ext cx="2541516" cy="1183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1" name="Shape 201"/>
        <p:cNvGrpSpPr/>
        <p:nvPr/>
      </p:nvGrpSpPr>
      <p:grpSpPr>
        <a:xfrm>
          <a:off x="0" y="0"/>
          <a:ext cx="0" cy="0"/>
          <a:chOff x="0" y="0"/>
          <a:chExt cx="0" cy="0"/>
        </a:xfrm>
      </p:grpSpPr>
      <p:sp>
        <p:nvSpPr>
          <p:cNvPr id="202" name="Google Shape;202;g3bc93f8e738_0_8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03" name="Google Shape;203;g3bc93f8e738_0_8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4" name="Google Shape;204;g3bc93f8e738_0_8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(Scaling Example)</a:t>
            </a:r>
            <a:endParaRPr b="0" i="0" sz="3800" u="none" cap="none" strike="noStrike">
              <a:solidFill>
                <a:schemeClr val="lt1"/>
              </a:solidFill>
              <a:latin typeface="Calibri"/>
              <a:ea typeface="Calibri"/>
              <a:cs typeface="Calibri"/>
              <a:sym typeface="Calibri"/>
            </a:endParaRPr>
          </a:p>
        </p:txBody>
      </p:sp>
      <p:pic>
        <p:nvPicPr>
          <p:cNvPr id="205" name="Google Shape;205;g3bc93f8e738_0_8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0"/>
              </a:srgbClr>
            </a:outerShdw>
          </a:effectLst>
        </p:spPr>
      </p:pic>
      <p:sp>
        <p:nvSpPr>
          <p:cNvPr id="206" name="Google Shape;206;g3bc93f8e738_0_80"/>
          <p:cNvSpPr txBox="1"/>
          <p:nvPr/>
        </p:nvSpPr>
        <p:spPr>
          <a:xfrm>
            <a:off x="225000" y="1013713"/>
            <a:ext cx="8445600" cy="923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latin typeface="Times New Roman"/>
                <a:ea typeface="Times New Roman"/>
                <a:cs typeface="Times New Roman"/>
                <a:sym typeface="Times New Roman"/>
              </a:rPr>
              <a:t>Consider the above problem where a cube "OABCDEFG" is given with O(0, 0, 0), A(0, 4, 0), B(0, 4, 4), C(4, 4, 0), D(4, 4, 4), E(4, 0, 0), F(0, 0, 4), and G(4, 0, 4), 4) and we are given the scaling factors Sx, Sy, and Sz. Perform a scaling operation  over the cube.</a:t>
            </a:r>
            <a:endParaRPr sz="1600">
              <a:latin typeface="Times New Roman"/>
              <a:ea typeface="Times New Roman"/>
              <a:cs typeface="Times New Roman"/>
              <a:sym typeface="Times New Roman"/>
            </a:endParaRPr>
          </a:p>
        </p:txBody>
      </p:sp>
      <p:sp>
        <p:nvSpPr>
          <p:cNvPr id="207" name="Google Shape;207;g3bc93f8e738_0_80"/>
          <p:cNvSpPr txBox="1"/>
          <p:nvPr/>
        </p:nvSpPr>
        <p:spPr>
          <a:xfrm>
            <a:off x="363825" y="2016550"/>
            <a:ext cx="25884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a:t>
            </a:r>
            <a:r>
              <a:rPr b="1" lang="en-US" sz="1700">
                <a:solidFill>
                  <a:srgbClr val="980000"/>
                </a:solidFill>
                <a:latin typeface="Times New Roman"/>
                <a:ea typeface="Times New Roman"/>
                <a:cs typeface="Times New Roman"/>
                <a:sym typeface="Times New Roman"/>
              </a:rPr>
              <a:t>oint O (0,0,0)</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2 × </a:t>
            </a:r>
            <a:r>
              <a:rPr lang="en-US" sz="1700">
                <a:solidFill>
                  <a:schemeClr val="dk1"/>
                </a:solidFill>
                <a:latin typeface="Times New Roman"/>
                <a:ea typeface="Times New Roman"/>
                <a:cs typeface="Times New Roman"/>
                <a:sym typeface="Times New Roman"/>
              </a:rPr>
              <a:t>x = 2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3 × y </a:t>
            </a:r>
            <a:r>
              <a:rPr lang="en-US" sz="1700">
                <a:solidFill>
                  <a:schemeClr val="dk1"/>
                </a:solidFill>
                <a:latin typeface="Times New Roman"/>
                <a:ea typeface="Times New Roman"/>
                <a:cs typeface="Times New Roman"/>
                <a:sym typeface="Times New Roman"/>
              </a:rPr>
              <a:t>= 3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2 × z </a:t>
            </a:r>
            <a:r>
              <a:rPr lang="en-US" sz="1700">
                <a:solidFill>
                  <a:schemeClr val="dk1"/>
                </a:solidFill>
                <a:latin typeface="Times New Roman"/>
                <a:ea typeface="Times New Roman"/>
                <a:cs typeface="Times New Roman"/>
                <a:sym typeface="Times New Roman"/>
              </a:rPr>
              <a:t>= 2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O' (0, 0, 0)</a:t>
            </a:r>
            <a:endParaRPr b="1" sz="1700">
              <a:solidFill>
                <a:srgbClr val="0B5394"/>
              </a:solidFill>
              <a:latin typeface="Times New Roman"/>
              <a:ea typeface="Times New Roman"/>
              <a:cs typeface="Times New Roman"/>
              <a:sym typeface="Times New Roman"/>
            </a:endParaRPr>
          </a:p>
        </p:txBody>
      </p:sp>
      <p:sp>
        <p:nvSpPr>
          <p:cNvPr id="208" name="Google Shape;208;g3bc93f8e738_0_80"/>
          <p:cNvSpPr txBox="1"/>
          <p:nvPr/>
        </p:nvSpPr>
        <p:spPr>
          <a:xfrm>
            <a:off x="3153600" y="2016550"/>
            <a:ext cx="36135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a:t>
            </a:r>
            <a:r>
              <a:rPr b="1" lang="en-US" sz="1700">
                <a:solidFill>
                  <a:srgbClr val="980000"/>
                </a:solidFill>
                <a:latin typeface="Times New Roman"/>
                <a:ea typeface="Times New Roman"/>
                <a:cs typeface="Times New Roman"/>
                <a:sym typeface="Times New Roman"/>
              </a:rPr>
              <a:t>oint A </a:t>
            </a:r>
            <a:r>
              <a:rPr b="1" lang="en-US" sz="1700">
                <a:solidFill>
                  <a:srgbClr val="980000"/>
                </a:solidFill>
                <a:latin typeface="Times New Roman"/>
                <a:ea typeface="Times New Roman"/>
                <a:cs typeface="Times New Roman"/>
                <a:sym typeface="Times New Roman"/>
              </a:rPr>
              <a:t>(0, 4, 0)</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2 × x </a:t>
            </a:r>
            <a:r>
              <a:rPr lang="en-US" sz="1700">
                <a:solidFill>
                  <a:schemeClr val="dk1"/>
                </a:solidFill>
                <a:latin typeface="Times New Roman"/>
                <a:ea typeface="Times New Roman"/>
                <a:cs typeface="Times New Roman"/>
                <a:sym typeface="Times New Roman"/>
              </a:rPr>
              <a:t>= 2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3 × y </a:t>
            </a:r>
            <a:r>
              <a:rPr lang="en-US" sz="1700">
                <a:solidFill>
                  <a:schemeClr val="dk1"/>
                </a:solidFill>
                <a:latin typeface="Times New Roman"/>
                <a:ea typeface="Times New Roman"/>
                <a:cs typeface="Times New Roman"/>
                <a:sym typeface="Times New Roman"/>
              </a:rPr>
              <a:t>= 3 × 4 = 12</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2 × z </a:t>
            </a:r>
            <a:r>
              <a:rPr lang="en-US" sz="1700">
                <a:solidFill>
                  <a:schemeClr val="dk1"/>
                </a:solidFill>
                <a:latin typeface="Times New Roman"/>
                <a:ea typeface="Times New Roman"/>
                <a:cs typeface="Times New Roman"/>
                <a:sym typeface="Times New Roman"/>
              </a:rPr>
              <a:t>= 2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A' </a:t>
            </a:r>
            <a:r>
              <a:rPr b="1" lang="en-US" sz="1700">
                <a:solidFill>
                  <a:srgbClr val="0B5394"/>
                </a:solidFill>
                <a:latin typeface="Times New Roman"/>
                <a:ea typeface="Times New Roman"/>
                <a:cs typeface="Times New Roman"/>
                <a:sym typeface="Times New Roman"/>
              </a:rPr>
              <a:t>(0, 12, 0)</a:t>
            </a:r>
            <a:endParaRPr b="1" sz="1700">
              <a:solidFill>
                <a:srgbClr val="0B5394"/>
              </a:solidFill>
              <a:latin typeface="Times New Roman"/>
              <a:ea typeface="Times New Roman"/>
              <a:cs typeface="Times New Roman"/>
              <a:sym typeface="Times New Roman"/>
            </a:endParaRPr>
          </a:p>
        </p:txBody>
      </p:sp>
      <p:sp>
        <p:nvSpPr>
          <p:cNvPr id="209" name="Google Shape;209;g3bc93f8e738_0_80"/>
          <p:cNvSpPr txBox="1"/>
          <p:nvPr/>
        </p:nvSpPr>
        <p:spPr>
          <a:xfrm>
            <a:off x="5670600" y="2016575"/>
            <a:ext cx="30000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a:t>
            </a:r>
            <a:r>
              <a:rPr b="1" lang="en-US" sz="1700">
                <a:solidFill>
                  <a:srgbClr val="980000"/>
                </a:solidFill>
                <a:latin typeface="Times New Roman"/>
                <a:ea typeface="Times New Roman"/>
                <a:cs typeface="Times New Roman"/>
                <a:sym typeface="Times New Roman"/>
              </a:rPr>
              <a:t>oint B </a:t>
            </a:r>
            <a:r>
              <a:rPr b="1" lang="en-US" sz="1700">
                <a:solidFill>
                  <a:srgbClr val="980000"/>
                </a:solidFill>
                <a:latin typeface="Times New Roman"/>
                <a:ea typeface="Times New Roman"/>
                <a:cs typeface="Times New Roman"/>
                <a:sym typeface="Times New Roman"/>
              </a:rPr>
              <a:t>(0, 4, 4)</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2 × x = </a:t>
            </a:r>
            <a:r>
              <a:rPr lang="en-US" sz="1700">
                <a:solidFill>
                  <a:schemeClr val="dk1"/>
                </a:solidFill>
                <a:latin typeface="Times New Roman"/>
                <a:ea typeface="Times New Roman"/>
                <a:cs typeface="Times New Roman"/>
                <a:sym typeface="Times New Roman"/>
              </a:rPr>
              <a:t>2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a:t>
            </a:r>
            <a:r>
              <a:rPr lang="en-US" sz="1700">
                <a:solidFill>
                  <a:schemeClr val="dk1"/>
                </a:solidFill>
                <a:latin typeface="Times New Roman"/>
                <a:ea typeface="Times New Roman"/>
                <a:cs typeface="Times New Roman"/>
                <a:sym typeface="Times New Roman"/>
              </a:rPr>
              <a:t>3 ×</a:t>
            </a:r>
            <a:r>
              <a:rPr lang="en-US" sz="1700">
                <a:solidFill>
                  <a:schemeClr val="dk1"/>
                </a:solidFill>
                <a:latin typeface="Times New Roman"/>
                <a:ea typeface="Times New Roman"/>
                <a:cs typeface="Times New Roman"/>
                <a:sym typeface="Times New Roman"/>
              </a:rPr>
              <a:t> y = 3</a:t>
            </a:r>
            <a:r>
              <a:rPr lang="en-US" sz="1700">
                <a:solidFill>
                  <a:schemeClr val="dk1"/>
                </a:solidFill>
                <a:latin typeface="Times New Roman"/>
                <a:ea typeface="Times New Roman"/>
                <a:cs typeface="Times New Roman"/>
                <a:sym typeface="Times New Roman"/>
              </a:rPr>
              <a:t> × 4 = 12</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a:t>
            </a:r>
            <a:r>
              <a:rPr lang="en-US" sz="1700">
                <a:solidFill>
                  <a:schemeClr val="dk1"/>
                </a:solidFill>
                <a:latin typeface="Times New Roman"/>
                <a:ea typeface="Times New Roman"/>
                <a:cs typeface="Times New Roman"/>
                <a:sym typeface="Times New Roman"/>
              </a:rPr>
              <a:t>' = 2 × z = </a:t>
            </a:r>
            <a:r>
              <a:rPr lang="en-US" sz="1700">
                <a:solidFill>
                  <a:schemeClr val="dk1"/>
                </a:solidFill>
                <a:latin typeface="Times New Roman"/>
                <a:ea typeface="Times New Roman"/>
                <a:cs typeface="Times New Roman"/>
                <a:sym typeface="Times New Roman"/>
              </a:rPr>
              <a:t>2 × 4 = 8</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rgbClr val="0B5394"/>
                </a:solidFill>
                <a:latin typeface="Times New Roman"/>
                <a:ea typeface="Times New Roman"/>
                <a:cs typeface="Times New Roman"/>
                <a:sym typeface="Times New Roman"/>
              </a:rPr>
              <a:t>Scaled Point </a:t>
            </a:r>
            <a:r>
              <a:rPr b="1" lang="en-US" sz="1700">
                <a:solidFill>
                  <a:srgbClr val="0B5394"/>
                </a:solidFill>
                <a:latin typeface="Times New Roman"/>
                <a:ea typeface="Times New Roman"/>
                <a:cs typeface="Times New Roman"/>
                <a:sym typeface="Times New Roman"/>
              </a:rPr>
              <a:t>B' (0, 12, 8</a:t>
            </a:r>
            <a:r>
              <a:rPr b="1" lang="en-US" sz="1700">
                <a:solidFill>
                  <a:srgbClr val="0B5394"/>
                </a:solidFill>
                <a:latin typeface="Times New Roman"/>
                <a:ea typeface="Times New Roman"/>
                <a:cs typeface="Times New Roman"/>
                <a:sym typeface="Times New Roman"/>
              </a:rPr>
              <a:t>)</a:t>
            </a:r>
            <a:endParaRPr b="1" sz="1700">
              <a:solidFill>
                <a:srgbClr val="0B5394"/>
              </a:solidFill>
              <a:latin typeface="Times New Roman"/>
              <a:ea typeface="Times New Roman"/>
              <a:cs typeface="Times New Roman"/>
              <a:sym typeface="Times New Roman"/>
            </a:endParaRPr>
          </a:p>
        </p:txBody>
      </p:sp>
      <p:sp>
        <p:nvSpPr>
          <p:cNvPr id="210" name="Google Shape;210;g3bc93f8e738_0_80"/>
          <p:cNvSpPr txBox="1"/>
          <p:nvPr/>
        </p:nvSpPr>
        <p:spPr>
          <a:xfrm>
            <a:off x="290675" y="4232275"/>
            <a:ext cx="30861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a:t>
            </a:r>
            <a:r>
              <a:rPr b="1" lang="en-US" sz="1700">
                <a:solidFill>
                  <a:srgbClr val="980000"/>
                </a:solidFill>
                <a:latin typeface="Times New Roman"/>
                <a:ea typeface="Times New Roman"/>
                <a:cs typeface="Times New Roman"/>
                <a:sym typeface="Times New Roman"/>
              </a:rPr>
              <a:t>oint C </a:t>
            </a:r>
            <a:r>
              <a:rPr b="1" lang="en-US" sz="1700">
                <a:solidFill>
                  <a:srgbClr val="980000"/>
                </a:solidFill>
                <a:latin typeface="Times New Roman"/>
                <a:ea typeface="Times New Roman"/>
                <a:cs typeface="Times New Roman"/>
                <a:sym typeface="Times New Roman"/>
              </a:rPr>
              <a:t>(4, 4, 0)</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2 × x = </a:t>
            </a:r>
            <a:r>
              <a:rPr lang="en-US" sz="1700">
                <a:solidFill>
                  <a:schemeClr val="dk1"/>
                </a:solidFill>
                <a:latin typeface="Times New Roman"/>
                <a:ea typeface="Times New Roman"/>
                <a:cs typeface="Times New Roman"/>
                <a:sym typeface="Times New Roman"/>
              </a:rPr>
              <a:t>2 × 4 = 8</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3 × y = </a:t>
            </a:r>
            <a:r>
              <a:rPr lang="en-US" sz="1700">
                <a:solidFill>
                  <a:schemeClr val="dk1"/>
                </a:solidFill>
                <a:latin typeface="Times New Roman"/>
                <a:ea typeface="Times New Roman"/>
                <a:cs typeface="Times New Roman"/>
                <a:sym typeface="Times New Roman"/>
              </a:rPr>
              <a:t>3 × 4 = 12</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2 × z = </a:t>
            </a:r>
            <a:r>
              <a:rPr lang="en-US" sz="1700">
                <a:solidFill>
                  <a:schemeClr val="dk1"/>
                </a:solidFill>
                <a:latin typeface="Times New Roman"/>
                <a:ea typeface="Times New Roman"/>
                <a:cs typeface="Times New Roman"/>
                <a:sym typeface="Times New Roman"/>
              </a:rPr>
              <a:t>2 × 0 = 0</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rgbClr val="0B5394"/>
                </a:solidFill>
                <a:latin typeface="Times New Roman"/>
                <a:ea typeface="Times New Roman"/>
                <a:cs typeface="Times New Roman"/>
                <a:sym typeface="Times New Roman"/>
              </a:rPr>
              <a:t>Scaled Point C' (8,12,0)</a:t>
            </a:r>
            <a:endParaRPr b="1" sz="1700">
              <a:solidFill>
                <a:srgbClr val="0B5394"/>
              </a:solidFill>
              <a:latin typeface="Times New Roman"/>
              <a:ea typeface="Times New Roman"/>
              <a:cs typeface="Times New Roman"/>
              <a:sym typeface="Times New Roman"/>
            </a:endParaRPr>
          </a:p>
        </p:txBody>
      </p:sp>
      <p:sp>
        <p:nvSpPr>
          <p:cNvPr id="211" name="Google Shape;211;g3bc93f8e738_0_80"/>
          <p:cNvSpPr txBox="1"/>
          <p:nvPr/>
        </p:nvSpPr>
        <p:spPr>
          <a:xfrm>
            <a:off x="2947800" y="4232313"/>
            <a:ext cx="3000000" cy="185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a:t>
            </a:r>
            <a:r>
              <a:rPr b="1" lang="en-US" sz="1700">
                <a:solidFill>
                  <a:srgbClr val="980000"/>
                </a:solidFill>
                <a:latin typeface="Times New Roman"/>
                <a:ea typeface="Times New Roman"/>
                <a:cs typeface="Times New Roman"/>
                <a:sym typeface="Times New Roman"/>
              </a:rPr>
              <a:t>oint D </a:t>
            </a:r>
            <a:r>
              <a:rPr b="1" lang="en-US" sz="1700">
                <a:solidFill>
                  <a:srgbClr val="980000"/>
                </a:solidFill>
                <a:latin typeface="Times New Roman"/>
                <a:ea typeface="Times New Roman"/>
                <a:cs typeface="Times New Roman"/>
                <a:sym typeface="Times New Roman"/>
              </a:rPr>
              <a:t>(4, 4, 4)</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700">
                <a:solidFill>
                  <a:schemeClr val="dk1"/>
                </a:solidFill>
                <a:latin typeface="Times New Roman"/>
                <a:ea typeface="Times New Roman"/>
                <a:cs typeface="Times New Roman"/>
                <a:sym typeface="Times New Roman"/>
              </a:rPr>
              <a:t>x' = 2 × x = </a:t>
            </a:r>
            <a:r>
              <a:rPr lang="en-US" sz="1700">
                <a:solidFill>
                  <a:schemeClr val="dk1"/>
                </a:solidFill>
                <a:latin typeface="Times New Roman"/>
                <a:ea typeface="Times New Roman"/>
                <a:cs typeface="Times New Roman"/>
                <a:sym typeface="Times New Roman"/>
              </a:rPr>
              <a:t>2 × 4  = 8</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3 × y </a:t>
            </a:r>
            <a:r>
              <a:rPr lang="en-US" sz="1700">
                <a:solidFill>
                  <a:schemeClr val="dk1"/>
                </a:solidFill>
                <a:latin typeface="Times New Roman"/>
                <a:ea typeface="Times New Roman"/>
                <a:cs typeface="Times New Roman"/>
                <a:sym typeface="Times New Roman"/>
              </a:rPr>
              <a:t>= 3 × 4 = 12</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2 × z = </a:t>
            </a:r>
            <a:r>
              <a:rPr lang="en-US" sz="1700">
                <a:solidFill>
                  <a:schemeClr val="dk1"/>
                </a:solidFill>
                <a:latin typeface="Times New Roman"/>
                <a:ea typeface="Times New Roman"/>
                <a:cs typeface="Times New Roman"/>
                <a:sym typeface="Times New Roman"/>
              </a:rPr>
              <a:t>2 × 4 = 8</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D' </a:t>
            </a:r>
            <a:r>
              <a:rPr b="1" lang="en-US" sz="1700">
                <a:solidFill>
                  <a:srgbClr val="0B5394"/>
                </a:solidFill>
                <a:latin typeface="Times New Roman"/>
                <a:ea typeface="Times New Roman"/>
                <a:cs typeface="Times New Roman"/>
                <a:sym typeface="Times New Roman"/>
              </a:rPr>
              <a:t>(8, 12, 8)</a:t>
            </a:r>
            <a:endParaRPr b="1" sz="1700">
              <a:solidFill>
                <a:srgbClr val="0B5394"/>
              </a:solidFill>
              <a:latin typeface="Times New Roman"/>
              <a:ea typeface="Times New Roman"/>
              <a:cs typeface="Times New Roman"/>
              <a:sym typeface="Times New Roman"/>
            </a:endParaRPr>
          </a:p>
        </p:txBody>
      </p:sp>
      <p:sp>
        <p:nvSpPr>
          <p:cNvPr id="212" name="Google Shape;212;g3bc93f8e738_0_80"/>
          <p:cNvSpPr txBox="1"/>
          <p:nvPr/>
        </p:nvSpPr>
        <p:spPr>
          <a:xfrm>
            <a:off x="5593375" y="4232325"/>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Point E (4, 0, 0)</a:t>
            </a:r>
            <a:endParaRPr b="1" sz="1700">
              <a:solidFill>
                <a:srgbClr val="980000"/>
              </a:solidFill>
              <a:latin typeface="Times New Roman"/>
              <a:ea typeface="Times New Roman"/>
              <a:cs typeface="Times New Roman"/>
              <a:sym typeface="Times New Roman"/>
            </a:endParaRPr>
          </a:p>
        </p:txBody>
      </p:sp>
      <p:sp>
        <p:nvSpPr>
          <p:cNvPr id="213" name="Google Shape;213;g3bc93f8e738_0_80"/>
          <p:cNvSpPr txBox="1"/>
          <p:nvPr/>
        </p:nvSpPr>
        <p:spPr>
          <a:xfrm>
            <a:off x="5593375" y="4568925"/>
            <a:ext cx="3000000" cy="155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700">
                <a:solidFill>
                  <a:schemeClr val="dk1"/>
                </a:solidFill>
                <a:latin typeface="Times New Roman"/>
                <a:ea typeface="Times New Roman"/>
                <a:cs typeface="Times New Roman"/>
                <a:sym typeface="Times New Roman"/>
              </a:rPr>
              <a:t>x' = 2 × x = 2 × 4  = 8</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3 × y = 3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2 × z = 2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E' (8,0,0)</a:t>
            </a:r>
            <a:endParaRPr b="1" sz="1700">
              <a:solidFill>
                <a:srgbClr val="0B5394"/>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g3bc93f8e738_0_146"/>
          <p:cNvSpPr txBox="1"/>
          <p:nvPr/>
        </p:nvSpPr>
        <p:spPr>
          <a:xfrm>
            <a:off x="2865450" y="6459375"/>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19" name="Google Shape;219;g3bc93f8e738_0_146"/>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0" name="Google Shape;220;g3bc93f8e738_0_146"/>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(Scaling Example)</a:t>
            </a:r>
            <a:endParaRPr b="0" i="0" sz="3800" u="none" cap="none" strike="noStrike">
              <a:solidFill>
                <a:schemeClr val="lt1"/>
              </a:solidFill>
              <a:latin typeface="Calibri"/>
              <a:ea typeface="Calibri"/>
              <a:cs typeface="Calibri"/>
              <a:sym typeface="Calibri"/>
            </a:endParaRPr>
          </a:p>
        </p:txBody>
      </p:sp>
      <p:pic>
        <p:nvPicPr>
          <p:cNvPr id="221" name="Google Shape;221;g3bc93f8e738_0_14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0"/>
              </a:srgbClr>
            </a:outerShdw>
          </a:effectLst>
        </p:spPr>
      </p:pic>
      <p:sp>
        <p:nvSpPr>
          <p:cNvPr id="222" name="Google Shape;222;g3bc93f8e738_0_146"/>
          <p:cNvSpPr txBox="1"/>
          <p:nvPr/>
        </p:nvSpPr>
        <p:spPr>
          <a:xfrm>
            <a:off x="225000" y="1013713"/>
            <a:ext cx="8445600" cy="923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latin typeface="Times New Roman"/>
                <a:ea typeface="Times New Roman"/>
                <a:cs typeface="Times New Roman"/>
                <a:sym typeface="Times New Roman"/>
              </a:rPr>
              <a:t>Consider the above problem where a cube "OABCDEFG" is given with O(0, 0, 0), A(0, 4, 0), B(0, 4, 4), C(4, 4, 0), D(4, 4, 4), E(4, 0, 0), F(0, 0, 4), and G(4, 0, 4)  and we are given the scaling factors Sx, Sy, and Sz. Perform a scaling operation  over the cube.</a:t>
            </a:r>
            <a:endParaRPr sz="1600">
              <a:latin typeface="Times New Roman"/>
              <a:ea typeface="Times New Roman"/>
              <a:cs typeface="Times New Roman"/>
              <a:sym typeface="Times New Roman"/>
            </a:endParaRPr>
          </a:p>
        </p:txBody>
      </p:sp>
      <p:sp>
        <p:nvSpPr>
          <p:cNvPr id="223" name="Google Shape;223;g3bc93f8e738_0_146"/>
          <p:cNvSpPr txBox="1"/>
          <p:nvPr/>
        </p:nvSpPr>
        <p:spPr>
          <a:xfrm>
            <a:off x="363825" y="1968888"/>
            <a:ext cx="25884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point F (0,0,4)</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2 × x = 2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3 × y = 3 ×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2 × z = 2 × 4 = 8</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F' (0, 0, 8)</a:t>
            </a:r>
            <a:endParaRPr b="1" sz="1700">
              <a:solidFill>
                <a:srgbClr val="0B5394"/>
              </a:solidFill>
              <a:latin typeface="Times New Roman"/>
              <a:ea typeface="Times New Roman"/>
              <a:cs typeface="Times New Roman"/>
              <a:sym typeface="Times New Roman"/>
            </a:endParaRPr>
          </a:p>
        </p:txBody>
      </p:sp>
      <p:sp>
        <p:nvSpPr>
          <p:cNvPr id="224" name="Google Shape;224;g3bc93f8e738_0_146"/>
          <p:cNvSpPr txBox="1"/>
          <p:nvPr/>
        </p:nvSpPr>
        <p:spPr>
          <a:xfrm>
            <a:off x="3180850" y="1968888"/>
            <a:ext cx="36135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point G (4, 0, 4)</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2 × x = 2 × 4 = 8</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3 × y = </a:t>
            </a:r>
            <a:r>
              <a:rPr lang="en-US" sz="1700">
                <a:solidFill>
                  <a:schemeClr val="dk1"/>
                </a:solidFill>
                <a:latin typeface="Times New Roman"/>
                <a:ea typeface="Times New Roman"/>
                <a:cs typeface="Times New Roman"/>
                <a:sym typeface="Times New Roman"/>
              </a:rPr>
              <a:t>3 ×</a:t>
            </a:r>
            <a:r>
              <a:rPr lang="en-US" sz="1700">
                <a:solidFill>
                  <a:schemeClr val="dk1"/>
                </a:solidFill>
                <a:latin typeface="Times New Roman"/>
                <a:ea typeface="Times New Roman"/>
                <a:cs typeface="Times New Roman"/>
                <a:sym typeface="Times New Roman"/>
              </a:rPr>
              <a:t> 0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2 × z = 2 × 4 = 8</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A' (8, 0, 8)</a:t>
            </a:r>
            <a:endParaRPr b="1" sz="1700">
              <a:solidFill>
                <a:srgbClr val="0B5394"/>
              </a:solidFill>
              <a:latin typeface="Times New Roman"/>
              <a:ea typeface="Times New Roman"/>
              <a:cs typeface="Times New Roman"/>
              <a:sym typeface="Times New Roman"/>
            </a:endParaRPr>
          </a:p>
        </p:txBody>
      </p:sp>
      <p:pic>
        <p:nvPicPr>
          <p:cNvPr id="225" name="Google Shape;225;g3bc93f8e738_0_146"/>
          <p:cNvPicPr preferRelativeResize="0"/>
          <p:nvPr/>
        </p:nvPicPr>
        <p:blipFill rotWithShape="1">
          <a:blip r:embed="rId4">
            <a:alphaModFix/>
          </a:blip>
          <a:srcRect b="0" l="0" r="6059" t="0"/>
          <a:stretch/>
        </p:blipFill>
        <p:spPr>
          <a:xfrm>
            <a:off x="363825" y="4136950"/>
            <a:ext cx="3660150" cy="2246225"/>
          </a:xfrm>
          <a:prstGeom prst="rect">
            <a:avLst/>
          </a:prstGeom>
          <a:noFill/>
          <a:ln>
            <a:noFill/>
          </a:ln>
        </p:spPr>
      </p:pic>
      <p:pic>
        <p:nvPicPr>
          <p:cNvPr id="226" name="Google Shape;226;g3bc93f8e738_0_146"/>
          <p:cNvPicPr preferRelativeResize="0"/>
          <p:nvPr/>
        </p:nvPicPr>
        <p:blipFill rotWithShape="1">
          <a:blip r:embed="rId5">
            <a:alphaModFix/>
          </a:blip>
          <a:srcRect b="0" l="6248" r="3449" t="0"/>
          <a:stretch/>
        </p:blipFill>
        <p:spPr>
          <a:xfrm>
            <a:off x="4532650" y="3924050"/>
            <a:ext cx="3933125" cy="2535325"/>
          </a:xfrm>
          <a:prstGeom prst="rect">
            <a:avLst/>
          </a:prstGeom>
          <a:noFill/>
          <a:ln>
            <a:noFill/>
          </a:ln>
        </p:spPr>
      </p:pic>
      <p:sp>
        <p:nvSpPr>
          <p:cNvPr id="227" name="Google Shape;227;g3bc93f8e738_0_146"/>
          <p:cNvSpPr/>
          <p:nvPr/>
        </p:nvSpPr>
        <p:spPr>
          <a:xfrm>
            <a:off x="3397200" y="5065175"/>
            <a:ext cx="1095300" cy="235500"/>
          </a:xfrm>
          <a:prstGeom prst="rightArrow">
            <a:avLst>
              <a:gd fmla="val 50000" name="adj1"/>
              <a:gd fmla="val 50000" name="adj2"/>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B5394"/>
              </a:solidFill>
              <a:latin typeface="Calibri"/>
              <a:ea typeface="Calibri"/>
              <a:cs typeface="Calibri"/>
              <a:sym typeface="Calibri"/>
            </a:endParaRPr>
          </a:p>
        </p:txBody>
      </p:sp>
      <p:sp>
        <p:nvSpPr>
          <p:cNvPr id="228" name="Google Shape;228;g3bc93f8e738_0_146"/>
          <p:cNvSpPr txBox="1"/>
          <p:nvPr/>
        </p:nvSpPr>
        <p:spPr>
          <a:xfrm>
            <a:off x="1389900" y="6009800"/>
            <a:ext cx="1608000" cy="1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980000"/>
                </a:solidFill>
                <a:latin typeface="Times New Roman"/>
                <a:ea typeface="Times New Roman"/>
                <a:cs typeface="Times New Roman"/>
                <a:sym typeface="Times New Roman"/>
              </a:rPr>
              <a:t>Before Scaling</a:t>
            </a:r>
            <a:endParaRPr b="1" sz="1600">
              <a:solidFill>
                <a:srgbClr val="980000"/>
              </a:solidFill>
              <a:latin typeface="Times New Roman"/>
              <a:ea typeface="Times New Roman"/>
              <a:cs typeface="Times New Roman"/>
              <a:sym typeface="Times New Roman"/>
            </a:endParaRPr>
          </a:p>
        </p:txBody>
      </p:sp>
      <p:sp>
        <p:nvSpPr>
          <p:cNvPr id="229" name="Google Shape;229;g3bc93f8e738_0_146"/>
          <p:cNvSpPr txBox="1"/>
          <p:nvPr/>
        </p:nvSpPr>
        <p:spPr>
          <a:xfrm>
            <a:off x="6848700" y="5867900"/>
            <a:ext cx="14718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980000"/>
                </a:solidFill>
                <a:latin typeface="Times New Roman"/>
                <a:ea typeface="Times New Roman"/>
                <a:cs typeface="Times New Roman"/>
                <a:sym typeface="Times New Roman"/>
              </a:rPr>
              <a:t>After</a:t>
            </a:r>
            <a:r>
              <a:rPr b="1" lang="en-US" sz="1600">
                <a:solidFill>
                  <a:srgbClr val="980000"/>
                </a:solidFill>
                <a:latin typeface="Times New Roman"/>
                <a:ea typeface="Times New Roman"/>
                <a:cs typeface="Times New Roman"/>
                <a:sym typeface="Times New Roman"/>
              </a:rPr>
              <a:t> Scaling</a:t>
            </a:r>
            <a:endParaRPr b="1" sz="1600">
              <a:solidFill>
                <a:srgbClr val="98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3" name="Shape 233"/>
        <p:cNvGrpSpPr/>
        <p:nvPr/>
      </p:nvGrpSpPr>
      <p:grpSpPr>
        <a:xfrm>
          <a:off x="0" y="0"/>
          <a:ext cx="0" cy="0"/>
          <a:chOff x="0" y="0"/>
          <a:chExt cx="0" cy="0"/>
        </a:xfrm>
      </p:grpSpPr>
      <p:sp>
        <p:nvSpPr>
          <p:cNvPr id="234" name="Google Shape;234;g3bb5fbf5691_0_15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35" name="Google Shape;235;g3bb5fbf5691_0_15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6" name="Google Shape;236;g3bb5fbf5691_0_15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(Rotation)</a:t>
            </a:r>
            <a:endParaRPr b="0" i="0" sz="3800" u="none" cap="none" strike="noStrike">
              <a:solidFill>
                <a:schemeClr val="lt1"/>
              </a:solidFill>
              <a:latin typeface="Calibri"/>
              <a:ea typeface="Calibri"/>
              <a:cs typeface="Calibri"/>
              <a:sym typeface="Calibri"/>
            </a:endParaRPr>
          </a:p>
        </p:txBody>
      </p:sp>
      <p:pic>
        <p:nvPicPr>
          <p:cNvPr id="237" name="Google Shape;237;g3bb5fbf5691_0_15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38" name="Google Shape;238;g3bb5fbf5691_0_158"/>
          <p:cNvSpPr txBox="1"/>
          <p:nvPr/>
        </p:nvSpPr>
        <p:spPr>
          <a:xfrm>
            <a:off x="318350" y="1136925"/>
            <a:ext cx="5520900" cy="4926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1155CC"/>
              </a:buClr>
              <a:buSzPts val="2000"/>
              <a:buFont typeface="Times New Roman"/>
              <a:buChar char="■"/>
            </a:pPr>
            <a:r>
              <a:rPr lang="en-US" sz="2000">
                <a:latin typeface="Times New Roman"/>
                <a:ea typeface="Times New Roman"/>
                <a:cs typeface="Times New Roman"/>
                <a:sym typeface="Times New Roman"/>
              </a:rPr>
              <a:t>X-AXIS ROTATION</a:t>
            </a:r>
            <a:endParaRPr sz="2000">
              <a:latin typeface="Times New Roman"/>
              <a:ea typeface="Times New Roman"/>
              <a:cs typeface="Times New Roman"/>
              <a:sym typeface="Times New Roman"/>
            </a:endParaRPr>
          </a:p>
        </p:txBody>
      </p:sp>
      <p:sp>
        <p:nvSpPr>
          <p:cNvPr id="239" name="Google Shape;239;g3bb5fbf5691_0_158"/>
          <p:cNvSpPr/>
          <p:nvPr/>
        </p:nvSpPr>
        <p:spPr>
          <a:xfrm>
            <a:off x="504000" y="1769050"/>
            <a:ext cx="7789500" cy="3741300"/>
          </a:xfrm>
          <a:prstGeom prst="rect">
            <a:avLst/>
          </a:prstGeom>
          <a:noFill/>
          <a:ln>
            <a:noFill/>
          </a:ln>
        </p:spPr>
        <p:txBody>
          <a:bodyPr anchorCtr="0" anchor="t" bIns="0" lIns="0" spcFirstLastPara="1" rIns="0" wrap="square" tIns="0">
            <a:noAutofit/>
          </a:bodyPr>
          <a:lstStyle/>
          <a:p>
            <a:pPr indent="-272879" lvl="0" marL="274320" marR="0" rtl="0" algn="l">
              <a:lnSpc>
                <a:spcPct val="100000"/>
              </a:lnSpc>
              <a:spcBef>
                <a:spcPts val="0"/>
              </a:spcBef>
              <a:spcAft>
                <a:spcPts val="0"/>
              </a:spcAft>
              <a:buNone/>
            </a:pPr>
            <a:r>
              <a:rPr b="0" i="0" lang="en-US" sz="2600" u="none" cap="none" strike="noStrike">
                <a:solidFill>
                  <a:srgbClr val="000000"/>
                </a:solidFill>
                <a:latin typeface="Times New Roman"/>
                <a:ea typeface="Times New Roman"/>
                <a:cs typeface="Times New Roman"/>
                <a:sym typeface="Times New Roman"/>
              </a:rPr>
              <a:t>The equation for X-axis rotation</a:t>
            </a:r>
            <a:endParaRPr b="0" i="0" sz="1800" u="none" cap="none" strike="noStrike">
              <a:solidFill>
                <a:srgbClr val="000000"/>
              </a:solidFill>
              <a:latin typeface="Arial"/>
              <a:ea typeface="Arial"/>
              <a:cs typeface="Arial"/>
              <a:sym typeface="Arial"/>
            </a:endParaRPr>
          </a:p>
          <a:p>
            <a:pPr indent="-272879" lvl="0" marL="274320" marR="0" rtl="0" algn="l">
              <a:lnSpc>
                <a:spcPct val="100000"/>
              </a:lnSpc>
              <a:spcBef>
                <a:spcPts val="0"/>
              </a:spcBef>
              <a:spcAft>
                <a:spcPts val="0"/>
              </a:spcAft>
              <a:buNone/>
            </a:pPr>
            <a:r>
              <a:rPr b="0" i="0" lang="en-US" sz="2600" u="none" cap="none" strike="noStrike">
                <a:solidFill>
                  <a:srgbClr val="000000"/>
                </a:solidFill>
                <a:latin typeface="Times New Roman"/>
                <a:ea typeface="Times New Roman"/>
                <a:cs typeface="Times New Roman"/>
                <a:sym typeface="Times New Roman"/>
              </a:rPr>
              <a:t> </a:t>
            </a:r>
            <a:r>
              <a:rPr b="1" i="0" lang="en-US" sz="2600" u="none" cap="none" strike="noStrike">
                <a:solidFill>
                  <a:srgbClr val="000000"/>
                </a:solidFill>
                <a:latin typeface="Times New Roman"/>
                <a:ea typeface="Times New Roman"/>
                <a:cs typeface="Times New Roman"/>
                <a:sym typeface="Times New Roman"/>
              </a:rPr>
              <a:t>x’ = x</a:t>
            </a:r>
            <a:endParaRPr b="0" i="0" sz="1800" u="none" cap="none" strike="noStrike">
              <a:solidFill>
                <a:srgbClr val="000000"/>
              </a:solidFill>
              <a:latin typeface="Arial"/>
              <a:ea typeface="Arial"/>
              <a:cs typeface="Arial"/>
              <a:sym typeface="Arial"/>
            </a:endParaRPr>
          </a:p>
          <a:p>
            <a:pPr indent="-272879" lvl="0" marL="274320" marR="0" rtl="0" algn="l">
              <a:lnSpc>
                <a:spcPct val="100000"/>
              </a:lnSpc>
              <a:spcBef>
                <a:spcPts val="0"/>
              </a:spcBef>
              <a:spcAft>
                <a:spcPts val="0"/>
              </a:spcAft>
              <a:buNone/>
            </a:pPr>
            <a:r>
              <a:rPr b="1" i="0" lang="en-US" sz="2600" u="none" cap="none" strike="noStrike">
                <a:solidFill>
                  <a:srgbClr val="000000"/>
                </a:solidFill>
                <a:latin typeface="Times New Roman"/>
                <a:ea typeface="Times New Roman"/>
                <a:cs typeface="Times New Roman"/>
                <a:sym typeface="Times New Roman"/>
              </a:rPr>
              <a:t> y’ = y cosθ – z sinθ</a:t>
            </a:r>
            <a:endParaRPr b="0" i="0" sz="1800" u="none" cap="none" strike="noStrike">
              <a:solidFill>
                <a:srgbClr val="000000"/>
              </a:solidFill>
              <a:latin typeface="Arial"/>
              <a:ea typeface="Arial"/>
              <a:cs typeface="Arial"/>
              <a:sym typeface="Arial"/>
            </a:endParaRPr>
          </a:p>
          <a:p>
            <a:pPr indent="-272879" lvl="0" marL="274320" marR="0" rtl="0" algn="l">
              <a:lnSpc>
                <a:spcPct val="100000"/>
              </a:lnSpc>
              <a:spcBef>
                <a:spcPts val="0"/>
              </a:spcBef>
              <a:spcAft>
                <a:spcPts val="0"/>
              </a:spcAft>
              <a:buNone/>
            </a:pPr>
            <a:r>
              <a:rPr b="1" i="0" lang="en-US" sz="2600" u="none" cap="none" strike="noStrike">
                <a:solidFill>
                  <a:srgbClr val="000000"/>
                </a:solidFill>
                <a:latin typeface="Times New Roman"/>
                <a:ea typeface="Times New Roman"/>
                <a:cs typeface="Times New Roman"/>
                <a:sym typeface="Times New Roman"/>
              </a:rPr>
              <a:t> z’ = y sinθ + z cosθ </a:t>
            </a:r>
            <a:endParaRPr b="0" i="0" sz="1800" u="none" cap="none" strike="noStrike">
              <a:solidFill>
                <a:srgbClr val="000000"/>
              </a:solidFill>
              <a:latin typeface="Arial"/>
              <a:ea typeface="Arial"/>
              <a:cs typeface="Arial"/>
              <a:sym typeface="Arial"/>
            </a:endParaRPr>
          </a:p>
        </p:txBody>
      </p:sp>
      <p:pic>
        <p:nvPicPr>
          <p:cNvPr id="240" name="Google Shape;240;g3bb5fbf5691_0_158"/>
          <p:cNvPicPr preferRelativeResize="0"/>
          <p:nvPr/>
        </p:nvPicPr>
        <p:blipFill rotWithShape="1">
          <a:blip r:embed="rId4">
            <a:alphaModFix/>
          </a:blip>
          <a:srcRect b="0" l="0" r="0" t="0"/>
          <a:stretch/>
        </p:blipFill>
        <p:spPr>
          <a:xfrm>
            <a:off x="621940" y="3732360"/>
            <a:ext cx="3948481" cy="1675440"/>
          </a:xfrm>
          <a:prstGeom prst="rect">
            <a:avLst/>
          </a:prstGeom>
          <a:noFill/>
          <a:ln>
            <a:noFill/>
          </a:ln>
        </p:spPr>
      </p:pic>
      <p:pic>
        <p:nvPicPr>
          <p:cNvPr id="241" name="Google Shape;241;g3bb5fbf5691_0_158"/>
          <p:cNvPicPr preferRelativeResize="0"/>
          <p:nvPr/>
        </p:nvPicPr>
        <p:blipFill rotWithShape="1">
          <a:blip r:embed="rId5">
            <a:alphaModFix/>
          </a:blip>
          <a:srcRect b="0" l="0" r="0" t="0"/>
          <a:stretch/>
        </p:blipFill>
        <p:spPr>
          <a:xfrm>
            <a:off x="5708440" y="2103120"/>
            <a:ext cx="2806920" cy="2053440"/>
          </a:xfrm>
          <a:prstGeom prst="rect">
            <a:avLst/>
          </a:prstGeom>
          <a:noFill/>
          <a:ln cap="flat" cmpd="sng" w="57225">
            <a:solidFill>
              <a:srgbClr val="FFFFFF"/>
            </a:solidFill>
            <a:prstDash val="solid"/>
            <a:miter lim="8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5" name="Shape 245"/>
        <p:cNvGrpSpPr/>
        <p:nvPr/>
      </p:nvGrpSpPr>
      <p:grpSpPr>
        <a:xfrm>
          <a:off x="0" y="0"/>
          <a:ext cx="0" cy="0"/>
          <a:chOff x="0" y="0"/>
          <a:chExt cx="0" cy="0"/>
        </a:xfrm>
      </p:grpSpPr>
      <p:sp>
        <p:nvSpPr>
          <p:cNvPr id="246" name="Google Shape;246;g3bb5fbf5691_0_233"/>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47" name="Google Shape;247;g3bb5fbf5691_0_23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8" name="Google Shape;248;g3bb5fbf5691_0_233"/>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(Rotation)</a:t>
            </a:r>
            <a:endParaRPr b="0" i="0" sz="3800" u="none" cap="none" strike="noStrike">
              <a:solidFill>
                <a:schemeClr val="lt1"/>
              </a:solidFill>
              <a:latin typeface="Calibri"/>
              <a:ea typeface="Calibri"/>
              <a:cs typeface="Calibri"/>
              <a:sym typeface="Calibri"/>
            </a:endParaRPr>
          </a:p>
        </p:txBody>
      </p:sp>
      <p:pic>
        <p:nvPicPr>
          <p:cNvPr id="249" name="Google Shape;249;g3bb5fbf5691_0_23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50" name="Google Shape;250;g3bb5fbf5691_0_233"/>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251" name="Google Shape;251;g3bb5fbf5691_0_233"/>
          <p:cNvSpPr txBox="1"/>
          <p:nvPr/>
        </p:nvSpPr>
        <p:spPr>
          <a:xfrm>
            <a:off x="2687625" y="1023550"/>
            <a:ext cx="37656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lang="en-US" sz="2300">
                <a:solidFill>
                  <a:srgbClr val="980000"/>
                </a:solidFill>
              </a:rPr>
              <a:t>Y-axis </a:t>
            </a:r>
            <a:r>
              <a:rPr b="1" i="0" lang="en-US" sz="2300" u="none" cap="none" strike="noStrike">
                <a:solidFill>
                  <a:srgbClr val="980000"/>
                </a:solidFill>
                <a:latin typeface="Arial"/>
                <a:ea typeface="Arial"/>
                <a:cs typeface="Arial"/>
                <a:sym typeface="Arial"/>
              </a:rPr>
              <a:t>rotation: </a:t>
            </a:r>
            <a:endParaRPr b="1" i="0" sz="2300" u="none" cap="none" strike="noStrike">
              <a:solidFill>
                <a:srgbClr val="980000"/>
              </a:solidFill>
              <a:latin typeface="Arial"/>
              <a:ea typeface="Arial"/>
              <a:cs typeface="Arial"/>
              <a:sym typeface="Arial"/>
            </a:endParaRPr>
          </a:p>
        </p:txBody>
      </p:sp>
      <p:sp>
        <p:nvSpPr>
          <p:cNvPr id="252" name="Google Shape;252;g3bb5fbf5691_0_233"/>
          <p:cNvSpPr/>
          <p:nvPr/>
        </p:nvSpPr>
        <p:spPr>
          <a:xfrm>
            <a:off x="454775" y="1843925"/>
            <a:ext cx="8160000" cy="4160100"/>
          </a:xfrm>
          <a:prstGeom prst="rect">
            <a:avLst/>
          </a:prstGeom>
          <a:noFill/>
          <a:ln>
            <a:noFill/>
          </a:ln>
        </p:spPr>
        <p:txBody>
          <a:bodyPr anchorCtr="0" anchor="t" bIns="0" lIns="0" spcFirstLastPara="1" rIns="0" wrap="square" tIns="0">
            <a:noAutofit/>
          </a:bodyPr>
          <a:lstStyle/>
          <a:p>
            <a:pPr indent="-245489" lvl="0" marL="246785" marR="0" rtl="0" algn="l">
              <a:lnSpc>
                <a:spcPct val="100000"/>
              </a:lnSpc>
              <a:spcBef>
                <a:spcPts val="0"/>
              </a:spcBef>
              <a:spcAft>
                <a:spcPts val="0"/>
              </a:spcAft>
              <a:buNone/>
            </a:pPr>
            <a:r>
              <a:rPr b="0" i="0" lang="en-US" sz="2339" u="none" cap="none" strike="noStrike">
                <a:solidFill>
                  <a:srgbClr val="000000"/>
                </a:solidFill>
                <a:latin typeface="Times New Roman"/>
                <a:ea typeface="Times New Roman"/>
                <a:cs typeface="Times New Roman"/>
                <a:sym typeface="Times New Roman"/>
              </a:rPr>
              <a:t>The equation for Y-axis rotaion</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None/>
            </a:pPr>
            <a:r>
              <a:rPr b="0" i="0" lang="en-US" sz="2339" u="none" cap="none" strike="noStrike">
                <a:solidFill>
                  <a:srgbClr val="000000"/>
                </a:solidFill>
                <a:latin typeface="Times New Roman"/>
                <a:ea typeface="Times New Roman"/>
                <a:cs typeface="Times New Roman"/>
                <a:sym typeface="Times New Roman"/>
              </a:rPr>
              <a:t> </a:t>
            </a:r>
            <a:r>
              <a:rPr b="1" i="0" lang="en-US" sz="2339" u="none" cap="none" strike="noStrike">
                <a:solidFill>
                  <a:srgbClr val="000000"/>
                </a:solidFill>
                <a:latin typeface="Times New Roman"/>
                <a:ea typeface="Times New Roman"/>
                <a:cs typeface="Times New Roman"/>
                <a:sym typeface="Times New Roman"/>
              </a:rPr>
              <a:t>x’ = x cosθ + z sinθ </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None/>
            </a:pPr>
            <a:r>
              <a:rPr b="1" i="0" lang="en-US" sz="2339" u="none" cap="none" strike="noStrike">
                <a:solidFill>
                  <a:srgbClr val="000000"/>
                </a:solidFill>
                <a:latin typeface="Times New Roman"/>
                <a:ea typeface="Times New Roman"/>
                <a:cs typeface="Times New Roman"/>
                <a:sym typeface="Times New Roman"/>
              </a:rPr>
              <a:t> y’ = y</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None/>
            </a:pPr>
            <a:r>
              <a:rPr b="1" i="0" lang="en-US" sz="2339" u="none" cap="none" strike="noStrike">
                <a:solidFill>
                  <a:srgbClr val="000000"/>
                </a:solidFill>
                <a:latin typeface="Times New Roman"/>
                <a:ea typeface="Times New Roman"/>
                <a:cs typeface="Times New Roman"/>
                <a:sym typeface="Times New Roman"/>
              </a:rPr>
              <a:t> z’ = z cosθ - x sinθ </a:t>
            </a:r>
            <a:endParaRPr b="0" i="0" sz="1619" u="none" cap="none" strike="noStrike">
              <a:solidFill>
                <a:srgbClr val="000000"/>
              </a:solidFill>
              <a:latin typeface="Arial"/>
              <a:ea typeface="Arial"/>
              <a:cs typeface="Arial"/>
              <a:sym typeface="Arial"/>
            </a:endParaRPr>
          </a:p>
          <a:p>
            <a:pPr indent="-245489" lvl="0" marL="246785" marR="0" rtl="0" algn="l">
              <a:lnSpc>
                <a:spcPct val="100000"/>
              </a:lnSpc>
              <a:spcBef>
                <a:spcPts val="0"/>
              </a:spcBef>
              <a:spcAft>
                <a:spcPts val="0"/>
              </a:spcAft>
              <a:buNone/>
            </a:pPr>
            <a:r>
              <a:t/>
            </a:r>
            <a:endParaRPr b="0" i="0" sz="1619" u="none" cap="none" strike="noStrike">
              <a:solidFill>
                <a:srgbClr val="000000"/>
              </a:solidFill>
              <a:latin typeface="Arial"/>
              <a:ea typeface="Arial"/>
              <a:cs typeface="Arial"/>
              <a:sym typeface="Arial"/>
            </a:endParaRPr>
          </a:p>
        </p:txBody>
      </p:sp>
      <p:pic>
        <p:nvPicPr>
          <p:cNvPr id="253" name="Google Shape;253;g3bb5fbf5691_0_233"/>
          <p:cNvPicPr preferRelativeResize="0"/>
          <p:nvPr/>
        </p:nvPicPr>
        <p:blipFill rotWithShape="1">
          <a:blip r:embed="rId4">
            <a:alphaModFix/>
          </a:blip>
          <a:srcRect b="0" l="0" r="0" t="0"/>
          <a:stretch/>
        </p:blipFill>
        <p:spPr>
          <a:xfrm>
            <a:off x="454775" y="3863331"/>
            <a:ext cx="3495141" cy="1552840"/>
          </a:xfrm>
          <a:prstGeom prst="rect">
            <a:avLst/>
          </a:prstGeom>
          <a:noFill/>
          <a:ln>
            <a:noFill/>
          </a:ln>
        </p:spPr>
      </p:pic>
      <p:pic>
        <p:nvPicPr>
          <p:cNvPr id="254" name="Google Shape;254;g3bb5fbf5691_0_233"/>
          <p:cNvPicPr preferRelativeResize="0"/>
          <p:nvPr/>
        </p:nvPicPr>
        <p:blipFill rotWithShape="1">
          <a:blip r:embed="rId5">
            <a:alphaModFix/>
          </a:blip>
          <a:srcRect b="0" l="0" r="0" t="0"/>
          <a:stretch/>
        </p:blipFill>
        <p:spPr>
          <a:xfrm>
            <a:off x="4854792" y="3045851"/>
            <a:ext cx="2813407" cy="2670094"/>
          </a:xfrm>
          <a:prstGeom prst="rect">
            <a:avLst/>
          </a:prstGeom>
          <a:noFill/>
          <a:ln cap="flat" cmpd="sng" w="51475">
            <a:solidFill>
              <a:srgbClr val="FFFFFF"/>
            </a:solidFill>
            <a:prstDash val="solid"/>
            <a:miter lim="8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8" name="Shape 258"/>
        <p:cNvGrpSpPr/>
        <p:nvPr/>
      </p:nvGrpSpPr>
      <p:grpSpPr>
        <a:xfrm>
          <a:off x="0" y="0"/>
          <a:ext cx="0" cy="0"/>
          <a:chOff x="0" y="0"/>
          <a:chExt cx="0" cy="0"/>
        </a:xfrm>
      </p:grpSpPr>
      <p:sp>
        <p:nvSpPr>
          <p:cNvPr id="259" name="Google Shape;259;g3bbe9322812_0_2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60" name="Google Shape;260;g3bbe9322812_0_2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1" name="Google Shape;261;g3bbe9322812_0_2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(Rotation)</a:t>
            </a:r>
            <a:endParaRPr b="0" i="0" sz="3800" u="none" cap="none" strike="noStrike">
              <a:solidFill>
                <a:schemeClr val="lt1"/>
              </a:solidFill>
              <a:latin typeface="Calibri"/>
              <a:ea typeface="Calibri"/>
              <a:cs typeface="Calibri"/>
              <a:sym typeface="Calibri"/>
            </a:endParaRPr>
          </a:p>
        </p:txBody>
      </p:sp>
      <p:pic>
        <p:nvPicPr>
          <p:cNvPr id="262" name="Google Shape;262;g3bbe9322812_0_2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63" name="Google Shape;263;g3bbe9322812_0_20"/>
          <p:cNvSpPr txBox="1"/>
          <p:nvPr/>
        </p:nvSpPr>
        <p:spPr>
          <a:xfrm>
            <a:off x="3028950" y="1315725"/>
            <a:ext cx="4429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980000"/>
                </a:solidFill>
              </a:rPr>
              <a:t>Z-axis </a:t>
            </a:r>
            <a:r>
              <a:rPr b="1" i="0" lang="en-US" sz="1800" u="none" cap="none" strike="noStrike">
                <a:solidFill>
                  <a:srgbClr val="980000"/>
                </a:solidFill>
                <a:latin typeface="Arial"/>
                <a:ea typeface="Arial"/>
                <a:cs typeface="Arial"/>
                <a:sym typeface="Arial"/>
              </a:rPr>
              <a:t>rotation </a:t>
            </a:r>
            <a:endParaRPr b="1" i="0" sz="1800" u="none" cap="none" strike="noStrike">
              <a:solidFill>
                <a:srgbClr val="980000"/>
              </a:solidFill>
              <a:latin typeface="Arial"/>
              <a:ea typeface="Arial"/>
              <a:cs typeface="Arial"/>
              <a:sym typeface="Arial"/>
            </a:endParaRPr>
          </a:p>
        </p:txBody>
      </p:sp>
      <p:sp>
        <p:nvSpPr>
          <p:cNvPr id="264" name="Google Shape;264;g3bbe9322812_0_20"/>
          <p:cNvSpPr txBox="1"/>
          <p:nvPr/>
        </p:nvSpPr>
        <p:spPr>
          <a:xfrm>
            <a:off x="706576" y="1939500"/>
            <a:ext cx="3586200" cy="2343900"/>
          </a:xfrm>
          <a:prstGeom prst="rect">
            <a:avLst/>
          </a:prstGeom>
          <a:noFill/>
          <a:ln>
            <a:noFill/>
          </a:ln>
        </p:spPr>
        <p:txBody>
          <a:bodyPr anchorCtr="0" anchor="ctr" bIns="0" lIns="0" spcFirstLastPara="1" rIns="0" wrap="square" tIns="0">
            <a:noAutofit/>
          </a:bodyPr>
          <a:lstStyle/>
          <a:p>
            <a:pPr indent="0" lvl="0" marL="873" marR="0" rtl="0" algn="l">
              <a:lnSpc>
                <a:spcPct val="100000"/>
              </a:lnSpc>
              <a:spcBef>
                <a:spcPts val="0"/>
              </a:spcBef>
              <a:spcAft>
                <a:spcPts val="0"/>
              </a:spcAft>
              <a:buNone/>
            </a:pPr>
            <a:r>
              <a:rPr b="0" i="0" lang="en-US" sz="2266" u="none" cap="none" strike="noStrike">
                <a:solidFill>
                  <a:srgbClr val="000000"/>
                </a:solidFill>
                <a:latin typeface="Times New Roman"/>
                <a:ea typeface="Times New Roman"/>
                <a:cs typeface="Times New Roman"/>
                <a:sym typeface="Times New Roman"/>
              </a:rPr>
              <a:t>The equation for Z-axis rotation</a:t>
            </a:r>
            <a:endParaRPr b="0" i="0" sz="25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266" u="none" cap="none" strike="noStrike">
                <a:solidFill>
                  <a:srgbClr val="000000"/>
                </a:solidFill>
                <a:latin typeface="Times New Roman"/>
                <a:ea typeface="Times New Roman"/>
                <a:cs typeface="Times New Roman"/>
                <a:sym typeface="Times New Roman"/>
              </a:rPr>
              <a:t>   x’ = x cosθ – y sinθ </a:t>
            </a:r>
            <a:endParaRPr b="0" i="0" sz="25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266" u="none" cap="none" strike="noStrike">
                <a:solidFill>
                  <a:srgbClr val="000000"/>
                </a:solidFill>
                <a:latin typeface="Times New Roman"/>
                <a:ea typeface="Times New Roman"/>
                <a:cs typeface="Times New Roman"/>
                <a:sym typeface="Times New Roman"/>
              </a:rPr>
              <a:t>   y’ = x sinθ + y cosθ</a:t>
            </a:r>
            <a:endParaRPr b="0" i="0" sz="25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266" u="none" cap="none" strike="noStrike">
                <a:solidFill>
                  <a:srgbClr val="000000"/>
                </a:solidFill>
                <a:latin typeface="Times New Roman"/>
                <a:ea typeface="Times New Roman"/>
                <a:cs typeface="Times New Roman"/>
                <a:sym typeface="Times New Roman"/>
              </a:rPr>
              <a:t>   z’ = z</a:t>
            </a:r>
            <a:endParaRPr b="0" i="0" sz="259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None/>
            </a:pPr>
            <a:r>
              <a:t/>
            </a:r>
            <a:endParaRPr b="0" i="0" sz="259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None/>
            </a:pPr>
            <a:r>
              <a:t/>
            </a:r>
            <a:endParaRPr b="0" i="0" sz="2590" u="none" cap="none" strike="noStrike">
              <a:solidFill>
                <a:srgbClr val="000000"/>
              </a:solidFill>
              <a:latin typeface="Arial"/>
              <a:ea typeface="Arial"/>
              <a:cs typeface="Arial"/>
              <a:sym typeface="Arial"/>
            </a:endParaRPr>
          </a:p>
        </p:txBody>
      </p:sp>
      <p:pic>
        <p:nvPicPr>
          <p:cNvPr id="265" name="Google Shape;265;g3bbe9322812_0_20"/>
          <p:cNvPicPr preferRelativeResize="0"/>
          <p:nvPr/>
        </p:nvPicPr>
        <p:blipFill rotWithShape="1">
          <a:blip r:embed="rId4">
            <a:alphaModFix/>
          </a:blip>
          <a:srcRect b="0" l="0" r="0" t="0"/>
          <a:stretch/>
        </p:blipFill>
        <p:spPr>
          <a:xfrm>
            <a:off x="4932726" y="2768520"/>
            <a:ext cx="3075249" cy="1587165"/>
          </a:xfrm>
          <a:prstGeom prst="rect">
            <a:avLst/>
          </a:prstGeom>
          <a:noFill/>
          <a:ln cap="flat" cmpd="sng" w="46325">
            <a:solidFill>
              <a:srgbClr val="00FFFF"/>
            </a:solidFill>
            <a:prstDash val="solid"/>
            <a:miter lim="8000"/>
            <a:headEnd len="sm" w="sm" type="none"/>
            <a:tailEnd len="sm" w="sm" type="none"/>
          </a:ln>
        </p:spPr>
      </p:pic>
      <p:pic>
        <p:nvPicPr>
          <p:cNvPr id="266" name="Google Shape;266;g3bbe9322812_0_20"/>
          <p:cNvPicPr preferRelativeResize="0"/>
          <p:nvPr/>
        </p:nvPicPr>
        <p:blipFill rotWithShape="1">
          <a:blip r:embed="rId5">
            <a:alphaModFix/>
          </a:blip>
          <a:srcRect b="0" l="0" r="0" t="0"/>
          <a:stretch/>
        </p:blipFill>
        <p:spPr>
          <a:xfrm>
            <a:off x="644900" y="4344868"/>
            <a:ext cx="3721243" cy="158308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0" name="Shape 270"/>
        <p:cNvGrpSpPr/>
        <p:nvPr/>
      </p:nvGrpSpPr>
      <p:grpSpPr>
        <a:xfrm>
          <a:off x="0" y="0"/>
          <a:ext cx="0" cy="0"/>
          <a:chOff x="0" y="0"/>
          <a:chExt cx="0" cy="0"/>
        </a:xfrm>
      </p:grpSpPr>
      <p:sp>
        <p:nvSpPr>
          <p:cNvPr id="271" name="Google Shape;271;g3bc93f8e738_0_173"/>
          <p:cNvSpPr txBox="1"/>
          <p:nvPr/>
        </p:nvSpPr>
        <p:spPr>
          <a:xfrm>
            <a:off x="3028950" y="64596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72" name="Google Shape;272;g3bc93f8e738_0_17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3" name="Google Shape;273;g3bc93f8e738_0_173"/>
          <p:cNvSpPr txBox="1"/>
          <p:nvPr/>
        </p:nvSpPr>
        <p:spPr>
          <a:xfrm>
            <a:off x="363825" y="168125"/>
            <a:ext cx="7789500" cy="7542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700">
                <a:solidFill>
                  <a:schemeClr val="lt1"/>
                </a:solidFill>
                <a:latin typeface="Calibri"/>
                <a:ea typeface="Calibri"/>
                <a:cs typeface="Calibri"/>
                <a:sym typeface="Calibri"/>
              </a:rPr>
              <a:t>3</a:t>
            </a:r>
            <a:r>
              <a:rPr b="0" i="0" lang="en-US" sz="3700" u="none" cap="none" strike="noStrike">
                <a:solidFill>
                  <a:schemeClr val="lt1"/>
                </a:solidFill>
                <a:latin typeface="Calibri"/>
                <a:ea typeface="Calibri"/>
                <a:cs typeface="Calibri"/>
                <a:sym typeface="Calibri"/>
              </a:rPr>
              <a:t>D Transformations (Rotation Example)</a:t>
            </a:r>
            <a:endParaRPr b="0" i="0" sz="3700" u="none" cap="none" strike="noStrike">
              <a:solidFill>
                <a:schemeClr val="lt1"/>
              </a:solidFill>
              <a:latin typeface="Calibri"/>
              <a:ea typeface="Calibri"/>
              <a:cs typeface="Calibri"/>
              <a:sym typeface="Calibri"/>
            </a:endParaRPr>
          </a:p>
        </p:txBody>
      </p:sp>
      <p:pic>
        <p:nvPicPr>
          <p:cNvPr id="274" name="Google Shape;274;g3bc93f8e738_0_17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0"/>
              </a:srgbClr>
            </a:outerShdw>
          </a:effectLst>
        </p:spPr>
      </p:pic>
      <p:sp>
        <p:nvSpPr>
          <p:cNvPr id="275" name="Google Shape;275;g3bc93f8e738_0_173"/>
          <p:cNvSpPr txBox="1"/>
          <p:nvPr/>
        </p:nvSpPr>
        <p:spPr>
          <a:xfrm>
            <a:off x="408750" y="2180000"/>
            <a:ext cx="6458400" cy="7803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8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Point: (x, y, z) = (1, 2, 3)</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Rotation angle θ = 90°</a:t>
            </a:r>
            <a:endParaRPr sz="1800">
              <a:solidFill>
                <a:schemeClr val="dk1"/>
              </a:solidFill>
              <a:latin typeface="Times New Roman"/>
              <a:ea typeface="Times New Roman"/>
              <a:cs typeface="Times New Roman"/>
              <a:sym typeface="Times New Roman"/>
            </a:endParaRPr>
          </a:p>
        </p:txBody>
      </p:sp>
      <p:sp>
        <p:nvSpPr>
          <p:cNvPr id="276" name="Google Shape;276;g3bc93f8e738_0_173"/>
          <p:cNvSpPr txBox="1"/>
          <p:nvPr/>
        </p:nvSpPr>
        <p:spPr>
          <a:xfrm>
            <a:off x="408750" y="1144525"/>
            <a:ext cx="799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Given a homogeneous point (1, 2, 3). Apply </a:t>
            </a:r>
            <a:r>
              <a:rPr lang="en-US"/>
              <a:t>a 90-degree rotation</a:t>
            </a:r>
            <a:r>
              <a:rPr lang="en-US"/>
              <a:t> towards </a:t>
            </a:r>
            <a:r>
              <a:rPr lang="en-US"/>
              <a:t>the X, Y,</a:t>
            </a:r>
            <a:r>
              <a:rPr lang="en-US"/>
              <a:t> and Z axis and find out the new coordinate points</a:t>
            </a:r>
            <a:endParaRPr/>
          </a:p>
        </p:txBody>
      </p:sp>
      <p:sp>
        <p:nvSpPr>
          <p:cNvPr id="277" name="Google Shape;277;g3bc93f8e738_0_173"/>
          <p:cNvSpPr txBox="1"/>
          <p:nvPr/>
        </p:nvSpPr>
        <p:spPr>
          <a:xfrm>
            <a:off x="408750" y="1760125"/>
            <a:ext cx="22890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980000"/>
                </a:solidFill>
                <a:latin typeface="Calibri"/>
                <a:ea typeface="Calibri"/>
                <a:cs typeface="Calibri"/>
                <a:sym typeface="Calibri"/>
              </a:rPr>
              <a:t>Solution : </a:t>
            </a:r>
            <a:endParaRPr b="1" sz="2100">
              <a:solidFill>
                <a:srgbClr val="980000"/>
              </a:solidFill>
              <a:latin typeface="Calibri"/>
              <a:ea typeface="Calibri"/>
              <a:cs typeface="Calibri"/>
              <a:sym typeface="Calibri"/>
            </a:endParaRPr>
          </a:p>
        </p:txBody>
      </p:sp>
      <p:sp>
        <p:nvSpPr>
          <p:cNvPr id="278" name="Google Shape;278;g3bc93f8e738_0_173"/>
          <p:cNvSpPr txBox="1"/>
          <p:nvPr/>
        </p:nvSpPr>
        <p:spPr>
          <a:xfrm>
            <a:off x="854300" y="3144450"/>
            <a:ext cx="314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980000"/>
                </a:solidFill>
              </a:rPr>
              <a:t>Rotation about X-axis</a:t>
            </a:r>
            <a:endParaRPr b="1" sz="1600">
              <a:solidFill>
                <a:srgbClr val="980000"/>
              </a:solidFill>
            </a:endParaRPr>
          </a:p>
        </p:txBody>
      </p:sp>
      <p:sp>
        <p:nvSpPr>
          <p:cNvPr id="279" name="Google Shape;279;g3bc93f8e738_0_173"/>
          <p:cNvSpPr txBox="1"/>
          <p:nvPr/>
        </p:nvSpPr>
        <p:spPr>
          <a:xfrm>
            <a:off x="917425" y="3535550"/>
            <a:ext cx="2870400" cy="2401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x' = x</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y' = y cosθ − z sinθ</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z' = y sinθ + z cosθ</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x' = 1</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y' = 2 cos90° − 3 sin90° = −3</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z' = 2 sin90° + 3 cos90° = 2</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800">
                <a:solidFill>
                  <a:srgbClr val="0B5394"/>
                </a:solidFill>
                <a:latin typeface="Times New Roman"/>
                <a:ea typeface="Times New Roman"/>
                <a:cs typeface="Times New Roman"/>
                <a:sym typeface="Times New Roman"/>
              </a:rPr>
              <a:t>New coordinate: (1, −3, 2)</a:t>
            </a:r>
            <a:endParaRPr b="1" sz="1800">
              <a:solidFill>
                <a:srgbClr val="0B5394"/>
              </a:solidFill>
              <a:latin typeface="Times New Roman"/>
              <a:ea typeface="Times New Roman"/>
              <a:cs typeface="Times New Roman"/>
              <a:sym typeface="Times New Roman"/>
            </a:endParaRPr>
          </a:p>
        </p:txBody>
      </p:sp>
      <p:sp>
        <p:nvSpPr>
          <p:cNvPr id="280" name="Google Shape;280;g3bc93f8e738_0_173"/>
          <p:cNvSpPr txBox="1"/>
          <p:nvPr/>
        </p:nvSpPr>
        <p:spPr>
          <a:xfrm>
            <a:off x="5050475" y="3022813"/>
            <a:ext cx="278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980000"/>
                </a:solidFill>
              </a:rPr>
              <a:t>Rotation about Y-axis</a:t>
            </a:r>
            <a:endParaRPr b="1" sz="1600">
              <a:solidFill>
                <a:srgbClr val="980000"/>
              </a:solidFill>
            </a:endParaRPr>
          </a:p>
        </p:txBody>
      </p:sp>
      <p:sp>
        <p:nvSpPr>
          <p:cNvPr id="281" name="Google Shape;281;g3bc93f8e738_0_173"/>
          <p:cNvSpPr txBox="1"/>
          <p:nvPr/>
        </p:nvSpPr>
        <p:spPr>
          <a:xfrm>
            <a:off x="5003575" y="3420050"/>
            <a:ext cx="3000000" cy="2632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x' = z sinθ + x cosθ</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y' = y</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z' = z cosθ − x sinθ</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x' = 3 sin90° + 1 cos90° = 3</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y' = 2</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z' = 3 cos90° − 1 sin90° = −1</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b="1" lang="en-US" sz="1800">
                <a:solidFill>
                  <a:srgbClr val="0B5394"/>
                </a:solidFill>
                <a:latin typeface="Times New Roman"/>
                <a:ea typeface="Times New Roman"/>
                <a:cs typeface="Times New Roman"/>
                <a:sym typeface="Times New Roman"/>
              </a:rPr>
              <a:t>New coordinate: (3, 2, −1)</a:t>
            </a:r>
            <a:endParaRPr b="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5" name="Shape 285"/>
        <p:cNvGrpSpPr/>
        <p:nvPr/>
      </p:nvGrpSpPr>
      <p:grpSpPr>
        <a:xfrm>
          <a:off x="0" y="0"/>
          <a:ext cx="0" cy="0"/>
          <a:chOff x="0" y="0"/>
          <a:chExt cx="0" cy="0"/>
        </a:xfrm>
      </p:grpSpPr>
      <p:sp>
        <p:nvSpPr>
          <p:cNvPr id="286" name="Google Shape;286;g3bc93f8e738_0_202"/>
          <p:cNvSpPr txBox="1"/>
          <p:nvPr/>
        </p:nvSpPr>
        <p:spPr>
          <a:xfrm>
            <a:off x="3028950" y="64596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87" name="Google Shape;287;g3bc93f8e738_0_20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8" name="Google Shape;288;g3bc93f8e738_0_202"/>
          <p:cNvSpPr txBox="1"/>
          <p:nvPr/>
        </p:nvSpPr>
        <p:spPr>
          <a:xfrm>
            <a:off x="363825" y="168125"/>
            <a:ext cx="7789500" cy="7542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700">
                <a:solidFill>
                  <a:schemeClr val="lt1"/>
                </a:solidFill>
                <a:latin typeface="Calibri"/>
                <a:ea typeface="Calibri"/>
                <a:cs typeface="Calibri"/>
                <a:sym typeface="Calibri"/>
              </a:rPr>
              <a:t>3</a:t>
            </a:r>
            <a:r>
              <a:rPr b="0" i="0" lang="en-US" sz="3700" u="none" cap="none" strike="noStrike">
                <a:solidFill>
                  <a:schemeClr val="lt1"/>
                </a:solidFill>
                <a:latin typeface="Calibri"/>
                <a:ea typeface="Calibri"/>
                <a:cs typeface="Calibri"/>
                <a:sym typeface="Calibri"/>
              </a:rPr>
              <a:t>D Transformations (Rotation Example)</a:t>
            </a:r>
            <a:endParaRPr b="0" i="0" sz="3700" u="none" cap="none" strike="noStrike">
              <a:solidFill>
                <a:schemeClr val="lt1"/>
              </a:solidFill>
              <a:latin typeface="Calibri"/>
              <a:ea typeface="Calibri"/>
              <a:cs typeface="Calibri"/>
              <a:sym typeface="Calibri"/>
            </a:endParaRPr>
          </a:p>
        </p:txBody>
      </p:sp>
      <p:pic>
        <p:nvPicPr>
          <p:cNvPr id="289" name="Google Shape;289;g3bc93f8e738_0_20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0"/>
              </a:srgbClr>
            </a:outerShdw>
          </a:effectLst>
        </p:spPr>
      </p:pic>
      <p:sp>
        <p:nvSpPr>
          <p:cNvPr id="290" name="Google Shape;290;g3bc93f8e738_0_202"/>
          <p:cNvSpPr txBox="1"/>
          <p:nvPr/>
        </p:nvSpPr>
        <p:spPr>
          <a:xfrm>
            <a:off x="408750" y="2180000"/>
            <a:ext cx="6458400" cy="7803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8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Point: (x, y, z) = (1, 2, 3)</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Rotation angle θ = 90°</a:t>
            </a:r>
            <a:endParaRPr sz="1800">
              <a:solidFill>
                <a:schemeClr val="dk1"/>
              </a:solidFill>
              <a:latin typeface="Times New Roman"/>
              <a:ea typeface="Times New Roman"/>
              <a:cs typeface="Times New Roman"/>
              <a:sym typeface="Times New Roman"/>
            </a:endParaRPr>
          </a:p>
        </p:txBody>
      </p:sp>
      <p:sp>
        <p:nvSpPr>
          <p:cNvPr id="291" name="Google Shape;291;g3bc93f8e738_0_202"/>
          <p:cNvSpPr txBox="1"/>
          <p:nvPr/>
        </p:nvSpPr>
        <p:spPr>
          <a:xfrm>
            <a:off x="408750" y="1144525"/>
            <a:ext cx="799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Given a homogeneous point (1, 2, 3). Apply a 90-degree rotation towards the X, Y, and Z axis and find out the new coordinate points</a:t>
            </a:r>
            <a:endParaRPr/>
          </a:p>
        </p:txBody>
      </p:sp>
      <p:sp>
        <p:nvSpPr>
          <p:cNvPr id="292" name="Google Shape;292;g3bc93f8e738_0_202"/>
          <p:cNvSpPr txBox="1"/>
          <p:nvPr/>
        </p:nvSpPr>
        <p:spPr>
          <a:xfrm>
            <a:off x="408750" y="1760125"/>
            <a:ext cx="22890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980000"/>
                </a:solidFill>
                <a:latin typeface="Calibri"/>
                <a:ea typeface="Calibri"/>
                <a:cs typeface="Calibri"/>
                <a:sym typeface="Calibri"/>
              </a:rPr>
              <a:t>Solution : </a:t>
            </a:r>
            <a:endParaRPr b="1" sz="2100">
              <a:solidFill>
                <a:srgbClr val="980000"/>
              </a:solidFill>
              <a:latin typeface="Calibri"/>
              <a:ea typeface="Calibri"/>
              <a:cs typeface="Calibri"/>
              <a:sym typeface="Calibri"/>
            </a:endParaRPr>
          </a:p>
        </p:txBody>
      </p:sp>
      <p:sp>
        <p:nvSpPr>
          <p:cNvPr id="293" name="Google Shape;293;g3bc93f8e738_0_202"/>
          <p:cNvSpPr txBox="1"/>
          <p:nvPr/>
        </p:nvSpPr>
        <p:spPr>
          <a:xfrm>
            <a:off x="620250" y="3044950"/>
            <a:ext cx="278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980000"/>
                </a:solidFill>
              </a:rPr>
              <a:t>Rotation about Z-axis</a:t>
            </a:r>
            <a:endParaRPr b="1" sz="1600">
              <a:solidFill>
                <a:srgbClr val="980000"/>
              </a:solidFill>
            </a:endParaRPr>
          </a:p>
        </p:txBody>
      </p:sp>
      <p:sp>
        <p:nvSpPr>
          <p:cNvPr id="294" name="Google Shape;294;g3bc93f8e738_0_202"/>
          <p:cNvSpPr txBox="1"/>
          <p:nvPr/>
        </p:nvSpPr>
        <p:spPr>
          <a:xfrm>
            <a:off x="408750" y="3560700"/>
            <a:ext cx="3000000" cy="2401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x' = x cosθ − y sinθ</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y' = x sinθ + y cosθ</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z' = z</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x' = 1 cos90° − 2 sin90° = −2</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y' = 1 sin90° + 2 cos90° = 1</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z' = 3</a:t>
            </a:r>
            <a:endParaRPr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800">
                <a:solidFill>
                  <a:srgbClr val="0B5394"/>
                </a:solidFill>
                <a:latin typeface="Times New Roman"/>
                <a:ea typeface="Times New Roman"/>
                <a:cs typeface="Times New Roman"/>
                <a:sym typeface="Times New Roman"/>
              </a:rPr>
              <a:t>New coordinate: (−2, 1, 3)</a:t>
            </a:r>
            <a:endParaRPr b="1" sz="1800">
              <a:solidFill>
                <a:srgbClr val="0B5394"/>
              </a:solidFill>
              <a:latin typeface="Times New Roman"/>
              <a:ea typeface="Times New Roman"/>
              <a:cs typeface="Times New Roman"/>
              <a:sym typeface="Times New Roman"/>
            </a:endParaRPr>
          </a:p>
        </p:txBody>
      </p:sp>
      <p:sp>
        <p:nvSpPr>
          <p:cNvPr id="295" name="Google Shape;295;g3bc93f8e738_0_202"/>
          <p:cNvSpPr txBox="1"/>
          <p:nvPr/>
        </p:nvSpPr>
        <p:spPr>
          <a:xfrm>
            <a:off x="4414550" y="3597050"/>
            <a:ext cx="3000000" cy="13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en-US" sz="1800">
                <a:solidFill>
                  <a:schemeClr val="dk1"/>
                </a:solidFill>
                <a:latin typeface="Times New Roman"/>
                <a:ea typeface="Times New Roman"/>
                <a:cs typeface="Times New Roman"/>
                <a:sym typeface="Times New Roman"/>
              </a:rPr>
              <a:t>X-axis rotation → (1, −3, 2)</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800">
                <a:solidFill>
                  <a:schemeClr val="dk1"/>
                </a:solidFill>
                <a:latin typeface="Times New Roman"/>
                <a:ea typeface="Times New Roman"/>
                <a:cs typeface="Times New Roman"/>
                <a:sym typeface="Times New Roman"/>
              </a:rPr>
              <a:t>Y-axis rotation → (3, 2, −1)</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800">
                <a:solidFill>
                  <a:schemeClr val="dk1"/>
                </a:solidFill>
                <a:latin typeface="Times New Roman"/>
                <a:ea typeface="Times New Roman"/>
                <a:cs typeface="Times New Roman"/>
                <a:sym typeface="Times New Roman"/>
              </a:rPr>
              <a:t>Z-axis rotation → (−2, 1, 3)</a:t>
            </a:r>
            <a:endParaRPr sz="1800">
              <a:solidFill>
                <a:schemeClr val="dk1"/>
              </a:solidFill>
              <a:latin typeface="Times New Roman"/>
              <a:ea typeface="Times New Roman"/>
              <a:cs typeface="Times New Roman"/>
              <a:sym typeface="Times New Roman"/>
            </a:endParaRPr>
          </a:p>
        </p:txBody>
      </p:sp>
      <p:sp>
        <p:nvSpPr>
          <p:cNvPr id="296" name="Google Shape;296;g3bc93f8e738_0_202"/>
          <p:cNvSpPr txBox="1"/>
          <p:nvPr/>
        </p:nvSpPr>
        <p:spPr>
          <a:xfrm>
            <a:off x="4842025" y="3063125"/>
            <a:ext cx="278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980000"/>
                </a:solidFill>
              </a:rPr>
              <a:t>Final Results</a:t>
            </a:r>
            <a:endParaRPr b="1" sz="1600">
              <a:solidFill>
                <a:srgbClr val="98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0" name="Shape 300"/>
        <p:cNvGrpSpPr/>
        <p:nvPr/>
      </p:nvGrpSpPr>
      <p:grpSpPr>
        <a:xfrm>
          <a:off x="0" y="0"/>
          <a:ext cx="0" cy="0"/>
          <a:chOff x="0" y="0"/>
          <a:chExt cx="0" cy="0"/>
        </a:xfrm>
      </p:grpSpPr>
      <p:sp>
        <p:nvSpPr>
          <p:cNvPr id="301" name="Google Shape;301;g3bb5fbf5691_0_22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02" name="Google Shape;302;g3bb5fbf5691_0_22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3" name="Google Shape;303;g3bb5fbf5691_0_22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(Reflection)</a:t>
            </a:r>
            <a:endParaRPr b="0" i="0" sz="3800" u="none" cap="none" strike="noStrike">
              <a:solidFill>
                <a:schemeClr val="lt1"/>
              </a:solidFill>
              <a:latin typeface="Calibri"/>
              <a:ea typeface="Calibri"/>
              <a:cs typeface="Calibri"/>
              <a:sym typeface="Calibri"/>
            </a:endParaRPr>
          </a:p>
        </p:txBody>
      </p:sp>
      <p:pic>
        <p:nvPicPr>
          <p:cNvPr id="304" name="Google Shape;304;g3bb5fbf5691_0_22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05" name="Google Shape;305;g3bb5fbf5691_0_224"/>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06" name="Google Shape;306;g3bb5fbf5691_0_224"/>
          <p:cNvSpPr txBox="1"/>
          <p:nvPr/>
        </p:nvSpPr>
        <p:spPr>
          <a:xfrm>
            <a:off x="363825" y="1227900"/>
            <a:ext cx="8151600" cy="13545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00000"/>
              </a:lnSpc>
              <a:spcBef>
                <a:spcPts val="0"/>
              </a:spcBef>
              <a:spcAft>
                <a:spcPts val="0"/>
              </a:spcAft>
              <a:buClr>
                <a:srgbClr val="0B5394"/>
              </a:buClr>
              <a:buSzPts val="1700"/>
              <a:buFont typeface="Arial"/>
              <a:buChar char="■"/>
            </a:pPr>
            <a:r>
              <a:rPr lang="en-US"/>
              <a:t>Reflection in computer graphics is used to emulate reflective objects like mirrors and shiny surfaces Reflection may be an x-axis , y-axis , z-axis. and also in  the planes xy-plane,yz-plane , and zx-plane.</a:t>
            </a:r>
            <a:endParaRPr/>
          </a:p>
          <a:p>
            <a:pPr indent="-336550" lvl="0" marL="457200" marR="0" rtl="0" algn="l">
              <a:lnSpc>
                <a:spcPct val="100000"/>
              </a:lnSpc>
              <a:spcBef>
                <a:spcPts val="0"/>
              </a:spcBef>
              <a:spcAft>
                <a:spcPts val="0"/>
              </a:spcAft>
              <a:buClr>
                <a:srgbClr val="0B5394"/>
              </a:buClr>
              <a:buSzPts val="1700"/>
              <a:buFont typeface="Arial"/>
              <a:buChar char="■"/>
            </a:pPr>
            <a:r>
              <a:rPr lang="en-US"/>
              <a:t>Reflection relative to a given Axis are equivalent to 180-degree rotations   </a:t>
            </a:r>
            <a:endParaRPr/>
          </a:p>
          <a:p>
            <a:pPr indent="0" lvl="0" marL="457200" marR="0" rtl="0" algn="l">
              <a:lnSpc>
                <a:spcPct val="100000"/>
              </a:lnSpc>
              <a:spcBef>
                <a:spcPts val="0"/>
              </a:spcBef>
              <a:spcAft>
                <a:spcPts val="0"/>
              </a:spcAft>
              <a:buNone/>
            </a:pPr>
            <a:r>
              <a:t/>
            </a:r>
            <a:endParaRPr/>
          </a:p>
        </p:txBody>
      </p:sp>
      <p:pic>
        <p:nvPicPr>
          <p:cNvPr descr="Types of Reflection in 3D plane" id="307" name="Google Shape;307;g3bb5fbf5691_0_224"/>
          <p:cNvPicPr preferRelativeResize="0"/>
          <p:nvPr/>
        </p:nvPicPr>
        <p:blipFill>
          <a:blip r:embed="rId4">
            <a:alphaModFix/>
          </a:blip>
          <a:stretch>
            <a:fillRect/>
          </a:stretch>
        </p:blipFill>
        <p:spPr>
          <a:xfrm>
            <a:off x="1542175" y="2775450"/>
            <a:ext cx="5343525" cy="1743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1" name="Shape 311"/>
        <p:cNvGrpSpPr/>
        <p:nvPr/>
      </p:nvGrpSpPr>
      <p:grpSpPr>
        <a:xfrm>
          <a:off x="0" y="0"/>
          <a:ext cx="0" cy="0"/>
          <a:chOff x="0" y="0"/>
          <a:chExt cx="0" cy="0"/>
        </a:xfrm>
      </p:grpSpPr>
      <p:sp>
        <p:nvSpPr>
          <p:cNvPr id="312" name="Google Shape;312;g3bbe9322812_0_10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13" name="Google Shape;313;g3bbe9322812_0_10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4" name="Google Shape;314;g3bbe9322812_0_10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(Reflection)</a:t>
            </a:r>
            <a:endParaRPr b="0" i="0" sz="3800" u="none" cap="none" strike="noStrike">
              <a:solidFill>
                <a:schemeClr val="lt1"/>
              </a:solidFill>
              <a:latin typeface="Calibri"/>
              <a:ea typeface="Calibri"/>
              <a:cs typeface="Calibri"/>
              <a:sym typeface="Calibri"/>
            </a:endParaRPr>
          </a:p>
        </p:txBody>
      </p:sp>
      <p:pic>
        <p:nvPicPr>
          <p:cNvPr id="315" name="Google Shape;315;g3bbe9322812_0_10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16" name="Google Shape;316;g3bbe9322812_0_104"/>
          <p:cNvSpPr txBox="1"/>
          <p:nvPr/>
        </p:nvSpPr>
        <p:spPr>
          <a:xfrm>
            <a:off x="507125" y="1152925"/>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lang="en-US" sz="1300" u="sng">
                <a:solidFill>
                  <a:srgbClr val="303030"/>
                </a:solidFill>
              </a:rPr>
              <a:t>Reflection Relative to XY Plane:</a:t>
            </a:r>
            <a:endParaRPr b="1" sz="1300" u="sng">
              <a:solidFill>
                <a:srgbClr val="303030"/>
              </a:solidFill>
            </a:endParaRPr>
          </a:p>
        </p:txBody>
      </p:sp>
      <p:pic>
        <p:nvPicPr>
          <p:cNvPr id="317" name="Google Shape;317;g3bbe9322812_0_104"/>
          <p:cNvPicPr preferRelativeResize="0"/>
          <p:nvPr/>
        </p:nvPicPr>
        <p:blipFill>
          <a:blip r:embed="rId4">
            <a:alphaModFix/>
          </a:blip>
          <a:stretch>
            <a:fillRect/>
          </a:stretch>
        </p:blipFill>
        <p:spPr>
          <a:xfrm>
            <a:off x="642900" y="1678450"/>
            <a:ext cx="3420100" cy="2209300"/>
          </a:xfrm>
          <a:prstGeom prst="rect">
            <a:avLst/>
          </a:prstGeom>
          <a:noFill/>
          <a:ln>
            <a:noFill/>
          </a:ln>
        </p:spPr>
      </p:pic>
      <p:sp>
        <p:nvSpPr>
          <p:cNvPr id="318" name="Google Shape;318;g3bbe9322812_0_104"/>
          <p:cNvSpPr txBox="1"/>
          <p:nvPr/>
        </p:nvSpPr>
        <p:spPr>
          <a:xfrm>
            <a:off x="363825" y="4868725"/>
            <a:ext cx="3796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This reflection is achieved by using the following reflection </a:t>
            </a:r>
            <a:r>
              <a:rPr lang="en-US"/>
              <a:t>equations:</a:t>
            </a:r>
            <a:endParaRPr/>
          </a:p>
          <a:p>
            <a:pPr indent="0" lvl="0" marL="0" rtl="0" algn="l">
              <a:spcBef>
                <a:spcPts val="0"/>
              </a:spcBef>
              <a:spcAft>
                <a:spcPts val="0"/>
              </a:spcAft>
              <a:buNone/>
            </a:pPr>
            <a:r>
              <a:rPr lang="en-US"/>
              <a:t>x’ = x</a:t>
            </a:r>
            <a:endParaRPr/>
          </a:p>
          <a:p>
            <a:pPr indent="0" lvl="0" marL="0" rtl="0" algn="l">
              <a:spcBef>
                <a:spcPts val="0"/>
              </a:spcBef>
              <a:spcAft>
                <a:spcPts val="0"/>
              </a:spcAft>
              <a:buNone/>
            </a:pPr>
            <a:r>
              <a:rPr lang="en-US"/>
              <a:t>y’ = y</a:t>
            </a:r>
            <a:endParaRPr/>
          </a:p>
          <a:p>
            <a:pPr indent="0" lvl="0" marL="0" rtl="0" algn="l">
              <a:spcBef>
                <a:spcPts val="0"/>
              </a:spcBef>
              <a:spcAft>
                <a:spcPts val="0"/>
              </a:spcAft>
              <a:buNone/>
            </a:pPr>
            <a:r>
              <a:rPr lang="en-US"/>
              <a:t>Z’ = -z</a:t>
            </a:r>
            <a:endParaRPr/>
          </a:p>
        </p:txBody>
      </p:sp>
      <p:sp>
        <p:nvSpPr>
          <p:cNvPr id="319" name="Google Shape;319;g3bbe9322812_0_104"/>
          <p:cNvSpPr txBox="1"/>
          <p:nvPr/>
        </p:nvSpPr>
        <p:spPr>
          <a:xfrm>
            <a:off x="5559050" y="11899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1300" u="sng">
                <a:solidFill>
                  <a:srgbClr val="303030"/>
                </a:solidFill>
              </a:rPr>
              <a:t>Reflection Relative to YZ Plane:</a:t>
            </a:r>
            <a:endParaRPr b="1" sz="1300" u="sng">
              <a:solidFill>
                <a:srgbClr val="303030"/>
              </a:solidFill>
            </a:endParaRPr>
          </a:p>
        </p:txBody>
      </p:sp>
      <p:pic>
        <p:nvPicPr>
          <p:cNvPr id="320" name="Google Shape;320;g3bbe9322812_0_104"/>
          <p:cNvPicPr preferRelativeResize="0"/>
          <p:nvPr/>
        </p:nvPicPr>
        <p:blipFill>
          <a:blip r:embed="rId5">
            <a:alphaModFix/>
          </a:blip>
          <a:stretch>
            <a:fillRect/>
          </a:stretch>
        </p:blipFill>
        <p:spPr>
          <a:xfrm>
            <a:off x="5221216" y="1676513"/>
            <a:ext cx="3442084" cy="2213163"/>
          </a:xfrm>
          <a:prstGeom prst="rect">
            <a:avLst/>
          </a:prstGeom>
          <a:noFill/>
          <a:ln>
            <a:noFill/>
          </a:ln>
        </p:spPr>
      </p:pic>
      <p:sp>
        <p:nvSpPr>
          <p:cNvPr id="321" name="Google Shape;321;g3bbe9322812_0_104"/>
          <p:cNvSpPr txBox="1"/>
          <p:nvPr/>
        </p:nvSpPr>
        <p:spPr>
          <a:xfrm>
            <a:off x="5288000" y="4628575"/>
            <a:ext cx="3542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This reflection is achieved by using the following reflection equations:</a:t>
            </a:r>
            <a:endParaRPr/>
          </a:p>
          <a:p>
            <a:pPr indent="0" lvl="0" marL="0" rtl="0" algn="l">
              <a:spcBef>
                <a:spcPts val="0"/>
              </a:spcBef>
              <a:spcAft>
                <a:spcPts val="0"/>
              </a:spcAft>
              <a:buNone/>
            </a:pPr>
            <a:r>
              <a:rPr lang="en-US"/>
              <a:t>x’ = -x</a:t>
            </a:r>
            <a:endParaRPr/>
          </a:p>
          <a:p>
            <a:pPr indent="0" lvl="0" marL="0" rtl="0" algn="l">
              <a:spcBef>
                <a:spcPts val="0"/>
              </a:spcBef>
              <a:spcAft>
                <a:spcPts val="0"/>
              </a:spcAft>
              <a:buNone/>
            </a:pPr>
            <a:r>
              <a:rPr lang="en-US"/>
              <a:t>y’ = y</a:t>
            </a:r>
            <a:endParaRPr/>
          </a:p>
          <a:p>
            <a:pPr indent="0" lvl="0" marL="0" rtl="0" algn="l">
              <a:spcBef>
                <a:spcPts val="0"/>
              </a:spcBef>
              <a:spcAft>
                <a:spcPts val="0"/>
              </a:spcAft>
              <a:buNone/>
            </a:pPr>
            <a:r>
              <a:rPr lang="en-US"/>
              <a:t>Z’ = z</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5" name="Shape 325"/>
        <p:cNvGrpSpPr/>
        <p:nvPr/>
      </p:nvGrpSpPr>
      <p:grpSpPr>
        <a:xfrm>
          <a:off x="0" y="0"/>
          <a:ext cx="0" cy="0"/>
          <a:chOff x="0" y="0"/>
          <a:chExt cx="0" cy="0"/>
        </a:xfrm>
      </p:grpSpPr>
      <p:sp>
        <p:nvSpPr>
          <p:cNvPr id="326" name="Google Shape;326;g3bbe9322812_0_13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27" name="Google Shape;327;g3bbe9322812_0_13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8" name="Google Shape;328;g3bbe9322812_0_13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(Reflection)</a:t>
            </a:r>
            <a:endParaRPr b="0" i="0" sz="3800" u="none" cap="none" strike="noStrike">
              <a:solidFill>
                <a:schemeClr val="lt1"/>
              </a:solidFill>
              <a:latin typeface="Calibri"/>
              <a:ea typeface="Calibri"/>
              <a:cs typeface="Calibri"/>
              <a:sym typeface="Calibri"/>
            </a:endParaRPr>
          </a:p>
        </p:txBody>
      </p:sp>
      <p:pic>
        <p:nvPicPr>
          <p:cNvPr id="329" name="Google Shape;329;g3bbe9322812_0_13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30" name="Google Shape;330;g3bbe9322812_0_132"/>
          <p:cNvSpPr txBox="1"/>
          <p:nvPr/>
        </p:nvSpPr>
        <p:spPr>
          <a:xfrm>
            <a:off x="417825" y="131710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1300" u="sng">
                <a:solidFill>
                  <a:srgbClr val="303030"/>
                </a:solidFill>
              </a:rPr>
              <a:t>Reflection Relative to XZ Plane:</a:t>
            </a:r>
            <a:endParaRPr b="1" sz="1300" u="sng">
              <a:solidFill>
                <a:srgbClr val="303030"/>
              </a:solidFill>
            </a:endParaRPr>
          </a:p>
        </p:txBody>
      </p:sp>
      <p:pic>
        <p:nvPicPr>
          <p:cNvPr id="331" name="Google Shape;331;g3bbe9322812_0_132"/>
          <p:cNvPicPr preferRelativeResize="0"/>
          <p:nvPr/>
        </p:nvPicPr>
        <p:blipFill>
          <a:blip r:embed="rId4">
            <a:alphaModFix/>
          </a:blip>
          <a:stretch>
            <a:fillRect/>
          </a:stretch>
        </p:blipFill>
        <p:spPr>
          <a:xfrm>
            <a:off x="481425" y="2138025"/>
            <a:ext cx="2936401" cy="1939224"/>
          </a:xfrm>
          <a:prstGeom prst="rect">
            <a:avLst/>
          </a:prstGeom>
          <a:noFill/>
          <a:ln>
            <a:noFill/>
          </a:ln>
        </p:spPr>
      </p:pic>
      <p:sp>
        <p:nvSpPr>
          <p:cNvPr id="332" name="Google Shape;332;g3bbe9322812_0_132"/>
          <p:cNvSpPr txBox="1"/>
          <p:nvPr/>
        </p:nvSpPr>
        <p:spPr>
          <a:xfrm>
            <a:off x="3906375" y="2476588"/>
            <a:ext cx="3796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This reflection is achieved by using the following reflection equations:</a:t>
            </a:r>
            <a:endParaRPr/>
          </a:p>
          <a:p>
            <a:pPr indent="0" lvl="0" marL="0" rtl="0" algn="l">
              <a:spcBef>
                <a:spcPts val="0"/>
              </a:spcBef>
              <a:spcAft>
                <a:spcPts val="0"/>
              </a:spcAft>
              <a:buNone/>
            </a:pPr>
            <a:r>
              <a:rPr lang="en-US"/>
              <a:t>x’ = x</a:t>
            </a:r>
            <a:endParaRPr/>
          </a:p>
          <a:p>
            <a:pPr indent="0" lvl="0" marL="0" rtl="0" algn="l">
              <a:spcBef>
                <a:spcPts val="0"/>
              </a:spcBef>
              <a:spcAft>
                <a:spcPts val="0"/>
              </a:spcAft>
              <a:buNone/>
            </a:pPr>
            <a:r>
              <a:rPr lang="en-US"/>
              <a:t>y’ = -y</a:t>
            </a:r>
            <a:endParaRPr/>
          </a:p>
          <a:p>
            <a:pPr indent="0" lvl="0" marL="0" rtl="0" algn="l">
              <a:spcBef>
                <a:spcPts val="0"/>
              </a:spcBef>
              <a:spcAft>
                <a:spcPts val="0"/>
              </a:spcAft>
              <a:buNone/>
            </a:pPr>
            <a:r>
              <a:rPr lang="en-US"/>
              <a:t>Z’ = z</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6" name="Shape 336"/>
        <p:cNvGrpSpPr/>
        <p:nvPr/>
      </p:nvGrpSpPr>
      <p:grpSpPr>
        <a:xfrm>
          <a:off x="0" y="0"/>
          <a:ext cx="0" cy="0"/>
          <a:chOff x="0" y="0"/>
          <a:chExt cx="0" cy="0"/>
        </a:xfrm>
      </p:grpSpPr>
      <p:sp>
        <p:nvSpPr>
          <p:cNvPr id="337" name="Google Shape;337;g3bc93f8e738_0_22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38" name="Google Shape;338;g3bc93f8e738_0_22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9" name="Google Shape;339;g3bc93f8e738_0_224"/>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600">
                <a:solidFill>
                  <a:schemeClr val="lt1"/>
                </a:solidFill>
                <a:latin typeface="Calibri"/>
                <a:ea typeface="Calibri"/>
                <a:cs typeface="Calibri"/>
                <a:sym typeface="Calibri"/>
              </a:rPr>
              <a:t>3</a:t>
            </a:r>
            <a:r>
              <a:rPr b="0" i="0" lang="en-US" sz="3600" u="none" cap="none" strike="noStrike">
                <a:solidFill>
                  <a:schemeClr val="lt1"/>
                </a:solidFill>
                <a:latin typeface="Calibri"/>
                <a:ea typeface="Calibri"/>
                <a:cs typeface="Calibri"/>
                <a:sym typeface="Calibri"/>
              </a:rPr>
              <a:t>D Transformations (Reflection Examp</a:t>
            </a:r>
            <a:r>
              <a:rPr lang="en-US" sz="3600">
                <a:solidFill>
                  <a:schemeClr val="lt1"/>
                </a:solidFill>
                <a:latin typeface="Calibri"/>
                <a:ea typeface="Calibri"/>
                <a:cs typeface="Calibri"/>
                <a:sym typeface="Calibri"/>
              </a:rPr>
              <a:t>le</a:t>
            </a: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pic>
        <p:nvPicPr>
          <p:cNvPr id="340" name="Google Shape;340;g3bc93f8e738_0_22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0"/>
              </a:srgbClr>
            </a:outerShdw>
          </a:effectLst>
        </p:spPr>
      </p:pic>
      <p:sp>
        <p:nvSpPr>
          <p:cNvPr id="341" name="Google Shape;341;g3bc93f8e738_0_224"/>
          <p:cNvSpPr txBox="1"/>
          <p:nvPr/>
        </p:nvSpPr>
        <p:spPr>
          <a:xfrm>
            <a:off x="463250" y="2261775"/>
            <a:ext cx="3000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Times New Roman"/>
                <a:ea typeface="Times New Roman"/>
                <a:cs typeface="Times New Roman"/>
                <a:sym typeface="Times New Roman"/>
              </a:rPr>
              <a:t>Vertices of triangle:</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A(3, 4, 1)</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B(6, 4, 2)</a:t>
            </a:r>
            <a:endParaRPr sz="1800">
              <a:latin typeface="Times New Roman"/>
              <a:ea typeface="Times New Roman"/>
              <a:cs typeface="Times New Roman"/>
              <a:sym typeface="Times New Roman"/>
            </a:endParaRPr>
          </a:p>
          <a:p>
            <a:pPr indent="0" lvl="0" marL="0" rtl="0" algn="l">
              <a:spcBef>
                <a:spcPts val="0"/>
              </a:spcBef>
              <a:spcAft>
                <a:spcPts val="0"/>
              </a:spcAft>
              <a:buNone/>
            </a:pPr>
            <a:r>
              <a:rPr lang="en-US" sz="1800">
                <a:latin typeface="Times New Roman"/>
                <a:ea typeface="Times New Roman"/>
                <a:cs typeface="Times New Roman"/>
                <a:sym typeface="Times New Roman"/>
              </a:rPr>
              <a:t>C(5, 6, 3)</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rgbClr val="980000"/>
              </a:solidFill>
              <a:latin typeface="Times New Roman"/>
              <a:ea typeface="Times New Roman"/>
              <a:cs typeface="Times New Roman"/>
              <a:sym typeface="Times New Roman"/>
            </a:endParaRPr>
          </a:p>
        </p:txBody>
      </p:sp>
      <p:sp>
        <p:nvSpPr>
          <p:cNvPr id="342" name="Google Shape;342;g3bc93f8e738_0_224"/>
          <p:cNvSpPr txBox="1"/>
          <p:nvPr/>
        </p:nvSpPr>
        <p:spPr>
          <a:xfrm>
            <a:off x="363825" y="1053700"/>
            <a:ext cx="7947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Given a 3D triangle with coordinate points A(3, 4, 1), B(6, 4, </a:t>
            </a:r>
            <a:r>
              <a:rPr lang="en-US"/>
              <a:t>2), and</a:t>
            </a:r>
            <a:r>
              <a:rPr lang="en-US"/>
              <a:t> C(5, 6, 3). Apply the reflection on the XY plane and find out the new coordinates of the object.</a:t>
            </a:r>
            <a:endParaRPr/>
          </a:p>
        </p:txBody>
      </p:sp>
      <p:sp>
        <p:nvSpPr>
          <p:cNvPr id="343" name="Google Shape;343;g3bc93f8e738_0_224"/>
          <p:cNvSpPr txBox="1"/>
          <p:nvPr/>
        </p:nvSpPr>
        <p:spPr>
          <a:xfrm>
            <a:off x="363825" y="1675525"/>
            <a:ext cx="1326300" cy="3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980000"/>
                </a:solidFill>
                <a:latin typeface="Calibri"/>
                <a:ea typeface="Calibri"/>
                <a:cs typeface="Calibri"/>
                <a:sym typeface="Calibri"/>
              </a:rPr>
              <a:t>Solution: </a:t>
            </a:r>
            <a:endParaRPr b="1" sz="2100">
              <a:solidFill>
                <a:srgbClr val="980000"/>
              </a:solidFill>
              <a:latin typeface="Calibri"/>
              <a:ea typeface="Calibri"/>
              <a:cs typeface="Calibri"/>
              <a:sym typeface="Calibri"/>
            </a:endParaRPr>
          </a:p>
        </p:txBody>
      </p:sp>
      <p:sp>
        <p:nvSpPr>
          <p:cNvPr id="344" name="Google Shape;344;g3bc93f8e738_0_224"/>
          <p:cNvSpPr txBox="1"/>
          <p:nvPr/>
        </p:nvSpPr>
        <p:spPr>
          <a:xfrm>
            <a:off x="3028950" y="2489125"/>
            <a:ext cx="2820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x' = x</a:t>
            </a:r>
            <a:endParaRPr/>
          </a:p>
          <a:p>
            <a:pPr indent="0" lvl="0" marL="0" rtl="0" algn="l">
              <a:spcBef>
                <a:spcPts val="0"/>
              </a:spcBef>
              <a:spcAft>
                <a:spcPts val="0"/>
              </a:spcAft>
              <a:buNone/>
            </a:pPr>
            <a:r>
              <a:rPr lang="en-US"/>
              <a:t>y' = y</a:t>
            </a:r>
            <a:endParaRPr/>
          </a:p>
          <a:p>
            <a:pPr indent="0" lvl="0" marL="0" rtl="0" algn="l">
              <a:spcBef>
                <a:spcPts val="0"/>
              </a:spcBef>
              <a:spcAft>
                <a:spcPts val="0"/>
              </a:spcAft>
              <a:buNone/>
            </a:pPr>
            <a:r>
              <a:rPr lang="en-US"/>
              <a:t>z' = −z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rgbClr val="0B5394"/>
                </a:solidFill>
              </a:rPr>
              <a:t>Only z-coordinate changes sign</a:t>
            </a:r>
            <a:endParaRPr>
              <a:solidFill>
                <a:srgbClr val="0B5394"/>
              </a:solidFill>
            </a:endParaRPr>
          </a:p>
        </p:txBody>
      </p:sp>
      <p:sp>
        <p:nvSpPr>
          <p:cNvPr id="345" name="Google Shape;345;g3bc93f8e738_0_224"/>
          <p:cNvSpPr txBox="1"/>
          <p:nvPr/>
        </p:nvSpPr>
        <p:spPr>
          <a:xfrm>
            <a:off x="187950" y="3941125"/>
            <a:ext cx="3000000" cy="175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85200C"/>
                </a:solidFill>
              </a:rPr>
              <a:t>For point </a:t>
            </a:r>
            <a:r>
              <a:rPr b="1" lang="en-US">
                <a:solidFill>
                  <a:srgbClr val="85200C"/>
                </a:solidFill>
              </a:rPr>
              <a:t>A (3,</a:t>
            </a:r>
            <a:r>
              <a:rPr b="1" lang="en-US">
                <a:solidFill>
                  <a:srgbClr val="85200C"/>
                </a:solidFill>
              </a:rPr>
              <a:t> 4, 1)</a:t>
            </a:r>
            <a:endParaRPr b="1">
              <a:solidFill>
                <a:srgbClr val="85200C"/>
              </a:solidFill>
            </a:endParaRPr>
          </a:p>
          <a:p>
            <a:pPr indent="0" lvl="0" marL="0" rtl="0" algn="l">
              <a:spcBef>
                <a:spcPts val="0"/>
              </a:spcBef>
              <a:spcAft>
                <a:spcPts val="0"/>
              </a:spcAft>
              <a:buNone/>
            </a:pPr>
            <a:r>
              <a:t/>
            </a:r>
            <a:endParaRPr b="1">
              <a:solidFill>
                <a:srgbClr val="85200C"/>
              </a:solidFill>
            </a:endParaRPr>
          </a:p>
          <a:p>
            <a:pPr indent="0" lvl="0" marL="0" rtl="0" algn="l">
              <a:spcBef>
                <a:spcPts val="0"/>
              </a:spcBef>
              <a:spcAft>
                <a:spcPts val="0"/>
              </a:spcAft>
              <a:buNone/>
            </a:pPr>
            <a:r>
              <a:rPr lang="en-US" sz="1700">
                <a:latin typeface="Times New Roman"/>
                <a:ea typeface="Times New Roman"/>
                <a:cs typeface="Times New Roman"/>
                <a:sym typeface="Times New Roman"/>
              </a:rPr>
              <a:t>x' = 3</a:t>
            </a:r>
            <a:endParaRPr sz="1700">
              <a:latin typeface="Times New Roman"/>
              <a:ea typeface="Times New Roman"/>
              <a:cs typeface="Times New Roman"/>
              <a:sym typeface="Times New Roman"/>
            </a:endParaRPr>
          </a:p>
          <a:p>
            <a:pPr indent="0" lvl="0" marL="0" rtl="0" algn="l">
              <a:spcBef>
                <a:spcPts val="0"/>
              </a:spcBef>
              <a:spcAft>
                <a:spcPts val="0"/>
              </a:spcAft>
              <a:buNone/>
            </a:pPr>
            <a:r>
              <a:rPr lang="en-US" sz="1700">
                <a:latin typeface="Times New Roman"/>
                <a:ea typeface="Times New Roman"/>
                <a:cs typeface="Times New Roman"/>
                <a:sym typeface="Times New Roman"/>
              </a:rPr>
              <a:t>y' = 4</a:t>
            </a:r>
            <a:endParaRPr sz="1700">
              <a:latin typeface="Times New Roman"/>
              <a:ea typeface="Times New Roman"/>
              <a:cs typeface="Times New Roman"/>
              <a:sym typeface="Times New Roman"/>
            </a:endParaRPr>
          </a:p>
          <a:p>
            <a:pPr indent="0" lvl="0" marL="0" rtl="0" algn="l">
              <a:spcBef>
                <a:spcPts val="0"/>
              </a:spcBef>
              <a:spcAft>
                <a:spcPts val="0"/>
              </a:spcAft>
              <a:buNone/>
            </a:pPr>
            <a:r>
              <a:rPr lang="en-US" sz="1700">
                <a:latin typeface="Times New Roman"/>
                <a:ea typeface="Times New Roman"/>
                <a:cs typeface="Times New Roman"/>
                <a:sym typeface="Times New Roman"/>
              </a:rPr>
              <a:t>z' = −1</a:t>
            </a:r>
            <a:endParaRPr/>
          </a:p>
          <a:p>
            <a:pPr indent="0" lvl="0" marL="0" rtl="0" algn="l">
              <a:spcBef>
                <a:spcPts val="1000"/>
              </a:spcBef>
              <a:spcAft>
                <a:spcPts val="0"/>
              </a:spcAft>
              <a:buNone/>
            </a:pPr>
            <a:r>
              <a:rPr b="1" lang="en-US" sz="1500">
                <a:solidFill>
                  <a:srgbClr val="0B5394"/>
                </a:solidFill>
                <a:latin typeface="Times New Roman"/>
                <a:ea typeface="Times New Roman"/>
                <a:cs typeface="Times New Roman"/>
                <a:sym typeface="Times New Roman"/>
              </a:rPr>
              <a:t>New coordinate, A'</a:t>
            </a:r>
            <a:r>
              <a:rPr b="1" lang="en-US" sz="1500">
                <a:solidFill>
                  <a:srgbClr val="0B5394"/>
                </a:solidFill>
              </a:rPr>
              <a:t> = (3, 4, −1)</a:t>
            </a:r>
            <a:endParaRPr b="1" sz="1500">
              <a:solidFill>
                <a:srgbClr val="0B5394"/>
              </a:solidFill>
            </a:endParaRPr>
          </a:p>
        </p:txBody>
      </p:sp>
      <p:sp>
        <p:nvSpPr>
          <p:cNvPr id="346" name="Google Shape;346;g3bc93f8e738_0_224"/>
          <p:cNvSpPr txBox="1"/>
          <p:nvPr/>
        </p:nvSpPr>
        <p:spPr>
          <a:xfrm>
            <a:off x="2943025" y="20802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980000"/>
                </a:solidFill>
                <a:latin typeface="Times New Roman"/>
                <a:ea typeface="Times New Roman"/>
                <a:cs typeface="Times New Roman"/>
                <a:sym typeface="Times New Roman"/>
              </a:rPr>
              <a:t>Reflection plane: XY-plane</a:t>
            </a:r>
            <a:endParaRPr/>
          </a:p>
        </p:txBody>
      </p:sp>
      <p:sp>
        <p:nvSpPr>
          <p:cNvPr id="347" name="Google Shape;347;g3bc93f8e738_0_224"/>
          <p:cNvSpPr txBox="1"/>
          <p:nvPr/>
        </p:nvSpPr>
        <p:spPr>
          <a:xfrm>
            <a:off x="3187950" y="3882925"/>
            <a:ext cx="3000000" cy="1754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800"/>
              </a:spcBef>
              <a:spcAft>
                <a:spcPts val="0"/>
              </a:spcAft>
              <a:buNone/>
            </a:pPr>
            <a:r>
              <a:rPr b="1" lang="en-US">
                <a:solidFill>
                  <a:srgbClr val="980000"/>
                </a:solidFill>
                <a:latin typeface="Times New Roman"/>
                <a:ea typeface="Times New Roman"/>
                <a:cs typeface="Times New Roman"/>
                <a:sym typeface="Times New Roman"/>
              </a:rPr>
              <a:t>For point </a:t>
            </a:r>
            <a:r>
              <a:rPr b="1" lang="en-US">
                <a:solidFill>
                  <a:srgbClr val="980000"/>
                </a:solidFill>
                <a:latin typeface="Times New Roman"/>
                <a:ea typeface="Times New Roman"/>
                <a:cs typeface="Times New Roman"/>
                <a:sym typeface="Times New Roman"/>
              </a:rPr>
              <a:t>B(6, 4, 2)</a:t>
            </a:r>
            <a:endParaRPr b="1">
              <a:solidFill>
                <a:srgbClr val="980000"/>
              </a:solidFill>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US" sz="1700">
                <a:solidFill>
                  <a:schemeClr val="dk1"/>
                </a:solidFill>
                <a:latin typeface="Times New Roman"/>
                <a:ea typeface="Times New Roman"/>
                <a:cs typeface="Times New Roman"/>
                <a:sym typeface="Times New Roman"/>
              </a:rPr>
              <a:t>x' = 6</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US" sz="1700">
                <a:solidFill>
                  <a:schemeClr val="dk1"/>
                </a:solidFill>
                <a:latin typeface="Times New Roman"/>
                <a:ea typeface="Times New Roman"/>
                <a:cs typeface="Times New Roman"/>
                <a:sym typeface="Times New Roman"/>
              </a:rPr>
              <a:t>y' = 4</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US" sz="1700">
                <a:solidFill>
                  <a:schemeClr val="dk1"/>
                </a:solidFill>
                <a:latin typeface="Times New Roman"/>
                <a:ea typeface="Times New Roman"/>
                <a:cs typeface="Times New Roman"/>
                <a:sym typeface="Times New Roman"/>
              </a:rPr>
              <a:t>z' = −2</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US" sz="1500">
                <a:solidFill>
                  <a:srgbClr val="0B5394"/>
                </a:solidFill>
                <a:latin typeface="Times New Roman"/>
                <a:ea typeface="Times New Roman"/>
                <a:cs typeface="Times New Roman"/>
                <a:sym typeface="Times New Roman"/>
              </a:rPr>
              <a:t>New coordinate, </a:t>
            </a:r>
            <a:r>
              <a:rPr b="1" lang="en-US" sz="1700">
                <a:solidFill>
                  <a:srgbClr val="0B5394"/>
                </a:solidFill>
                <a:latin typeface="Times New Roman"/>
                <a:ea typeface="Times New Roman"/>
                <a:cs typeface="Times New Roman"/>
                <a:sym typeface="Times New Roman"/>
              </a:rPr>
              <a:t>B' = (6, 4, −2)</a:t>
            </a:r>
            <a:endParaRPr b="1" sz="1700">
              <a:solidFill>
                <a:srgbClr val="0B5394"/>
              </a:solidFill>
              <a:latin typeface="Times New Roman"/>
              <a:ea typeface="Times New Roman"/>
              <a:cs typeface="Times New Roman"/>
              <a:sym typeface="Times New Roman"/>
            </a:endParaRPr>
          </a:p>
        </p:txBody>
      </p:sp>
      <p:sp>
        <p:nvSpPr>
          <p:cNvPr id="348" name="Google Shape;348;g3bc93f8e738_0_224"/>
          <p:cNvSpPr txBox="1"/>
          <p:nvPr/>
        </p:nvSpPr>
        <p:spPr>
          <a:xfrm>
            <a:off x="6248625" y="3958375"/>
            <a:ext cx="3000000" cy="172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a:solidFill>
                  <a:srgbClr val="85200C"/>
                </a:solidFill>
                <a:latin typeface="Times New Roman"/>
                <a:ea typeface="Times New Roman"/>
                <a:cs typeface="Times New Roman"/>
                <a:sym typeface="Times New Roman"/>
              </a:rPr>
              <a:t>For point </a:t>
            </a:r>
            <a:r>
              <a:rPr b="1" lang="en-US">
                <a:solidFill>
                  <a:srgbClr val="85200C"/>
                </a:solidFill>
                <a:latin typeface="Times New Roman"/>
                <a:ea typeface="Times New Roman"/>
                <a:cs typeface="Times New Roman"/>
                <a:sym typeface="Times New Roman"/>
              </a:rPr>
              <a:t>C(5, 6, 3)</a:t>
            </a:r>
            <a:endParaRPr b="1">
              <a:solidFill>
                <a:srgbClr val="85200C"/>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lang="en-US" sz="1700">
                <a:solidFill>
                  <a:schemeClr val="dk1"/>
                </a:solidFill>
                <a:latin typeface="Times New Roman"/>
                <a:ea typeface="Times New Roman"/>
                <a:cs typeface="Times New Roman"/>
                <a:sym typeface="Times New Roman"/>
              </a:rPr>
              <a:t>x' = 5</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700">
                <a:solidFill>
                  <a:schemeClr val="dk1"/>
                </a:solidFill>
                <a:latin typeface="Times New Roman"/>
                <a:ea typeface="Times New Roman"/>
                <a:cs typeface="Times New Roman"/>
                <a:sym typeface="Times New Roman"/>
              </a:rPr>
              <a:t>y' = 6</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700">
                <a:solidFill>
                  <a:schemeClr val="dk1"/>
                </a:solidFill>
                <a:latin typeface="Times New Roman"/>
                <a:ea typeface="Times New Roman"/>
                <a:cs typeface="Times New Roman"/>
                <a:sym typeface="Times New Roman"/>
              </a:rPr>
              <a:t>z' = −3</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500">
                <a:solidFill>
                  <a:srgbClr val="0B5394"/>
                </a:solidFill>
                <a:latin typeface="Times New Roman"/>
                <a:ea typeface="Times New Roman"/>
                <a:cs typeface="Times New Roman"/>
                <a:sym typeface="Times New Roman"/>
              </a:rPr>
              <a:t>New coordinate, </a:t>
            </a:r>
            <a:r>
              <a:rPr b="1" lang="en-US" sz="1700">
                <a:solidFill>
                  <a:srgbClr val="0B5394"/>
                </a:solidFill>
                <a:latin typeface="Times New Roman"/>
                <a:ea typeface="Times New Roman"/>
                <a:cs typeface="Times New Roman"/>
                <a:sym typeface="Times New Roman"/>
              </a:rPr>
              <a:t>C' = (5, 6, −3)</a:t>
            </a:r>
            <a:endParaRPr b="1" sz="1700">
              <a:solidFill>
                <a:srgbClr val="0B5394"/>
              </a:solidFill>
              <a:latin typeface="Times New Roman"/>
              <a:ea typeface="Times New Roman"/>
              <a:cs typeface="Times New Roman"/>
              <a:sym typeface="Times New Roman"/>
            </a:endParaRPr>
          </a:p>
        </p:txBody>
      </p:sp>
      <p:sp>
        <p:nvSpPr>
          <p:cNvPr id="349" name="Google Shape;349;g3bc93f8e738_0_224"/>
          <p:cNvSpPr txBox="1"/>
          <p:nvPr/>
        </p:nvSpPr>
        <p:spPr>
          <a:xfrm>
            <a:off x="681750" y="5119000"/>
            <a:ext cx="5168100" cy="111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t/>
            </a:r>
            <a:endParaRPr sz="3200">
              <a:solidFill>
                <a:schemeClr val="dk1"/>
              </a:solidFill>
            </a:endParaRPr>
          </a:p>
          <a:p>
            <a:pPr indent="0" lvl="0" marL="0" rtl="0" algn="l">
              <a:lnSpc>
                <a:spcPct val="115000"/>
              </a:lnSpc>
              <a:spcBef>
                <a:spcPts val="800"/>
              </a:spcBef>
              <a:spcAft>
                <a:spcPts val="0"/>
              </a:spcAft>
              <a:buNone/>
            </a:pPr>
            <a:r>
              <a:rPr b="1" lang="en-US" sz="1600">
                <a:solidFill>
                  <a:srgbClr val="980000"/>
                </a:solidFill>
                <a:latin typeface="Times New Roman"/>
                <a:ea typeface="Times New Roman"/>
                <a:cs typeface="Times New Roman"/>
                <a:sym typeface="Times New Roman"/>
              </a:rPr>
              <a:t>Final Results</a:t>
            </a:r>
            <a:r>
              <a:rPr b="1" lang="en-US" sz="1700">
                <a:solidFill>
                  <a:srgbClr val="980000"/>
                </a:solidFill>
                <a:latin typeface="Times New Roman"/>
                <a:ea typeface="Times New Roman"/>
                <a:cs typeface="Times New Roman"/>
                <a:sym typeface="Times New Roman"/>
              </a:rPr>
              <a:t>:</a:t>
            </a:r>
            <a:r>
              <a:rPr b="1" lang="en-US" sz="1600">
                <a:solidFill>
                  <a:srgbClr val="980000"/>
                </a:solidFill>
                <a:latin typeface="Times New Roman"/>
                <a:ea typeface="Times New Roman"/>
                <a:cs typeface="Times New Roman"/>
                <a:sym typeface="Times New Roman"/>
              </a:rPr>
              <a:t> </a:t>
            </a:r>
            <a:r>
              <a:rPr b="1" lang="en-US" sz="1600">
                <a:solidFill>
                  <a:srgbClr val="980000"/>
                </a:solidFill>
                <a:latin typeface="Times New Roman"/>
                <a:ea typeface="Times New Roman"/>
                <a:cs typeface="Times New Roman"/>
                <a:sym typeface="Times New Roman"/>
              </a:rPr>
              <a:t>A' (3, 4, −1), B' (6, 4, −2) , C' (5, 6, −3)</a:t>
            </a:r>
            <a:endParaRPr b="1" sz="1600">
              <a:solidFill>
                <a:srgbClr val="98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3" name="Shape 353"/>
        <p:cNvGrpSpPr/>
        <p:nvPr/>
      </p:nvGrpSpPr>
      <p:grpSpPr>
        <a:xfrm>
          <a:off x="0" y="0"/>
          <a:ext cx="0" cy="0"/>
          <a:chOff x="0" y="0"/>
          <a:chExt cx="0" cy="0"/>
        </a:xfrm>
      </p:grpSpPr>
      <p:sp>
        <p:nvSpPr>
          <p:cNvPr id="354" name="Google Shape;354;g3bbe9322812_0_245"/>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55" name="Google Shape;355;g3bbe9322812_0_245"/>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6" name="Google Shape;356;g3bbe9322812_0_245"/>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3</a:t>
            </a:r>
            <a:r>
              <a:rPr b="0" i="0" lang="en-US" sz="3800" u="none" cap="none" strike="noStrike">
                <a:solidFill>
                  <a:schemeClr val="lt1"/>
                </a:solidFill>
                <a:latin typeface="Calibri"/>
                <a:ea typeface="Calibri"/>
                <a:cs typeface="Calibri"/>
                <a:sym typeface="Calibri"/>
              </a:rPr>
              <a:t>D Transformations (Shearing)</a:t>
            </a:r>
            <a:endParaRPr b="0" i="0" sz="3800" u="none" cap="none" strike="noStrike">
              <a:solidFill>
                <a:schemeClr val="lt1"/>
              </a:solidFill>
              <a:latin typeface="Calibri"/>
              <a:ea typeface="Calibri"/>
              <a:cs typeface="Calibri"/>
              <a:sym typeface="Calibri"/>
            </a:endParaRPr>
          </a:p>
        </p:txBody>
      </p:sp>
      <p:pic>
        <p:nvPicPr>
          <p:cNvPr id="357" name="Google Shape;357;g3bbe9322812_0_24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58" name="Google Shape;358;g3bbe9322812_0_245"/>
          <p:cNvSpPr txBox="1"/>
          <p:nvPr/>
        </p:nvSpPr>
        <p:spPr>
          <a:xfrm>
            <a:off x="363825" y="5505275"/>
            <a:ext cx="743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Matrix for 3</a:t>
            </a:r>
            <a:r>
              <a:rPr lang="en-US" sz="1600">
                <a:latin typeface="Tahoma"/>
                <a:ea typeface="Tahoma"/>
                <a:cs typeface="Tahoma"/>
                <a:sym typeface="Tahoma"/>
              </a:rPr>
              <a:t>D shearing, </a:t>
            </a:r>
            <a:r>
              <a:rPr b="0" i="0" lang="en-US" sz="1600" u="none" cap="none" strike="noStrike">
                <a:solidFill>
                  <a:srgbClr val="000000"/>
                </a:solidFill>
                <a:latin typeface="Tahoma"/>
                <a:ea typeface="Tahoma"/>
                <a:cs typeface="Tahoma"/>
                <a:sym typeface="Tahoma"/>
              </a:rPr>
              <a:t>Where a and b can Be assigned any real</a:t>
            </a:r>
            <a:r>
              <a:rPr lang="en-US" sz="1600">
                <a:latin typeface="Tahoma"/>
                <a:ea typeface="Tahoma"/>
                <a:cs typeface="Tahoma"/>
                <a:sym typeface="Tahoma"/>
              </a:rPr>
              <a:t> </a:t>
            </a:r>
            <a:r>
              <a:rPr b="0" i="0" lang="en-US" sz="1600" u="none" cap="none" strike="noStrike">
                <a:solidFill>
                  <a:srgbClr val="000000"/>
                </a:solidFill>
                <a:latin typeface="Tahoma"/>
                <a:ea typeface="Tahoma"/>
                <a:cs typeface="Tahoma"/>
                <a:sym typeface="Tahoma"/>
              </a:rPr>
              <a:t>Value. </a:t>
            </a:r>
            <a:endParaRPr b="0" i="0" sz="16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9" name="Google Shape;359;g3bbe9322812_0_245"/>
          <p:cNvSpPr txBox="1"/>
          <p:nvPr/>
        </p:nvSpPr>
        <p:spPr>
          <a:xfrm>
            <a:off x="236475" y="1227900"/>
            <a:ext cx="4575000" cy="2313900"/>
          </a:xfrm>
          <a:prstGeom prst="rect">
            <a:avLst/>
          </a:prstGeom>
          <a:noFill/>
          <a:ln>
            <a:noFill/>
          </a:ln>
        </p:spPr>
        <p:txBody>
          <a:bodyPr anchorCtr="0" anchor="t" bIns="91425" lIns="91425" spcFirstLastPara="1" rIns="91425" wrap="square" tIns="91425">
            <a:spAutoFit/>
          </a:bodyPr>
          <a:lstStyle/>
          <a:p>
            <a:pPr indent="-330200" lvl="0" marL="457200" marR="0" rtl="0" algn="just">
              <a:lnSpc>
                <a:spcPct val="100000"/>
              </a:lnSpc>
              <a:spcBef>
                <a:spcPts val="1000"/>
              </a:spcBef>
              <a:spcAft>
                <a:spcPts val="0"/>
              </a:spcAft>
              <a:buClr>
                <a:srgbClr val="0B5394"/>
              </a:buClr>
              <a:buSzPts val="1600"/>
              <a:buFont typeface="Arial"/>
              <a:buChar char="■"/>
            </a:pPr>
            <a:r>
              <a:rPr lang="en-US"/>
              <a:t>A Transformation that distorts the shape of an object such that the transformed shape appears as if the object were decomposed of internal layers that had been caused to slide over each other is called a shearing</a:t>
            </a:r>
            <a:endParaRPr/>
          </a:p>
          <a:p>
            <a:pPr indent="-330200" lvl="0" marL="457200" marR="0" rtl="0" algn="just">
              <a:lnSpc>
                <a:spcPct val="100000"/>
              </a:lnSpc>
              <a:spcBef>
                <a:spcPts val="1000"/>
              </a:spcBef>
              <a:spcAft>
                <a:spcPts val="0"/>
              </a:spcAft>
              <a:buClr>
                <a:srgbClr val="0B5394"/>
              </a:buClr>
              <a:buSzPts val="1600"/>
              <a:buFont typeface="Arial"/>
              <a:buChar char="■"/>
            </a:pPr>
            <a:r>
              <a:rPr lang="en-US"/>
              <a:t>In 2-D, transformations relative to X or Y axis to produce distortion in the shapes of objects. In 3-D, we can also generate shears relative to Z-axis.</a:t>
            </a:r>
            <a:endParaRPr/>
          </a:p>
        </p:txBody>
      </p:sp>
      <p:pic>
        <p:nvPicPr>
          <p:cNvPr descr="Versions of Shearing in 3D plane" id="360" name="Google Shape;360;g3bbe9322812_0_245"/>
          <p:cNvPicPr preferRelativeResize="0"/>
          <p:nvPr/>
        </p:nvPicPr>
        <p:blipFill>
          <a:blip r:embed="rId4">
            <a:alphaModFix/>
          </a:blip>
          <a:stretch>
            <a:fillRect/>
          </a:stretch>
        </p:blipFill>
        <p:spPr>
          <a:xfrm>
            <a:off x="5231600" y="4024700"/>
            <a:ext cx="3086101" cy="1252231"/>
          </a:xfrm>
          <a:prstGeom prst="rect">
            <a:avLst/>
          </a:prstGeom>
          <a:noFill/>
          <a:ln>
            <a:noFill/>
          </a:ln>
        </p:spPr>
      </p:pic>
      <p:pic>
        <p:nvPicPr>
          <p:cNvPr id="361" name="Google Shape;361;g3bbe9322812_0_245"/>
          <p:cNvPicPr preferRelativeResize="0"/>
          <p:nvPr/>
        </p:nvPicPr>
        <p:blipFill>
          <a:blip r:embed="rId5">
            <a:alphaModFix/>
          </a:blip>
          <a:stretch>
            <a:fillRect/>
          </a:stretch>
        </p:blipFill>
        <p:spPr>
          <a:xfrm>
            <a:off x="4982025" y="1980200"/>
            <a:ext cx="4027725" cy="1816162"/>
          </a:xfrm>
          <a:prstGeom prst="rect">
            <a:avLst/>
          </a:prstGeom>
          <a:noFill/>
          <a:ln>
            <a:noFill/>
          </a:ln>
        </p:spPr>
      </p:pic>
      <p:pic>
        <p:nvPicPr>
          <p:cNvPr id="362" name="Google Shape;362;g3bbe9322812_0_245"/>
          <p:cNvPicPr preferRelativeResize="0"/>
          <p:nvPr/>
        </p:nvPicPr>
        <p:blipFill rotWithShape="1">
          <a:blip r:embed="rId6">
            <a:alphaModFix/>
          </a:blip>
          <a:srcRect b="0" l="0" r="0" t="0"/>
          <a:stretch/>
        </p:blipFill>
        <p:spPr>
          <a:xfrm>
            <a:off x="803253" y="3712511"/>
            <a:ext cx="2844701" cy="16220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g3bbe9322812_0_295"/>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68" name="Google Shape;368;g3bbe9322812_0_295"/>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lang="en-US" sz="3600">
                <a:solidFill>
                  <a:schemeClr val="lt1"/>
                </a:solidFill>
                <a:latin typeface="Calibri"/>
                <a:ea typeface="Calibri"/>
                <a:cs typeface="Calibri"/>
                <a:sym typeface="Calibri"/>
              </a:rPr>
              <a:t>3</a:t>
            </a:r>
            <a:r>
              <a:rPr b="0" i="0" lang="en-US" sz="3600" u="none" cap="none" strike="noStrike">
                <a:solidFill>
                  <a:schemeClr val="lt1"/>
                </a:solidFill>
                <a:latin typeface="Calibri"/>
                <a:ea typeface="Calibri"/>
                <a:cs typeface="Calibri"/>
                <a:sym typeface="Calibri"/>
              </a:rPr>
              <a:t>D Transformations (Shearing)</a:t>
            </a:r>
            <a:endParaRPr b="0" i="0" sz="3600" u="none" cap="none" strike="noStrike">
              <a:solidFill>
                <a:schemeClr val="lt1"/>
              </a:solidFill>
              <a:latin typeface="Calibri"/>
              <a:ea typeface="Calibri"/>
              <a:cs typeface="Calibri"/>
              <a:sym typeface="Calibri"/>
            </a:endParaRPr>
          </a:p>
        </p:txBody>
      </p:sp>
      <p:pic>
        <p:nvPicPr>
          <p:cNvPr id="369" name="Google Shape;369;g3bbe9322812_0_29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370" name="Google Shape;370;g3bbe9322812_0_295"/>
          <p:cNvPicPr preferRelativeResize="0"/>
          <p:nvPr/>
        </p:nvPicPr>
        <p:blipFill rotWithShape="1">
          <a:blip r:embed="rId4">
            <a:alphaModFix/>
          </a:blip>
          <a:srcRect b="0" l="8583" r="13740" t="9494"/>
          <a:stretch/>
        </p:blipFill>
        <p:spPr>
          <a:xfrm>
            <a:off x="5404650" y="1935437"/>
            <a:ext cx="1510700" cy="951150"/>
          </a:xfrm>
          <a:prstGeom prst="rect">
            <a:avLst/>
          </a:prstGeom>
          <a:noFill/>
          <a:ln>
            <a:noFill/>
          </a:ln>
        </p:spPr>
      </p:pic>
      <p:pic>
        <p:nvPicPr>
          <p:cNvPr id="371" name="Google Shape;371;g3bbe9322812_0_295"/>
          <p:cNvPicPr preferRelativeResize="0"/>
          <p:nvPr/>
        </p:nvPicPr>
        <p:blipFill>
          <a:blip r:embed="rId5">
            <a:alphaModFix/>
          </a:blip>
          <a:stretch>
            <a:fillRect/>
          </a:stretch>
        </p:blipFill>
        <p:spPr>
          <a:xfrm>
            <a:off x="582400" y="1901125"/>
            <a:ext cx="4387764" cy="1019775"/>
          </a:xfrm>
          <a:prstGeom prst="rect">
            <a:avLst/>
          </a:prstGeom>
          <a:noFill/>
          <a:ln>
            <a:noFill/>
          </a:ln>
        </p:spPr>
      </p:pic>
      <p:sp>
        <p:nvSpPr>
          <p:cNvPr id="372" name="Google Shape;372;g3bbe9322812_0_295"/>
          <p:cNvSpPr txBox="1"/>
          <p:nvPr/>
        </p:nvSpPr>
        <p:spPr>
          <a:xfrm>
            <a:off x="254350" y="999175"/>
            <a:ext cx="744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980000"/>
                </a:solidFill>
              </a:rPr>
              <a:t>Shearing in x-direction</a:t>
            </a:r>
            <a:endParaRPr b="1">
              <a:solidFill>
                <a:srgbClr val="98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the coordinate of X remains unchanged while the </a:t>
            </a:r>
            <a:r>
              <a:rPr lang="en-US"/>
              <a:t>coordinates</a:t>
            </a:r>
            <a:r>
              <a:rPr lang="en-US"/>
              <a:t> of Y and Z </a:t>
            </a:r>
            <a:r>
              <a:rPr lang="en-US"/>
              <a:t>are</a:t>
            </a:r>
            <a:r>
              <a:rPr lang="en-US"/>
              <a:t> changed.</a:t>
            </a:r>
            <a:endParaRPr/>
          </a:p>
        </p:txBody>
      </p:sp>
      <p:sp>
        <p:nvSpPr>
          <p:cNvPr id="373" name="Google Shape;373;g3bbe9322812_0_295"/>
          <p:cNvSpPr txBox="1"/>
          <p:nvPr/>
        </p:nvSpPr>
        <p:spPr>
          <a:xfrm>
            <a:off x="254350" y="2843100"/>
            <a:ext cx="7975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980000"/>
                </a:solidFill>
              </a:rPr>
              <a:t>Shearing in y-direction</a:t>
            </a:r>
            <a:endParaRPr b="1">
              <a:solidFill>
                <a:srgbClr val="98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the coordinate of Y remains unchanged while the </a:t>
            </a:r>
            <a:r>
              <a:rPr lang="en-US"/>
              <a:t>coordinates</a:t>
            </a:r>
            <a:r>
              <a:rPr lang="en-US"/>
              <a:t> of X and Z </a:t>
            </a:r>
            <a:r>
              <a:rPr lang="en-US"/>
              <a:t>are</a:t>
            </a:r>
            <a:r>
              <a:rPr lang="en-US"/>
              <a:t> changed.</a:t>
            </a:r>
            <a:endParaRPr/>
          </a:p>
        </p:txBody>
      </p:sp>
      <p:pic>
        <p:nvPicPr>
          <p:cNvPr id="374" name="Google Shape;374;g3bbe9322812_0_295"/>
          <p:cNvPicPr preferRelativeResize="0"/>
          <p:nvPr/>
        </p:nvPicPr>
        <p:blipFill>
          <a:blip r:embed="rId6">
            <a:alphaModFix/>
          </a:blip>
          <a:stretch>
            <a:fillRect/>
          </a:stretch>
        </p:blipFill>
        <p:spPr>
          <a:xfrm>
            <a:off x="779850" y="3833100"/>
            <a:ext cx="4326599" cy="831300"/>
          </a:xfrm>
          <a:prstGeom prst="rect">
            <a:avLst/>
          </a:prstGeom>
          <a:noFill/>
          <a:ln>
            <a:noFill/>
          </a:ln>
        </p:spPr>
      </p:pic>
      <p:pic>
        <p:nvPicPr>
          <p:cNvPr id="375" name="Google Shape;375;g3bbe9322812_0_295"/>
          <p:cNvPicPr preferRelativeResize="0"/>
          <p:nvPr/>
        </p:nvPicPr>
        <p:blipFill>
          <a:blip r:embed="rId7">
            <a:alphaModFix/>
          </a:blip>
          <a:stretch>
            <a:fillRect/>
          </a:stretch>
        </p:blipFill>
        <p:spPr>
          <a:xfrm>
            <a:off x="5322896" y="3773175"/>
            <a:ext cx="1837704" cy="951150"/>
          </a:xfrm>
          <a:prstGeom prst="rect">
            <a:avLst/>
          </a:prstGeom>
          <a:noFill/>
          <a:ln>
            <a:noFill/>
          </a:ln>
        </p:spPr>
      </p:pic>
      <p:sp>
        <p:nvSpPr>
          <p:cNvPr id="376" name="Google Shape;376;g3bbe9322812_0_295"/>
          <p:cNvSpPr txBox="1"/>
          <p:nvPr/>
        </p:nvSpPr>
        <p:spPr>
          <a:xfrm>
            <a:off x="443100" y="4668000"/>
            <a:ext cx="7975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980000"/>
                </a:solidFill>
              </a:rPr>
              <a:t>Shearing in z-direction</a:t>
            </a:r>
            <a:endParaRPr b="1">
              <a:solidFill>
                <a:srgbClr val="98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the coordinate of Z remains unchanged while the coordinates of X and Y are changed.</a:t>
            </a:r>
            <a:endParaRPr/>
          </a:p>
        </p:txBody>
      </p:sp>
      <p:pic>
        <p:nvPicPr>
          <p:cNvPr id="377" name="Google Shape;377;g3bbe9322812_0_295"/>
          <p:cNvPicPr preferRelativeResize="0"/>
          <p:nvPr/>
        </p:nvPicPr>
        <p:blipFill>
          <a:blip r:embed="rId8">
            <a:alphaModFix/>
          </a:blip>
          <a:stretch>
            <a:fillRect/>
          </a:stretch>
        </p:blipFill>
        <p:spPr>
          <a:xfrm>
            <a:off x="592375" y="5502900"/>
            <a:ext cx="4730524" cy="854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1" name="Shape 381"/>
        <p:cNvGrpSpPr/>
        <p:nvPr/>
      </p:nvGrpSpPr>
      <p:grpSpPr>
        <a:xfrm>
          <a:off x="0" y="0"/>
          <a:ext cx="0" cy="0"/>
          <a:chOff x="0" y="0"/>
          <a:chExt cx="0" cy="0"/>
        </a:xfrm>
      </p:grpSpPr>
      <p:sp>
        <p:nvSpPr>
          <p:cNvPr id="382" name="Google Shape;382;g3bc93f8e738_0_276"/>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83" name="Google Shape;383;g3bc93f8e738_0_276"/>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lang="en-US" sz="3600">
                <a:solidFill>
                  <a:schemeClr val="lt1"/>
                </a:solidFill>
                <a:latin typeface="Calibri"/>
                <a:ea typeface="Calibri"/>
                <a:cs typeface="Calibri"/>
                <a:sym typeface="Calibri"/>
              </a:rPr>
              <a:t>3</a:t>
            </a:r>
            <a:r>
              <a:rPr b="0" i="0" lang="en-US" sz="3600" u="none" cap="none" strike="noStrike">
                <a:solidFill>
                  <a:schemeClr val="lt1"/>
                </a:solidFill>
                <a:latin typeface="Calibri"/>
                <a:ea typeface="Calibri"/>
                <a:cs typeface="Calibri"/>
                <a:sym typeface="Calibri"/>
              </a:rPr>
              <a:t>D Transformations (Shearing </a:t>
            </a:r>
            <a:r>
              <a:rPr lang="en-US" sz="3600">
                <a:solidFill>
                  <a:schemeClr val="lt1"/>
                </a:solidFill>
                <a:latin typeface="Calibri"/>
                <a:ea typeface="Calibri"/>
                <a:cs typeface="Calibri"/>
                <a:sym typeface="Calibri"/>
              </a:rPr>
              <a:t>Example</a:t>
            </a: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pic>
        <p:nvPicPr>
          <p:cNvPr id="384" name="Google Shape;384;g3bc93f8e738_0_27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0"/>
              </a:srgbClr>
            </a:outerShdw>
          </a:effectLst>
        </p:spPr>
      </p:pic>
      <p:sp>
        <p:nvSpPr>
          <p:cNvPr id="385" name="Google Shape;385;g3bc93f8e738_0_276"/>
          <p:cNvSpPr txBox="1"/>
          <p:nvPr/>
        </p:nvSpPr>
        <p:spPr>
          <a:xfrm>
            <a:off x="436025" y="1732850"/>
            <a:ext cx="744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980000"/>
                </a:solidFill>
              </a:rPr>
              <a:t>Solution: </a:t>
            </a:r>
            <a:endParaRPr/>
          </a:p>
          <a:p>
            <a:pPr indent="0" lvl="0" marL="0" rtl="0" algn="l">
              <a:spcBef>
                <a:spcPts val="0"/>
              </a:spcBef>
              <a:spcAft>
                <a:spcPts val="0"/>
              </a:spcAft>
              <a:buNone/>
            </a:pPr>
            <a:r>
              <a:t/>
            </a:r>
            <a:endParaRPr/>
          </a:p>
        </p:txBody>
      </p:sp>
      <p:sp>
        <p:nvSpPr>
          <p:cNvPr id="386" name="Google Shape;386;g3bc93f8e738_0_276"/>
          <p:cNvSpPr txBox="1"/>
          <p:nvPr/>
        </p:nvSpPr>
        <p:spPr>
          <a:xfrm>
            <a:off x="363825" y="1117250"/>
            <a:ext cx="8365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Given a 3D triangle with points (0, 0, 0), (1, 1, 2) and (1, 1, 3). Apply shear parameter 2 on X axis find out the new coordinates of the object.</a:t>
            </a:r>
            <a:endParaRPr/>
          </a:p>
        </p:txBody>
      </p:sp>
      <p:sp>
        <p:nvSpPr>
          <p:cNvPr id="387" name="Google Shape;387;g3bc93f8e738_0_276"/>
          <p:cNvSpPr txBox="1"/>
          <p:nvPr/>
        </p:nvSpPr>
        <p:spPr>
          <a:xfrm>
            <a:off x="254325" y="2034700"/>
            <a:ext cx="5904300" cy="172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en-US" sz="1800">
                <a:solidFill>
                  <a:schemeClr val="dk1"/>
                </a:solidFill>
                <a:latin typeface="Times New Roman"/>
                <a:ea typeface="Times New Roman"/>
                <a:cs typeface="Times New Roman"/>
                <a:sym typeface="Times New Roman"/>
              </a:rPr>
              <a:t>Triangle vertices: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800">
                <a:solidFill>
                  <a:schemeClr val="dk1"/>
                </a:solidFill>
                <a:latin typeface="Times New Roman"/>
                <a:ea typeface="Times New Roman"/>
                <a:cs typeface="Times New Roman"/>
                <a:sym typeface="Times New Roman"/>
              </a:rPr>
              <a:t>A(0, 0, 0)</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800">
                <a:solidFill>
                  <a:schemeClr val="dk1"/>
                </a:solidFill>
                <a:latin typeface="Times New Roman"/>
                <a:ea typeface="Times New Roman"/>
                <a:cs typeface="Times New Roman"/>
                <a:sym typeface="Times New Roman"/>
              </a:rPr>
              <a:t>B(1, 1, 2)</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800">
                <a:solidFill>
                  <a:schemeClr val="dk1"/>
                </a:solidFill>
                <a:latin typeface="Times New Roman"/>
                <a:ea typeface="Times New Roman"/>
                <a:cs typeface="Times New Roman"/>
                <a:sym typeface="Times New Roman"/>
              </a:rPr>
              <a:t>C(1, 1, 3)</a:t>
            </a:r>
            <a:endParaRPr sz="1800">
              <a:latin typeface="Times New Roman"/>
              <a:ea typeface="Times New Roman"/>
              <a:cs typeface="Times New Roman"/>
              <a:sym typeface="Times New Roman"/>
            </a:endParaRPr>
          </a:p>
        </p:txBody>
      </p:sp>
      <p:sp>
        <p:nvSpPr>
          <p:cNvPr id="388" name="Google Shape;388;g3bc93f8e738_0_276"/>
          <p:cNvSpPr txBox="1"/>
          <p:nvPr/>
        </p:nvSpPr>
        <p:spPr>
          <a:xfrm>
            <a:off x="2834050" y="2161875"/>
            <a:ext cx="57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Times New Roman"/>
                <a:ea typeface="Times New Roman"/>
                <a:cs typeface="Times New Roman"/>
                <a:sym typeface="Times New Roman"/>
              </a:rPr>
              <a:t>Shearing parameters: SHx = 2, SHy = 2, SHz = 3</a:t>
            </a:r>
            <a:endParaRPr sz="1800">
              <a:solidFill>
                <a:schemeClr val="dk1"/>
              </a:solidFill>
              <a:latin typeface="Times New Roman"/>
              <a:ea typeface="Times New Roman"/>
              <a:cs typeface="Times New Roman"/>
              <a:sym typeface="Times New Roman"/>
            </a:endParaRPr>
          </a:p>
        </p:txBody>
      </p:sp>
      <p:sp>
        <p:nvSpPr>
          <p:cNvPr id="389" name="Google Shape;389;g3bc93f8e738_0_276"/>
          <p:cNvSpPr txBox="1"/>
          <p:nvPr/>
        </p:nvSpPr>
        <p:spPr>
          <a:xfrm>
            <a:off x="2596625" y="3110313"/>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Shearing about X-axis</a:t>
            </a:r>
            <a:endParaRPr/>
          </a:p>
        </p:txBody>
      </p:sp>
      <p:sp>
        <p:nvSpPr>
          <p:cNvPr id="390" name="Google Shape;390;g3bc93f8e738_0_276"/>
          <p:cNvSpPr txBox="1"/>
          <p:nvPr/>
        </p:nvSpPr>
        <p:spPr>
          <a:xfrm>
            <a:off x="4884425" y="294225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x' = x</a:t>
            </a:r>
            <a:endParaRPr>
              <a:solidFill>
                <a:schemeClr val="dk1"/>
              </a:solidFill>
            </a:endParaRPr>
          </a:p>
          <a:p>
            <a:pPr indent="0" lvl="0" marL="0" rtl="0" algn="l">
              <a:spcBef>
                <a:spcPts val="0"/>
              </a:spcBef>
              <a:spcAft>
                <a:spcPts val="0"/>
              </a:spcAft>
              <a:buNone/>
            </a:pPr>
            <a:r>
              <a:rPr lang="en-US">
                <a:solidFill>
                  <a:schemeClr val="dk1"/>
                </a:solidFill>
              </a:rPr>
              <a:t>y' = y + SHy · x</a:t>
            </a:r>
            <a:endParaRPr>
              <a:solidFill>
                <a:schemeClr val="dk1"/>
              </a:solidFill>
            </a:endParaRPr>
          </a:p>
          <a:p>
            <a:pPr indent="0" lvl="0" marL="0" rtl="0" algn="l">
              <a:spcBef>
                <a:spcPts val="0"/>
              </a:spcBef>
              <a:spcAft>
                <a:spcPts val="0"/>
              </a:spcAft>
              <a:buNone/>
            </a:pPr>
            <a:r>
              <a:rPr lang="en-US">
                <a:solidFill>
                  <a:schemeClr val="dk1"/>
                </a:solidFill>
              </a:rPr>
              <a:t>z' = z + SHz · x</a:t>
            </a:r>
            <a:endParaRPr>
              <a:solidFill>
                <a:schemeClr val="dk1"/>
              </a:solidFill>
            </a:endParaRPr>
          </a:p>
        </p:txBody>
      </p:sp>
      <p:sp>
        <p:nvSpPr>
          <p:cNvPr id="391" name="Google Shape;391;g3bc93f8e738_0_276"/>
          <p:cNvSpPr txBox="1"/>
          <p:nvPr/>
        </p:nvSpPr>
        <p:spPr>
          <a:xfrm>
            <a:off x="318400" y="4062150"/>
            <a:ext cx="27882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point A (0,0,0)</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x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a:t>
            </a:r>
            <a:r>
              <a:rPr lang="en-US">
                <a:solidFill>
                  <a:schemeClr val="dk1"/>
                </a:solidFill>
              </a:rPr>
              <a:t>y + SHy · x </a:t>
            </a:r>
            <a:r>
              <a:rPr lang="en-US" sz="1700">
                <a:solidFill>
                  <a:schemeClr val="dk1"/>
                </a:solidFill>
                <a:latin typeface="Times New Roman"/>
                <a:ea typeface="Times New Roman"/>
                <a:cs typeface="Times New Roman"/>
                <a:sym typeface="Times New Roman"/>
              </a:rPr>
              <a:t>=</a:t>
            </a:r>
            <a:r>
              <a:rPr lang="en-US" sz="1700">
                <a:solidFill>
                  <a:schemeClr val="dk1"/>
                </a:solidFill>
                <a:latin typeface="Times New Roman"/>
                <a:ea typeface="Times New Roman"/>
                <a:cs typeface="Times New Roman"/>
                <a:sym typeface="Times New Roman"/>
              </a:rPr>
              <a:t> 0 + 2</a:t>
            </a:r>
            <a:r>
              <a:rPr lang="en-US" sz="1700">
                <a:solidFill>
                  <a:schemeClr val="dk1"/>
                </a:solidFill>
                <a:latin typeface="Times New Roman"/>
                <a:ea typeface="Times New Roman"/>
                <a:cs typeface="Times New Roman"/>
                <a:sym typeface="Times New Roman"/>
              </a:rPr>
              <a:t>× 0</a:t>
            </a:r>
            <a:r>
              <a:rPr lang="en-US" sz="1700">
                <a:solidFill>
                  <a:schemeClr val="dk1"/>
                </a:solidFill>
                <a:latin typeface="Times New Roman"/>
                <a:ea typeface="Times New Roman"/>
                <a:cs typeface="Times New Roman"/>
                <a:sym typeface="Times New Roman"/>
              </a:rPr>
              <a:t> = 0</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a:t>
            </a:r>
            <a:r>
              <a:rPr lang="en-US">
                <a:solidFill>
                  <a:schemeClr val="dk1"/>
                </a:solidFill>
              </a:rPr>
              <a:t>z + SHz · x = 0</a:t>
            </a:r>
            <a:r>
              <a:rPr lang="en-US" sz="1700">
                <a:solidFill>
                  <a:schemeClr val="dk1"/>
                </a:solidFill>
                <a:latin typeface="Times New Roman"/>
                <a:ea typeface="Times New Roman"/>
                <a:cs typeface="Times New Roman"/>
                <a:sym typeface="Times New Roman"/>
              </a:rPr>
              <a:t> +</a:t>
            </a:r>
            <a:r>
              <a:rPr lang="en-US" sz="1700">
                <a:solidFill>
                  <a:schemeClr val="dk1"/>
                </a:solidFill>
                <a:latin typeface="Times New Roman"/>
                <a:ea typeface="Times New Roman"/>
                <a:cs typeface="Times New Roman"/>
                <a:sym typeface="Times New Roman"/>
              </a:rPr>
              <a:t> 3×0  = 0 </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A' (0, 0, 0)</a:t>
            </a:r>
            <a:endParaRPr b="1" sz="1700">
              <a:solidFill>
                <a:srgbClr val="0B5394"/>
              </a:solidFill>
              <a:latin typeface="Times New Roman"/>
              <a:ea typeface="Times New Roman"/>
              <a:cs typeface="Times New Roman"/>
              <a:sym typeface="Times New Roman"/>
            </a:endParaRPr>
          </a:p>
        </p:txBody>
      </p:sp>
      <p:sp>
        <p:nvSpPr>
          <p:cNvPr id="392" name="Google Shape;392;g3bc93f8e738_0_276"/>
          <p:cNvSpPr txBox="1"/>
          <p:nvPr/>
        </p:nvSpPr>
        <p:spPr>
          <a:xfrm>
            <a:off x="3177900" y="4022813"/>
            <a:ext cx="27882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point B </a:t>
            </a:r>
            <a:r>
              <a:rPr b="1" lang="en-US" sz="1700">
                <a:solidFill>
                  <a:srgbClr val="980000"/>
                </a:solidFill>
                <a:latin typeface="Times New Roman"/>
                <a:ea typeface="Times New Roman"/>
                <a:cs typeface="Times New Roman"/>
                <a:sym typeface="Times New Roman"/>
              </a:rPr>
              <a:t>(1, 1, 2)</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x = 1</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a:t>
            </a:r>
            <a:r>
              <a:rPr lang="en-US">
                <a:solidFill>
                  <a:schemeClr val="dk1"/>
                </a:solidFill>
              </a:rPr>
              <a:t>y + SHy · x </a:t>
            </a:r>
            <a:r>
              <a:rPr lang="en-US" sz="1700">
                <a:solidFill>
                  <a:schemeClr val="dk1"/>
                </a:solidFill>
                <a:latin typeface="Times New Roman"/>
                <a:ea typeface="Times New Roman"/>
                <a:cs typeface="Times New Roman"/>
                <a:sym typeface="Times New Roman"/>
              </a:rPr>
              <a:t>= 1 + 2× 1 = 3</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a:t>
            </a:r>
            <a:r>
              <a:rPr lang="en-US">
                <a:solidFill>
                  <a:schemeClr val="dk1"/>
                </a:solidFill>
              </a:rPr>
              <a:t>z + SHz · x = 2</a:t>
            </a:r>
            <a:r>
              <a:rPr lang="en-US" sz="1700">
                <a:solidFill>
                  <a:schemeClr val="dk1"/>
                </a:solidFill>
                <a:latin typeface="Times New Roman"/>
                <a:ea typeface="Times New Roman"/>
                <a:cs typeface="Times New Roman"/>
                <a:sym typeface="Times New Roman"/>
              </a:rPr>
              <a:t> + 3×1  = 5</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B' (1, 3, 5)</a:t>
            </a:r>
            <a:endParaRPr b="1" sz="1700">
              <a:solidFill>
                <a:srgbClr val="0B5394"/>
              </a:solidFill>
              <a:latin typeface="Times New Roman"/>
              <a:ea typeface="Times New Roman"/>
              <a:cs typeface="Times New Roman"/>
              <a:sym typeface="Times New Roman"/>
            </a:endParaRPr>
          </a:p>
        </p:txBody>
      </p:sp>
      <p:sp>
        <p:nvSpPr>
          <p:cNvPr id="393" name="Google Shape;393;g3bc93f8e738_0_276"/>
          <p:cNvSpPr txBox="1"/>
          <p:nvPr/>
        </p:nvSpPr>
        <p:spPr>
          <a:xfrm>
            <a:off x="6318750" y="4004963"/>
            <a:ext cx="2788200" cy="19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700">
                <a:solidFill>
                  <a:srgbClr val="980000"/>
                </a:solidFill>
                <a:latin typeface="Times New Roman"/>
                <a:ea typeface="Times New Roman"/>
                <a:cs typeface="Times New Roman"/>
                <a:sym typeface="Times New Roman"/>
              </a:rPr>
              <a:t>For point C (1, 1, 3)</a:t>
            </a:r>
            <a:endParaRPr b="1" sz="17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x' =  x = 1</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y' = </a:t>
            </a:r>
            <a:r>
              <a:rPr lang="en-US">
                <a:solidFill>
                  <a:schemeClr val="dk1"/>
                </a:solidFill>
              </a:rPr>
              <a:t>y + SHy · x </a:t>
            </a:r>
            <a:r>
              <a:rPr lang="en-US" sz="1700">
                <a:solidFill>
                  <a:schemeClr val="dk1"/>
                </a:solidFill>
                <a:latin typeface="Times New Roman"/>
                <a:ea typeface="Times New Roman"/>
                <a:cs typeface="Times New Roman"/>
                <a:sym typeface="Times New Roman"/>
              </a:rPr>
              <a:t>= 1 + 2× 1 = 3</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None/>
            </a:pPr>
            <a:r>
              <a:rPr lang="en-US" sz="1700">
                <a:solidFill>
                  <a:schemeClr val="dk1"/>
                </a:solidFill>
                <a:latin typeface="Times New Roman"/>
                <a:ea typeface="Times New Roman"/>
                <a:cs typeface="Times New Roman"/>
                <a:sym typeface="Times New Roman"/>
              </a:rPr>
              <a:t>z' = </a:t>
            </a:r>
            <a:r>
              <a:rPr lang="en-US">
                <a:solidFill>
                  <a:schemeClr val="dk1"/>
                </a:solidFill>
              </a:rPr>
              <a:t>z + SHz · x = 3 </a:t>
            </a:r>
            <a:r>
              <a:rPr lang="en-US" sz="1700">
                <a:solidFill>
                  <a:schemeClr val="dk1"/>
                </a:solidFill>
                <a:latin typeface="Times New Roman"/>
                <a:ea typeface="Times New Roman"/>
                <a:cs typeface="Times New Roman"/>
                <a:sym typeface="Times New Roman"/>
              </a:rPr>
              <a:t>+ 3×1  = 6</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700">
                <a:solidFill>
                  <a:srgbClr val="0B5394"/>
                </a:solidFill>
                <a:latin typeface="Times New Roman"/>
                <a:ea typeface="Times New Roman"/>
                <a:cs typeface="Times New Roman"/>
                <a:sym typeface="Times New Roman"/>
              </a:rPr>
              <a:t>Scaled Point B' (1, 3, 6)</a:t>
            </a:r>
            <a:endParaRPr b="1" sz="1700">
              <a:solidFill>
                <a:srgbClr val="0B5394"/>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400" name="Google Shape;400;p17"/>
          <p:cNvPicPr preferRelativeResize="0"/>
          <p:nvPr>
            <p:ph idx="1" type="body"/>
          </p:nvPr>
        </p:nvPicPr>
        <p:blipFill rotWithShape="1">
          <a:blip r:embed="rId3">
            <a:alphaModFix/>
          </a:blip>
          <a:srcRect b="0" l="0" r="0" t="0"/>
          <a:stretch/>
        </p:blipFill>
        <p:spPr>
          <a:xfrm>
            <a:off x="1671637" y="1295400"/>
            <a:ext cx="5800725" cy="4351337"/>
          </a:xfrm>
          <a:prstGeom prst="rect">
            <a:avLst/>
          </a:prstGeom>
          <a:noFill/>
          <a:ln>
            <a:noFill/>
          </a:ln>
        </p:spPr>
      </p:pic>
      <p:pic>
        <p:nvPicPr>
          <p:cNvPr id="401" name="Google Shape;401;p17"/>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
        <p:nvSpPr>
          <p:cNvPr id="402" name="Google Shape;402;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03" name="Google Shape;403;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1000"/>
                                        <p:tgtEl>
                                          <p:spTgt spid="400"/>
                                        </p:tgtEl>
                                        <p:attrNameLst>
                                          <p:attrName>ppt_w</p:attrName>
                                        </p:attrNameLst>
                                      </p:cBhvr>
                                      <p:tavLst>
                                        <p:tav fmla="" tm="0">
                                          <p:val>
                                            <p:strVal val="0"/>
                                          </p:val>
                                        </p:tav>
                                        <p:tav fmla="" tm="100000">
                                          <p:val>
                                            <p:strVal val="#ppt_w"/>
                                          </p:val>
                                        </p:tav>
                                      </p:tavLst>
                                    </p:anim>
                                    <p:anim calcmode="lin" valueType="num">
                                      <p:cBhvr additive="base">
                                        <p:cTn dur="1000"/>
                                        <p:tgtEl>
                                          <p:spTgt spid="40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2006-08-22T08:27:31Z</dcterms:created>
  <dc:creator>Brian Mac Namee</dc:creator>
</cp:coreProperties>
</file>