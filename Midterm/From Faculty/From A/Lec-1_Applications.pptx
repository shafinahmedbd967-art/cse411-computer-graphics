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9296400" cy="7010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hWgaRwtZBgzwa8+YRM420cjNnu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65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49700" y="525775"/>
            <a:ext cx="61979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29625" y="3329925"/>
            <a:ext cx="7437100" cy="315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92d2eb36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3"/>
            <a:ext cx="35052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58" name="Google Shape;58;g3e92d2eb36f_0_0:notes"/>
          <p:cNvSpPr txBox="1">
            <a:spLocks noGrp="1"/>
          </p:cNvSpPr>
          <p:nvPr>
            <p:ph type="body" idx="1"/>
          </p:nvPr>
        </p:nvSpPr>
        <p:spPr>
          <a:xfrm>
            <a:off x="930389" y="3329243"/>
            <a:ext cx="7437000" cy="3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" name="Google Shape;59;g3e92d2eb36f_0_0:notes"/>
          <p:cNvSpPr txBox="1"/>
          <p:nvPr/>
        </p:nvSpPr>
        <p:spPr>
          <a:xfrm>
            <a:off x="5265224" y="6658488"/>
            <a:ext cx="40299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>
            <a:spLocks noGrp="1"/>
          </p:cNvSpPr>
          <p:nvPr>
            <p:ph type="body" idx="1"/>
          </p:nvPr>
        </p:nvSpPr>
        <p:spPr>
          <a:xfrm>
            <a:off x="929625" y="3329925"/>
            <a:ext cx="7437100" cy="315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0" name="Google Shape;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49700" y="525775"/>
            <a:ext cx="61979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929625" y="3329925"/>
            <a:ext cx="7437100" cy="315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49700" y="525775"/>
            <a:ext cx="61979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92d2eb36f_0_243:notes"/>
          <p:cNvSpPr txBox="1">
            <a:spLocks noGrp="1"/>
          </p:cNvSpPr>
          <p:nvPr>
            <p:ph type="body" idx="1"/>
          </p:nvPr>
        </p:nvSpPr>
        <p:spPr>
          <a:xfrm>
            <a:off x="929625" y="3329925"/>
            <a:ext cx="7437000" cy="31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4" name="Google Shape;84;g3e92d2eb36f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49700" y="525775"/>
            <a:ext cx="61980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929625" y="3329925"/>
            <a:ext cx="7437100" cy="315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49700" y="525775"/>
            <a:ext cx="61979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92d2eb36f_0_250:notes"/>
          <p:cNvSpPr txBox="1">
            <a:spLocks noGrp="1"/>
          </p:cNvSpPr>
          <p:nvPr>
            <p:ph type="body" idx="1"/>
          </p:nvPr>
        </p:nvSpPr>
        <p:spPr>
          <a:xfrm>
            <a:off x="929625" y="3329925"/>
            <a:ext cx="7437000" cy="31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g3e92d2eb36f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49700" y="525775"/>
            <a:ext cx="61980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929625" y="3329925"/>
            <a:ext cx="7437100" cy="315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49700" y="525775"/>
            <a:ext cx="61979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92d2eb36f_0_257:notes"/>
          <p:cNvSpPr txBox="1">
            <a:spLocks noGrp="1"/>
          </p:cNvSpPr>
          <p:nvPr>
            <p:ph type="body" idx="1"/>
          </p:nvPr>
        </p:nvSpPr>
        <p:spPr>
          <a:xfrm>
            <a:off x="929625" y="3329925"/>
            <a:ext cx="7437000" cy="31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6" name="Google Shape;116;g3e92d2eb36f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49700" y="525775"/>
            <a:ext cx="61980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929625" y="3329925"/>
            <a:ext cx="7437100" cy="315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49700" y="525775"/>
            <a:ext cx="61979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92d2eb36f_0_264:notes"/>
          <p:cNvSpPr txBox="1">
            <a:spLocks noGrp="1"/>
          </p:cNvSpPr>
          <p:nvPr>
            <p:ph type="body" idx="1"/>
          </p:nvPr>
        </p:nvSpPr>
        <p:spPr>
          <a:xfrm>
            <a:off x="929625" y="3329925"/>
            <a:ext cx="7437000" cy="31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3" name="Google Shape;133;g3e92d2eb36f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49700" y="525775"/>
            <a:ext cx="61980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929625" y="3329925"/>
            <a:ext cx="7437100" cy="315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49700" y="525775"/>
            <a:ext cx="61979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92d2eb36f_0_272:notes"/>
          <p:cNvSpPr txBox="1">
            <a:spLocks noGrp="1"/>
          </p:cNvSpPr>
          <p:nvPr>
            <p:ph type="body" idx="1"/>
          </p:nvPr>
        </p:nvSpPr>
        <p:spPr>
          <a:xfrm>
            <a:off x="929625" y="3329925"/>
            <a:ext cx="7437000" cy="31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e92d2eb36f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49700" y="525775"/>
            <a:ext cx="61980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>
            <a:spLocks noGrp="1"/>
          </p:cNvSpPr>
          <p:nvPr>
            <p:ph type="body" idx="1"/>
          </p:nvPr>
        </p:nvSpPr>
        <p:spPr>
          <a:xfrm>
            <a:off x="929625" y="3329925"/>
            <a:ext cx="7437100" cy="315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49700" y="525775"/>
            <a:ext cx="61979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92d2eb36f_0_279:notes"/>
          <p:cNvSpPr txBox="1">
            <a:spLocks noGrp="1"/>
          </p:cNvSpPr>
          <p:nvPr>
            <p:ph type="body" idx="1"/>
          </p:nvPr>
        </p:nvSpPr>
        <p:spPr>
          <a:xfrm>
            <a:off x="929625" y="3329925"/>
            <a:ext cx="7437000" cy="31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4" name="Google Shape;164;g3e92d2eb36f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49700" y="525775"/>
            <a:ext cx="61980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>
            <a:spLocks noGrp="1"/>
          </p:cNvSpPr>
          <p:nvPr>
            <p:ph type="body" idx="1"/>
          </p:nvPr>
        </p:nvSpPr>
        <p:spPr>
          <a:xfrm>
            <a:off x="929625" y="3329925"/>
            <a:ext cx="7437100" cy="315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49700" y="525775"/>
            <a:ext cx="61979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92d2eb36f_0_286:notes"/>
          <p:cNvSpPr txBox="1">
            <a:spLocks noGrp="1"/>
          </p:cNvSpPr>
          <p:nvPr>
            <p:ph type="body" idx="1"/>
          </p:nvPr>
        </p:nvSpPr>
        <p:spPr>
          <a:xfrm>
            <a:off x="929625" y="3329925"/>
            <a:ext cx="7437000" cy="31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g3e92d2eb36f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49700" y="525775"/>
            <a:ext cx="61980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>
            <a:spLocks noGrp="1"/>
          </p:cNvSpPr>
          <p:nvPr>
            <p:ph type="body" idx="1"/>
          </p:nvPr>
        </p:nvSpPr>
        <p:spPr>
          <a:xfrm>
            <a:off x="929625" y="3329925"/>
            <a:ext cx="7437100" cy="315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" name="Google Shape;1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49700" y="525775"/>
            <a:ext cx="61979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92d2eb36f_0_293:notes"/>
          <p:cNvSpPr txBox="1">
            <a:spLocks noGrp="1"/>
          </p:cNvSpPr>
          <p:nvPr>
            <p:ph type="body" idx="1"/>
          </p:nvPr>
        </p:nvSpPr>
        <p:spPr>
          <a:xfrm>
            <a:off x="929625" y="3329925"/>
            <a:ext cx="7437000" cy="31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4" name="Google Shape;194;g3e92d2eb36f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49700" y="525775"/>
            <a:ext cx="61980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92d2eb36f_0_162:notes"/>
          <p:cNvSpPr txBox="1">
            <a:spLocks noGrp="1"/>
          </p:cNvSpPr>
          <p:nvPr>
            <p:ph type="body" idx="1"/>
          </p:nvPr>
        </p:nvSpPr>
        <p:spPr>
          <a:xfrm>
            <a:off x="930389" y="3329243"/>
            <a:ext cx="7437000" cy="3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2" name="Google Shape;202;g3e92d2eb36f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61907" y="525409"/>
            <a:ext cx="3172800" cy="2628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e92d2eb36f_0_90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g3e92d2eb36f_0_90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g3e92d2eb36f_0_9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e92d2eb36f_0_131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344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AB272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g3e92d2eb36f_0_131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530"/>
              <a:buChar char="●"/>
              <a:defRPr/>
            </a:lvl1pPr>
            <a:lvl2pPr marL="914400" lvl="1" indent="-30861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260"/>
              <a:buChar char="○"/>
              <a:defRPr/>
            </a:lvl2pPr>
            <a:lvl3pPr marL="1371600" lvl="2" indent="-314325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0861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2004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440"/>
              <a:buChar char="■"/>
              <a:defRPr/>
            </a:lvl6pPr>
            <a:lvl7pPr marL="3200400" lvl="6" indent="-33147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2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3147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g3e92d2eb36f_0_131"/>
          <p:cNvSpPr txBox="1">
            <a:spLocks noGrp="1"/>
          </p:cNvSpPr>
          <p:nvPr>
            <p:ph type="dt" idx="10"/>
          </p:nvPr>
        </p:nvSpPr>
        <p:spPr>
          <a:xfrm>
            <a:off x="5791200" y="6405562"/>
            <a:ext cx="304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g3e92d2eb36f_0_131"/>
          <p:cNvSpPr txBox="1">
            <a:spLocks noGrp="1"/>
          </p:cNvSpPr>
          <p:nvPr>
            <p:ph type="ftr" idx="11"/>
          </p:nvPr>
        </p:nvSpPr>
        <p:spPr>
          <a:xfrm>
            <a:off x="304800" y="6410325"/>
            <a:ext cx="35814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g3e92d2eb36f_0_131"/>
          <p:cNvSpPr txBox="1">
            <a:spLocks noGrp="1"/>
          </p:cNvSpPr>
          <p:nvPr>
            <p:ph type="sldNum" idx="12"/>
          </p:nvPr>
        </p:nvSpPr>
        <p:spPr>
          <a:xfrm>
            <a:off x="4362450" y="1027112"/>
            <a:ext cx="457200" cy="4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2627"/>
              </a:buClr>
              <a:buSzPts val="1600"/>
              <a:buFont typeface="Georgia"/>
              <a:buNone/>
              <a:defRPr sz="1600" b="0" i="0" u="none" strike="noStrike" cap="none">
                <a:solidFill>
                  <a:srgbClr val="AB2627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2627"/>
              </a:buClr>
              <a:buSzPts val="1600"/>
              <a:buFont typeface="Georgia"/>
              <a:buNone/>
              <a:defRPr sz="1600" b="0" i="0" u="none" strike="noStrike" cap="none">
                <a:solidFill>
                  <a:srgbClr val="AB2627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2627"/>
              </a:buClr>
              <a:buSzPts val="1600"/>
              <a:buFont typeface="Georgia"/>
              <a:buNone/>
              <a:defRPr sz="1600" b="0" i="0" u="none" strike="noStrike" cap="none">
                <a:solidFill>
                  <a:srgbClr val="AB2627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2627"/>
              </a:buClr>
              <a:buSzPts val="1600"/>
              <a:buFont typeface="Georgia"/>
              <a:buNone/>
              <a:defRPr sz="1600" b="0" i="0" u="none" strike="noStrike" cap="none">
                <a:solidFill>
                  <a:srgbClr val="AB2627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2627"/>
              </a:buClr>
              <a:buSzPts val="1600"/>
              <a:buFont typeface="Georgia"/>
              <a:buNone/>
              <a:defRPr sz="1600" b="0" i="0" u="none" strike="noStrike" cap="none">
                <a:solidFill>
                  <a:srgbClr val="AB2627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2627"/>
              </a:buClr>
              <a:buSzPts val="1600"/>
              <a:buFont typeface="Georgia"/>
              <a:buNone/>
              <a:defRPr sz="1600" b="0" i="0" u="none" strike="noStrike" cap="none">
                <a:solidFill>
                  <a:srgbClr val="AB2627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2627"/>
              </a:buClr>
              <a:buSzPts val="1600"/>
              <a:buFont typeface="Georgia"/>
              <a:buNone/>
              <a:defRPr sz="1600" b="0" i="0" u="none" strike="noStrike" cap="none">
                <a:solidFill>
                  <a:srgbClr val="AB2627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2627"/>
              </a:buClr>
              <a:buSzPts val="1600"/>
              <a:buFont typeface="Georgia"/>
              <a:buNone/>
              <a:defRPr sz="1600" b="0" i="0" u="none" strike="noStrike" cap="none">
                <a:solidFill>
                  <a:srgbClr val="AB2627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2627"/>
              </a:buClr>
              <a:buSzPts val="1600"/>
              <a:buFont typeface="Georgia"/>
              <a:buNone/>
              <a:defRPr sz="1600" b="0" i="0" u="none" strike="noStrike" cap="none">
                <a:solidFill>
                  <a:srgbClr val="AB2627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e92d2eb36f_0_94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e92d2eb36f_0_9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e92d2eb36f_0_9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e92d2eb36f_0_9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e92d2eb36f_0_9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e92d2eb36f_0_10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e92d2eb36f_0_10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e92d2eb36f_0_101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e92d2eb36f_0_10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e92d2eb36f_0_10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e92d2eb36f_0_10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e92d2eb36f_0_109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e92d2eb36f_0_109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e92d2eb36f_0_10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e92d2eb36f_0_113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e92d2eb36f_0_11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e92d2eb36f_0_116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e92d2eb36f_0_116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e92d2eb36f_0_116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e92d2eb36f_0_116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e92d2eb36f_0_1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e92d2eb36f_0_122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e92d2eb36f_0_1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92d2eb36f_0_125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e92d2eb36f_0_125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e92d2eb36f_0_12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92d2eb36f_0_12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e92d2eb36f_0_8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3e92d2eb36f_0_86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g3e92d2eb36f_0_8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92d2eb36f_0_0"/>
          <p:cNvSpPr txBox="1">
            <a:spLocks noGrp="1"/>
          </p:cNvSpPr>
          <p:nvPr>
            <p:ph type="ctrTitle"/>
          </p:nvPr>
        </p:nvSpPr>
        <p:spPr>
          <a:xfrm>
            <a:off x="990600" y="762000"/>
            <a:ext cx="6858000" cy="23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US" sz="41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55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</a:t>
            </a:r>
            <a:r>
              <a:rPr lang="en-US" sz="3550" b="1">
                <a:latin typeface="Calibri"/>
                <a:ea typeface="Calibri"/>
                <a:cs typeface="Calibri"/>
                <a:sym typeface="Calibri"/>
              </a:rPr>
              <a:t>to </a:t>
            </a:r>
            <a:endParaRPr sz="355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5493"/>
              <a:buFont typeface="Calibri"/>
              <a:buNone/>
            </a:pPr>
            <a:r>
              <a:rPr lang="en-US" sz="355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Graphics</a:t>
            </a:r>
            <a:br>
              <a:rPr lang="en-US" sz="36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Lecture-</a:t>
            </a:r>
            <a:r>
              <a:rPr lang="en-US" sz="3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br>
              <a:rPr lang="en-US" sz="41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62" name="Google Shape;62;g3e92d2eb36f_0_0"/>
          <p:cNvSpPr txBox="1">
            <a:spLocks noGrp="1"/>
          </p:cNvSpPr>
          <p:nvPr>
            <p:ph type="subTitle" idx="1"/>
          </p:nvPr>
        </p:nvSpPr>
        <p:spPr>
          <a:xfrm>
            <a:off x="990600" y="4624387"/>
            <a:ext cx="6858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700" dirty="0" err="1">
                <a:solidFill>
                  <a:srgbClr val="FF0000"/>
                </a:solidFill>
              </a:rPr>
              <a:t>Nazmun</a:t>
            </a:r>
            <a:r>
              <a:rPr lang="en-US" sz="1700" dirty="0">
                <a:solidFill>
                  <a:srgbClr val="FF0000"/>
                </a:solidFill>
              </a:rPr>
              <a:t> Nessa Moon</a:t>
            </a:r>
            <a:br>
              <a:rPr lang="en-US" sz="1700" dirty="0"/>
            </a:br>
            <a:r>
              <a:rPr lang="en-US" sz="1700" dirty="0"/>
              <a:t>Associate Professor</a:t>
            </a:r>
            <a:br>
              <a:rPr lang="en-US" sz="1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br>
              <a:rPr lang="en-US" sz="1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Daffodil International University, DIU</a:t>
            </a:r>
            <a:endParaRPr dirty="0"/>
          </a:p>
        </p:txBody>
      </p:sp>
      <p:sp>
        <p:nvSpPr>
          <p:cNvPr id="63" name="Google Shape;63;g3e92d2eb36f_0_0" descr="Diu Logo PNG Images - CleanPNG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g3e92d2eb36f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33800" y="381000"/>
            <a:ext cx="1371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g3e92d2eb36f_0_0"/>
          <p:cNvSpPr txBox="1"/>
          <p:nvPr/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e92d2eb36f_0_0"/>
          <p:cNvSpPr txBox="1"/>
          <p:nvPr/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g3e92d2eb36f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71825" y="2463800"/>
            <a:ext cx="2495550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>
            <a:spLocks noGrp="1"/>
          </p:cNvSpPr>
          <p:nvPr>
            <p:ph type="body" idx="1"/>
          </p:nvPr>
        </p:nvSpPr>
        <p:spPr>
          <a:xfrm>
            <a:off x="301625" y="1527175"/>
            <a:ext cx="850423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30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Computer Graphics:</a:t>
            </a:r>
            <a:endParaRPr sz="2000"/>
          </a:p>
          <a:p>
            <a:pPr marL="273050" marR="0" lvl="0" indent="-273050" algn="just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	</a:t>
            </a: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Computer Graphics is the use of computers to display and manipulate information in graphical or pictorial form, either on a visual-display unit or via a printer or plotter.</a:t>
            </a:r>
            <a:endParaRPr sz="2000"/>
          </a:p>
          <a:p>
            <a:pPr marL="273050" marR="0" lvl="0" indent="-127318" algn="l" rtl="0">
              <a:lnSpc>
                <a:spcPct val="115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2627"/>
              </a:buClr>
              <a:buSzPts val="3300"/>
              <a:buFont typeface="Georgia"/>
              <a:buNone/>
            </a:pPr>
            <a:r>
              <a:rPr lang="en-US" sz="26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Graphics Systems and Models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7305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000" b="1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COMPUTER AIDED DESIGN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47649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Animations are often used in CAD applications.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47649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Real-time animations using wire frame displays are useful for testing performance of a vehicle.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47649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Wire frame models allow the designer to see the interior parts of the vehicle during motion.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47649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When object designs are complete, realistic lighting models and surface rendering are applied.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47649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Manufacturing process of object can also be controlled through CAD.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47649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Interactive graphics methods are used to layout the buildings.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47649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Three-dimensional interior layouts and lighting also provided.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47649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With virtual-reality systems, the designers can go for a simulated walk inside the building.</a:t>
            </a:r>
            <a:endParaRPr sz="2000">
              <a:solidFill>
                <a:schemeClr val="dk1"/>
              </a:solidFill>
            </a:endParaRPr>
          </a:p>
          <a:p>
            <a:pPr marL="273050" lvl="0" indent="-165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   Example: AutoCAD, SolidWorks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73050" marR="0" lvl="0" indent="-165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None/>
            </a:pP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2627"/>
              </a:buClr>
              <a:buSzPct val="89189"/>
              <a:buFont typeface="Georgia"/>
              <a:buNone/>
            </a:pPr>
            <a:r>
              <a:rPr lang="en-US" sz="37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Applications of Computer Graphics</a:t>
            </a:r>
            <a:endParaRPr sz="3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1" name="Google Shape;8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92d2eb36f_0_243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3050" marR="0" lvl="0" indent="-165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2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7" name="Google Shape;87;g3e92d2eb36f_0_243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7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Applications of Computer Graphics</a:t>
            </a:r>
            <a:endParaRPr sz="3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8" name="Google Shape;88;g3e92d2eb36f_0_2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g3e92d2eb36f_0_2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1" y="2215764"/>
            <a:ext cx="3897252" cy="259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3e92d2eb36f_0_2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2215759"/>
            <a:ext cx="4233550" cy="259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000" b="1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PRESENTATION GRAPHICS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2605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It is used to produce illustrations for reports or to generate slide for with projections.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2605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Examples of presentation graphics are bar charts, line graphs, surface graphs, pie charts and displays showing relationships between parameters.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2605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3-D graphics can provide more attraction to the presentation.</a:t>
            </a:r>
            <a:endParaRPr sz="2000">
              <a:solidFill>
                <a:schemeClr val="dk1"/>
              </a:solidFill>
            </a:endParaRPr>
          </a:p>
          <a:p>
            <a:pPr marL="273050" lvl="0" indent="-165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Example: Microsoft PowerPoint, Microsoft Excel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73050" lvl="0" indent="-165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</a:pP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7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Applications of Computer Graphics</a:t>
            </a:r>
            <a:endParaRPr sz="3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97" name="Google Shape;9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92d2eb36f_0_250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154305" algn="l" rtl="0">
              <a:lnSpc>
                <a:spcPct val="115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87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2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3" name="Google Shape;103;g3e92d2eb36f_0_250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7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Applications of Computer Graphics</a:t>
            </a:r>
            <a:endParaRPr sz="3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4" name="Google Shape;104;g3e92d2eb36f_0_2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3e92d2eb36f_0_2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2438670"/>
            <a:ext cx="4727849" cy="24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3e92d2eb36f_0_2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9263" y="2497048"/>
            <a:ext cx="2619375" cy="23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000" b="1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COMPUTER ART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2605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Computer graphics methods are widely used in both fine art and commercial art applications. 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2605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artist uses a combination of 3D modeling packages, texture mapping, drawing programs and CAD software.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2605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“Mathematical Art” can be produced using mathematical functions, fractal procedures. 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2605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Photorealistic techniques are used to render images of a product.</a:t>
            </a:r>
            <a:endParaRPr sz="2000">
              <a:solidFill>
                <a:schemeClr val="dk1"/>
              </a:solidFill>
            </a:endParaRPr>
          </a:p>
          <a:p>
            <a:pPr marL="547688" marR="0" lvl="1" indent="-22606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Animations are also used frequently in advertising, and television commercials are produced frame by frame. </a:t>
            </a:r>
            <a:endParaRPr sz="2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73050" lvl="0" indent="-165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Example: Adobe Photoshop, Blender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73050" lvl="0" indent="-165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</a:pPr>
            <a:endParaRPr sz="2000" b="1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73050" marR="0" lvl="0" indent="-154305" algn="l" rtl="0">
              <a:lnSpc>
                <a:spcPct val="115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87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7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Applications of Computer Graphics</a:t>
            </a:r>
            <a:endParaRPr sz="3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92d2eb36f_0_257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154305" algn="l" rtl="0">
              <a:lnSpc>
                <a:spcPct val="115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87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2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9" name="Google Shape;119;g3e92d2eb36f_0_257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7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Applications of Computer Graphics</a:t>
            </a:r>
            <a:endParaRPr sz="3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0" name="Google Shape;120;g3e92d2eb36f_0_2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e92d2eb36f_0_2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2138144"/>
            <a:ext cx="3642825" cy="364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e92d2eb36f_0_2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2183401"/>
            <a:ext cx="4400725" cy="353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>
              <a:solidFill>
                <a:srgbClr val="AB2728"/>
              </a:solidFill>
            </a:endParaRPr>
          </a:p>
        </p:txBody>
      </p:sp>
      <p:sp>
        <p:nvSpPr>
          <p:cNvPr id="128" name="Google Shape;128;p6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30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000" b="1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ENTERTAINMENT</a:t>
            </a:r>
            <a:endParaRPr sz="2000">
              <a:solidFill>
                <a:schemeClr val="dk1"/>
              </a:solidFill>
            </a:endParaRPr>
          </a:p>
          <a:p>
            <a:pPr marL="547688" marR="0" lvl="1" indent="-22606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CG methods are now commonly used in making motion pictures, music videos and television shows.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2605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Many TV series regularly employ computer graphics method.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2605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Graphics objects can be combined with a live action.</a:t>
            </a:r>
            <a:endParaRPr sz="2000">
              <a:solidFill>
                <a:schemeClr val="dk1"/>
              </a:solidFill>
            </a:endParaRPr>
          </a:p>
          <a:p>
            <a:pPr marL="273050" lvl="0" indent="-165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Example:Pixar, Avatar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73050" lvl="0" indent="-165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</a:pP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7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Applications of Computer Graphics</a:t>
            </a:r>
            <a:endParaRPr sz="3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30" name="Google Shape;13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92d2eb36f_0_264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344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>
              <a:solidFill>
                <a:srgbClr val="AB2728"/>
              </a:solidFill>
            </a:endParaRPr>
          </a:p>
        </p:txBody>
      </p:sp>
      <p:sp>
        <p:nvSpPr>
          <p:cNvPr id="136" name="Google Shape;136;g3e92d2eb36f_0_264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3050" marR="0" lvl="0" indent="-154305" algn="l" rtl="0">
              <a:lnSpc>
                <a:spcPct val="115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87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2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7" name="Google Shape;137;g3e92d2eb36f_0_264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7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Applications of Computer Graphics</a:t>
            </a:r>
            <a:endParaRPr sz="3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38" name="Google Shape;138;g3e92d2eb36f_0_2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e92d2eb36f_0_2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4925" y="1590675"/>
            <a:ext cx="7153826" cy="402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30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000" b="1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EDUCATION AND TRAINING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1970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Computer-generated models of physical, financial and economic systems are often used as educational aids.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1970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 some training applications, special systems are designed. Eg. Training of ship captains, aircraft pilots etc.,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1970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Some simulators have no video screens, but most simulators provide graphics screen for visual operation. </a:t>
            </a:r>
            <a:endParaRPr sz="2000">
              <a:solidFill>
                <a:schemeClr val="dk1"/>
              </a:solidFill>
            </a:endParaRPr>
          </a:p>
          <a:p>
            <a:pPr marL="273050" lvl="0" indent="-165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Example: Flight simulators for pilot training, Virtual labs in universities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73050" lvl="0" indent="-165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</a:pP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7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Applications of Computer Graphics</a:t>
            </a:r>
            <a:endParaRPr sz="3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46" name="Google Shape;14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92d2eb36f_0_272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3050" marR="0" lvl="0" indent="-154305" algn="l" rtl="0">
              <a:lnSpc>
                <a:spcPct val="115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87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2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2" name="Google Shape;152;g3e92d2eb36f_0_272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7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Applications of Computer Graphics</a:t>
            </a:r>
            <a:endParaRPr sz="3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53" name="Google Shape;153;g3e92d2eb36f_0_2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e92d2eb36f_0_2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1812450"/>
            <a:ext cx="7781850" cy="4377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  </a:t>
            </a:r>
            <a:r>
              <a:rPr lang="en-US" sz="20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000" b="1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VISUALIZATION</a:t>
            </a:r>
            <a:endParaRPr sz="2000" b="1">
              <a:solidFill>
                <a:schemeClr val="dk1"/>
              </a:solidFill>
            </a:endParaRPr>
          </a:p>
          <a:p>
            <a:pPr marL="547687" marR="0" lvl="1" indent="-23240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⚪"/>
            </a:pPr>
            <a:r>
              <a:rPr lang="en-US" sz="200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numerical and scientific data are converted to a visual form for analysis and to study the behavior called visualization.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3240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⚪"/>
            </a:pPr>
            <a:r>
              <a:rPr lang="en-US" sz="200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Producing graphical representation for scientific data sets are calls scientific visualization.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3240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⚪"/>
            </a:pPr>
            <a:r>
              <a:rPr lang="en-US" sz="200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And business visualization is used to represent the data sets related to commerce and industry.</a:t>
            </a:r>
            <a:endParaRPr sz="2000">
              <a:solidFill>
                <a:schemeClr val="dk1"/>
              </a:solidFill>
            </a:endParaRPr>
          </a:p>
          <a:p>
            <a:pPr marL="547688" marR="0" lvl="1" indent="-23241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⚪"/>
            </a:pPr>
            <a:r>
              <a:rPr lang="en-US" sz="200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visualization can be either 2D or 3D.</a:t>
            </a:r>
            <a:endParaRPr sz="200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73050" lvl="0" indent="-165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Example: COVID-19 dashboards, Weather forecasting systems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73050" lvl="0" indent="-165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</a:pP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73050" marR="0" lvl="0" indent="-154305" algn="l" rtl="0">
              <a:lnSpc>
                <a:spcPct val="115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870"/>
              <a:buFont typeface="Noto Sans Symbols"/>
              <a:buNone/>
            </a:pPr>
            <a:endParaRPr sz="200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7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Applications of Computer Graphics</a:t>
            </a:r>
            <a:endParaRPr sz="3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61" name="Google Shape;16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92d2eb36f_0_279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154305" algn="l" rtl="0">
              <a:lnSpc>
                <a:spcPct val="115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87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200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7" name="Google Shape;167;g3e92d2eb36f_0_279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7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Applications of Computer Graphics</a:t>
            </a:r>
            <a:endParaRPr sz="3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68" name="Google Shape;168;g3e92d2eb36f_0_2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e92d2eb36f_0_27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5900" y="1527050"/>
            <a:ext cx="6184499" cy="412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30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000" b="1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IMAGE PROCESSING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2605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Computer graphics is used to create a picture.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2605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Image processing applies techniques to modify or interpret existing pictures.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2605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To apply image processing methods, the image must be digitized first.</a:t>
            </a:r>
            <a:endParaRPr sz="2000">
              <a:solidFill>
                <a:schemeClr val="dk1"/>
              </a:solidFill>
            </a:endParaRPr>
          </a:p>
          <a:p>
            <a:pPr marL="547687" marR="0" lvl="1" indent="-22605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Char char="⚪"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Medical applications also make extensive use of image processing techniques for picture enhancements, simulations of operations, etc.</a:t>
            </a:r>
            <a:endParaRPr sz="2000">
              <a:solidFill>
                <a:schemeClr val="dk1"/>
              </a:solidFill>
            </a:endParaRPr>
          </a:p>
          <a:p>
            <a:pPr marL="273050" lvl="0" indent="-165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Example: Adobe Photoshop, Snapchat filters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73050" lvl="0" indent="-165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</a:pP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7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Applications of Computer Graphics</a:t>
            </a:r>
            <a:endParaRPr sz="3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76" name="Google Shape;17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92d2eb36f_0_286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3050" marR="0" lvl="0" indent="-154305" algn="l" rtl="0">
              <a:lnSpc>
                <a:spcPct val="115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87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2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2" name="Google Shape;182;g3e92d2eb36f_0_286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7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Applications of Computer Graphics</a:t>
            </a:r>
            <a:endParaRPr sz="3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83" name="Google Shape;183;g3e92d2eb36f_0_2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e92d2eb36f_0_28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72000" y="1527050"/>
            <a:ext cx="4886999" cy="488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GRAPHICAL USER INTERFACE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47687" marR="0" lvl="1" indent="-22605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Char char="⚪"/>
            </a:pPr>
            <a:r>
              <a:rPr lang="en-US" sz="20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Nowadays software packages provide graphics user interface (GUI) for the user to work easily.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47687" marR="0" lvl="1" indent="-22605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Char char="⚪"/>
            </a:pPr>
            <a:r>
              <a:rPr lang="en-US" sz="20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major component in GUI is a window.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47687" marR="0" lvl="1" indent="-22605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Char char="⚪"/>
            </a:pPr>
            <a:r>
              <a:rPr lang="en-US" sz="20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windows can be opened at a time.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47687" marR="0" lvl="1" indent="-22605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Char char="⚪"/>
            </a:pPr>
            <a:r>
              <a:rPr lang="en-US" sz="20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activate any one of the window, the user needs just to check on that window.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47687" marR="0" lvl="1" indent="-22605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Char char="⚪"/>
            </a:pPr>
            <a:r>
              <a:rPr lang="en-US" sz="20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Menus and icons are used for fast selection of processing operations.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47687" marR="0" lvl="1" indent="-22605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Char char="⚪"/>
            </a:pPr>
            <a:r>
              <a:rPr lang="en-US" sz="20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Icons are used as shortcut to perform functions. The advantages of icons are which takes less screen space.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47688" marR="0" lvl="1" indent="-22606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Char char="⚪"/>
            </a:pPr>
            <a:r>
              <a:rPr lang="en-US" sz="20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some other interfaces like text box, buttons, and list are also used.</a:t>
            </a:r>
            <a:endParaRPr sz="20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lvl="0" indent="-165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Microsoft Windows, Android mobile apps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marR="0" lvl="0" indent="-154305" algn="l" rtl="0">
              <a:lnSpc>
                <a:spcPct val="115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870"/>
              <a:buFont typeface="Noto Sans Symbols"/>
              <a:buNone/>
            </a:pPr>
            <a:endParaRPr sz="20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7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Applications of Computer Graphics</a:t>
            </a:r>
            <a:endParaRPr sz="3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91" name="Google Shape;19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92d2eb36f_0_293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3050" marR="0" lvl="0" indent="-154305" algn="l" rtl="0">
              <a:lnSpc>
                <a:spcPct val="115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87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2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7" name="Google Shape;197;g3e92d2eb36f_0_293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7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Applications of Computer Graphics</a:t>
            </a:r>
            <a:endParaRPr sz="3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98" name="Google Shape;198;g3e92d2eb36f_0_2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e92d2eb36f_0_29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04950" y="1392325"/>
            <a:ext cx="4664049" cy="5369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92d2eb36f_0_162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344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sz="33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205" name="Google Shape;205;g3e92d2eb36f_0_16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671637" y="1295400"/>
            <a:ext cx="5800800" cy="43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3e92d2eb36f_0_1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77200" y="22225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753</Words>
  <Application>Microsoft Office PowerPoint</Application>
  <PresentationFormat>On-screen Show (4:3)</PresentationFormat>
  <Paragraphs>104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Georgia</vt:lpstr>
      <vt:lpstr>Noto Sans Symbols</vt:lpstr>
      <vt:lpstr>Times New Roman</vt:lpstr>
      <vt:lpstr>Simple Light</vt:lpstr>
      <vt:lpstr> Introduction to  Computer Graphics Lecture-1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DIU</cp:lastModifiedBy>
  <cp:revision>1</cp:revision>
  <dcterms:created xsi:type="dcterms:W3CDTF">2006-08-16T00:00:00Z</dcterms:created>
  <dcterms:modified xsi:type="dcterms:W3CDTF">2026-06-07T02:10:47Z</dcterms:modified>
</cp:coreProperties>
</file>