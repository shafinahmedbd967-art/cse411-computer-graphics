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9296400" cy="7010400"/>
  <p:embeddedFontLst>
    <p:embeddedFont>
      <p:font typeface="Century Gothic" panose="020B0502020202020204" pitchFamily="34" charset="0"/>
      <p:regular r:id="rId32"/>
      <p:bold r:id="rId33"/>
      <p:italic r:id="rId34"/>
      <p:boldItalic r:id="rId35"/>
    </p:embeddedFont>
    <p:embeddedFont>
      <p:font typeface="Noto Sans Symbols" panose="020B0604020202020204" charset="0"/>
      <p:regular r:id="rId36"/>
      <p:bold r:id="rId37"/>
    </p:embeddedFont>
    <p:embeddedFont>
      <p:font typeface="Roboto" panose="02000000000000000000" pitchFamily="2" charset="0"/>
      <p:regular r:id="rId38"/>
      <p:bold r:id="rId39"/>
      <p:italic r:id="rId40"/>
      <p:boldItalic r:id="rId41"/>
    </p:embeddedFont>
    <p:embeddedFont>
      <p:font typeface="Tahoma" panose="020B0604030504040204" pitchFamily="3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39">
          <p15:clr>
            <a:srgbClr val="000000"/>
          </p15:clr>
        </p15:guide>
        <p15:guide id="2" pos="2879">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u1iJzO+HXARXwijRhaL/B1KV3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656" y="96"/>
      </p:cViewPr>
      <p:guideLst>
        <p:guide orient="horz" pos="3339"/>
        <p:guide pos="287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51"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029075" cy="350837"/>
          </a:xfrm>
          <a:prstGeom prst="rect">
            <a:avLst/>
          </a:prstGeom>
          <a:noFill/>
          <a:ln>
            <a:noFill/>
          </a:ln>
        </p:spPr>
        <p:txBody>
          <a:bodyPr spcFirstLastPara="1" wrap="square" lIns="93175" tIns="46575" rIns="93175" bIns="4657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265737" y="0"/>
            <a:ext cx="4029075" cy="350837"/>
          </a:xfrm>
          <a:prstGeom prst="rect">
            <a:avLst/>
          </a:prstGeom>
          <a:noFill/>
          <a:ln>
            <a:noFill/>
          </a:ln>
        </p:spPr>
        <p:txBody>
          <a:bodyPr spcFirstLastPara="1" wrap="square" lIns="93175" tIns="46575" rIns="93175" bIns="465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657975"/>
            <a:ext cx="4029075" cy="350837"/>
          </a:xfrm>
          <a:prstGeom prst="rect">
            <a:avLst/>
          </a:prstGeom>
          <a:noFill/>
          <a:ln>
            <a:noFill/>
          </a:ln>
        </p:spPr>
        <p:txBody>
          <a:bodyPr spcFirstLastPara="1" wrap="square" lIns="93175" tIns="46575" rIns="93175" bIns="4657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6" name="Google Shape;86;p1: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bb5fbf5691_0_28: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07" name="Google Shape;107;g3bb5fbf5691_0_28: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18" name="Google Shape;118;p4: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bb5fbf5691_0_5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27" name="Google Shape;127;g3bb5fbf5691_0_5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bb5fbf5691_0_39: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40" name="Google Shape;140;g3bb5fbf5691_0_39: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bb5fbf5691_0_10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77" name="Google Shape;177;g3bb5fbf5691_0_10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bb5fbf5691_0_12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86" name="Google Shape;186;g3bb5fbf5691_0_12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bb5fbf5691_0_190: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03" name="Google Shape;203;g3bb5fbf5691_0_190: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bb5fbf5691_0_24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28" name="Google Shape;228;g3bb5fbf5691_0_24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bb5fbf5691_0_283: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bb5fbf5691_0_283: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bb5fbf5691_0_158: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54" name="Google Shape;254;g3bb5fbf5691_0_158: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bb5fbf5691_0_233: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bb5fbf5691_0_233: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bbe9322812_0_20: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bbe9322812_0_20: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bbe9322812_0_4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bbe9322812_0_4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bbe9322812_0_7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12" name="Google Shape;312;g3bbe9322812_0_7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bb5fbf5691_0_224: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26" name="Google Shape;326;g3bb5fbf5691_0_224: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bbe9322812_0_104: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37" name="Google Shape;337;g3bbe9322812_0_104: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bbe9322812_0_13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51" name="Google Shape;351;g3bbe9322812_0_13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bbe9322812_0_15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65" name="Google Shape;365;g3bbe9322812_0_15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bbe9322812_0_225: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79" name="Google Shape;379;g3bbe9322812_0_225: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bbe9322812_0_245: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99" name="Google Shape;399;g3bbe9322812_0_245: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3bbe9322812_0_264: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12" name="Google Shape;412;g3bbe9322812_0_264: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3bbe9322812_0_295: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29" name="Google Shape;429;g3bbe9322812_0_295: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3bbe9322812_0_317: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44" name="Google Shape;444;g3bbe9322812_0_317: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bbe9322812_0_336: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57" name="Google Shape;457;g3bbe9322812_0_336: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bbe9322812_0_35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72" name="Google Shape;472;g3bbe9322812_0_35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bbe9322812_0_365: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85" name="Google Shape;485;g3bbe9322812_0_365: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7: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4" name="Google Shape;494;p17: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495" name="Google Shape;495;p17:notes"/>
          <p:cNvSpPr txBox="1"/>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1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2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rot="5400000">
            <a:off x="2396332" y="57943"/>
            <a:ext cx="4351337"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6" name="Google Shape;36;p2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2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3"/>
          <p:cNvSpPr>
            <a:spLocks noGrp="1"/>
          </p:cNvSpPr>
          <p:nvPr>
            <p:ph type="pic" idx="2"/>
          </p:nvPr>
        </p:nvSpPr>
        <p:spPr>
          <a:xfrm>
            <a:off x="3887391" y="987426"/>
            <a:ext cx="4629150" cy="4873625"/>
          </a:xfrm>
          <a:prstGeom prst="rect">
            <a:avLst/>
          </a:prstGeom>
          <a:noFill/>
          <a:ln>
            <a:noFill/>
          </a:ln>
        </p:spPr>
      </p:sp>
      <p:sp>
        <p:nvSpPr>
          <p:cNvPr id="42" name="Google Shape;42;p2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43" name="Google Shape;43;p2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49" name="Google Shape;49;p2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0" name="Google Shape;50;p2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5" name="Google Shape;65;p2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6" name="Google Shape;66;p27"/>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7" name="Google Shape;67;p27"/>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8" name="Google Shape;68;p2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2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81" name="Google Shape;81;p2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gif"/><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gif"/></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pn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gif"/></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055800" y="730200"/>
            <a:ext cx="6838500" cy="1809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Calibri"/>
              <a:buNone/>
            </a:pPr>
            <a:br>
              <a:rPr lang="en-US" sz="4100" b="0" i="0" u="none">
                <a:solidFill>
                  <a:schemeClr val="dk1"/>
                </a:solidFill>
                <a:latin typeface="Calibri"/>
                <a:ea typeface="Calibri"/>
                <a:cs typeface="Calibri"/>
                <a:sym typeface="Calibri"/>
              </a:rPr>
            </a:br>
            <a:r>
              <a:rPr lang="en-US" sz="3600" b="1" i="0" u="none">
                <a:solidFill>
                  <a:schemeClr val="dk1"/>
                </a:solidFill>
                <a:latin typeface="Calibri"/>
                <a:ea typeface="Calibri"/>
                <a:cs typeface="Calibri"/>
                <a:sym typeface="Calibri"/>
              </a:rPr>
              <a:t>Computer Graphics</a:t>
            </a:r>
            <a:br>
              <a:rPr lang="en-US" sz="3600" b="1" i="0" u="none">
                <a:solidFill>
                  <a:schemeClr val="dk1"/>
                </a:solidFill>
                <a:latin typeface="Calibri"/>
                <a:ea typeface="Calibri"/>
                <a:cs typeface="Calibri"/>
                <a:sym typeface="Calibri"/>
              </a:rPr>
            </a:br>
            <a:r>
              <a:rPr lang="en-US" sz="3266" b="1">
                <a:solidFill>
                  <a:srgbClr val="0B5394"/>
                </a:solidFill>
              </a:rPr>
              <a:t>2D Transformation</a:t>
            </a:r>
            <a:endParaRPr sz="3600" b="1">
              <a:solidFill>
                <a:srgbClr val="0B5394"/>
              </a:solidFill>
            </a:endParaRPr>
          </a:p>
          <a:p>
            <a:pPr marL="0" lvl="0" indent="0" algn="ctr" rtl="0">
              <a:lnSpc>
                <a:spcPct val="90000"/>
              </a:lnSpc>
              <a:spcBef>
                <a:spcPts val="0"/>
              </a:spcBef>
              <a:spcAft>
                <a:spcPts val="0"/>
              </a:spcAft>
              <a:buClr>
                <a:schemeClr val="dk1"/>
              </a:buClr>
              <a:buSzPct val="136666"/>
              <a:buFont typeface="Calibri"/>
              <a:buNone/>
            </a:pPr>
            <a:r>
              <a:rPr lang="en-US" sz="3000" b="1">
                <a:solidFill>
                  <a:srgbClr val="85200C"/>
                </a:solidFill>
              </a:rPr>
              <a:t>Lecture 6</a:t>
            </a:r>
            <a:endParaRPr>
              <a:solidFill>
                <a:srgbClr val="85200C"/>
              </a:solidFill>
            </a:endParaRPr>
          </a:p>
        </p:txBody>
      </p:sp>
      <p:sp>
        <p:nvSpPr>
          <p:cNvPr id="90" name="Google Shape;90;p1"/>
          <p:cNvSpPr txBox="1">
            <a:spLocks noGrp="1"/>
          </p:cNvSpPr>
          <p:nvPr>
            <p:ph type="subTitle" idx="1"/>
          </p:nvPr>
        </p:nvSpPr>
        <p:spPr>
          <a:xfrm>
            <a:off x="263800" y="4964425"/>
            <a:ext cx="8422500" cy="15066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1800"/>
              <a:buNone/>
            </a:pPr>
            <a:endParaRPr sz="1800" b="0" i="0" u="none" dirty="0">
              <a:solidFill>
                <a:schemeClr val="dk1"/>
              </a:solidFill>
              <a:latin typeface="Calibri"/>
              <a:ea typeface="Calibri"/>
              <a:cs typeface="Calibri"/>
              <a:sym typeface="Calibri"/>
            </a:endParaRPr>
          </a:p>
          <a:p>
            <a:pPr marL="0" lvl="0" indent="0" algn="ctr" rtl="0">
              <a:lnSpc>
                <a:spcPct val="90000"/>
              </a:lnSpc>
              <a:spcBef>
                <a:spcPts val="700"/>
              </a:spcBef>
              <a:spcAft>
                <a:spcPts val="0"/>
              </a:spcAft>
              <a:buClr>
                <a:schemeClr val="dk1"/>
              </a:buClr>
              <a:buSzPts val="1800"/>
              <a:buNone/>
            </a:pPr>
            <a:r>
              <a:rPr lang="en-US" b="1" dirty="0" err="1">
                <a:solidFill>
                  <a:srgbClr val="980000"/>
                </a:solidFill>
              </a:rPr>
              <a:t>Nazmun</a:t>
            </a:r>
            <a:r>
              <a:rPr lang="en-US" b="1" dirty="0">
                <a:solidFill>
                  <a:srgbClr val="980000"/>
                </a:solidFill>
              </a:rPr>
              <a:t> Nessa Moon</a:t>
            </a:r>
            <a:endParaRPr b="1" dirty="0">
              <a:solidFill>
                <a:srgbClr val="980000"/>
              </a:solidFill>
            </a:endParaRPr>
          </a:p>
          <a:p>
            <a:pPr marL="0" lvl="0" indent="0" algn="ctr" rtl="0">
              <a:lnSpc>
                <a:spcPct val="90000"/>
              </a:lnSpc>
              <a:spcBef>
                <a:spcPts val="700"/>
              </a:spcBef>
              <a:spcAft>
                <a:spcPts val="0"/>
              </a:spcAft>
              <a:buClr>
                <a:schemeClr val="dk1"/>
              </a:buClr>
              <a:buSzPts val="1800"/>
              <a:buNone/>
            </a:pPr>
            <a:r>
              <a:rPr lang="en-US" b="1" dirty="0">
                <a:solidFill>
                  <a:srgbClr val="0B5394"/>
                </a:solidFill>
              </a:rPr>
              <a:t>Associate Professor</a:t>
            </a:r>
            <a:br>
              <a:rPr lang="en-US" sz="1800" b="1" i="0" u="none" dirty="0">
                <a:solidFill>
                  <a:srgbClr val="0B5394"/>
                </a:solidFill>
              </a:rPr>
            </a:br>
            <a:r>
              <a:rPr lang="en-US" sz="1800" b="1" i="0" u="none" dirty="0">
                <a:solidFill>
                  <a:srgbClr val="1C4587"/>
                </a:solidFill>
              </a:rPr>
              <a:t>Department of Computer Science and Engineering</a:t>
            </a:r>
            <a:br>
              <a:rPr lang="en-US" sz="1800" b="1" i="0" u="none" dirty="0">
                <a:solidFill>
                  <a:srgbClr val="1C4587"/>
                </a:solidFill>
              </a:rPr>
            </a:br>
            <a:r>
              <a:rPr lang="en-US" sz="1800" b="1" i="0" u="none" dirty="0">
                <a:solidFill>
                  <a:srgbClr val="1C4587"/>
                </a:solidFill>
              </a:rPr>
              <a:t>Daffodil International University, DIU</a:t>
            </a:r>
            <a:endParaRPr b="1" dirty="0">
              <a:solidFill>
                <a:srgbClr val="1C4587"/>
              </a:solidFill>
            </a:endParaRPr>
          </a:p>
        </p:txBody>
      </p:sp>
      <p:sp>
        <p:nvSpPr>
          <p:cNvPr id="91" name="Google Shape;91;p1" descr="Diu Logo PNG Images - CleanPNG"/>
          <p:cNvSpPr txBox="1"/>
          <p:nvPr/>
        </p:nvSpPr>
        <p:spPr>
          <a:xfrm>
            <a:off x="155575" y="-1444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l="5615" t="3336" r="11562" b="8635"/>
          <a:stretch/>
        </p:blipFill>
        <p:spPr>
          <a:xfrm>
            <a:off x="2783351" y="2794201"/>
            <a:ext cx="3831548" cy="2324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1" i="0" u="none" strike="noStrike" cap="none">
                <a:solidFill>
                  <a:srgbClr val="0B5394"/>
                </a:solidFill>
                <a:latin typeface="Arial"/>
                <a:ea typeface="Arial"/>
                <a:cs typeface="Arial"/>
                <a:sym typeface="Arial"/>
              </a:rPr>
              <a:t>Department of CSE, Daffodil International University</a:t>
            </a:r>
            <a:endParaRPr sz="1400" b="1" i="0" u="none" strike="noStrike" cap="non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4400"/>
              <a:buFont typeface="Calibri"/>
              <a:buNone/>
            </a:pPr>
            <a:r>
              <a:rPr lang="en-US" sz="4000" b="0" i="0" u="none" strike="noStrike" cap="none">
                <a:solidFill>
                  <a:schemeClr val="lt1"/>
                </a:solidFill>
                <a:latin typeface="Calibri"/>
                <a:ea typeface="Calibri"/>
                <a:cs typeface="Calibri"/>
                <a:sym typeface="Calibri"/>
              </a:rPr>
              <a:t>Transformations</a:t>
            </a:r>
            <a:endParaRPr sz="4000" b="0" i="0" u="none" strike="noStrike" cap="none">
              <a:solidFill>
                <a:schemeClr val="lt1"/>
              </a:solidFill>
              <a:latin typeface="Calibri"/>
              <a:ea typeface="Calibri"/>
              <a:cs typeface="Calibri"/>
              <a:sym typeface="Calibri"/>
            </a:endParaRPr>
          </a:p>
        </p:txBody>
      </p:sp>
      <p:sp>
        <p:nvSpPr>
          <p:cNvPr id="103" name="Google Shape;103;p2"/>
          <p:cNvSpPr txBox="1"/>
          <p:nvPr/>
        </p:nvSpPr>
        <p:spPr>
          <a:xfrm>
            <a:off x="152400" y="1128675"/>
            <a:ext cx="8624700" cy="3786600"/>
          </a:xfrm>
          <a:prstGeom prst="rect">
            <a:avLst/>
          </a:prstGeom>
          <a:noFill/>
          <a:ln>
            <a:noFill/>
          </a:ln>
        </p:spPr>
        <p:txBody>
          <a:bodyPr spcFirstLastPara="1" wrap="square" lIns="91425" tIns="91425" rIns="91425" bIns="91425" anchor="t" anchorCtr="0">
            <a:spAutoFit/>
          </a:bodyPr>
          <a:lstStyle/>
          <a:p>
            <a:pPr marL="457200" marR="0" lvl="0" indent="-368300" algn="just" rtl="0">
              <a:lnSpc>
                <a:spcPct val="100000"/>
              </a:lnSpc>
              <a:spcBef>
                <a:spcPts val="0"/>
              </a:spcBef>
              <a:spcAft>
                <a:spcPts val="0"/>
              </a:spcAft>
              <a:buClr>
                <a:srgbClr val="0B5394"/>
              </a:buClr>
              <a:buSzPts val="2200"/>
              <a:buFont typeface="Times New Roman"/>
              <a:buChar char="■"/>
            </a:pPr>
            <a:r>
              <a:rPr lang="en-US" sz="2200" b="0" i="0" u="none" strike="noStrike" cap="none">
                <a:solidFill>
                  <a:srgbClr val="000000"/>
                </a:solidFill>
                <a:latin typeface="Times New Roman"/>
                <a:ea typeface="Times New Roman"/>
                <a:cs typeface="Times New Roman"/>
                <a:sym typeface="Times New Roman"/>
              </a:rPr>
              <a:t>What are transformations?</a:t>
            </a:r>
            <a:endParaRPr sz="2200" b="0" i="0" u="none" strike="noStrike" cap="none">
              <a:solidFill>
                <a:srgbClr val="000000"/>
              </a:solidFill>
              <a:latin typeface="Times New Roman"/>
              <a:ea typeface="Times New Roman"/>
              <a:cs typeface="Times New Roman"/>
              <a:sym typeface="Times New Roman"/>
            </a:endParaRPr>
          </a:p>
          <a:p>
            <a:pPr marL="914400" marR="0" lvl="1" indent="-355600" algn="just" rtl="0">
              <a:lnSpc>
                <a:spcPct val="100000"/>
              </a:lnSpc>
              <a:spcBef>
                <a:spcPts val="0"/>
              </a:spcBef>
              <a:spcAft>
                <a:spcPts val="0"/>
              </a:spcAft>
              <a:buClr>
                <a:srgbClr val="0B5394"/>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The geometrical changes of an object from a current state to a modified state.</a:t>
            </a:r>
            <a:endParaRPr sz="2000" b="0" i="0" u="none" strike="noStrike" cap="none">
              <a:solidFill>
                <a:srgbClr val="000000"/>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rgbClr val="0B5394"/>
              </a:buClr>
              <a:buSzPts val="2200"/>
              <a:buFont typeface="Times New Roman"/>
              <a:buChar char="■"/>
            </a:pPr>
            <a:r>
              <a:rPr lang="en-US" sz="2200" b="0" i="0" u="none" strike="noStrike" cap="none">
                <a:solidFill>
                  <a:srgbClr val="000000"/>
                </a:solidFill>
                <a:latin typeface="Times New Roman"/>
                <a:ea typeface="Times New Roman"/>
                <a:cs typeface="Times New Roman"/>
                <a:sym typeface="Times New Roman"/>
              </a:rPr>
              <a:t>Why are the transformations needed?</a:t>
            </a:r>
            <a:endParaRPr sz="2200" b="0" i="0" u="none" strike="noStrike" cap="none">
              <a:solidFill>
                <a:srgbClr val="000000"/>
              </a:solidFill>
              <a:latin typeface="Times New Roman"/>
              <a:ea typeface="Times New Roman"/>
              <a:cs typeface="Times New Roman"/>
              <a:sym typeface="Times New Roman"/>
            </a:endParaRPr>
          </a:p>
          <a:p>
            <a:pPr marL="914400" marR="0" lvl="1" indent="-355600" algn="just" rtl="0">
              <a:lnSpc>
                <a:spcPct val="100000"/>
              </a:lnSpc>
              <a:spcBef>
                <a:spcPts val="0"/>
              </a:spcBef>
              <a:spcAft>
                <a:spcPts val="0"/>
              </a:spcAft>
              <a:buClr>
                <a:srgbClr val="0B5394"/>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To manipulate the initially created object and to display the modified object without having to redraw it.</a:t>
            </a:r>
            <a:endParaRPr sz="2000" b="0" i="0" u="none" strike="noStrike" cap="none">
              <a:solidFill>
                <a:srgbClr val="000000"/>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rgbClr val="0B5394"/>
              </a:buClr>
              <a:buSzPts val="2200"/>
              <a:buFont typeface="Times New Roman"/>
              <a:buChar char="■"/>
            </a:pPr>
            <a:r>
              <a:rPr lang="en-US" sz="2200" b="0" i="0" u="none" strike="noStrike" cap="none">
                <a:solidFill>
                  <a:srgbClr val="000000"/>
                </a:solidFill>
                <a:latin typeface="Times New Roman"/>
                <a:ea typeface="Times New Roman"/>
                <a:cs typeface="Times New Roman"/>
                <a:sym typeface="Times New Roman"/>
              </a:rPr>
              <a:t>Two-Dimensional Shape: That which has two dimensions, i.e., height and width.</a:t>
            </a:r>
            <a:endParaRPr sz="2200" b="0" i="0" u="none" strike="noStrike" cap="none">
              <a:solidFill>
                <a:srgbClr val="000000"/>
              </a:solidFill>
              <a:latin typeface="Times New Roman"/>
              <a:ea typeface="Times New Roman"/>
              <a:cs typeface="Times New Roman"/>
              <a:sym typeface="Times New Roman"/>
            </a:endParaRPr>
          </a:p>
          <a:p>
            <a:pPr marL="914400" marR="0" lvl="1" indent="-368300" algn="just" rtl="0">
              <a:lnSpc>
                <a:spcPct val="100000"/>
              </a:lnSpc>
              <a:spcBef>
                <a:spcPts val="0"/>
              </a:spcBef>
              <a:spcAft>
                <a:spcPts val="0"/>
              </a:spcAft>
              <a:buClr>
                <a:srgbClr val="0B5394"/>
              </a:buClr>
              <a:buSzPts val="2200"/>
              <a:buFont typeface="Times New Roman"/>
              <a:buChar char="○"/>
            </a:pPr>
            <a:r>
              <a:rPr lang="en-US" sz="2000" b="0" i="0" u="none" strike="noStrike" cap="none">
                <a:solidFill>
                  <a:srgbClr val="000000"/>
                </a:solidFill>
                <a:latin typeface="Times New Roman"/>
                <a:ea typeface="Times New Roman"/>
                <a:cs typeface="Times New Roman"/>
                <a:sym typeface="Times New Roman"/>
              </a:rPr>
              <a:t>2D shapes do not have any thickness.</a:t>
            </a:r>
            <a:endParaRPr sz="2000" b="0" i="0" u="none" strike="noStrike" cap="none">
              <a:solidFill>
                <a:srgbClr val="000000"/>
              </a:solidFill>
              <a:latin typeface="Times New Roman"/>
              <a:ea typeface="Times New Roman"/>
              <a:cs typeface="Times New Roman"/>
              <a:sym typeface="Times New Roman"/>
            </a:endParaRPr>
          </a:p>
          <a:p>
            <a:pPr marL="914400" marR="0" lvl="1" indent="-368300" algn="just" rtl="0">
              <a:lnSpc>
                <a:spcPct val="100000"/>
              </a:lnSpc>
              <a:spcBef>
                <a:spcPts val="0"/>
              </a:spcBef>
              <a:spcAft>
                <a:spcPts val="0"/>
              </a:spcAft>
              <a:buClr>
                <a:srgbClr val="0B5394"/>
              </a:buClr>
              <a:buSzPts val="2200"/>
              <a:buFont typeface="Times New Roman"/>
              <a:buChar char="○"/>
            </a:pPr>
            <a:r>
              <a:rPr lang="en-US" sz="2000" b="0" i="0" u="none" strike="noStrike" cap="none">
                <a:solidFill>
                  <a:srgbClr val="000000"/>
                </a:solidFill>
                <a:latin typeface="Times New Roman"/>
                <a:ea typeface="Times New Roman"/>
                <a:cs typeface="Times New Roman"/>
                <a:sym typeface="Times New Roman"/>
              </a:rPr>
              <a:t>A point is 2-dimensional, and a line is one-dimensional.</a:t>
            </a:r>
            <a:endParaRPr sz="2000" b="0" i="0" u="none" strike="noStrike" cap="none">
              <a:solidFill>
                <a:srgbClr val="000000"/>
              </a:solidFill>
              <a:latin typeface="Times New Roman"/>
              <a:ea typeface="Times New Roman"/>
              <a:cs typeface="Times New Roman"/>
              <a:sym typeface="Times New Roman"/>
            </a:endParaRPr>
          </a:p>
          <a:p>
            <a:pPr marL="914400" marR="0" lvl="1" indent="-368300" algn="just" rtl="0">
              <a:lnSpc>
                <a:spcPct val="100000"/>
              </a:lnSpc>
              <a:spcBef>
                <a:spcPts val="0"/>
              </a:spcBef>
              <a:spcAft>
                <a:spcPts val="0"/>
              </a:spcAft>
              <a:buClr>
                <a:srgbClr val="0B5394"/>
              </a:buClr>
              <a:buSzPts val="2200"/>
              <a:buFont typeface="Times New Roman"/>
              <a:buChar char="○"/>
            </a:pPr>
            <a:r>
              <a:rPr lang="en-US" sz="2000" b="0" i="0" u="none" strike="noStrike" cap="none">
                <a:solidFill>
                  <a:srgbClr val="000000"/>
                </a:solidFill>
                <a:latin typeface="Times New Roman"/>
                <a:ea typeface="Times New Roman"/>
                <a:cs typeface="Times New Roman"/>
                <a:sym typeface="Times New Roman"/>
              </a:rPr>
              <a:t>Example of 2-Dimensional Shapes:</a:t>
            </a:r>
            <a:endParaRPr sz="2000" b="0" i="0" u="none" strike="noStrike" cap="none">
              <a:solidFill>
                <a:srgbClr val="000000"/>
              </a:solidFill>
              <a:latin typeface="Times New Roman"/>
              <a:ea typeface="Times New Roman"/>
              <a:cs typeface="Times New Roman"/>
              <a:sym typeface="Times New Roman"/>
            </a:endParaRPr>
          </a:p>
        </p:txBody>
      </p:sp>
      <p:pic>
        <p:nvPicPr>
          <p:cNvPr id="104" name="Google Shape;104;p2"/>
          <p:cNvPicPr preferRelativeResize="0"/>
          <p:nvPr/>
        </p:nvPicPr>
        <p:blipFill rotWithShape="1">
          <a:blip r:embed="rId4">
            <a:alphaModFix/>
          </a:blip>
          <a:srcRect t="29446" b="25494"/>
          <a:stretch/>
        </p:blipFill>
        <p:spPr>
          <a:xfrm>
            <a:off x="1921825" y="5115875"/>
            <a:ext cx="4963450" cy="1304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g3bb5fbf5691_0_28"/>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1" i="0" u="none" strike="noStrike" cap="none">
                <a:solidFill>
                  <a:srgbClr val="898989"/>
                </a:solidFill>
                <a:latin typeface="Arial"/>
                <a:ea typeface="Arial"/>
                <a:cs typeface="Arial"/>
                <a:sym typeface="Arial"/>
              </a:rPr>
              <a:t>Department of CSE, Daffodil International University</a:t>
            </a:r>
            <a:endParaRPr sz="1400" b="1" i="0" u="none" strike="noStrike" cap="none">
              <a:solidFill>
                <a:srgbClr val="000000"/>
              </a:solidFill>
              <a:latin typeface="Arial"/>
              <a:ea typeface="Arial"/>
              <a:cs typeface="Arial"/>
              <a:sym typeface="Arial"/>
            </a:endParaRPr>
          </a:p>
        </p:txBody>
      </p:sp>
      <p:sp>
        <p:nvSpPr>
          <p:cNvPr id="110" name="Google Shape;110;g3bb5fbf5691_0_28"/>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
        <p:nvSpPr>
          <p:cNvPr id="111" name="Google Shape;111;g3bb5fbf5691_0_28"/>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Types</a:t>
            </a:r>
            <a:endParaRPr sz="3800" b="0" i="0" u="none" strike="noStrike" cap="none">
              <a:solidFill>
                <a:schemeClr val="lt1"/>
              </a:solidFill>
              <a:latin typeface="Calibri"/>
              <a:ea typeface="Calibri"/>
              <a:cs typeface="Calibri"/>
              <a:sym typeface="Calibri"/>
            </a:endParaRPr>
          </a:p>
        </p:txBody>
      </p:sp>
      <p:pic>
        <p:nvPicPr>
          <p:cNvPr id="112" name="Google Shape;112;g3bb5fbf5691_0_28"/>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pic>
        <p:nvPicPr>
          <p:cNvPr id="113" name="Google Shape;113;g3bb5fbf5691_0_28"/>
          <p:cNvPicPr preferRelativeResize="0"/>
          <p:nvPr/>
        </p:nvPicPr>
        <p:blipFill rotWithShape="1">
          <a:blip r:embed="rId4">
            <a:alphaModFix/>
          </a:blip>
          <a:srcRect/>
          <a:stretch/>
        </p:blipFill>
        <p:spPr>
          <a:xfrm>
            <a:off x="4819475" y="1601200"/>
            <a:ext cx="3875000" cy="3875000"/>
          </a:xfrm>
          <a:prstGeom prst="rect">
            <a:avLst/>
          </a:prstGeom>
          <a:noFill/>
          <a:ln>
            <a:noFill/>
          </a:ln>
        </p:spPr>
      </p:pic>
      <p:pic>
        <p:nvPicPr>
          <p:cNvPr id="114" name="Google Shape;114;g3bb5fbf5691_0_28"/>
          <p:cNvPicPr preferRelativeResize="0"/>
          <p:nvPr/>
        </p:nvPicPr>
        <p:blipFill rotWithShape="1">
          <a:blip r:embed="rId5">
            <a:alphaModFix/>
          </a:blip>
          <a:srcRect/>
          <a:stretch/>
        </p:blipFill>
        <p:spPr>
          <a:xfrm>
            <a:off x="363825" y="1449625"/>
            <a:ext cx="4320351" cy="4026575"/>
          </a:xfrm>
          <a:prstGeom prst="rect">
            <a:avLst/>
          </a:prstGeom>
          <a:noFill/>
          <a:ln>
            <a:noFill/>
          </a:ln>
        </p:spPr>
      </p:pic>
      <p:sp>
        <p:nvSpPr>
          <p:cNvPr id="115" name="Google Shape;115;g3bb5fbf5691_0_28"/>
          <p:cNvSpPr/>
          <p:nvPr/>
        </p:nvSpPr>
        <p:spPr>
          <a:xfrm>
            <a:off x="4347650" y="3280363"/>
            <a:ext cx="636600" cy="365100"/>
          </a:xfrm>
          <a:prstGeom prst="rightArrow">
            <a:avLst>
              <a:gd name="adj1" fmla="val 50000"/>
              <a:gd name="adj2" fmla="val 50000"/>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98989"/>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19"/>
        <p:cNvGrpSpPr/>
        <p:nvPr/>
      </p:nvGrpSpPr>
      <p:grpSpPr>
        <a:xfrm>
          <a:off x="0" y="0"/>
          <a:ext cx="0" cy="0"/>
          <a:chOff x="0" y="0"/>
          <a:chExt cx="0" cy="0"/>
        </a:xfrm>
      </p:grpSpPr>
      <p:sp>
        <p:nvSpPr>
          <p:cNvPr id="120" name="Google Shape;120;p4"/>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21" name="Google Shape;121;p4"/>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
        <p:nvSpPr>
          <p:cNvPr id="122" name="Google Shape;122;p4"/>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Applications of 2D Transformations</a:t>
            </a:r>
            <a:endParaRPr sz="3800" b="0" i="0" u="none" strike="noStrike" cap="none">
              <a:solidFill>
                <a:schemeClr val="lt1"/>
              </a:solidFill>
              <a:latin typeface="Calibri"/>
              <a:ea typeface="Calibri"/>
              <a:cs typeface="Calibri"/>
              <a:sym typeface="Calibri"/>
            </a:endParaRPr>
          </a:p>
        </p:txBody>
      </p:sp>
      <p:pic>
        <p:nvPicPr>
          <p:cNvPr id="123" name="Google Shape;123;p4"/>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124" name="Google Shape;124;p4"/>
          <p:cNvSpPr txBox="1"/>
          <p:nvPr/>
        </p:nvSpPr>
        <p:spPr>
          <a:xfrm>
            <a:off x="133725" y="1233000"/>
            <a:ext cx="8725200" cy="43920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b="1" i="0" u="none" strike="noStrike" cap="none">
                <a:solidFill>
                  <a:srgbClr val="980000"/>
                </a:solidFill>
                <a:latin typeface="Times New Roman"/>
                <a:ea typeface="Times New Roman"/>
                <a:cs typeface="Times New Roman"/>
                <a:sym typeface="Times New Roman"/>
              </a:rPr>
              <a:t>Computer Animation &amp; Games: </a:t>
            </a:r>
            <a:r>
              <a:rPr lang="en-US" sz="2000" b="0" i="0" u="none" strike="noStrike" cap="none">
                <a:solidFill>
                  <a:srgbClr val="000000"/>
                </a:solidFill>
                <a:latin typeface="Times New Roman"/>
                <a:ea typeface="Times New Roman"/>
                <a:cs typeface="Times New Roman"/>
                <a:sym typeface="Times New Roman"/>
              </a:rPr>
              <a:t>Movement is created by translating objects over time, while rotation and scaling simulate changes in orientation and distance.</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1" i="0" u="none" strike="noStrike" cap="none">
                <a:solidFill>
                  <a:srgbClr val="85200C"/>
                </a:solidFill>
                <a:latin typeface="Times New Roman"/>
                <a:ea typeface="Times New Roman"/>
                <a:cs typeface="Times New Roman"/>
                <a:sym typeface="Times New Roman"/>
              </a:rPr>
              <a:t>Computer-Aided Design (CAD):</a:t>
            </a:r>
            <a:r>
              <a:rPr lang="en-US" sz="2000" b="0" i="0" u="none" strike="noStrike" cap="none">
                <a:solidFill>
                  <a:srgbClr val="000000"/>
                </a:solidFill>
                <a:latin typeface="Times New Roman"/>
                <a:ea typeface="Times New Roman"/>
                <a:cs typeface="Times New Roman"/>
                <a:sym typeface="Times New Roman"/>
              </a:rPr>
              <a:t> Designers use scaling to zoom, rotation to adjust components, and shearing to change shapes in drafting software.</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1" i="0" u="none" strike="noStrike" cap="none">
                <a:solidFill>
                  <a:srgbClr val="85200C"/>
                </a:solidFill>
                <a:latin typeface="Times New Roman"/>
                <a:ea typeface="Times New Roman"/>
                <a:cs typeface="Times New Roman"/>
                <a:sym typeface="Times New Roman"/>
              </a:rPr>
              <a:t>Image Processing &amp; Editing: </a:t>
            </a:r>
            <a:r>
              <a:rPr lang="en-US" sz="2000" b="0" i="0" u="none" strike="noStrike" cap="none">
                <a:solidFill>
                  <a:srgbClr val="000000"/>
                </a:solidFill>
                <a:latin typeface="Times New Roman"/>
                <a:ea typeface="Times New Roman"/>
                <a:cs typeface="Times New Roman"/>
                <a:sym typeface="Times New Roman"/>
              </a:rPr>
              <a:t>Digital images are transformed using reflection to mirror objects, rotation to align, and scaling to resize.</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1" i="0" u="none" strike="noStrike" cap="none">
                <a:solidFill>
                  <a:srgbClr val="85200C"/>
                </a:solidFill>
                <a:latin typeface="Times New Roman"/>
                <a:ea typeface="Times New Roman"/>
                <a:cs typeface="Times New Roman"/>
                <a:sym typeface="Times New Roman"/>
              </a:rPr>
              <a:t>Graphical User Interfaces (GUIs):</a:t>
            </a:r>
            <a:r>
              <a:rPr lang="en-US" sz="2000" b="0" i="0" u="none" strike="noStrike" cap="none">
                <a:solidFill>
                  <a:srgbClr val="000000"/>
                </a:solidFill>
                <a:latin typeface="Times New Roman"/>
                <a:ea typeface="Times New Roman"/>
                <a:cs typeface="Times New Roman"/>
                <a:sym typeface="Times New Roman"/>
              </a:rPr>
              <a:t> Windows, icons, and menus are positioned, resized, and moved using translation and scaling.</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1" i="0" u="none" strike="noStrike" cap="none">
                <a:solidFill>
                  <a:srgbClr val="85200C"/>
                </a:solidFill>
                <a:latin typeface="Times New Roman"/>
                <a:ea typeface="Times New Roman"/>
                <a:cs typeface="Times New Roman"/>
                <a:sym typeface="Times New Roman"/>
              </a:rPr>
              <a:t>Modeling &amp; Viewing: </a:t>
            </a:r>
            <a:r>
              <a:rPr lang="en-US" sz="2000" b="0" i="0" u="none" strike="noStrike" cap="none">
                <a:solidFill>
                  <a:srgbClr val="000000"/>
                </a:solidFill>
                <a:latin typeface="Times New Roman"/>
                <a:ea typeface="Times New Roman"/>
                <a:cs typeface="Times New Roman"/>
                <a:sym typeface="Times New Roman"/>
              </a:rPr>
              <a:t>Geometrical transformations are used to map 2D scenes to different viewports, allowing for zooming effects and changing viewing perspectives.</a:t>
            </a: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g3bb5fbf5691_0_52"/>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30" name="Google Shape;130;g3bb5fbf5691_0_5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
        <p:nvSpPr>
          <p:cNvPr id="131" name="Google Shape;131;g3bb5fbf5691_0_52"/>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(Translation)</a:t>
            </a:r>
            <a:endParaRPr sz="3800" b="0" i="0" u="none" strike="noStrike" cap="none">
              <a:solidFill>
                <a:schemeClr val="lt1"/>
              </a:solidFill>
              <a:latin typeface="Calibri"/>
              <a:ea typeface="Calibri"/>
              <a:cs typeface="Calibri"/>
              <a:sym typeface="Calibri"/>
            </a:endParaRPr>
          </a:p>
        </p:txBody>
      </p:sp>
      <p:pic>
        <p:nvPicPr>
          <p:cNvPr id="132" name="Google Shape;132;g3bb5fbf5691_0_5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133" name="Google Shape;133;g3bb5fbf5691_0_52"/>
          <p:cNvSpPr txBox="1"/>
          <p:nvPr/>
        </p:nvSpPr>
        <p:spPr>
          <a:xfrm>
            <a:off x="118250" y="1255200"/>
            <a:ext cx="5175300" cy="25962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b="0" i="0" u="none" strike="noStrike" cap="none">
                <a:solidFill>
                  <a:srgbClr val="434343"/>
                </a:solidFill>
                <a:latin typeface="Times New Roman"/>
                <a:ea typeface="Times New Roman"/>
                <a:cs typeface="Times New Roman"/>
                <a:sym typeface="Times New Roman"/>
              </a:rPr>
              <a:t>Translation is a process of changing the position of an object in a straight-line path from one coordinate location to another.</a:t>
            </a:r>
            <a:endParaRPr sz="2000" b="0" i="0" u="none" strike="noStrike" cap="none">
              <a:solidFill>
                <a:srgbClr val="434343"/>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0" i="0" u="none" strike="noStrike" cap="none">
                <a:solidFill>
                  <a:srgbClr val="434343"/>
                </a:solidFill>
                <a:latin typeface="Times New Roman"/>
                <a:ea typeface="Times New Roman"/>
                <a:cs typeface="Times New Roman"/>
                <a:sym typeface="Times New Roman"/>
              </a:rPr>
              <a:t>We can translate a two-dimensional point by adding translation distances, tx and ty.</a:t>
            </a:r>
            <a:endParaRPr sz="2000" b="0" i="0" u="none" strike="noStrike" cap="none">
              <a:solidFill>
                <a:srgbClr val="434343"/>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0" i="0" u="none" strike="noStrike" cap="none">
                <a:solidFill>
                  <a:srgbClr val="434343"/>
                </a:solidFill>
                <a:latin typeface="Times New Roman"/>
                <a:ea typeface="Times New Roman"/>
                <a:cs typeface="Times New Roman"/>
                <a:sym typeface="Times New Roman"/>
              </a:rPr>
              <a:t>Suppose the original position is (x, y); then the new position is (x′, y′).</a:t>
            </a:r>
            <a:endParaRPr sz="2000" b="0" i="0" u="none" strike="noStrike" cap="none">
              <a:solidFill>
                <a:srgbClr val="434343"/>
              </a:solidFill>
              <a:latin typeface="Times New Roman"/>
              <a:ea typeface="Times New Roman"/>
              <a:cs typeface="Times New Roman"/>
              <a:sym typeface="Times New Roman"/>
            </a:endParaRPr>
          </a:p>
        </p:txBody>
      </p:sp>
      <p:pic>
        <p:nvPicPr>
          <p:cNvPr id="134" name="Google Shape;134;g3bb5fbf5691_0_52" title="transHouseAnim.gif"/>
          <p:cNvPicPr preferRelativeResize="0"/>
          <p:nvPr/>
        </p:nvPicPr>
        <p:blipFill rotWithShape="1">
          <a:blip r:embed="rId4">
            <a:alphaModFix/>
          </a:blip>
          <a:srcRect/>
          <a:stretch/>
        </p:blipFill>
        <p:spPr>
          <a:xfrm>
            <a:off x="5775625" y="1960625"/>
            <a:ext cx="3328950" cy="2017775"/>
          </a:xfrm>
          <a:prstGeom prst="rect">
            <a:avLst/>
          </a:prstGeom>
          <a:noFill/>
          <a:ln>
            <a:noFill/>
          </a:ln>
        </p:spPr>
      </p:pic>
      <p:sp>
        <p:nvSpPr>
          <p:cNvPr id="135" name="Google Shape;135;g3bb5fbf5691_0_52"/>
          <p:cNvSpPr txBox="1"/>
          <p:nvPr/>
        </p:nvSpPr>
        <p:spPr>
          <a:xfrm>
            <a:off x="454775" y="3993438"/>
            <a:ext cx="6939900" cy="1369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200"/>
              <a:buFont typeface="Arial"/>
              <a:buNone/>
            </a:pPr>
            <a:r>
              <a:rPr lang="en-US" sz="2200" b="0" i="0" u="none" strike="noStrike" cap="none">
                <a:solidFill>
                  <a:srgbClr val="000000"/>
                </a:solidFill>
                <a:latin typeface="Times New Roman"/>
                <a:ea typeface="Times New Roman"/>
                <a:cs typeface="Times New Roman"/>
                <a:sym typeface="Times New Roman"/>
              </a:rPr>
              <a:t>Here,</a:t>
            </a:r>
            <a:endParaRPr sz="22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Times New Roman"/>
                <a:ea typeface="Times New Roman"/>
                <a:cs typeface="Times New Roman"/>
                <a:sym typeface="Times New Roman"/>
              </a:rPr>
              <a:t>x′ = x + tx  (This denotes translation towards X axis.)</a:t>
            </a:r>
            <a:endParaRPr sz="22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Times New Roman"/>
                <a:ea typeface="Times New Roman"/>
                <a:cs typeface="Times New Roman"/>
                <a:sym typeface="Times New Roman"/>
              </a:rPr>
              <a:t>y′ = y + ty  (This denotes translation towards Y axis.)</a:t>
            </a:r>
            <a:endParaRPr sz="2200" b="0" i="0" u="none" strike="noStrike" cap="none">
              <a:solidFill>
                <a:srgbClr val="000000"/>
              </a:solidFill>
              <a:latin typeface="Times New Roman"/>
              <a:ea typeface="Times New Roman"/>
              <a:cs typeface="Times New Roman"/>
              <a:sym typeface="Times New Roman"/>
            </a:endParaRPr>
          </a:p>
        </p:txBody>
      </p:sp>
      <p:sp>
        <p:nvSpPr>
          <p:cNvPr id="136" name="Google Shape;136;g3bb5fbf5691_0_52"/>
          <p:cNvSpPr txBox="1"/>
          <p:nvPr/>
        </p:nvSpPr>
        <p:spPr>
          <a:xfrm>
            <a:off x="5929163" y="1255200"/>
            <a:ext cx="2937900" cy="48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80000"/>
                </a:solidFill>
                <a:latin typeface="Times New Roman"/>
                <a:ea typeface="Times New Roman"/>
                <a:cs typeface="Times New Roman"/>
                <a:sym typeface="Times New Roman"/>
              </a:rPr>
              <a:t>Translation of objects</a:t>
            </a:r>
            <a:endParaRPr sz="1800" b="1" i="0" u="none" strike="noStrike" cap="none">
              <a:solidFill>
                <a:srgbClr val="980000"/>
              </a:solidFill>
              <a:latin typeface="Times New Roman"/>
              <a:ea typeface="Times New Roman"/>
              <a:cs typeface="Times New Roman"/>
              <a:sym typeface="Times New Roman"/>
            </a:endParaRPr>
          </a:p>
        </p:txBody>
      </p:sp>
      <p:sp>
        <p:nvSpPr>
          <p:cNvPr id="137" name="Google Shape;137;g3bb5fbf5691_0_52"/>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sp>
        <p:nvSpPr>
          <p:cNvPr id="142" name="Google Shape;142;g3bb5fbf5691_0_39"/>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43" name="Google Shape;143;g3bb5fbf5691_0_39"/>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
        <p:nvSpPr>
          <p:cNvPr id="144" name="Google Shape;144;g3bb5fbf5691_0_39"/>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(Translation)</a:t>
            </a:r>
            <a:endParaRPr sz="3800" b="0" i="0" u="none" strike="noStrike" cap="none">
              <a:solidFill>
                <a:schemeClr val="lt1"/>
              </a:solidFill>
              <a:latin typeface="Calibri"/>
              <a:ea typeface="Calibri"/>
              <a:cs typeface="Calibri"/>
              <a:sym typeface="Calibri"/>
            </a:endParaRPr>
          </a:p>
        </p:txBody>
      </p:sp>
      <p:pic>
        <p:nvPicPr>
          <p:cNvPr id="145" name="Google Shape;145;g3bb5fbf5691_0_39"/>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pic>
        <p:nvPicPr>
          <p:cNvPr id="146" name="Google Shape;146;g3bb5fbf5691_0_39"/>
          <p:cNvPicPr preferRelativeResize="0"/>
          <p:nvPr/>
        </p:nvPicPr>
        <p:blipFill rotWithShape="1">
          <a:blip r:embed="rId4">
            <a:alphaModFix/>
          </a:blip>
          <a:srcRect/>
          <a:stretch/>
        </p:blipFill>
        <p:spPr>
          <a:xfrm>
            <a:off x="2710025" y="1522087"/>
            <a:ext cx="2096775" cy="1612098"/>
          </a:xfrm>
          <a:prstGeom prst="rect">
            <a:avLst/>
          </a:prstGeom>
          <a:noFill/>
          <a:ln>
            <a:noFill/>
          </a:ln>
        </p:spPr>
      </p:pic>
      <p:pic>
        <p:nvPicPr>
          <p:cNvPr id="147" name="Google Shape;147;g3bb5fbf5691_0_39"/>
          <p:cNvPicPr preferRelativeResize="0"/>
          <p:nvPr/>
        </p:nvPicPr>
        <p:blipFill rotWithShape="1">
          <a:blip r:embed="rId5">
            <a:alphaModFix/>
          </a:blip>
          <a:srcRect l="21838" r="14042" b="4561"/>
          <a:stretch/>
        </p:blipFill>
        <p:spPr>
          <a:xfrm>
            <a:off x="200125" y="1335625"/>
            <a:ext cx="2000502" cy="1985024"/>
          </a:xfrm>
          <a:prstGeom prst="rect">
            <a:avLst/>
          </a:prstGeom>
          <a:noFill/>
          <a:ln>
            <a:noFill/>
          </a:ln>
        </p:spPr>
      </p:pic>
      <p:sp>
        <p:nvSpPr>
          <p:cNvPr id="148" name="Google Shape;148;g3bb5fbf5691_0_39"/>
          <p:cNvSpPr/>
          <p:nvPr/>
        </p:nvSpPr>
        <p:spPr>
          <a:xfrm>
            <a:off x="1760600" y="2123525"/>
            <a:ext cx="886200" cy="365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49" name="Google Shape;149;g3bb5fbf5691_0_39"/>
          <p:cNvSpPr txBox="1"/>
          <p:nvPr/>
        </p:nvSpPr>
        <p:spPr>
          <a:xfrm>
            <a:off x="6251100" y="2218263"/>
            <a:ext cx="1662000" cy="86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Times New Roman"/>
                <a:ea typeface="Times New Roman"/>
                <a:cs typeface="Times New Roman"/>
                <a:sym typeface="Times New Roman"/>
              </a:rPr>
              <a:t>x′ = x + tx  </a:t>
            </a:r>
            <a:endParaRPr sz="22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Times New Roman"/>
                <a:ea typeface="Times New Roman"/>
                <a:cs typeface="Times New Roman"/>
                <a:sym typeface="Times New Roman"/>
              </a:rPr>
              <a:t>y′ = y + ty</a:t>
            </a:r>
            <a:endParaRPr sz="1400" b="0" i="0" u="none" strike="noStrike" cap="none">
              <a:solidFill>
                <a:srgbClr val="000000"/>
              </a:solidFill>
              <a:latin typeface="Arial"/>
              <a:ea typeface="Arial"/>
              <a:cs typeface="Arial"/>
              <a:sym typeface="Arial"/>
            </a:endParaRPr>
          </a:p>
        </p:txBody>
      </p:sp>
      <p:pic>
        <p:nvPicPr>
          <p:cNvPr id="150" name="Google Shape;150;g3bb5fbf5691_0_39"/>
          <p:cNvPicPr preferRelativeResize="0"/>
          <p:nvPr/>
        </p:nvPicPr>
        <p:blipFill rotWithShape="1">
          <a:blip r:embed="rId6">
            <a:alphaModFix/>
          </a:blip>
          <a:srcRect l="7351" t="26806" r="8044" b="32834"/>
          <a:stretch/>
        </p:blipFill>
        <p:spPr>
          <a:xfrm>
            <a:off x="755325" y="4304100"/>
            <a:ext cx="3086100" cy="981453"/>
          </a:xfrm>
          <a:prstGeom prst="rect">
            <a:avLst/>
          </a:prstGeom>
          <a:noFill/>
          <a:ln>
            <a:noFill/>
          </a:ln>
        </p:spPr>
      </p:pic>
      <p:sp>
        <p:nvSpPr>
          <p:cNvPr id="151" name="Google Shape;151;g3bb5fbf5691_0_39"/>
          <p:cNvSpPr txBox="1"/>
          <p:nvPr/>
        </p:nvSpPr>
        <p:spPr>
          <a:xfrm>
            <a:off x="593800" y="5717475"/>
            <a:ext cx="1251600" cy="3165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pic>
        <p:nvPicPr>
          <p:cNvPr id="152" name="Google Shape;152;g3bb5fbf5691_0_39"/>
          <p:cNvPicPr preferRelativeResize="0"/>
          <p:nvPr/>
        </p:nvPicPr>
        <p:blipFill rotWithShape="1">
          <a:blip r:embed="rId8">
            <a:alphaModFix/>
          </a:blip>
          <a:srcRect l="9333" t="10356" r="7109" b="22215"/>
          <a:stretch/>
        </p:blipFill>
        <p:spPr>
          <a:xfrm>
            <a:off x="3099575" y="5390000"/>
            <a:ext cx="2189027" cy="861901"/>
          </a:xfrm>
          <a:prstGeom prst="rect">
            <a:avLst/>
          </a:prstGeom>
          <a:noFill/>
          <a:ln>
            <a:noFill/>
          </a:ln>
        </p:spPr>
      </p:pic>
      <p:sp>
        <p:nvSpPr>
          <p:cNvPr id="153" name="Google Shape;153;g3bb5fbf5691_0_39"/>
          <p:cNvSpPr txBox="1"/>
          <p:nvPr/>
        </p:nvSpPr>
        <p:spPr>
          <a:xfrm>
            <a:off x="6150011" y="1702134"/>
            <a:ext cx="2761200" cy="283200"/>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409065" marR="0" lvl="0" indent="0" algn="l" rtl="0">
              <a:lnSpc>
                <a:spcPct val="100000"/>
              </a:lnSpc>
              <a:spcBef>
                <a:spcPts val="0"/>
              </a:spcBef>
              <a:spcAft>
                <a:spcPts val="0"/>
              </a:spcAft>
              <a:buClr>
                <a:srgbClr val="000000"/>
              </a:buClr>
              <a:buSzPts val="1610"/>
              <a:buFont typeface="Arial"/>
              <a:buNone/>
            </a:pPr>
            <a:endParaRPr sz="1610" b="0" i="0" u="none" strike="noStrike" cap="none">
              <a:solidFill>
                <a:srgbClr val="000000"/>
              </a:solidFill>
              <a:latin typeface="Calibri"/>
              <a:ea typeface="Calibri"/>
              <a:cs typeface="Calibri"/>
              <a:sym typeface="Calibri"/>
            </a:endParaRPr>
          </a:p>
        </p:txBody>
      </p:sp>
      <p:sp>
        <p:nvSpPr>
          <p:cNvPr id="154" name="Google Shape;154;g3bb5fbf5691_0_39"/>
          <p:cNvSpPr txBox="1"/>
          <p:nvPr/>
        </p:nvSpPr>
        <p:spPr>
          <a:xfrm>
            <a:off x="5828225" y="1576113"/>
            <a:ext cx="297300" cy="243600"/>
          </a:xfrm>
          <a:prstGeom prst="rect">
            <a:avLst/>
          </a:prstGeom>
          <a:noFill/>
          <a:ln>
            <a:noFill/>
          </a:ln>
        </p:spPr>
        <p:txBody>
          <a:bodyPr spcFirstLastPara="1" wrap="square" lIns="81800" tIns="81800" rIns="81800" bIns="81800" anchor="t" anchorCtr="0">
            <a:noAutofit/>
          </a:bodyPr>
          <a:lstStyle/>
          <a:p>
            <a:pPr marL="409065" marR="0" lvl="0" indent="-323843" algn="l" rtl="0">
              <a:lnSpc>
                <a:spcPct val="100000"/>
              </a:lnSpc>
              <a:spcBef>
                <a:spcPts val="0"/>
              </a:spcBef>
              <a:spcAft>
                <a:spcPts val="0"/>
              </a:spcAft>
              <a:buClr>
                <a:srgbClr val="0B5394"/>
              </a:buClr>
              <a:buSzPts val="1879"/>
              <a:buFont typeface="Calibri"/>
              <a:buChar char="■"/>
            </a:pPr>
            <a:endParaRPr sz="1878" b="0" i="0" u="none" strike="noStrike" cap="none">
              <a:solidFill>
                <a:schemeClr val="dk1"/>
              </a:solidFill>
              <a:latin typeface="Calibri"/>
              <a:ea typeface="Calibri"/>
              <a:cs typeface="Calibri"/>
              <a:sym typeface="Calibri"/>
            </a:endParaRPr>
          </a:p>
        </p:txBody>
      </p:sp>
      <p:sp>
        <p:nvSpPr>
          <p:cNvPr id="155" name="Google Shape;155;g3bb5fbf5691_0_39"/>
          <p:cNvSpPr txBox="1"/>
          <p:nvPr/>
        </p:nvSpPr>
        <p:spPr>
          <a:xfrm>
            <a:off x="200125" y="5583500"/>
            <a:ext cx="332400" cy="272400"/>
          </a:xfrm>
          <a:prstGeom prst="rect">
            <a:avLst/>
          </a:prstGeom>
          <a:noFill/>
          <a:ln>
            <a:noFill/>
          </a:ln>
        </p:spPr>
        <p:txBody>
          <a:bodyPr spcFirstLastPara="1" wrap="square" lIns="91425" tIns="91425" rIns="91425" bIns="91425" anchor="t" anchorCtr="0">
            <a:noAutofit/>
          </a:bodyPr>
          <a:lstStyle/>
          <a:p>
            <a:pPr marL="457200" marR="0" lvl="0" indent="-361950" algn="l" rtl="0">
              <a:lnSpc>
                <a:spcPct val="100000"/>
              </a:lnSpc>
              <a:spcBef>
                <a:spcPts val="0"/>
              </a:spcBef>
              <a:spcAft>
                <a:spcPts val="0"/>
              </a:spcAft>
              <a:buClr>
                <a:srgbClr val="0B5394"/>
              </a:buClr>
              <a:buSzPts val="2100"/>
              <a:buFont typeface="Calibri"/>
              <a:buChar char="■"/>
            </a:pPr>
            <a:endParaRPr sz="2100" b="0" i="0" u="none" strike="noStrike" cap="none">
              <a:solidFill>
                <a:schemeClr val="dk1"/>
              </a:solidFill>
              <a:latin typeface="Calibri"/>
              <a:ea typeface="Calibri"/>
              <a:cs typeface="Calibri"/>
              <a:sym typeface="Calibri"/>
            </a:endParaRPr>
          </a:p>
        </p:txBody>
      </p:sp>
      <p:sp>
        <p:nvSpPr>
          <p:cNvPr id="156" name="Google Shape;156;g3bb5fbf5691_0_39"/>
          <p:cNvSpPr txBox="1"/>
          <p:nvPr/>
        </p:nvSpPr>
        <p:spPr>
          <a:xfrm>
            <a:off x="136450" y="3645325"/>
            <a:ext cx="3855000" cy="4926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rgbClr val="0B5394"/>
              </a:buClr>
              <a:buSzPts val="2000"/>
              <a:buFont typeface="Arial"/>
              <a:buChar char="■"/>
            </a:pPr>
            <a:r>
              <a:rPr lang="en-US" sz="2000" b="0" i="0" u="none" strike="noStrike" cap="none">
                <a:solidFill>
                  <a:schemeClr val="dk1"/>
                </a:solidFill>
                <a:latin typeface="Calibri"/>
                <a:ea typeface="Calibri"/>
                <a:cs typeface="Calibri"/>
                <a:sym typeface="Calibri"/>
              </a:rPr>
              <a:t>Represent</a:t>
            </a:r>
            <a:r>
              <a:rPr lang="en-US" sz="2000" b="0"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Calibri"/>
                <a:ea typeface="Calibri"/>
                <a:cs typeface="Calibri"/>
                <a:sym typeface="Calibri"/>
              </a:rPr>
              <a:t>in</a:t>
            </a:r>
            <a:r>
              <a:rPr lang="en-US" sz="2000" b="0"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Calibri"/>
                <a:ea typeface="Calibri"/>
                <a:cs typeface="Calibri"/>
                <a:sym typeface="Calibri"/>
              </a:rPr>
              <a:t>a matrix.</a:t>
            </a:r>
            <a:endParaRPr sz="1400" b="0" i="0" u="none" strike="noStrike" cap="none">
              <a:solidFill>
                <a:schemeClr val="dk1"/>
              </a:solidFill>
              <a:latin typeface="Arial"/>
              <a:ea typeface="Arial"/>
              <a:cs typeface="Arial"/>
              <a:sym typeface="Arial"/>
            </a:endParaRPr>
          </a:p>
        </p:txBody>
      </p:sp>
      <p:sp>
        <p:nvSpPr>
          <p:cNvPr id="157" name="Google Shape;157;g3bb5fbf5691_0_39"/>
          <p:cNvSpPr/>
          <p:nvPr/>
        </p:nvSpPr>
        <p:spPr>
          <a:xfrm>
            <a:off x="1971188" y="5717475"/>
            <a:ext cx="1002600" cy="3165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58" name="Google Shape;158;g3bb5fbf5691_0_39"/>
          <p:cNvSpPr/>
          <p:nvPr/>
        </p:nvSpPr>
        <p:spPr>
          <a:xfrm>
            <a:off x="6094804" y="4770947"/>
            <a:ext cx="588264" cy="802386"/>
          </a:xfrm>
          <a:custGeom>
            <a:avLst/>
            <a:gdLst/>
            <a:ahLst/>
            <a:cxnLst/>
            <a:rect l="l" t="t" r="r" b="b"/>
            <a:pathLst>
              <a:path w="1219200" h="1981200" extrusionOk="0">
                <a:moveTo>
                  <a:pt x="685799" y="0"/>
                </a:moveTo>
                <a:lnTo>
                  <a:pt x="0" y="1981190"/>
                </a:lnTo>
                <a:lnTo>
                  <a:pt x="1219199" y="1981190"/>
                </a:lnTo>
                <a:lnTo>
                  <a:pt x="685799" y="0"/>
                </a:lnTo>
                <a:close/>
              </a:path>
            </a:pathLst>
          </a:custGeom>
          <a:solidFill>
            <a:srgbClr val="F8F7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59" name="Google Shape;159;g3bb5fbf5691_0_39"/>
          <p:cNvSpPr/>
          <p:nvPr/>
        </p:nvSpPr>
        <p:spPr>
          <a:xfrm>
            <a:off x="6094804" y="4770947"/>
            <a:ext cx="588264" cy="802386"/>
          </a:xfrm>
          <a:custGeom>
            <a:avLst/>
            <a:gdLst/>
            <a:ahLst/>
            <a:cxnLst/>
            <a:rect l="l" t="t" r="r" b="b"/>
            <a:pathLst>
              <a:path w="1219200" h="1981200" extrusionOk="0">
                <a:moveTo>
                  <a:pt x="0" y="1981190"/>
                </a:moveTo>
                <a:lnTo>
                  <a:pt x="1219199" y="1981190"/>
                </a:lnTo>
                <a:lnTo>
                  <a:pt x="685799" y="0"/>
                </a:lnTo>
                <a:lnTo>
                  <a:pt x="0" y="1981190"/>
                </a:lnTo>
              </a:path>
            </a:pathLst>
          </a:custGeom>
          <a:noFill/>
          <a:ln w="122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0" name="Google Shape;160;g3bb5fbf5691_0_39"/>
          <p:cNvSpPr/>
          <p:nvPr/>
        </p:nvSpPr>
        <p:spPr>
          <a:xfrm>
            <a:off x="7270625" y="4184915"/>
            <a:ext cx="588264" cy="802386"/>
          </a:xfrm>
          <a:custGeom>
            <a:avLst/>
            <a:gdLst/>
            <a:ahLst/>
            <a:cxnLst/>
            <a:rect l="l" t="t" r="r" b="b"/>
            <a:pathLst>
              <a:path w="1219200" h="1981200" extrusionOk="0">
                <a:moveTo>
                  <a:pt x="685799" y="0"/>
                </a:moveTo>
                <a:lnTo>
                  <a:pt x="0" y="1981199"/>
                </a:lnTo>
                <a:lnTo>
                  <a:pt x="1219199" y="1981199"/>
                </a:lnTo>
                <a:lnTo>
                  <a:pt x="685799" y="0"/>
                </a:lnTo>
                <a:close/>
              </a:path>
            </a:pathLst>
          </a:custGeom>
          <a:solidFill>
            <a:srgbClr val="F8F7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1" name="Google Shape;161;g3bb5fbf5691_0_39"/>
          <p:cNvSpPr/>
          <p:nvPr/>
        </p:nvSpPr>
        <p:spPr>
          <a:xfrm>
            <a:off x="7270625" y="4184915"/>
            <a:ext cx="588264" cy="802386"/>
          </a:xfrm>
          <a:custGeom>
            <a:avLst/>
            <a:gdLst/>
            <a:ahLst/>
            <a:cxnLst/>
            <a:rect l="l" t="t" r="r" b="b"/>
            <a:pathLst>
              <a:path w="1219200" h="1981200" extrusionOk="0">
                <a:moveTo>
                  <a:pt x="0" y="1981199"/>
                </a:moveTo>
                <a:lnTo>
                  <a:pt x="1219199" y="1981199"/>
                </a:lnTo>
                <a:lnTo>
                  <a:pt x="685799" y="0"/>
                </a:lnTo>
                <a:lnTo>
                  <a:pt x="0" y="1981199"/>
                </a:lnTo>
              </a:path>
            </a:pathLst>
          </a:custGeom>
          <a:noFill/>
          <a:ln w="122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2" name="Google Shape;162;g3bb5fbf5691_0_39"/>
          <p:cNvSpPr/>
          <p:nvPr/>
        </p:nvSpPr>
        <p:spPr>
          <a:xfrm>
            <a:off x="6385697" y="4184915"/>
            <a:ext cx="1216358" cy="590988"/>
          </a:xfrm>
          <a:custGeom>
            <a:avLst/>
            <a:gdLst/>
            <a:ahLst/>
            <a:cxnLst/>
            <a:rect l="l" t="t" r="r" b="b"/>
            <a:pathLst>
              <a:path w="2520950" h="1459230" extrusionOk="0">
                <a:moveTo>
                  <a:pt x="176140" y="1335389"/>
                </a:moveTo>
                <a:lnTo>
                  <a:pt x="0" y="1436735"/>
                </a:lnTo>
                <a:lnTo>
                  <a:pt x="12691" y="1458833"/>
                </a:lnTo>
                <a:lnTo>
                  <a:pt x="188713" y="1357365"/>
                </a:lnTo>
                <a:lnTo>
                  <a:pt x="176140" y="1335389"/>
                </a:lnTo>
                <a:close/>
              </a:path>
              <a:path w="2520950" h="1459230" extrusionOk="0">
                <a:moveTo>
                  <a:pt x="418206" y="1195943"/>
                </a:moveTo>
                <a:lnTo>
                  <a:pt x="242184" y="1297411"/>
                </a:lnTo>
                <a:lnTo>
                  <a:pt x="254757" y="1319387"/>
                </a:lnTo>
                <a:lnTo>
                  <a:pt x="430910" y="1218041"/>
                </a:lnTo>
                <a:lnTo>
                  <a:pt x="418206" y="1195943"/>
                </a:lnTo>
                <a:close/>
              </a:path>
              <a:path w="2520950" h="1459230" extrusionOk="0">
                <a:moveTo>
                  <a:pt x="660391" y="1056619"/>
                </a:moveTo>
                <a:lnTo>
                  <a:pt x="484250" y="1157965"/>
                </a:lnTo>
                <a:lnTo>
                  <a:pt x="496942" y="1179941"/>
                </a:lnTo>
                <a:lnTo>
                  <a:pt x="673095" y="1078595"/>
                </a:lnTo>
                <a:lnTo>
                  <a:pt x="660391" y="1056619"/>
                </a:lnTo>
                <a:close/>
              </a:path>
              <a:path w="2520950" h="1459230" extrusionOk="0">
                <a:moveTo>
                  <a:pt x="902473" y="917173"/>
                </a:moveTo>
                <a:lnTo>
                  <a:pt x="726435" y="1018519"/>
                </a:lnTo>
                <a:lnTo>
                  <a:pt x="739139" y="1040495"/>
                </a:lnTo>
                <a:lnTo>
                  <a:pt x="915152" y="939149"/>
                </a:lnTo>
                <a:lnTo>
                  <a:pt x="902473" y="917173"/>
                </a:lnTo>
                <a:close/>
              </a:path>
              <a:path w="2520950" h="1459230" extrusionOk="0">
                <a:moveTo>
                  <a:pt x="1144636" y="777727"/>
                </a:moveTo>
                <a:lnTo>
                  <a:pt x="968492" y="879073"/>
                </a:lnTo>
                <a:lnTo>
                  <a:pt x="981202" y="901171"/>
                </a:lnTo>
                <a:lnTo>
                  <a:pt x="1157346" y="799703"/>
                </a:lnTo>
                <a:lnTo>
                  <a:pt x="1144636" y="777727"/>
                </a:lnTo>
                <a:close/>
              </a:path>
              <a:path w="2520950" h="1459230" extrusionOk="0">
                <a:moveTo>
                  <a:pt x="1386830" y="638281"/>
                </a:moveTo>
                <a:lnTo>
                  <a:pt x="1210686" y="739780"/>
                </a:lnTo>
                <a:lnTo>
                  <a:pt x="1223397" y="761725"/>
                </a:lnTo>
                <a:lnTo>
                  <a:pt x="1399419" y="660379"/>
                </a:lnTo>
                <a:lnTo>
                  <a:pt x="1386830" y="638281"/>
                </a:lnTo>
                <a:close/>
              </a:path>
              <a:path w="2520950" h="1459230" extrusionOk="0">
                <a:moveTo>
                  <a:pt x="1628902" y="498988"/>
                </a:moveTo>
                <a:lnTo>
                  <a:pt x="1452880" y="600334"/>
                </a:lnTo>
                <a:lnTo>
                  <a:pt x="1465438" y="622279"/>
                </a:lnTo>
                <a:lnTo>
                  <a:pt x="1641613" y="520933"/>
                </a:lnTo>
                <a:lnTo>
                  <a:pt x="1628902" y="498988"/>
                </a:lnTo>
                <a:close/>
              </a:path>
              <a:path w="2520950" h="1459230" extrusionOk="0">
                <a:moveTo>
                  <a:pt x="1871097" y="359542"/>
                </a:moveTo>
                <a:lnTo>
                  <a:pt x="1694953" y="460888"/>
                </a:lnTo>
                <a:lnTo>
                  <a:pt x="1707632" y="482986"/>
                </a:lnTo>
                <a:lnTo>
                  <a:pt x="1883654" y="381487"/>
                </a:lnTo>
                <a:lnTo>
                  <a:pt x="1871097" y="359542"/>
                </a:lnTo>
                <a:close/>
              </a:path>
              <a:path w="2520950" h="1459230" extrusionOk="0">
                <a:moveTo>
                  <a:pt x="2113138" y="220096"/>
                </a:moveTo>
                <a:lnTo>
                  <a:pt x="1937116" y="321563"/>
                </a:lnTo>
                <a:lnTo>
                  <a:pt x="1949704" y="343540"/>
                </a:lnTo>
                <a:lnTo>
                  <a:pt x="2125848" y="242194"/>
                </a:lnTo>
                <a:lnTo>
                  <a:pt x="2113138" y="220096"/>
                </a:lnTo>
                <a:close/>
              </a:path>
              <a:path w="2520950" h="1459230" extrusionOk="0">
                <a:moveTo>
                  <a:pt x="2355332" y="80650"/>
                </a:moveTo>
                <a:lnTo>
                  <a:pt x="2179188" y="182117"/>
                </a:lnTo>
                <a:lnTo>
                  <a:pt x="2191899" y="204094"/>
                </a:lnTo>
                <a:lnTo>
                  <a:pt x="2368042" y="102748"/>
                </a:lnTo>
                <a:lnTo>
                  <a:pt x="2355332" y="80650"/>
                </a:lnTo>
                <a:close/>
              </a:path>
              <a:path w="2520950" h="1459230" extrusionOk="0">
                <a:moveTo>
                  <a:pt x="2507258" y="20695"/>
                </a:moveTo>
                <a:lnTo>
                  <a:pt x="2459604" y="20695"/>
                </a:lnTo>
                <a:lnTo>
                  <a:pt x="2472315" y="42671"/>
                </a:lnTo>
                <a:lnTo>
                  <a:pt x="2461285" y="49013"/>
                </a:lnTo>
                <a:lnTo>
                  <a:pt x="2473960" y="70987"/>
                </a:lnTo>
                <a:lnTo>
                  <a:pt x="2507258" y="20695"/>
                </a:lnTo>
                <a:close/>
              </a:path>
              <a:path w="2520950" h="1459230" extrusionOk="0">
                <a:moveTo>
                  <a:pt x="2448600" y="27023"/>
                </a:moveTo>
                <a:lnTo>
                  <a:pt x="2421382" y="42671"/>
                </a:lnTo>
                <a:lnTo>
                  <a:pt x="2434093" y="64648"/>
                </a:lnTo>
                <a:lnTo>
                  <a:pt x="2461285" y="49013"/>
                </a:lnTo>
                <a:lnTo>
                  <a:pt x="2448600" y="27023"/>
                </a:lnTo>
                <a:close/>
              </a:path>
              <a:path w="2520950" h="1459230" extrusionOk="0">
                <a:moveTo>
                  <a:pt x="2459604" y="20695"/>
                </a:moveTo>
                <a:lnTo>
                  <a:pt x="2448600" y="27023"/>
                </a:lnTo>
                <a:lnTo>
                  <a:pt x="2461285" y="49013"/>
                </a:lnTo>
                <a:lnTo>
                  <a:pt x="2472315" y="42671"/>
                </a:lnTo>
                <a:lnTo>
                  <a:pt x="2459604" y="20695"/>
                </a:lnTo>
                <a:close/>
              </a:path>
              <a:path w="2520950" h="1459230" extrusionOk="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3" name="Google Shape;163;g3bb5fbf5691_0_39"/>
          <p:cNvSpPr/>
          <p:nvPr/>
        </p:nvSpPr>
        <p:spPr>
          <a:xfrm>
            <a:off x="6642908" y="4986853"/>
            <a:ext cx="1216358" cy="590988"/>
          </a:xfrm>
          <a:custGeom>
            <a:avLst/>
            <a:gdLst/>
            <a:ahLst/>
            <a:cxnLst/>
            <a:rect l="l" t="t" r="r" b="b"/>
            <a:pathLst>
              <a:path w="2520950" h="1459229" extrusionOk="0">
                <a:moveTo>
                  <a:pt x="176140" y="1335395"/>
                </a:moveTo>
                <a:lnTo>
                  <a:pt x="0" y="1436741"/>
                </a:lnTo>
                <a:lnTo>
                  <a:pt x="12691" y="1458839"/>
                </a:lnTo>
                <a:lnTo>
                  <a:pt x="188713" y="1357374"/>
                </a:lnTo>
                <a:lnTo>
                  <a:pt x="176140" y="1335395"/>
                </a:lnTo>
                <a:close/>
              </a:path>
              <a:path w="2520950" h="1459229" extrusionOk="0">
                <a:moveTo>
                  <a:pt x="418206" y="1195949"/>
                </a:moveTo>
                <a:lnTo>
                  <a:pt x="242184" y="1297426"/>
                </a:lnTo>
                <a:lnTo>
                  <a:pt x="254773" y="1319393"/>
                </a:lnTo>
                <a:lnTo>
                  <a:pt x="430917" y="1218047"/>
                </a:lnTo>
                <a:lnTo>
                  <a:pt x="418206" y="1195949"/>
                </a:lnTo>
                <a:close/>
              </a:path>
              <a:path w="2520950" h="1459229" extrusionOk="0">
                <a:moveTo>
                  <a:pt x="660401" y="1056634"/>
                </a:moveTo>
                <a:lnTo>
                  <a:pt x="484257" y="1157980"/>
                </a:lnTo>
                <a:lnTo>
                  <a:pt x="496936" y="1179947"/>
                </a:lnTo>
                <a:lnTo>
                  <a:pt x="673111" y="1078601"/>
                </a:lnTo>
                <a:lnTo>
                  <a:pt x="660401" y="1056634"/>
                </a:lnTo>
                <a:close/>
              </a:path>
              <a:path w="2520950" h="1459229" extrusionOk="0">
                <a:moveTo>
                  <a:pt x="902473" y="917188"/>
                </a:moveTo>
                <a:lnTo>
                  <a:pt x="726451" y="1018534"/>
                </a:lnTo>
                <a:lnTo>
                  <a:pt x="739130" y="1040501"/>
                </a:lnTo>
                <a:lnTo>
                  <a:pt x="915152" y="939155"/>
                </a:lnTo>
                <a:lnTo>
                  <a:pt x="902473" y="917188"/>
                </a:lnTo>
                <a:close/>
              </a:path>
              <a:path w="2520950" h="1459229" extrusionOk="0">
                <a:moveTo>
                  <a:pt x="1144636" y="777742"/>
                </a:moveTo>
                <a:lnTo>
                  <a:pt x="968492" y="879088"/>
                </a:lnTo>
                <a:lnTo>
                  <a:pt x="981202" y="901186"/>
                </a:lnTo>
                <a:lnTo>
                  <a:pt x="1157346" y="799709"/>
                </a:lnTo>
                <a:lnTo>
                  <a:pt x="1144636" y="777742"/>
                </a:lnTo>
                <a:close/>
              </a:path>
              <a:path w="2520950" h="1459229" extrusionOk="0">
                <a:moveTo>
                  <a:pt x="1386830" y="638281"/>
                </a:moveTo>
                <a:lnTo>
                  <a:pt x="1210686" y="739773"/>
                </a:lnTo>
                <a:lnTo>
                  <a:pt x="1223397" y="761740"/>
                </a:lnTo>
                <a:lnTo>
                  <a:pt x="1399419" y="660394"/>
                </a:lnTo>
                <a:lnTo>
                  <a:pt x="1386830" y="638281"/>
                </a:lnTo>
                <a:close/>
              </a:path>
              <a:path w="2520950" h="1459229" extrusionOk="0">
                <a:moveTo>
                  <a:pt x="1628902" y="498988"/>
                </a:moveTo>
                <a:lnTo>
                  <a:pt x="1452880" y="600334"/>
                </a:lnTo>
                <a:lnTo>
                  <a:pt x="1465438" y="622279"/>
                </a:lnTo>
                <a:lnTo>
                  <a:pt x="1641613" y="520933"/>
                </a:lnTo>
                <a:lnTo>
                  <a:pt x="1628902" y="498988"/>
                </a:lnTo>
                <a:close/>
              </a:path>
              <a:path w="2520950" h="1459229" extrusionOk="0">
                <a:moveTo>
                  <a:pt x="1871097" y="359542"/>
                </a:moveTo>
                <a:lnTo>
                  <a:pt x="1694953" y="460888"/>
                </a:lnTo>
                <a:lnTo>
                  <a:pt x="1707632" y="482986"/>
                </a:lnTo>
                <a:lnTo>
                  <a:pt x="1883654" y="381487"/>
                </a:lnTo>
                <a:lnTo>
                  <a:pt x="1871097" y="359542"/>
                </a:lnTo>
                <a:close/>
              </a:path>
              <a:path w="2520950" h="1459229" extrusionOk="0">
                <a:moveTo>
                  <a:pt x="2113138" y="220096"/>
                </a:moveTo>
                <a:lnTo>
                  <a:pt x="1937116" y="321563"/>
                </a:lnTo>
                <a:lnTo>
                  <a:pt x="1949704" y="343540"/>
                </a:lnTo>
                <a:lnTo>
                  <a:pt x="2125848" y="242194"/>
                </a:lnTo>
                <a:lnTo>
                  <a:pt x="2113138" y="220096"/>
                </a:lnTo>
                <a:close/>
              </a:path>
              <a:path w="2520950" h="1459229" extrusionOk="0">
                <a:moveTo>
                  <a:pt x="2355332" y="80650"/>
                </a:moveTo>
                <a:lnTo>
                  <a:pt x="2179188" y="182117"/>
                </a:lnTo>
                <a:lnTo>
                  <a:pt x="2191899" y="204094"/>
                </a:lnTo>
                <a:lnTo>
                  <a:pt x="2368042" y="102748"/>
                </a:lnTo>
                <a:lnTo>
                  <a:pt x="2355332" y="80650"/>
                </a:lnTo>
                <a:close/>
              </a:path>
              <a:path w="2520950" h="1459229" extrusionOk="0">
                <a:moveTo>
                  <a:pt x="2507258" y="20695"/>
                </a:moveTo>
                <a:lnTo>
                  <a:pt x="2459604" y="20695"/>
                </a:lnTo>
                <a:lnTo>
                  <a:pt x="2472315" y="42671"/>
                </a:lnTo>
                <a:lnTo>
                  <a:pt x="2461285" y="49013"/>
                </a:lnTo>
                <a:lnTo>
                  <a:pt x="2473960" y="70987"/>
                </a:lnTo>
                <a:lnTo>
                  <a:pt x="2507258" y="20695"/>
                </a:lnTo>
                <a:close/>
              </a:path>
              <a:path w="2520950" h="1459229" extrusionOk="0">
                <a:moveTo>
                  <a:pt x="2448600" y="27023"/>
                </a:moveTo>
                <a:lnTo>
                  <a:pt x="2421382" y="42671"/>
                </a:lnTo>
                <a:lnTo>
                  <a:pt x="2434093" y="64648"/>
                </a:lnTo>
                <a:lnTo>
                  <a:pt x="2461285" y="49013"/>
                </a:lnTo>
                <a:lnTo>
                  <a:pt x="2448600" y="27023"/>
                </a:lnTo>
                <a:close/>
              </a:path>
              <a:path w="2520950" h="1459229" extrusionOk="0">
                <a:moveTo>
                  <a:pt x="2459604" y="20695"/>
                </a:moveTo>
                <a:lnTo>
                  <a:pt x="2448600" y="27023"/>
                </a:lnTo>
                <a:lnTo>
                  <a:pt x="2461285" y="49013"/>
                </a:lnTo>
                <a:lnTo>
                  <a:pt x="2472315" y="42671"/>
                </a:lnTo>
                <a:lnTo>
                  <a:pt x="2459604" y="20695"/>
                </a:lnTo>
                <a:close/>
              </a:path>
              <a:path w="2520950" h="1459229" extrusionOk="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4" name="Google Shape;164;g3bb5fbf5691_0_39"/>
          <p:cNvSpPr/>
          <p:nvPr/>
        </p:nvSpPr>
        <p:spPr>
          <a:xfrm>
            <a:off x="6054997" y="4986853"/>
            <a:ext cx="1216358" cy="590988"/>
          </a:xfrm>
          <a:custGeom>
            <a:avLst/>
            <a:gdLst/>
            <a:ahLst/>
            <a:cxnLst/>
            <a:rect l="l" t="t" r="r" b="b"/>
            <a:pathLst>
              <a:path w="2520950" h="1459229" extrusionOk="0">
                <a:moveTo>
                  <a:pt x="176140" y="1335395"/>
                </a:moveTo>
                <a:lnTo>
                  <a:pt x="0" y="1436741"/>
                </a:lnTo>
                <a:lnTo>
                  <a:pt x="12691" y="1458839"/>
                </a:lnTo>
                <a:lnTo>
                  <a:pt x="188713" y="1357374"/>
                </a:lnTo>
                <a:lnTo>
                  <a:pt x="176140" y="1335395"/>
                </a:lnTo>
                <a:close/>
              </a:path>
              <a:path w="2520950" h="1459229" extrusionOk="0">
                <a:moveTo>
                  <a:pt x="418206" y="1195949"/>
                </a:moveTo>
                <a:lnTo>
                  <a:pt x="242184" y="1297426"/>
                </a:lnTo>
                <a:lnTo>
                  <a:pt x="254757" y="1319393"/>
                </a:lnTo>
                <a:lnTo>
                  <a:pt x="430910" y="1218047"/>
                </a:lnTo>
                <a:lnTo>
                  <a:pt x="418206" y="1195949"/>
                </a:lnTo>
                <a:close/>
              </a:path>
              <a:path w="2520950" h="1459229" extrusionOk="0">
                <a:moveTo>
                  <a:pt x="660391" y="1056634"/>
                </a:moveTo>
                <a:lnTo>
                  <a:pt x="484250" y="1157980"/>
                </a:lnTo>
                <a:lnTo>
                  <a:pt x="496942" y="1179947"/>
                </a:lnTo>
                <a:lnTo>
                  <a:pt x="673095" y="1078601"/>
                </a:lnTo>
                <a:lnTo>
                  <a:pt x="660391" y="1056634"/>
                </a:lnTo>
                <a:close/>
              </a:path>
              <a:path w="2520950" h="1459229" extrusionOk="0">
                <a:moveTo>
                  <a:pt x="902457" y="917188"/>
                </a:moveTo>
                <a:lnTo>
                  <a:pt x="726435" y="1018534"/>
                </a:lnTo>
                <a:lnTo>
                  <a:pt x="739139" y="1040501"/>
                </a:lnTo>
                <a:lnTo>
                  <a:pt x="915161" y="939155"/>
                </a:lnTo>
                <a:lnTo>
                  <a:pt x="902457" y="917188"/>
                </a:lnTo>
                <a:close/>
              </a:path>
              <a:path w="2520950" h="1459229" extrusionOk="0">
                <a:moveTo>
                  <a:pt x="1144642" y="777742"/>
                </a:moveTo>
                <a:lnTo>
                  <a:pt x="968501" y="879088"/>
                </a:lnTo>
                <a:lnTo>
                  <a:pt x="981193" y="901186"/>
                </a:lnTo>
                <a:lnTo>
                  <a:pt x="1157346" y="799709"/>
                </a:lnTo>
                <a:lnTo>
                  <a:pt x="1144642" y="777742"/>
                </a:lnTo>
                <a:close/>
              </a:path>
              <a:path w="2520950" h="1459229" extrusionOk="0">
                <a:moveTo>
                  <a:pt x="1386839" y="638281"/>
                </a:moveTo>
                <a:lnTo>
                  <a:pt x="1210686" y="739773"/>
                </a:lnTo>
                <a:lnTo>
                  <a:pt x="1223390" y="761740"/>
                </a:lnTo>
                <a:lnTo>
                  <a:pt x="1399412" y="660394"/>
                </a:lnTo>
                <a:lnTo>
                  <a:pt x="1386839" y="638281"/>
                </a:lnTo>
                <a:close/>
              </a:path>
              <a:path w="2520950" h="1459229" extrusionOk="0">
                <a:moveTo>
                  <a:pt x="1628902" y="498988"/>
                </a:moveTo>
                <a:lnTo>
                  <a:pt x="1452880" y="600334"/>
                </a:lnTo>
                <a:lnTo>
                  <a:pt x="1465438" y="622279"/>
                </a:lnTo>
                <a:lnTo>
                  <a:pt x="1641613" y="520933"/>
                </a:lnTo>
                <a:lnTo>
                  <a:pt x="1628902" y="498988"/>
                </a:lnTo>
                <a:close/>
              </a:path>
              <a:path w="2520950" h="1459229" extrusionOk="0">
                <a:moveTo>
                  <a:pt x="1871097" y="359542"/>
                </a:moveTo>
                <a:lnTo>
                  <a:pt x="1694953" y="460888"/>
                </a:lnTo>
                <a:lnTo>
                  <a:pt x="1707632" y="482986"/>
                </a:lnTo>
                <a:lnTo>
                  <a:pt x="1883654" y="381487"/>
                </a:lnTo>
                <a:lnTo>
                  <a:pt x="1871097" y="359542"/>
                </a:lnTo>
                <a:close/>
              </a:path>
              <a:path w="2520950" h="1459229" extrusionOk="0">
                <a:moveTo>
                  <a:pt x="2113138" y="220096"/>
                </a:moveTo>
                <a:lnTo>
                  <a:pt x="1937116" y="321563"/>
                </a:lnTo>
                <a:lnTo>
                  <a:pt x="1949704" y="343540"/>
                </a:lnTo>
                <a:lnTo>
                  <a:pt x="2125848" y="242194"/>
                </a:lnTo>
                <a:lnTo>
                  <a:pt x="2113138" y="220096"/>
                </a:lnTo>
                <a:close/>
              </a:path>
              <a:path w="2520950" h="1459229" extrusionOk="0">
                <a:moveTo>
                  <a:pt x="2355332" y="80650"/>
                </a:moveTo>
                <a:lnTo>
                  <a:pt x="2179188" y="182117"/>
                </a:lnTo>
                <a:lnTo>
                  <a:pt x="2191899" y="204094"/>
                </a:lnTo>
                <a:lnTo>
                  <a:pt x="2368042" y="102748"/>
                </a:lnTo>
                <a:lnTo>
                  <a:pt x="2355332" y="80650"/>
                </a:lnTo>
                <a:close/>
              </a:path>
              <a:path w="2520950" h="1459229" extrusionOk="0">
                <a:moveTo>
                  <a:pt x="2507258" y="20695"/>
                </a:moveTo>
                <a:lnTo>
                  <a:pt x="2459604" y="20695"/>
                </a:lnTo>
                <a:lnTo>
                  <a:pt x="2472315" y="42671"/>
                </a:lnTo>
                <a:lnTo>
                  <a:pt x="2461285" y="49013"/>
                </a:lnTo>
                <a:lnTo>
                  <a:pt x="2473960" y="70987"/>
                </a:lnTo>
                <a:lnTo>
                  <a:pt x="2507258" y="20695"/>
                </a:lnTo>
                <a:close/>
              </a:path>
              <a:path w="2520950" h="1459229" extrusionOk="0">
                <a:moveTo>
                  <a:pt x="2448600" y="27023"/>
                </a:moveTo>
                <a:lnTo>
                  <a:pt x="2421382" y="42671"/>
                </a:lnTo>
                <a:lnTo>
                  <a:pt x="2434093" y="64648"/>
                </a:lnTo>
                <a:lnTo>
                  <a:pt x="2461285" y="49013"/>
                </a:lnTo>
                <a:lnTo>
                  <a:pt x="2448600" y="27023"/>
                </a:lnTo>
                <a:close/>
              </a:path>
              <a:path w="2520950" h="1459229" extrusionOk="0">
                <a:moveTo>
                  <a:pt x="2459604" y="20695"/>
                </a:moveTo>
                <a:lnTo>
                  <a:pt x="2448600" y="27023"/>
                </a:lnTo>
                <a:lnTo>
                  <a:pt x="2461285" y="49013"/>
                </a:lnTo>
                <a:lnTo>
                  <a:pt x="2472315" y="42671"/>
                </a:lnTo>
                <a:lnTo>
                  <a:pt x="2459604" y="20695"/>
                </a:lnTo>
                <a:close/>
              </a:path>
              <a:path w="2520950" h="1459229" extrusionOk="0">
                <a:moveTo>
                  <a:pt x="2520961" y="0"/>
                </a:moveTo>
                <a:lnTo>
                  <a:pt x="2435860" y="4937"/>
                </a:lnTo>
                <a:lnTo>
                  <a:pt x="2448600" y="27023"/>
                </a:lnTo>
                <a:lnTo>
                  <a:pt x="2459604" y="20695"/>
                </a:lnTo>
                <a:lnTo>
                  <a:pt x="2507258" y="20695"/>
                </a:lnTo>
                <a:lnTo>
                  <a:pt x="2520961"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5" name="Google Shape;165;g3bb5fbf5691_0_39"/>
          <p:cNvSpPr/>
          <p:nvPr/>
        </p:nvSpPr>
        <p:spPr>
          <a:xfrm>
            <a:off x="6759265" y="4573675"/>
            <a:ext cx="466628" cy="239687"/>
          </a:xfrm>
          <a:custGeom>
            <a:avLst/>
            <a:gdLst/>
            <a:ahLst/>
            <a:cxnLst/>
            <a:rect l="l" t="t" r="r" b="b"/>
            <a:pathLst>
              <a:path w="967104" h="591819" extrusionOk="0">
                <a:moveTo>
                  <a:pt x="966581" y="0"/>
                </a:moveTo>
                <a:lnTo>
                  <a:pt x="416295" y="94487"/>
                </a:lnTo>
                <a:lnTo>
                  <a:pt x="460888" y="175016"/>
                </a:lnTo>
                <a:lnTo>
                  <a:pt x="0" y="430529"/>
                </a:lnTo>
                <a:lnTo>
                  <a:pt x="89275" y="591586"/>
                </a:lnTo>
                <a:lnTo>
                  <a:pt x="550163" y="336041"/>
                </a:lnTo>
                <a:lnTo>
                  <a:pt x="666733" y="336041"/>
                </a:lnTo>
                <a:lnTo>
                  <a:pt x="966581" y="0"/>
                </a:lnTo>
                <a:close/>
              </a:path>
              <a:path w="967104" h="591819" extrusionOk="0">
                <a:moveTo>
                  <a:pt x="666733" y="336041"/>
                </a:moveTo>
                <a:lnTo>
                  <a:pt x="550163" y="336041"/>
                </a:lnTo>
                <a:lnTo>
                  <a:pt x="594878" y="416570"/>
                </a:lnTo>
                <a:lnTo>
                  <a:pt x="666733" y="336041"/>
                </a:lnTo>
                <a:close/>
              </a:path>
            </a:pathLst>
          </a:custGeom>
          <a:solidFill>
            <a:srgbClr val="F8F7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6" name="Google Shape;166;g3bb5fbf5691_0_39"/>
          <p:cNvSpPr/>
          <p:nvPr/>
        </p:nvSpPr>
        <p:spPr>
          <a:xfrm>
            <a:off x="6759265" y="4573675"/>
            <a:ext cx="466628" cy="239687"/>
          </a:xfrm>
          <a:custGeom>
            <a:avLst/>
            <a:gdLst/>
            <a:ahLst/>
            <a:cxnLst/>
            <a:rect l="l" t="t" r="r" b="b"/>
            <a:pathLst>
              <a:path w="967104" h="591819" extrusionOk="0">
                <a:moveTo>
                  <a:pt x="0" y="430529"/>
                </a:moveTo>
                <a:lnTo>
                  <a:pt x="460888" y="175016"/>
                </a:lnTo>
                <a:lnTo>
                  <a:pt x="416295" y="94487"/>
                </a:lnTo>
                <a:lnTo>
                  <a:pt x="966581" y="0"/>
                </a:lnTo>
                <a:lnTo>
                  <a:pt x="594878" y="416570"/>
                </a:lnTo>
                <a:lnTo>
                  <a:pt x="550163" y="336041"/>
                </a:lnTo>
                <a:lnTo>
                  <a:pt x="89275" y="591586"/>
                </a:lnTo>
                <a:lnTo>
                  <a:pt x="0" y="43052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8"/>
              <a:buFont typeface="Arial"/>
              <a:buNone/>
            </a:pPr>
            <a:endParaRPr sz="868" b="0" i="0" u="none" strike="noStrike" cap="none">
              <a:solidFill>
                <a:srgbClr val="000000"/>
              </a:solidFill>
              <a:latin typeface="Calibri"/>
              <a:ea typeface="Calibri"/>
              <a:cs typeface="Calibri"/>
              <a:sym typeface="Calibri"/>
            </a:endParaRPr>
          </a:p>
        </p:txBody>
      </p:sp>
      <p:sp>
        <p:nvSpPr>
          <p:cNvPr id="167" name="Google Shape;167;g3bb5fbf5691_0_39"/>
          <p:cNvSpPr txBox="1"/>
          <p:nvPr/>
        </p:nvSpPr>
        <p:spPr>
          <a:xfrm>
            <a:off x="5614064" y="5592163"/>
            <a:ext cx="404100" cy="1782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000000"/>
              </a:buClr>
              <a:buSzPts val="1158"/>
              <a:buFont typeface="Century Gothic"/>
              <a:buNone/>
            </a:pPr>
            <a:r>
              <a:rPr lang="en-US" sz="1157" b="0" i="0" u="none" strike="noStrike" cap="none">
                <a:solidFill>
                  <a:srgbClr val="000000"/>
                </a:solidFill>
                <a:latin typeface="Century Gothic"/>
                <a:ea typeface="Century Gothic"/>
                <a:cs typeface="Century Gothic"/>
                <a:sym typeface="Century Gothic"/>
              </a:rPr>
              <a:t>(10,5)</a:t>
            </a:r>
            <a:endParaRPr sz="675" b="0" i="0" u="none" strike="noStrike" cap="none">
              <a:solidFill>
                <a:srgbClr val="000000"/>
              </a:solidFill>
              <a:latin typeface="Arial"/>
              <a:ea typeface="Arial"/>
              <a:cs typeface="Arial"/>
              <a:sym typeface="Arial"/>
            </a:endParaRPr>
          </a:p>
        </p:txBody>
      </p:sp>
      <p:sp>
        <p:nvSpPr>
          <p:cNvPr id="168" name="Google Shape;168;g3bb5fbf5691_0_39"/>
          <p:cNvSpPr txBox="1"/>
          <p:nvPr/>
        </p:nvSpPr>
        <p:spPr>
          <a:xfrm>
            <a:off x="6566357" y="5592163"/>
            <a:ext cx="405000" cy="1782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000000"/>
              </a:buClr>
              <a:buSzPts val="1158"/>
              <a:buFont typeface="Century Gothic"/>
              <a:buNone/>
            </a:pPr>
            <a:r>
              <a:rPr lang="en-US" sz="1157" b="0" i="0" u="none" strike="noStrike" cap="none">
                <a:solidFill>
                  <a:srgbClr val="000000"/>
                </a:solidFill>
                <a:latin typeface="Century Gothic"/>
                <a:ea typeface="Century Gothic"/>
                <a:cs typeface="Century Gothic"/>
                <a:sym typeface="Century Gothic"/>
              </a:rPr>
              <a:t>(30,5)</a:t>
            </a:r>
            <a:endParaRPr sz="675" b="0" i="0" u="none" strike="noStrike" cap="none">
              <a:solidFill>
                <a:srgbClr val="000000"/>
              </a:solidFill>
              <a:latin typeface="Arial"/>
              <a:ea typeface="Arial"/>
              <a:cs typeface="Arial"/>
              <a:sym typeface="Arial"/>
            </a:endParaRPr>
          </a:p>
        </p:txBody>
      </p:sp>
      <p:sp>
        <p:nvSpPr>
          <p:cNvPr id="169" name="Google Shape;169;g3bb5fbf5691_0_39"/>
          <p:cNvSpPr txBox="1"/>
          <p:nvPr/>
        </p:nvSpPr>
        <p:spPr>
          <a:xfrm>
            <a:off x="6096335" y="4619298"/>
            <a:ext cx="486300" cy="1782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000000"/>
              </a:buClr>
              <a:buSzPts val="1158"/>
              <a:buFont typeface="Century Gothic"/>
              <a:buNone/>
            </a:pPr>
            <a:r>
              <a:rPr lang="en-US" sz="1157" b="0" i="0" u="none" strike="noStrike" cap="none">
                <a:solidFill>
                  <a:srgbClr val="000000"/>
                </a:solidFill>
                <a:latin typeface="Century Gothic"/>
                <a:ea typeface="Century Gothic"/>
                <a:cs typeface="Century Gothic"/>
                <a:sym typeface="Century Gothic"/>
              </a:rPr>
              <a:t>(20,35)</a:t>
            </a:r>
            <a:endParaRPr sz="675" b="0" i="0" u="none" strike="noStrike" cap="none">
              <a:solidFill>
                <a:srgbClr val="000000"/>
              </a:solidFill>
              <a:latin typeface="Arial"/>
              <a:ea typeface="Arial"/>
              <a:cs typeface="Arial"/>
              <a:sym typeface="Arial"/>
            </a:endParaRPr>
          </a:p>
        </p:txBody>
      </p:sp>
      <p:sp>
        <p:nvSpPr>
          <p:cNvPr id="170" name="Google Shape;170;g3bb5fbf5691_0_39"/>
          <p:cNvSpPr txBox="1"/>
          <p:nvPr/>
        </p:nvSpPr>
        <p:spPr>
          <a:xfrm>
            <a:off x="5502300" y="3819288"/>
            <a:ext cx="3968700" cy="648600"/>
          </a:xfrm>
          <a:prstGeom prst="rect">
            <a:avLst/>
          </a:prstGeom>
          <a:noFill/>
          <a:ln>
            <a:noFill/>
          </a:ln>
        </p:spPr>
        <p:txBody>
          <a:bodyPr spcFirstLastPara="1" wrap="square" lIns="0" tIns="348175" rIns="0" bIns="0" anchor="t" anchorCtr="0">
            <a:spAutoFit/>
          </a:bodyPr>
          <a:lstStyle/>
          <a:p>
            <a:pPr marL="2173795" marR="0" lvl="0" indent="0" algn="ctr" rtl="0">
              <a:lnSpc>
                <a:spcPct val="100000"/>
              </a:lnSpc>
              <a:spcBef>
                <a:spcPts val="0"/>
              </a:spcBef>
              <a:spcAft>
                <a:spcPts val="0"/>
              </a:spcAft>
              <a:buClr>
                <a:srgbClr val="000000"/>
              </a:buClr>
              <a:buSzPts val="1929"/>
              <a:buFont typeface="Arial"/>
              <a:buNone/>
            </a:pPr>
            <a:endParaRPr sz="1929" b="0" i="0" u="none" strike="noStrike" cap="none">
              <a:solidFill>
                <a:srgbClr val="000000"/>
              </a:solidFill>
              <a:latin typeface="Calibri"/>
              <a:ea typeface="Calibri"/>
              <a:cs typeface="Calibri"/>
              <a:sym typeface="Calibri"/>
            </a:endParaRPr>
          </a:p>
        </p:txBody>
      </p:sp>
      <p:sp>
        <p:nvSpPr>
          <p:cNvPr id="171" name="Google Shape;171;g3bb5fbf5691_0_39"/>
          <p:cNvSpPr txBox="1"/>
          <p:nvPr/>
        </p:nvSpPr>
        <p:spPr>
          <a:xfrm>
            <a:off x="7889149" y="4975275"/>
            <a:ext cx="588300" cy="1782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000000"/>
              </a:buClr>
              <a:buSzPts val="1158"/>
              <a:buFont typeface="Century Gothic"/>
              <a:buNone/>
            </a:pPr>
            <a:r>
              <a:rPr lang="en-US" sz="1157" b="0" i="0" u="none" strike="noStrike" cap="none">
                <a:solidFill>
                  <a:srgbClr val="000000"/>
                </a:solidFill>
                <a:latin typeface="Century Gothic"/>
                <a:ea typeface="Century Gothic"/>
                <a:cs typeface="Century Gothic"/>
                <a:sym typeface="Century Gothic"/>
              </a:rPr>
              <a:t>(65, 30)</a:t>
            </a:r>
            <a:endParaRPr sz="675" b="0" i="0" u="none" strike="noStrike" cap="none">
              <a:solidFill>
                <a:srgbClr val="000000"/>
              </a:solidFill>
              <a:latin typeface="Arial"/>
              <a:ea typeface="Arial"/>
              <a:cs typeface="Arial"/>
              <a:sym typeface="Arial"/>
            </a:endParaRPr>
          </a:p>
        </p:txBody>
      </p:sp>
      <p:sp>
        <p:nvSpPr>
          <p:cNvPr id="172" name="Google Shape;172;g3bb5fbf5691_0_39"/>
          <p:cNvSpPr txBox="1"/>
          <p:nvPr/>
        </p:nvSpPr>
        <p:spPr>
          <a:xfrm>
            <a:off x="6697800" y="4828000"/>
            <a:ext cx="768600" cy="1782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000000"/>
              </a:buClr>
              <a:buSzPts val="1158"/>
              <a:buFont typeface="Century Gothic"/>
              <a:buNone/>
            </a:pPr>
            <a:r>
              <a:rPr lang="en-US" sz="1157" b="0" i="0" u="none" strike="noStrike" cap="none">
                <a:solidFill>
                  <a:srgbClr val="000000"/>
                </a:solidFill>
                <a:latin typeface="Century Gothic"/>
                <a:ea typeface="Century Gothic"/>
                <a:cs typeface="Century Gothic"/>
                <a:sym typeface="Century Gothic"/>
              </a:rPr>
              <a:t>(45, 30)</a:t>
            </a:r>
            <a:endParaRPr sz="675" b="0" i="0" u="none" strike="noStrike" cap="none">
              <a:solidFill>
                <a:srgbClr val="000000"/>
              </a:solidFill>
              <a:latin typeface="Arial"/>
              <a:ea typeface="Arial"/>
              <a:cs typeface="Arial"/>
              <a:sym typeface="Arial"/>
            </a:endParaRPr>
          </a:p>
        </p:txBody>
      </p:sp>
      <p:sp>
        <p:nvSpPr>
          <p:cNvPr id="173" name="Google Shape;173;g3bb5fbf5691_0_39"/>
          <p:cNvSpPr txBox="1"/>
          <p:nvPr/>
        </p:nvSpPr>
        <p:spPr>
          <a:xfrm>
            <a:off x="7602053" y="3955438"/>
            <a:ext cx="768600" cy="430800"/>
          </a:xfrm>
          <a:prstGeom prst="rect">
            <a:avLst/>
          </a:prstGeom>
          <a:noFill/>
          <a:ln>
            <a:noFill/>
          </a:ln>
        </p:spPr>
        <p:txBody>
          <a:bodyPr spcFirstLastPara="1" wrap="square" lIns="0" tIns="0" rIns="0" bIns="0" anchor="t" anchorCtr="0">
            <a:spAutoFit/>
          </a:bodyPr>
          <a:lstStyle/>
          <a:p>
            <a:pPr marL="6127" marR="0" lvl="0" indent="0" algn="l" rtl="0">
              <a:lnSpc>
                <a:spcPct val="100000"/>
              </a:lnSpc>
              <a:spcBef>
                <a:spcPts val="0"/>
              </a:spcBef>
              <a:spcAft>
                <a:spcPts val="0"/>
              </a:spcAft>
              <a:buClr>
                <a:srgbClr val="FFFFFF"/>
              </a:buClr>
              <a:buSzPts val="2123"/>
              <a:buFont typeface="Calibri"/>
              <a:buNone/>
            </a:pPr>
            <a:r>
              <a:rPr lang="en-US" sz="2122" b="0" i="0" u="none" strike="noStrike" cap="none">
                <a:solidFill>
                  <a:srgbClr val="FFFFFF"/>
                </a:solidFill>
                <a:latin typeface="Calibri"/>
                <a:ea typeface="Calibri"/>
                <a:cs typeface="Calibri"/>
                <a:sym typeface="Calibri"/>
              </a:rPr>
              <a:t>o</a:t>
            </a:r>
            <a:r>
              <a:rPr lang="en-US" sz="1157" b="0" i="0" u="none" strike="noStrike" cap="none">
                <a:solidFill>
                  <a:schemeClr val="dk1"/>
                </a:solidFill>
                <a:latin typeface="Century Gothic"/>
                <a:ea typeface="Century Gothic"/>
                <a:cs typeface="Century Gothic"/>
                <a:sym typeface="Century Gothic"/>
              </a:rPr>
              <a:t>(55, 60)</a:t>
            </a:r>
            <a:endParaRPr sz="1929" b="0" i="0" u="none" strike="noStrike" cap="none">
              <a:solidFill>
                <a:schemeClr val="dk1"/>
              </a:solidFill>
              <a:latin typeface="Calibri"/>
              <a:ea typeface="Calibri"/>
              <a:cs typeface="Calibri"/>
              <a:sym typeface="Calibri"/>
            </a:endParaRPr>
          </a:p>
          <a:p>
            <a:pPr marL="6127" marR="0" lvl="0" indent="0" algn="l" rtl="0">
              <a:lnSpc>
                <a:spcPct val="100000"/>
              </a:lnSpc>
              <a:spcBef>
                <a:spcPts val="0"/>
              </a:spcBef>
              <a:spcAft>
                <a:spcPts val="0"/>
              </a:spcAft>
              <a:buClr>
                <a:srgbClr val="FFFFFF"/>
              </a:buClr>
              <a:buSzPts val="2123"/>
              <a:buFont typeface="Calibri"/>
              <a:buNone/>
            </a:pPr>
            <a:endParaRPr sz="675" b="0" i="0" u="none" strike="noStrike" cap="none">
              <a:solidFill>
                <a:srgbClr val="000000"/>
              </a:solidFill>
              <a:latin typeface="Arial"/>
              <a:ea typeface="Arial"/>
              <a:cs typeface="Arial"/>
              <a:sym typeface="Arial"/>
            </a:endParaRPr>
          </a:p>
        </p:txBody>
      </p:sp>
      <p:sp>
        <p:nvSpPr>
          <p:cNvPr id="174" name="Google Shape;174;g3bb5fbf5691_0_39"/>
          <p:cNvSpPr/>
          <p:nvPr/>
        </p:nvSpPr>
        <p:spPr>
          <a:xfrm>
            <a:off x="5005475" y="2123525"/>
            <a:ext cx="886200" cy="3651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79" name="Google Shape;179;g3bb5fbf5691_0_101"/>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80" name="Google Shape;180;g3bb5fbf5691_0_10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
        <p:nvSpPr>
          <p:cNvPr id="181" name="Google Shape;181;g3bb5fbf5691_0_101"/>
          <p:cNvSpPr txBox="1"/>
          <p:nvPr/>
        </p:nvSpPr>
        <p:spPr>
          <a:xfrm>
            <a:off x="363825" y="168125"/>
            <a:ext cx="7789500" cy="7080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400"/>
              <a:buFont typeface="Arial"/>
              <a:buNone/>
            </a:pPr>
            <a:r>
              <a:rPr lang="en-US" sz="3400" b="0" i="0" u="none" strike="noStrike" cap="none">
                <a:solidFill>
                  <a:schemeClr val="lt1"/>
                </a:solidFill>
                <a:latin typeface="Calibri"/>
                <a:ea typeface="Calibri"/>
                <a:cs typeface="Calibri"/>
                <a:sym typeface="Calibri"/>
              </a:rPr>
              <a:t>2D Transformations (Translation Example)</a:t>
            </a:r>
            <a:endParaRPr sz="3400" b="0" i="0" u="none" strike="noStrike" cap="none">
              <a:solidFill>
                <a:schemeClr val="lt1"/>
              </a:solidFill>
              <a:latin typeface="Calibri"/>
              <a:ea typeface="Calibri"/>
              <a:cs typeface="Calibri"/>
              <a:sym typeface="Calibri"/>
            </a:endParaRPr>
          </a:p>
        </p:txBody>
      </p:sp>
      <p:pic>
        <p:nvPicPr>
          <p:cNvPr id="182" name="Google Shape;182;g3bb5fbf5691_0_10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pic>
        <p:nvPicPr>
          <p:cNvPr id="183" name="Google Shape;183;g3bb5fbf5691_0_101"/>
          <p:cNvPicPr preferRelativeResize="0"/>
          <p:nvPr/>
        </p:nvPicPr>
        <p:blipFill rotWithShape="1">
          <a:blip r:embed="rId4">
            <a:alphaModFix/>
          </a:blip>
          <a:srcRect/>
          <a:stretch/>
        </p:blipFill>
        <p:spPr>
          <a:xfrm>
            <a:off x="1027800" y="1310325"/>
            <a:ext cx="7368177" cy="491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87"/>
        <p:cNvGrpSpPr/>
        <p:nvPr/>
      </p:nvGrpSpPr>
      <p:grpSpPr>
        <a:xfrm>
          <a:off x="0" y="0"/>
          <a:ext cx="0" cy="0"/>
          <a:chOff x="0" y="0"/>
          <a:chExt cx="0" cy="0"/>
        </a:xfrm>
      </p:grpSpPr>
      <p:sp>
        <p:nvSpPr>
          <p:cNvPr id="188" name="Google Shape;188;g3bb5fbf5691_0_121"/>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89" name="Google Shape;189;g3bb5fbf5691_0_12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
        <p:nvSpPr>
          <p:cNvPr id="190" name="Google Shape;190;g3bb5fbf5691_0_121"/>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(Scaling)</a:t>
            </a:r>
            <a:endParaRPr sz="3800" b="0" i="0" u="none" strike="noStrike" cap="none">
              <a:solidFill>
                <a:schemeClr val="lt1"/>
              </a:solidFill>
              <a:latin typeface="Calibri"/>
              <a:ea typeface="Calibri"/>
              <a:cs typeface="Calibri"/>
              <a:sym typeface="Calibri"/>
            </a:endParaRPr>
          </a:p>
        </p:txBody>
      </p:sp>
      <p:pic>
        <p:nvPicPr>
          <p:cNvPr id="191" name="Google Shape;191;g3bb5fbf5691_0_12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192" name="Google Shape;192;g3bb5fbf5691_0_121"/>
          <p:cNvSpPr txBox="1"/>
          <p:nvPr/>
        </p:nvSpPr>
        <p:spPr>
          <a:xfrm>
            <a:off x="118250" y="1136975"/>
            <a:ext cx="8722500" cy="33195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b="0" i="0" u="none" strike="noStrike" cap="none">
                <a:solidFill>
                  <a:srgbClr val="434343"/>
                </a:solidFill>
                <a:latin typeface="Times New Roman"/>
                <a:ea typeface="Times New Roman"/>
                <a:cs typeface="Times New Roman"/>
                <a:sym typeface="Times New Roman"/>
              </a:rPr>
              <a:t>A scaling transformation changes the size of an object.</a:t>
            </a:r>
            <a:endParaRPr sz="2000" b="0" i="0" u="none" strike="noStrike" cap="none">
              <a:solidFill>
                <a:srgbClr val="434343"/>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b="0" i="0" u="none" strike="noStrike" cap="none">
                <a:solidFill>
                  <a:srgbClr val="434343"/>
                </a:solidFill>
                <a:latin typeface="Times New Roman"/>
                <a:ea typeface="Times New Roman"/>
                <a:cs typeface="Times New Roman"/>
                <a:sym typeface="Times New Roman"/>
              </a:rPr>
              <a:t>This operation can be carried out for polygons by multiplying the coordinate values (x, y) of each vertex by scaling factors Sx and Sy to produce the transformed coordinates (x′, y′).</a:t>
            </a:r>
            <a:endParaRPr sz="2000" b="0" i="0" u="none" strike="noStrike" cap="none">
              <a:solidFill>
                <a:srgbClr val="434343"/>
              </a:solidFill>
              <a:latin typeface="Times New Roman"/>
              <a:ea typeface="Times New Roman"/>
              <a:cs typeface="Times New Roman"/>
              <a:sym typeface="Times New Roman"/>
            </a:endParaRPr>
          </a:p>
          <a:p>
            <a:pPr marL="914400" marR="0" lvl="0" indent="0" algn="l" rtl="0">
              <a:lnSpc>
                <a:spcPct val="100000"/>
              </a:lnSpc>
              <a:spcBef>
                <a:spcPts val="1000"/>
              </a:spcBef>
              <a:spcAft>
                <a:spcPts val="0"/>
              </a:spcAft>
              <a:buClr>
                <a:srgbClr val="000000"/>
              </a:buClr>
              <a:buSzPts val="2100"/>
              <a:buFont typeface="Arial"/>
              <a:buNone/>
            </a:pPr>
            <a:r>
              <a:rPr lang="en-US" sz="2100" b="0" i="1" u="none" strike="noStrike" cap="none">
                <a:solidFill>
                  <a:srgbClr val="000000"/>
                </a:solidFill>
                <a:latin typeface="Times New Roman"/>
                <a:ea typeface="Times New Roman"/>
                <a:cs typeface="Times New Roman"/>
                <a:sym typeface="Times New Roman"/>
              </a:rPr>
              <a:t>x</a:t>
            </a:r>
            <a:r>
              <a:rPr lang="en-US" sz="2100" b="0" i="0" u="none" strike="noStrike" cap="none" baseline="30000">
                <a:solidFill>
                  <a:srgbClr val="000000"/>
                </a:solidFill>
                <a:latin typeface="Noto Sans Symbols"/>
                <a:ea typeface="Noto Sans Symbols"/>
                <a:cs typeface="Noto Sans Symbols"/>
                <a:sym typeface="Noto Sans Symbols"/>
              </a:rPr>
              <a:t>′</a:t>
            </a:r>
            <a:r>
              <a:rPr lang="en-US" sz="2100" b="0" i="0" u="none" strike="noStrike" cap="none" baseline="30000">
                <a:solidFill>
                  <a:srgbClr val="000000"/>
                </a:solidFill>
                <a:latin typeface="Times New Roman"/>
                <a:ea typeface="Times New Roman"/>
                <a:cs typeface="Times New Roman"/>
                <a:sym typeface="Times New Roman"/>
              </a:rPr>
              <a:t> </a:t>
            </a:r>
            <a:r>
              <a:rPr lang="en-US" sz="2100" b="0" i="0" u="none" strike="noStrike" cap="none">
                <a:solidFill>
                  <a:srgbClr val="000000"/>
                </a:solidFill>
                <a:latin typeface="Noto Sans Symbols"/>
                <a:ea typeface="Noto Sans Symbols"/>
                <a:cs typeface="Noto Sans Symbols"/>
                <a:sym typeface="Noto Sans Symbols"/>
              </a:rPr>
              <a:t>=</a:t>
            </a:r>
            <a:r>
              <a:rPr lang="en-US" sz="2100" b="0" i="0" u="none" strike="noStrike" cap="none">
                <a:solidFill>
                  <a:srgbClr val="000000"/>
                </a:solidFill>
                <a:latin typeface="Times New Roman"/>
                <a:ea typeface="Times New Roman"/>
                <a:cs typeface="Times New Roman"/>
                <a:sym typeface="Times New Roman"/>
              </a:rPr>
              <a:t> </a:t>
            </a:r>
            <a:r>
              <a:rPr lang="en-US" sz="2100" b="0" i="1" u="none" strike="noStrike" cap="none">
                <a:solidFill>
                  <a:srgbClr val="000000"/>
                </a:solidFill>
                <a:latin typeface="Times New Roman"/>
                <a:ea typeface="Times New Roman"/>
                <a:cs typeface="Times New Roman"/>
                <a:sym typeface="Times New Roman"/>
              </a:rPr>
              <a:t>xS</a:t>
            </a:r>
            <a:r>
              <a:rPr lang="en-US" sz="2100" b="0" i="1" u="none" strike="noStrike" cap="none" baseline="-25000">
                <a:solidFill>
                  <a:srgbClr val="000000"/>
                </a:solidFill>
                <a:latin typeface="Times New Roman"/>
                <a:ea typeface="Times New Roman"/>
                <a:cs typeface="Times New Roman"/>
                <a:sym typeface="Times New Roman"/>
              </a:rPr>
              <a:t>x</a:t>
            </a:r>
            <a:endParaRPr sz="2100" b="0" i="0" u="none" strike="noStrike" cap="none" baseline="-25000">
              <a:solidFill>
                <a:srgbClr val="000000"/>
              </a:solidFill>
              <a:latin typeface="Times New Roman"/>
              <a:ea typeface="Times New Roman"/>
              <a:cs typeface="Times New Roman"/>
              <a:sym typeface="Times New Roman"/>
            </a:endParaRPr>
          </a:p>
          <a:p>
            <a:pPr marL="914400" marR="0" lvl="0" indent="0" algn="l" rtl="0">
              <a:lnSpc>
                <a:spcPct val="100000"/>
              </a:lnSpc>
              <a:spcBef>
                <a:spcPts val="1000"/>
              </a:spcBef>
              <a:spcAft>
                <a:spcPts val="0"/>
              </a:spcAft>
              <a:buClr>
                <a:srgbClr val="000000"/>
              </a:buClr>
              <a:buSzPts val="2100"/>
              <a:buFont typeface="Arial"/>
              <a:buNone/>
            </a:pPr>
            <a:r>
              <a:rPr lang="en-US" sz="2100" b="0" i="1" u="none" strike="noStrike" cap="none">
                <a:solidFill>
                  <a:srgbClr val="000000"/>
                </a:solidFill>
                <a:latin typeface="Times New Roman"/>
                <a:ea typeface="Times New Roman"/>
                <a:cs typeface="Times New Roman"/>
                <a:sym typeface="Times New Roman"/>
              </a:rPr>
              <a:t>y</a:t>
            </a:r>
            <a:r>
              <a:rPr lang="en-US" sz="2100" b="0" i="0" u="none" strike="noStrike" cap="none" baseline="30000">
                <a:solidFill>
                  <a:srgbClr val="000000"/>
                </a:solidFill>
                <a:latin typeface="Noto Sans Symbols"/>
                <a:ea typeface="Noto Sans Symbols"/>
                <a:cs typeface="Noto Sans Symbols"/>
                <a:sym typeface="Noto Sans Symbols"/>
              </a:rPr>
              <a:t>′</a:t>
            </a:r>
            <a:r>
              <a:rPr lang="en-US" sz="2100" b="0" i="0" u="none" strike="noStrike" cap="none" baseline="30000">
                <a:solidFill>
                  <a:srgbClr val="000000"/>
                </a:solidFill>
                <a:latin typeface="Times New Roman"/>
                <a:ea typeface="Times New Roman"/>
                <a:cs typeface="Times New Roman"/>
                <a:sym typeface="Times New Roman"/>
              </a:rPr>
              <a:t> </a:t>
            </a:r>
            <a:r>
              <a:rPr lang="en-US" sz="2100" b="0" i="0" u="none" strike="noStrike" cap="none">
                <a:solidFill>
                  <a:srgbClr val="000000"/>
                </a:solidFill>
                <a:latin typeface="Noto Sans Symbols"/>
                <a:ea typeface="Noto Sans Symbols"/>
                <a:cs typeface="Noto Sans Symbols"/>
                <a:sym typeface="Noto Sans Symbols"/>
              </a:rPr>
              <a:t>=</a:t>
            </a:r>
            <a:r>
              <a:rPr lang="en-US" sz="2100" b="0" i="0" u="none" strike="noStrike" cap="none">
                <a:solidFill>
                  <a:srgbClr val="000000"/>
                </a:solidFill>
                <a:latin typeface="Times New Roman"/>
                <a:ea typeface="Times New Roman"/>
                <a:cs typeface="Times New Roman"/>
                <a:sym typeface="Times New Roman"/>
              </a:rPr>
              <a:t> </a:t>
            </a:r>
            <a:r>
              <a:rPr lang="en-US" sz="2100" b="0" i="1" u="none" strike="noStrike" cap="none">
                <a:solidFill>
                  <a:srgbClr val="000000"/>
                </a:solidFill>
                <a:latin typeface="Times New Roman"/>
                <a:ea typeface="Times New Roman"/>
                <a:cs typeface="Times New Roman"/>
                <a:sym typeface="Times New Roman"/>
              </a:rPr>
              <a:t>yS</a:t>
            </a:r>
            <a:r>
              <a:rPr lang="en-US" sz="2100" b="0" i="1" u="none" strike="noStrike" cap="none" baseline="-25000">
                <a:solidFill>
                  <a:srgbClr val="000000"/>
                </a:solidFill>
                <a:latin typeface="Times New Roman"/>
                <a:ea typeface="Times New Roman"/>
                <a:cs typeface="Times New Roman"/>
                <a:sym typeface="Times New Roman"/>
              </a:rPr>
              <a:t>y</a:t>
            </a:r>
            <a:endParaRPr sz="2300" b="0" i="0" u="none" strike="noStrike" cap="none">
              <a:solidFill>
                <a:srgbClr val="434343"/>
              </a:solidFill>
              <a:latin typeface="Times New Roman"/>
              <a:ea typeface="Times New Roman"/>
              <a:cs typeface="Times New Roman"/>
              <a:sym typeface="Times New Roman"/>
            </a:endParaRPr>
          </a:p>
          <a:p>
            <a:pPr marL="457200" marR="0" lvl="0" indent="-355600" algn="l" rtl="0">
              <a:lnSpc>
                <a:spcPct val="100000"/>
              </a:lnSpc>
              <a:spcBef>
                <a:spcPts val="1000"/>
              </a:spcBef>
              <a:spcAft>
                <a:spcPts val="0"/>
              </a:spcAft>
              <a:buClr>
                <a:srgbClr val="0B5394"/>
              </a:buClr>
              <a:buSzPts val="2000"/>
              <a:buFont typeface="Times New Roman"/>
              <a:buChar char="■"/>
            </a:pPr>
            <a:r>
              <a:rPr lang="en-US" sz="2000" b="0" i="0" u="none" strike="noStrike" cap="none">
                <a:solidFill>
                  <a:schemeClr val="dk1"/>
                </a:solidFill>
                <a:latin typeface="Calibri"/>
                <a:ea typeface="Calibri"/>
                <a:cs typeface="Calibri"/>
                <a:sym typeface="Calibri"/>
              </a:rPr>
              <a:t>Represent</a:t>
            </a:r>
            <a:r>
              <a:rPr lang="en-US" sz="2000" b="0"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Calibri"/>
                <a:ea typeface="Calibri"/>
                <a:cs typeface="Calibri"/>
                <a:sym typeface="Calibri"/>
              </a:rPr>
              <a:t>in</a:t>
            </a:r>
            <a:r>
              <a:rPr lang="en-US" sz="2000" b="0" i="0" u="none" strike="noStrike" cap="none">
                <a:solidFill>
                  <a:schemeClr val="dk1"/>
                </a:solidFill>
                <a:latin typeface="Times New Roman"/>
                <a:ea typeface="Times New Roman"/>
                <a:cs typeface="Times New Roman"/>
                <a:sym typeface="Times New Roman"/>
              </a:rPr>
              <a:t> </a:t>
            </a:r>
            <a:r>
              <a:rPr lang="en-US" sz="2000" b="0" i="0" u="none" strike="noStrike" cap="none">
                <a:solidFill>
                  <a:schemeClr val="dk1"/>
                </a:solidFill>
                <a:latin typeface="Calibri"/>
                <a:ea typeface="Calibri"/>
                <a:cs typeface="Calibri"/>
                <a:sym typeface="Calibri"/>
              </a:rPr>
              <a:t>a matrix.</a:t>
            </a:r>
            <a:endParaRPr sz="2000" b="0" i="0" u="none" strike="noStrike" cap="none">
              <a:solidFill>
                <a:schemeClr val="dk1"/>
              </a:solidFill>
              <a:latin typeface="Arial"/>
              <a:ea typeface="Arial"/>
              <a:cs typeface="Arial"/>
              <a:sym typeface="Arial"/>
            </a:endParaRPr>
          </a:p>
          <a:p>
            <a:pPr marL="457200" marR="0" lvl="0" indent="0" algn="just" rtl="0">
              <a:lnSpc>
                <a:spcPct val="100000"/>
              </a:lnSpc>
              <a:spcBef>
                <a:spcPts val="1000"/>
              </a:spcBef>
              <a:spcAft>
                <a:spcPts val="0"/>
              </a:spcAft>
              <a:buClr>
                <a:srgbClr val="000000"/>
              </a:buClr>
              <a:buSzPts val="2000"/>
              <a:buFont typeface="Arial"/>
              <a:buNone/>
            </a:pPr>
            <a:endParaRPr sz="2000" b="0" i="0" u="none" strike="noStrike" cap="none">
              <a:solidFill>
                <a:srgbClr val="434343"/>
              </a:solidFill>
              <a:latin typeface="Times New Roman"/>
              <a:ea typeface="Times New Roman"/>
              <a:cs typeface="Times New Roman"/>
              <a:sym typeface="Times New Roman"/>
            </a:endParaRPr>
          </a:p>
        </p:txBody>
      </p:sp>
      <p:sp>
        <p:nvSpPr>
          <p:cNvPr id="193" name="Google Shape;193;g3bb5fbf5691_0_121"/>
          <p:cNvSpPr txBox="1"/>
          <p:nvPr/>
        </p:nvSpPr>
        <p:spPr>
          <a:xfrm>
            <a:off x="6133350" y="5784463"/>
            <a:ext cx="2706600" cy="46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980000"/>
                </a:solidFill>
                <a:latin typeface="Times New Roman"/>
                <a:ea typeface="Times New Roman"/>
                <a:cs typeface="Times New Roman"/>
                <a:sym typeface="Times New Roman"/>
              </a:rPr>
              <a:t>Scaling of objects</a:t>
            </a:r>
            <a:endParaRPr sz="1800" b="1" i="0" u="none" strike="noStrike" cap="none">
              <a:solidFill>
                <a:srgbClr val="980000"/>
              </a:solidFill>
              <a:latin typeface="Times New Roman"/>
              <a:ea typeface="Times New Roman"/>
              <a:cs typeface="Times New Roman"/>
              <a:sym typeface="Times New Roman"/>
            </a:endParaRPr>
          </a:p>
        </p:txBody>
      </p:sp>
      <p:pic>
        <p:nvPicPr>
          <p:cNvPr id="194" name="Google Shape;194;g3bb5fbf5691_0_121" title="scaleAnimate.gif"/>
          <p:cNvPicPr preferRelativeResize="0"/>
          <p:nvPr/>
        </p:nvPicPr>
        <p:blipFill rotWithShape="1">
          <a:blip r:embed="rId4">
            <a:alphaModFix/>
          </a:blip>
          <a:srcRect/>
          <a:stretch/>
        </p:blipFill>
        <p:spPr>
          <a:xfrm>
            <a:off x="5385100" y="3154650"/>
            <a:ext cx="3397300" cy="2521725"/>
          </a:xfrm>
          <a:prstGeom prst="rect">
            <a:avLst/>
          </a:prstGeom>
          <a:noFill/>
          <a:ln>
            <a:noFill/>
          </a:ln>
        </p:spPr>
      </p:pic>
      <p:sp>
        <p:nvSpPr>
          <p:cNvPr id="195" name="Google Shape;195;g3bb5fbf5691_0_121"/>
          <p:cNvSpPr txBox="1"/>
          <p:nvPr/>
        </p:nvSpPr>
        <p:spPr>
          <a:xfrm>
            <a:off x="1854220" y="4159089"/>
            <a:ext cx="1405200" cy="8076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67"/>
              <a:buFont typeface="Arial"/>
              <a:buNone/>
            </a:pPr>
            <a:endParaRPr sz="1467" b="0" i="0" u="none" strike="noStrike" cap="none">
              <a:solidFill>
                <a:srgbClr val="000000"/>
              </a:solidFill>
              <a:latin typeface="Calibri"/>
              <a:ea typeface="Calibri"/>
              <a:cs typeface="Calibri"/>
              <a:sym typeface="Calibri"/>
            </a:endParaRPr>
          </a:p>
        </p:txBody>
      </p:sp>
      <p:sp>
        <p:nvSpPr>
          <p:cNvPr id="196" name="Google Shape;196;g3bb5fbf5691_0_121"/>
          <p:cNvSpPr txBox="1"/>
          <p:nvPr/>
        </p:nvSpPr>
        <p:spPr>
          <a:xfrm>
            <a:off x="3591812" y="4102672"/>
            <a:ext cx="978600" cy="7686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67"/>
              <a:buFont typeface="Arial"/>
              <a:buNone/>
            </a:pPr>
            <a:endParaRPr sz="1467" b="0" i="0" u="none" strike="noStrike" cap="none">
              <a:solidFill>
                <a:srgbClr val="000000"/>
              </a:solidFill>
              <a:latin typeface="Calibri"/>
              <a:ea typeface="Calibri"/>
              <a:cs typeface="Calibri"/>
              <a:sym typeface="Calibri"/>
            </a:endParaRPr>
          </a:p>
        </p:txBody>
      </p:sp>
      <p:sp>
        <p:nvSpPr>
          <p:cNvPr id="197" name="Google Shape;197;g3bb5fbf5691_0_121"/>
          <p:cNvSpPr txBox="1"/>
          <p:nvPr/>
        </p:nvSpPr>
        <p:spPr>
          <a:xfrm>
            <a:off x="509830" y="5292565"/>
            <a:ext cx="1056300" cy="3495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67"/>
              <a:buFont typeface="Arial"/>
              <a:buNone/>
            </a:pPr>
            <a:endParaRPr sz="1467" b="0" i="0" u="none" strike="noStrike" cap="none">
              <a:solidFill>
                <a:srgbClr val="000000"/>
              </a:solidFill>
              <a:latin typeface="Calibri"/>
              <a:ea typeface="Calibri"/>
              <a:cs typeface="Calibri"/>
              <a:sym typeface="Calibri"/>
            </a:endParaRPr>
          </a:p>
        </p:txBody>
      </p:sp>
      <p:sp>
        <p:nvSpPr>
          <p:cNvPr id="198" name="Google Shape;198;g3bb5fbf5691_0_121"/>
          <p:cNvSpPr txBox="1"/>
          <p:nvPr/>
        </p:nvSpPr>
        <p:spPr>
          <a:xfrm>
            <a:off x="1566134" y="5137636"/>
            <a:ext cx="2259600" cy="753300"/>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67"/>
              <a:buFont typeface="Arial"/>
              <a:buNone/>
            </a:pPr>
            <a:endParaRPr sz="1467" b="0" i="0" u="none" strike="noStrike" cap="none">
              <a:solidFill>
                <a:srgbClr val="000000"/>
              </a:solidFill>
              <a:latin typeface="Calibri"/>
              <a:ea typeface="Calibri"/>
              <a:cs typeface="Calibri"/>
              <a:sym typeface="Calibri"/>
            </a:endParaRPr>
          </a:p>
        </p:txBody>
      </p:sp>
      <p:sp>
        <p:nvSpPr>
          <p:cNvPr id="199" name="Google Shape;199;g3bb5fbf5691_0_121"/>
          <p:cNvSpPr txBox="1"/>
          <p:nvPr/>
        </p:nvSpPr>
        <p:spPr>
          <a:xfrm>
            <a:off x="3710325" y="3836800"/>
            <a:ext cx="82800" cy="213300"/>
          </a:xfrm>
          <a:prstGeom prst="rect">
            <a:avLst/>
          </a:prstGeom>
          <a:noFill/>
          <a:ln>
            <a:noFill/>
          </a:ln>
        </p:spPr>
        <p:txBody>
          <a:bodyPr spcFirstLastPara="1" wrap="square" lIns="0" tIns="0" rIns="0" bIns="0" anchor="t" anchorCtr="0">
            <a:spAutoFit/>
          </a:bodyPr>
          <a:lstStyle/>
          <a:p>
            <a:pPr marL="10353" marR="0" lvl="0" indent="0" algn="l" rtl="0">
              <a:lnSpc>
                <a:spcPct val="100000"/>
              </a:lnSpc>
              <a:spcBef>
                <a:spcPts val="0"/>
              </a:spcBef>
              <a:spcAft>
                <a:spcPts val="0"/>
              </a:spcAft>
              <a:buClr>
                <a:srgbClr val="000000"/>
              </a:buClr>
              <a:buSzPts val="1386"/>
              <a:buFont typeface="Arial"/>
              <a:buNone/>
            </a:pPr>
            <a:r>
              <a:rPr lang="en-US" sz="1385" b="0" i="0" u="none" strike="noStrike" cap="none">
                <a:solidFill>
                  <a:srgbClr val="000000"/>
                </a:solidFill>
                <a:latin typeface="Arial"/>
                <a:ea typeface="Arial"/>
                <a:cs typeface="Arial"/>
                <a:sym typeface="Arial"/>
              </a:rPr>
              <a:t>•</a:t>
            </a:r>
            <a:endParaRPr sz="1141" b="0" i="0" u="none" strike="noStrike" cap="none">
              <a:solidFill>
                <a:srgbClr val="000000"/>
              </a:solidFill>
              <a:latin typeface="Arial"/>
              <a:ea typeface="Arial"/>
              <a:cs typeface="Arial"/>
              <a:sym typeface="Arial"/>
            </a:endParaRPr>
          </a:p>
        </p:txBody>
      </p:sp>
      <p:sp>
        <p:nvSpPr>
          <p:cNvPr id="200" name="Google Shape;200;g3bb5fbf5691_0_121"/>
          <p:cNvSpPr txBox="1"/>
          <p:nvPr/>
        </p:nvSpPr>
        <p:spPr>
          <a:xfrm>
            <a:off x="509825" y="4186152"/>
            <a:ext cx="931800" cy="753300"/>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67"/>
              <a:buFont typeface="Arial"/>
              <a:buNone/>
            </a:pPr>
            <a:endParaRPr sz="1467" b="0" i="0" u="none" strike="noStrike" cap="non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5" name="Google Shape;205;g3bb5fbf5691_0_190"/>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06" name="Google Shape;206;g3bb5fbf5691_0_190"/>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
        <p:nvSpPr>
          <p:cNvPr id="207" name="Google Shape;207;g3bb5fbf5691_0_190"/>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(Scaling)</a:t>
            </a:r>
            <a:endParaRPr sz="3800" b="0" i="0" u="none" strike="noStrike" cap="none">
              <a:solidFill>
                <a:schemeClr val="lt1"/>
              </a:solidFill>
              <a:latin typeface="Calibri"/>
              <a:ea typeface="Calibri"/>
              <a:cs typeface="Calibri"/>
              <a:sym typeface="Calibri"/>
            </a:endParaRPr>
          </a:p>
        </p:txBody>
      </p:sp>
      <p:pic>
        <p:nvPicPr>
          <p:cNvPr id="208" name="Google Shape;208;g3bb5fbf5691_0_190"/>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grpSp>
        <p:nvGrpSpPr>
          <p:cNvPr id="209" name="Google Shape;209;g3bb5fbf5691_0_190"/>
          <p:cNvGrpSpPr/>
          <p:nvPr/>
        </p:nvGrpSpPr>
        <p:grpSpPr>
          <a:xfrm>
            <a:off x="591175" y="4121500"/>
            <a:ext cx="2346055" cy="1339500"/>
            <a:chOff x="576" y="3132"/>
            <a:chExt cx="1200" cy="900"/>
          </a:xfrm>
        </p:grpSpPr>
        <p:cxnSp>
          <p:nvCxnSpPr>
            <p:cNvPr id="210" name="Google Shape;210;g3bb5fbf5691_0_190"/>
            <p:cNvCxnSpPr/>
            <p:nvPr/>
          </p:nvCxnSpPr>
          <p:spPr>
            <a:xfrm rot="10800000">
              <a:off x="720" y="3132"/>
              <a:ext cx="0" cy="900"/>
            </a:xfrm>
            <a:prstGeom prst="straightConnector1">
              <a:avLst/>
            </a:prstGeom>
            <a:noFill/>
            <a:ln w="9825" cap="flat" cmpd="sng">
              <a:solidFill>
                <a:srgbClr val="000000"/>
              </a:solidFill>
              <a:prstDash val="solid"/>
              <a:miter lim="800000"/>
              <a:headEnd type="none" w="sm" len="sm"/>
              <a:tailEnd type="triangle" w="med" len="med"/>
            </a:ln>
          </p:spPr>
        </p:cxnSp>
        <p:cxnSp>
          <p:nvCxnSpPr>
            <p:cNvPr id="211" name="Google Shape;211;g3bb5fbf5691_0_190"/>
            <p:cNvCxnSpPr/>
            <p:nvPr/>
          </p:nvCxnSpPr>
          <p:spPr>
            <a:xfrm>
              <a:off x="576" y="3936"/>
              <a:ext cx="1200" cy="0"/>
            </a:xfrm>
            <a:prstGeom prst="straightConnector1">
              <a:avLst/>
            </a:prstGeom>
            <a:noFill/>
            <a:ln w="9825" cap="flat" cmpd="sng">
              <a:solidFill>
                <a:srgbClr val="000000"/>
              </a:solidFill>
              <a:prstDash val="solid"/>
              <a:miter lim="800000"/>
              <a:headEnd type="none" w="sm" len="sm"/>
              <a:tailEnd type="triangle" w="med" len="med"/>
            </a:ln>
          </p:spPr>
        </p:cxnSp>
        <p:sp>
          <p:nvSpPr>
            <p:cNvPr id="212" name="Google Shape;212;g3bb5fbf5691_0_190"/>
            <p:cNvSpPr txBox="1"/>
            <p:nvPr/>
          </p:nvSpPr>
          <p:spPr>
            <a:xfrm>
              <a:off x="1152" y="3456"/>
              <a:ext cx="300" cy="300"/>
            </a:xfrm>
            <a:prstGeom prst="rect">
              <a:avLst/>
            </a:prstGeom>
            <a:noFill/>
            <a:ln w="9825" cap="flat" cmpd="sng">
              <a:solidFill>
                <a:srgbClr val="000000"/>
              </a:solidFill>
              <a:prstDash val="solid"/>
              <a:miter lim="800000"/>
              <a:headEnd type="none" w="sm" len="sm"/>
              <a:tailEnd type="none" w="sm" len="sm"/>
            </a:ln>
          </p:spPr>
          <p:txBody>
            <a:bodyPr spcFirstLastPara="1" wrap="square" lIns="94050" tIns="47025" rIns="94050" bIns="47025" anchor="ctr" anchorCtr="0">
              <a:noAutofit/>
            </a:bodyPr>
            <a:lstStyle/>
            <a:p>
              <a:pPr marL="0" marR="0" lvl="0" indent="0" algn="l" rtl="0">
                <a:lnSpc>
                  <a:spcPct val="100000"/>
                </a:lnSpc>
                <a:spcBef>
                  <a:spcPts val="0"/>
                </a:spcBef>
                <a:spcAft>
                  <a:spcPts val="0"/>
                </a:spcAft>
                <a:buClr>
                  <a:srgbClr val="000000"/>
                </a:buClr>
                <a:buSzPts val="1851"/>
                <a:buFont typeface="Arial"/>
                <a:buNone/>
              </a:pPr>
              <a:endParaRPr sz="1851" b="0" i="0" u="none" strike="noStrike" cap="none">
                <a:solidFill>
                  <a:srgbClr val="000000"/>
                </a:solidFill>
                <a:latin typeface="Tahoma"/>
                <a:ea typeface="Tahoma"/>
                <a:cs typeface="Tahoma"/>
                <a:sym typeface="Tahoma"/>
              </a:endParaRPr>
            </a:p>
          </p:txBody>
        </p:sp>
        <p:sp>
          <p:nvSpPr>
            <p:cNvPr id="213" name="Google Shape;213;g3bb5fbf5691_0_190"/>
            <p:cNvSpPr txBox="1"/>
            <p:nvPr/>
          </p:nvSpPr>
          <p:spPr>
            <a:xfrm>
              <a:off x="902" y="3731"/>
              <a:ext cx="300" cy="300"/>
            </a:xfrm>
            <a:prstGeom prst="rect">
              <a:avLst/>
            </a:prstGeom>
            <a:noFill/>
            <a:ln>
              <a:noFill/>
            </a:ln>
          </p:spPr>
          <p:txBody>
            <a:bodyPr spcFirstLastPara="1" wrap="square" lIns="94050" tIns="47025" rIns="94050" bIns="47025" anchor="t" anchorCtr="0">
              <a:spAutoFit/>
            </a:bodyPr>
            <a:lstStyle/>
            <a:p>
              <a:pPr marL="0" marR="0" lvl="0" indent="0" algn="l" rtl="0">
                <a:lnSpc>
                  <a:spcPct val="100000"/>
                </a:lnSpc>
                <a:spcBef>
                  <a:spcPts val="0"/>
                </a:spcBef>
                <a:spcAft>
                  <a:spcPts val="0"/>
                </a:spcAft>
                <a:buClr>
                  <a:srgbClr val="000000"/>
                </a:buClr>
                <a:buSzPts val="1646"/>
                <a:buFont typeface="Tahoma"/>
                <a:buNone/>
              </a:pPr>
              <a:r>
                <a:rPr lang="en-US" sz="1446" b="0" i="0" u="none" strike="noStrike" cap="none">
                  <a:solidFill>
                    <a:srgbClr val="000000"/>
                  </a:solidFill>
                  <a:latin typeface="Tahoma"/>
                  <a:ea typeface="Tahoma"/>
                  <a:cs typeface="Tahoma"/>
                  <a:sym typeface="Tahoma"/>
                </a:rPr>
                <a:t>(1,1)</a:t>
              </a:r>
              <a:endParaRPr sz="1240" b="0" i="0" u="none" strike="noStrike" cap="none">
                <a:solidFill>
                  <a:srgbClr val="000000"/>
                </a:solidFill>
                <a:latin typeface="Arial"/>
                <a:ea typeface="Arial"/>
                <a:cs typeface="Arial"/>
                <a:sym typeface="Arial"/>
              </a:endParaRPr>
            </a:p>
          </p:txBody>
        </p:sp>
        <p:sp>
          <p:nvSpPr>
            <p:cNvPr id="214" name="Google Shape;214;g3bb5fbf5691_0_190"/>
            <p:cNvSpPr txBox="1"/>
            <p:nvPr/>
          </p:nvSpPr>
          <p:spPr>
            <a:xfrm>
              <a:off x="1452" y="3231"/>
              <a:ext cx="300" cy="300"/>
            </a:xfrm>
            <a:prstGeom prst="rect">
              <a:avLst/>
            </a:prstGeom>
            <a:noFill/>
            <a:ln>
              <a:noFill/>
            </a:ln>
          </p:spPr>
          <p:txBody>
            <a:bodyPr spcFirstLastPara="1" wrap="square" lIns="94050" tIns="47025" rIns="94050" bIns="47025" anchor="t" anchorCtr="0">
              <a:spAutoFit/>
            </a:bodyPr>
            <a:lstStyle/>
            <a:p>
              <a:pPr marL="0" marR="0" lvl="0" indent="0" algn="l" rtl="0">
                <a:lnSpc>
                  <a:spcPct val="100000"/>
                </a:lnSpc>
                <a:spcBef>
                  <a:spcPts val="0"/>
                </a:spcBef>
                <a:spcAft>
                  <a:spcPts val="0"/>
                </a:spcAft>
                <a:buClr>
                  <a:srgbClr val="000000"/>
                </a:buClr>
                <a:buSzPts val="1646"/>
                <a:buFont typeface="Tahoma"/>
                <a:buNone/>
              </a:pPr>
              <a:r>
                <a:rPr lang="en-US" sz="1446" b="0" i="0" u="none" strike="noStrike" cap="none">
                  <a:solidFill>
                    <a:srgbClr val="000000"/>
                  </a:solidFill>
                  <a:latin typeface="Tahoma"/>
                  <a:ea typeface="Tahoma"/>
                  <a:cs typeface="Tahoma"/>
                  <a:sym typeface="Tahoma"/>
                </a:rPr>
                <a:t>(2,2)</a:t>
              </a:r>
              <a:endParaRPr sz="1240" b="0" i="0" u="none" strike="noStrike" cap="none">
                <a:solidFill>
                  <a:srgbClr val="000000"/>
                </a:solidFill>
                <a:latin typeface="Arial"/>
                <a:ea typeface="Arial"/>
                <a:cs typeface="Arial"/>
                <a:sym typeface="Arial"/>
              </a:endParaRPr>
            </a:p>
          </p:txBody>
        </p:sp>
      </p:grpSp>
      <p:grpSp>
        <p:nvGrpSpPr>
          <p:cNvPr id="215" name="Google Shape;215;g3bb5fbf5691_0_190"/>
          <p:cNvGrpSpPr/>
          <p:nvPr/>
        </p:nvGrpSpPr>
        <p:grpSpPr>
          <a:xfrm>
            <a:off x="3375275" y="4278657"/>
            <a:ext cx="1561208" cy="397491"/>
            <a:chOff x="2160" y="3251"/>
            <a:chExt cx="900" cy="301"/>
          </a:xfrm>
        </p:grpSpPr>
        <p:sp>
          <p:nvSpPr>
            <p:cNvPr id="216" name="Google Shape;216;g3bb5fbf5691_0_190"/>
            <p:cNvSpPr/>
            <p:nvPr/>
          </p:nvSpPr>
          <p:spPr>
            <a:xfrm>
              <a:off x="2304" y="3552"/>
              <a:ext cx="600" cy="0"/>
            </a:xfrm>
            <a:prstGeom prst="rightArrow">
              <a:avLst>
                <a:gd name="adj1" fmla="val 50000"/>
                <a:gd name="adj2" fmla="val 50000"/>
              </a:avLst>
            </a:prstGeom>
            <a:solidFill>
              <a:srgbClr val="4F81BD"/>
            </a:solidFill>
            <a:ln w="9525" cap="flat" cmpd="sng">
              <a:solidFill>
                <a:srgbClr val="000000"/>
              </a:solidFill>
              <a:prstDash val="solid"/>
              <a:miter lim="800000"/>
              <a:headEnd type="none" w="sm" len="sm"/>
              <a:tailEnd type="none" w="sm" len="sm"/>
            </a:ln>
          </p:spPr>
          <p:txBody>
            <a:bodyPr spcFirstLastPara="1" wrap="square" lIns="83450" tIns="41725" rIns="83450" bIns="41725" anchor="ctr" anchorCtr="0">
              <a:noAutofit/>
            </a:bodyPr>
            <a:lstStyle/>
            <a:p>
              <a:pPr marL="0" marR="0" lvl="0" indent="0" algn="l" rtl="0">
                <a:lnSpc>
                  <a:spcPct val="100000"/>
                </a:lnSpc>
                <a:spcBef>
                  <a:spcPts val="0"/>
                </a:spcBef>
                <a:spcAft>
                  <a:spcPts val="0"/>
                </a:spcAft>
                <a:buClr>
                  <a:srgbClr val="000000"/>
                </a:buClr>
                <a:buSzPts val="1643"/>
                <a:buFont typeface="Arial"/>
                <a:buNone/>
              </a:pPr>
              <a:endParaRPr sz="1643" b="0" i="0" u="none" strike="noStrike" cap="none">
                <a:solidFill>
                  <a:srgbClr val="000000"/>
                </a:solidFill>
                <a:latin typeface="Tahoma"/>
                <a:ea typeface="Tahoma"/>
                <a:cs typeface="Tahoma"/>
                <a:sym typeface="Tahoma"/>
              </a:endParaRPr>
            </a:p>
          </p:txBody>
        </p:sp>
        <p:sp>
          <p:nvSpPr>
            <p:cNvPr id="217" name="Google Shape;217;g3bb5fbf5691_0_190"/>
            <p:cNvSpPr txBox="1"/>
            <p:nvPr/>
          </p:nvSpPr>
          <p:spPr>
            <a:xfrm>
              <a:off x="2160" y="3251"/>
              <a:ext cx="900" cy="300"/>
            </a:xfrm>
            <a:prstGeom prst="rect">
              <a:avLst/>
            </a:prstGeom>
            <a:noFill/>
            <a:ln>
              <a:noFill/>
            </a:ln>
          </p:spPr>
          <p:txBody>
            <a:bodyPr spcFirstLastPara="1" wrap="square" lIns="83450" tIns="41725" rIns="83450" bIns="41725" anchor="t" anchorCtr="0">
              <a:spAutoFit/>
            </a:bodyPr>
            <a:lstStyle/>
            <a:p>
              <a:pPr marL="0" marR="0" lvl="0" indent="0" algn="l" rtl="0">
                <a:lnSpc>
                  <a:spcPct val="100000"/>
                </a:lnSpc>
                <a:spcBef>
                  <a:spcPts val="0"/>
                </a:spcBef>
                <a:spcAft>
                  <a:spcPts val="0"/>
                </a:spcAft>
                <a:buClr>
                  <a:srgbClr val="000000"/>
                </a:buClr>
                <a:buSzPts val="1461"/>
                <a:buFont typeface="Tahoma"/>
                <a:buNone/>
              </a:pPr>
              <a:r>
                <a:rPr lang="en-US" sz="1460" b="0" i="0" u="none" strike="noStrike" cap="none">
                  <a:solidFill>
                    <a:srgbClr val="000000"/>
                  </a:solidFill>
                  <a:latin typeface="Tahoma"/>
                  <a:ea typeface="Tahoma"/>
                  <a:cs typeface="Tahoma"/>
                  <a:sym typeface="Tahoma"/>
                </a:rPr>
                <a:t>Sx = 2, Sy = 2  </a:t>
              </a:r>
              <a:endParaRPr sz="1278" b="0" i="0" u="none" strike="noStrike" cap="none">
                <a:solidFill>
                  <a:srgbClr val="000000"/>
                </a:solidFill>
                <a:latin typeface="Arial"/>
                <a:ea typeface="Arial"/>
                <a:cs typeface="Arial"/>
                <a:sym typeface="Arial"/>
              </a:endParaRPr>
            </a:p>
          </p:txBody>
        </p:sp>
      </p:grpSp>
      <p:grpSp>
        <p:nvGrpSpPr>
          <p:cNvPr id="218" name="Google Shape;218;g3bb5fbf5691_0_190"/>
          <p:cNvGrpSpPr/>
          <p:nvPr/>
        </p:nvGrpSpPr>
        <p:grpSpPr>
          <a:xfrm>
            <a:off x="5625149" y="3915500"/>
            <a:ext cx="2850071" cy="1394520"/>
            <a:chOff x="3457" y="2976"/>
            <a:chExt cx="1643" cy="1056"/>
          </a:xfrm>
        </p:grpSpPr>
        <p:cxnSp>
          <p:nvCxnSpPr>
            <p:cNvPr id="219" name="Google Shape;219;g3bb5fbf5691_0_190"/>
            <p:cNvCxnSpPr/>
            <p:nvPr/>
          </p:nvCxnSpPr>
          <p:spPr>
            <a:xfrm rot="10800000">
              <a:off x="3601" y="3132"/>
              <a:ext cx="0" cy="900"/>
            </a:xfrm>
            <a:prstGeom prst="straightConnector1">
              <a:avLst/>
            </a:prstGeom>
            <a:noFill/>
            <a:ln w="9525" cap="flat" cmpd="sng">
              <a:solidFill>
                <a:srgbClr val="000000"/>
              </a:solidFill>
              <a:prstDash val="solid"/>
              <a:miter lim="800000"/>
              <a:headEnd type="none" w="sm" len="sm"/>
              <a:tailEnd type="triangle" w="med" len="med"/>
            </a:ln>
          </p:spPr>
        </p:cxnSp>
        <p:cxnSp>
          <p:nvCxnSpPr>
            <p:cNvPr id="220" name="Google Shape;220;g3bb5fbf5691_0_190"/>
            <p:cNvCxnSpPr/>
            <p:nvPr/>
          </p:nvCxnSpPr>
          <p:spPr>
            <a:xfrm>
              <a:off x="3457" y="3936"/>
              <a:ext cx="1200" cy="0"/>
            </a:xfrm>
            <a:prstGeom prst="straightConnector1">
              <a:avLst/>
            </a:prstGeom>
            <a:noFill/>
            <a:ln w="9525" cap="flat" cmpd="sng">
              <a:solidFill>
                <a:srgbClr val="000000"/>
              </a:solidFill>
              <a:prstDash val="solid"/>
              <a:miter lim="800000"/>
              <a:headEnd type="none" w="sm" len="sm"/>
              <a:tailEnd type="triangle" w="med" len="med"/>
            </a:ln>
          </p:spPr>
        </p:cxnSp>
        <p:sp>
          <p:nvSpPr>
            <p:cNvPr id="221" name="Google Shape;221;g3bb5fbf5691_0_190"/>
            <p:cNvSpPr txBox="1"/>
            <p:nvPr/>
          </p:nvSpPr>
          <p:spPr>
            <a:xfrm>
              <a:off x="4128" y="3120"/>
              <a:ext cx="600" cy="600"/>
            </a:xfrm>
            <a:prstGeom prst="rect">
              <a:avLst/>
            </a:prstGeom>
            <a:noFill/>
            <a:ln w="9525" cap="flat" cmpd="sng">
              <a:solidFill>
                <a:srgbClr val="000000"/>
              </a:solidFill>
              <a:prstDash val="solid"/>
              <a:miter lim="800000"/>
              <a:headEnd type="none" w="sm" len="sm"/>
              <a:tailEnd type="none" w="sm" len="sm"/>
            </a:ln>
          </p:spPr>
          <p:txBody>
            <a:bodyPr spcFirstLastPara="1" wrap="square" lIns="83450" tIns="41725" rIns="83450" bIns="41725" anchor="ctr" anchorCtr="0">
              <a:noAutofit/>
            </a:bodyPr>
            <a:lstStyle/>
            <a:p>
              <a:pPr marL="0" marR="0" lvl="0" indent="0" algn="l" rtl="0">
                <a:lnSpc>
                  <a:spcPct val="100000"/>
                </a:lnSpc>
                <a:spcBef>
                  <a:spcPts val="0"/>
                </a:spcBef>
                <a:spcAft>
                  <a:spcPts val="0"/>
                </a:spcAft>
                <a:buClr>
                  <a:srgbClr val="000000"/>
                </a:buClr>
                <a:buSzPts val="1643"/>
                <a:buFont typeface="Arial"/>
                <a:buNone/>
              </a:pPr>
              <a:endParaRPr sz="1643" b="0" i="0" u="none" strike="noStrike" cap="none">
                <a:solidFill>
                  <a:srgbClr val="000000"/>
                </a:solidFill>
                <a:latin typeface="Tahoma"/>
                <a:ea typeface="Tahoma"/>
                <a:cs typeface="Tahoma"/>
                <a:sym typeface="Tahoma"/>
              </a:endParaRPr>
            </a:p>
          </p:txBody>
        </p:sp>
        <p:sp>
          <p:nvSpPr>
            <p:cNvPr id="222" name="Google Shape;222;g3bb5fbf5691_0_190"/>
            <p:cNvSpPr txBox="1"/>
            <p:nvPr/>
          </p:nvSpPr>
          <p:spPr>
            <a:xfrm>
              <a:off x="3792" y="3600"/>
              <a:ext cx="300" cy="300"/>
            </a:xfrm>
            <a:prstGeom prst="rect">
              <a:avLst/>
            </a:prstGeom>
            <a:noFill/>
            <a:ln>
              <a:noFill/>
            </a:ln>
          </p:spPr>
          <p:txBody>
            <a:bodyPr spcFirstLastPara="1" wrap="square" lIns="83450" tIns="41725" rIns="83450" bIns="41725" anchor="t" anchorCtr="0">
              <a:spAutoFit/>
            </a:bodyPr>
            <a:lstStyle/>
            <a:p>
              <a:pPr marL="0" marR="0" lvl="0" indent="0" algn="l" rtl="0">
                <a:lnSpc>
                  <a:spcPct val="100000"/>
                </a:lnSpc>
                <a:spcBef>
                  <a:spcPts val="0"/>
                </a:spcBef>
                <a:spcAft>
                  <a:spcPts val="0"/>
                </a:spcAft>
                <a:buClr>
                  <a:srgbClr val="000000"/>
                </a:buClr>
                <a:buSzPts val="1461"/>
                <a:buFont typeface="Tahoma"/>
                <a:buNone/>
              </a:pPr>
              <a:r>
                <a:rPr lang="en-US" sz="1260" b="0" i="0" u="none" strike="noStrike" cap="none">
                  <a:solidFill>
                    <a:srgbClr val="000000"/>
                  </a:solidFill>
                  <a:latin typeface="Tahoma"/>
                  <a:ea typeface="Tahoma"/>
                  <a:cs typeface="Tahoma"/>
                  <a:sym typeface="Tahoma"/>
                </a:rPr>
                <a:t>(2,2)</a:t>
              </a:r>
              <a:endParaRPr sz="1078" b="0" i="0" u="none" strike="noStrike" cap="none">
                <a:solidFill>
                  <a:srgbClr val="000000"/>
                </a:solidFill>
                <a:latin typeface="Arial"/>
                <a:ea typeface="Arial"/>
                <a:cs typeface="Arial"/>
                <a:sym typeface="Arial"/>
              </a:endParaRPr>
            </a:p>
          </p:txBody>
        </p:sp>
        <p:sp>
          <p:nvSpPr>
            <p:cNvPr id="223" name="Google Shape;223;g3bb5fbf5691_0_190"/>
            <p:cNvSpPr txBox="1"/>
            <p:nvPr/>
          </p:nvSpPr>
          <p:spPr>
            <a:xfrm>
              <a:off x="4800" y="2976"/>
              <a:ext cx="300" cy="300"/>
            </a:xfrm>
            <a:prstGeom prst="rect">
              <a:avLst/>
            </a:prstGeom>
            <a:noFill/>
            <a:ln>
              <a:noFill/>
            </a:ln>
          </p:spPr>
          <p:txBody>
            <a:bodyPr spcFirstLastPara="1" wrap="square" lIns="83450" tIns="41725" rIns="83450" bIns="41725" anchor="t" anchorCtr="0">
              <a:spAutoFit/>
            </a:bodyPr>
            <a:lstStyle/>
            <a:p>
              <a:pPr marL="0" marR="0" lvl="0" indent="0" algn="l" rtl="0">
                <a:lnSpc>
                  <a:spcPct val="100000"/>
                </a:lnSpc>
                <a:spcBef>
                  <a:spcPts val="0"/>
                </a:spcBef>
                <a:spcAft>
                  <a:spcPts val="0"/>
                </a:spcAft>
                <a:buClr>
                  <a:srgbClr val="000000"/>
                </a:buClr>
                <a:buSzPts val="1461"/>
                <a:buFont typeface="Tahoma"/>
                <a:buNone/>
              </a:pPr>
              <a:r>
                <a:rPr lang="en-US" sz="1260" b="0" i="0" u="none" strike="noStrike" cap="none">
                  <a:solidFill>
                    <a:srgbClr val="000000"/>
                  </a:solidFill>
                  <a:latin typeface="Tahoma"/>
                  <a:ea typeface="Tahoma"/>
                  <a:cs typeface="Tahoma"/>
                  <a:sym typeface="Tahoma"/>
                </a:rPr>
                <a:t>(4,4)</a:t>
              </a:r>
              <a:endParaRPr sz="1078" b="0" i="0" u="none" strike="noStrike" cap="none">
                <a:solidFill>
                  <a:srgbClr val="000000"/>
                </a:solidFill>
                <a:latin typeface="Arial"/>
                <a:ea typeface="Arial"/>
                <a:cs typeface="Arial"/>
                <a:sym typeface="Arial"/>
              </a:endParaRPr>
            </a:p>
          </p:txBody>
        </p:sp>
      </p:grpSp>
      <p:sp>
        <p:nvSpPr>
          <p:cNvPr id="224" name="Google Shape;224;g3bb5fbf5691_0_190"/>
          <p:cNvSpPr/>
          <p:nvPr/>
        </p:nvSpPr>
        <p:spPr>
          <a:xfrm>
            <a:off x="3303625" y="4628350"/>
            <a:ext cx="1955100" cy="325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225" name="Google Shape;225;g3bb5fbf5691_0_190"/>
          <p:cNvPicPr preferRelativeResize="0"/>
          <p:nvPr/>
        </p:nvPicPr>
        <p:blipFill rotWithShape="1">
          <a:blip r:embed="rId4">
            <a:alphaModFix/>
          </a:blip>
          <a:srcRect/>
          <a:stretch/>
        </p:blipFill>
        <p:spPr>
          <a:xfrm>
            <a:off x="907325" y="1453850"/>
            <a:ext cx="7071375" cy="173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29"/>
        <p:cNvGrpSpPr/>
        <p:nvPr/>
      </p:nvGrpSpPr>
      <p:grpSpPr>
        <a:xfrm>
          <a:off x="0" y="0"/>
          <a:ext cx="0" cy="0"/>
          <a:chOff x="0" y="0"/>
          <a:chExt cx="0" cy="0"/>
        </a:xfrm>
      </p:grpSpPr>
      <p:sp>
        <p:nvSpPr>
          <p:cNvPr id="230" name="Google Shape;230;g3bb5fbf5691_0_242"/>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31" name="Google Shape;231;g3bb5fbf5691_0_24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
        <p:nvSpPr>
          <p:cNvPr id="232" name="Google Shape;232;g3bb5fbf5691_0_242"/>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(Scaling Example)</a:t>
            </a:r>
            <a:endParaRPr sz="3600" b="0" i="0" u="none" strike="noStrike" cap="none">
              <a:solidFill>
                <a:schemeClr val="lt1"/>
              </a:solidFill>
              <a:latin typeface="Calibri"/>
              <a:ea typeface="Calibri"/>
              <a:cs typeface="Calibri"/>
              <a:sym typeface="Calibri"/>
            </a:endParaRPr>
          </a:p>
        </p:txBody>
      </p:sp>
      <p:pic>
        <p:nvPicPr>
          <p:cNvPr id="233" name="Google Shape;233;g3bb5fbf5691_0_24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234" name="Google Shape;234;g3bb5fbf5691_0_242"/>
          <p:cNvSpPr txBox="1"/>
          <p:nvPr/>
        </p:nvSpPr>
        <p:spPr>
          <a:xfrm>
            <a:off x="227325" y="1082375"/>
            <a:ext cx="86862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square object with coordinate points A(0, 3), B(3, 3), C(3, 0), and D(0, 0). Apply the scaling parameter 2 towards the X axis and 3 towards the Y axis and obtain the new coordinates of the object.</a:t>
            </a:r>
            <a:endParaRPr sz="1400" b="0" i="0" u="none" strike="noStrike" cap="none">
              <a:solidFill>
                <a:srgbClr val="000000"/>
              </a:solidFill>
              <a:latin typeface="Arial"/>
              <a:ea typeface="Arial"/>
              <a:cs typeface="Arial"/>
              <a:sym typeface="Arial"/>
            </a:endParaRPr>
          </a:p>
        </p:txBody>
      </p:sp>
      <p:sp>
        <p:nvSpPr>
          <p:cNvPr id="235" name="Google Shape;235;g3bb5fbf5691_0_242"/>
          <p:cNvSpPr txBox="1"/>
          <p:nvPr/>
        </p:nvSpPr>
        <p:spPr>
          <a:xfrm>
            <a:off x="309250" y="1697975"/>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236" name="Google Shape;236;g3bb5fbf5691_0_242"/>
          <p:cNvSpPr txBox="1"/>
          <p:nvPr/>
        </p:nvSpPr>
        <p:spPr>
          <a:xfrm>
            <a:off x="363825" y="2073800"/>
            <a:ext cx="77895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Old corner coordinates of the square = A (0, 3), B(3, 3), C(3, 0), D(0,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Scaling factor along X axis, </a:t>
            </a:r>
            <a:r>
              <a:rPr lang="en-US" sz="1400" b="0" i="1" u="none" strike="noStrike" cap="none">
                <a:solidFill>
                  <a:schemeClr val="dk1"/>
                </a:solidFill>
                <a:latin typeface="Times New Roman"/>
                <a:ea typeface="Times New Roman"/>
                <a:cs typeface="Times New Roman"/>
                <a:sym typeface="Times New Roman"/>
              </a:rPr>
              <a:t>S</a:t>
            </a:r>
            <a:r>
              <a:rPr lang="en-US" sz="1400" b="0" i="1" u="none" strike="noStrike" cap="none" baseline="-25000">
                <a:solidFill>
                  <a:schemeClr val="dk1"/>
                </a:solidFill>
                <a:latin typeface="Times New Roman"/>
                <a:ea typeface="Times New Roman"/>
                <a:cs typeface="Times New Roman"/>
                <a:sym typeface="Times New Roman"/>
              </a:rPr>
              <a:t>x</a:t>
            </a:r>
            <a:r>
              <a:rPr lang="en-US" sz="1400" b="0" i="0" u="none" strike="noStrike" cap="none">
                <a:solidFill>
                  <a:srgbClr val="000000"/>
                </a:solidFill>
                <a:latin typeface="Arial"/>
                <a:ea typeface="Arial"/>
                <a:cs typeface="Arial"/>
                <a:sym typeface="Arial"/>
              </a:rPr>
              <a:t>=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Scaling factor along Y axis, </a:t>
            </a:r>
            <a:r>
              <a:rPr lang="en-US" sz="1400" b="0" i="1" u="none" strike="noStrike" cap="none">
                <a:solidFill>
                  <a:schemeClr val="dk1"/>
                </a:solidFill>
                <a:latin typeface="Times New Roman"/>
                <a:ea typeface="Times New Roman"/>
                <a:cs typeface="Times New Roman"/>
                <a:sym typeface="Times New Roman"/>
              </a:rPr>
              <a:t>S</a:t>
            </a:r>
            <a:r>
              <a:rPr lang="en-US" sz="1400" b="0" i="1" u="none" strike="noStrike" cap="none" baseline="-25000">
                <a:solidFill>
                  <a:schemeClr val="dk1"/>
                </a:solidFill>
                <a:latin typeface="Times New Roman"/>
                <a:ea typeface="Times New Roman"/>
                <a:cs typeface="Times New Roman"/>
                <a:sym typeface="Times New Roman"/>
              </a:rPr>
              <a:t>y</a:t>
            </a:r>
            <a:r>
              <a:rPr lang="en-US" sz="1400" b="0" i="0" u="none" strike="noStrike" cap="none">
                <a:solidFill>
                  <a:srgbClr val="000000"/>
                </a:solidFill>
                <a:latin typeface="Arial"/>
                <a:ea typeface="Arial"/>
                <a:cs typeface="Arial"/>
                <a:sym typeface="Arial"/>
              </a:rPr>
              <a:t>= 3</a:t>
            </a:r>
            <a:endParaRPr sz="1400" b="0" i="0" u="none" strike="noStrike" cap="none">
              <a:solidFill>
                <a:srgbClr val="000000"/>
              </a:solidFill>
              <a:latin typeface="Arial"/>
              <a:ea typeface="Arial"/>
              <a:cs typeface="Arial"/>
              <a:sym typeface="Arial"/>
            </a:endParaRPr>
          </a:p>
        </p:txBody>
      </p:sp>
      <p:pic>
        <p:nvPicPr>
          <p:cNvPr id="237" name="Google Shape;237;g3bb5fbf5691_0_242"/>
          <p:cNvPicPr preferRelativeResize="0"/>
          <p:nvPr/>
        </p:nvPicPr>
        <p:blipFill rotWithShape="1">
          <a:blip r:embed="rId4">
            <a:alphaModFix/>
          </a:blip>
          <a:srcRect/>
          <a:stretch/>
        </p:blipFill>
        <p:spPr>
          <a:xfrm>
            <a:off x="309250" y="3372950"/>
            <a:ext cx="3813099" cy="2257175"/>
          </a:xfrm>
          <a:prstGeom prst="rect">
            <a:avLst/>
          </a:prstGeom>
          <a:noFill/>
          <a:ln>
            <a:noFill/>
          </a:ln>
        </p:spPr>
      </p:pic>
      <p:pic>
        <p:nvPicPr>
          <p:cNvPr id="238" name="Google Shape;238;g3bb5fbf5691_0_242"/>
          <p:cNvPicPr preferRelativeResize="0"/>
          <p:nvPr/>
        </p:nvPicPr>
        <p:blipFill rotWithShape="1">
          <a:blip r:embed="rId5">
            <a:alphaModFix/>
          </a:blip>
          <a:srcRect/>
          <a:stretch/>
        </p:blipFill>
        <p:spPr>
          <a:xfrm>
            <a:off x="4656750" y="3350950"/>
            <a:ext cx="3572300" cy="2301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42"/>
        <p:cNvGrpSpPr/>
        <p:nvPr/>
      </p:nvGrpSpPr>
      <p:grpSpPr>
        <a:xfrm>
          <a:off x="0" y="0"/>
          <a:ext cx="0" cy="0"/>
          <a:chOff x="0" y="0"/>
          <a:chExt cx="0" cy="0"/>
        </a:xfrm>
      </p:grpSpPr>
      <p:sp>
        <p:nvSpPr>
          <p:cNvPr id="243" name="Google Shape;243;g3bb5fbf5691_0_283"/>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44" name="Google Shape;244;g3bb5fbf5691_0_283"/>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
        <p:nvSpPr>
          <p:cNvPr id="245" name="Google Shape;245;g3bb5fbf5691_0_283"/>
          <p:cNvSpPr txBox="1"/>
          <p:nvPr/>
        </p:nvSpPr>
        <p:spPr>
          <a:xfrm>
            <a:off x="363725" y="10327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(Scaling Example)</a:t>
            </a:r>
            <a:endParaRPr sz="3600" b="0" i="0" u="none" strike="noStrike" cap="none">
              <a:solidFill>
                <a:schemeClr val="lt1"/>
              </a:solidFill>
              <a:latin typeface="Calibri"/>
              <a:ea typeface="Calibri"/>
              <a:cs typeface="Calibri"/>
              <a:sym typeface="Calibri"/>
            </a:endParaRPr>
          </a:p>
        </p:txBody>
      </p:sp>
      <p:pic>
        <p:nvPicPr>
          <p:cNvPr id="246" name="Google Shape;246;g3bb5fbf5691_0_283"/>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247" name="Google Shape;247;g3bb5fbf5691_0_283"/>
          <p:cNvSpPr txBox="1"/>
          <p:nvPr/>
        </p:nvSpPr>
        <p:spPr>
          <a:xfrm>
            <a:off x="227325" y="994700"/>
            <a:ext cx="86862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square object with coordinate points A(0, 3), B(3, 3), C(3, 0), and D(0, 0). Apply the scaling parameter 2 towards the X axis and 3 towards the Y axis and obtain the new coordinates of the object.</a:t>
            </a:r>
            <a:endParaRPr sz="1400" b="0" i="0" u="none" strike="noStrike" cap="none">
              <a:solidFill>
                <a:srgbClr val="000000"/>
              </a:solidFill>
              <a:latin typeface="Arial"/>
              <a:ea typeface="Arial"/>
              <a:cs typeface="Arial"/>
              <a:sym typeface="Arial"/>
            </a:endParaRPr>
          </a:p>
        </p:txBody>
      </p:sp>
      <p:sp>
        <p:nvSpPr>
          <p:cNvPr id="248" name="Google Shape;248;g3bb5fbf5691_0_283"/>
          <p:cNvSpPr txBox="1"/>
          <p:nvPr/>
        </p:nvSpPr>
        <p:spPr>
          <a:xfrm>
            <a:off x="309250" y="16103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pic>
        <p:nvPicPr>
          <p:cNvPr id="249" name="Google Shape;249;g3bb5fbf5691_0_283"/>
          <p:cNvPicPr preferRelativeResize="0"/>
          <p:nvPr/>
        </p:nvPicPr>
        <p:blipFill rotWithShape="1">
          <a:blip r:embed="rId4">
            <a:alphaModFix/>
          </a:blip>
          <a:srcRect/>
          <a:stretch/>
        </p:blipFill>
        <p:spPr>
          <a:xfrm>
            <a:off x="406075" y="1995200"/>
            <a:ext cx="3396378" cy="2002099"/>
          </a:xfrm>
          <a:prstGeom prst="rect">
            <a:avLst/>
          </a:prstGeom>
          <a:noFill/>
          <a:ln>
            <a:noFill/>
          </a:ln>
        </p:spPr>
      </p:pic>
      <p:pic>
        <p:nvPicPr>
          <p:cNvPr id="250" name="Google Shape;250;g3bb5fbf5691_0_283"/>
          <p:cNvPicPr preferRelativeResize="0"/>
          <p:nvPr/>
        </p:nvPicPr>
        <p:blipFill rotWithShape="1">
          <a:blip r:embed="rId5">
            <a:alphaModFix/>
          </a:blip>
          <a:srcRect/>
          <a:stretch/>
        </p:blipFill>
        <p:spPr>
          <a:xfrm>
            <a:off x="5048000" y="1899250"/>
            <a:ext cx="3396374" cy="2026283"/>
          </a:xfrm>
          <a:prstGeom prst="rect">
            <a:avLst/>
          </a:prstGeom>
          <a:noFill/>
          <a:ln>
            <a:noFill/>
          </a:ln>
        </p:spPr>
      </p:pic>
      <p:pic>
        <p:nvPicPr>
          <p:cNvPr id="251" name="Google Shape;251;g3bb5fbf5691_0_283"/>
          <p:cNvPicPr preferRelativeResize="0"/>
          <p:nvPr/>
        </p:nvPicPr>
        <p:blipFill rotWithShape="1">
          <a:blip r:embed="rId6">
            <a:alphaModFix/>
          </a:blip>
          <a:srcRect l="5033" t="11854"/>
          <a:stretch/>
        </p:blipFill>
        <p:spPr>
          <a:xfrm>
            <a:off x="1209700" y="4045875"/>
            <a:ext cx="6858002" cy="24028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55"/>
        <p:cNvGrpSpPr/>
        <p:nvPr/>
      </p:nvGrpSpPr>
      <p:grpSpPr>
        <a:xfrm>
          <a:off x="0" y="0"/>
          <a:ext cx="0" cy="0"/>
          <a:chOff x="0" y="0"/>
          <a:chExt cx="0" cy="0"/>
        </a:xfrm>
      </p:grpSpPr>
      <p:sp>
        <p:nvSpPr>
          <p:cNvPr id="256" name="Google Shape;256;g3bb5fbf5691_0_158"/>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57" name="Google Shape;257;g3bb5fbf5691_0_158"/>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
        <p:nvSpPr>
          <p:cNvPr id="258" name="Google Shape;258;g3bb5fbf5691_0_158"/>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(Rotation)</a:t>
            </a:r>
            <a:endParaRPr sz="3800" b="0" i="0" u="none" strike="noStrike" cap="none">
              <a:solidFill>
                <a:schemeClr val="lt1"/>
              </a:solidFill>
              <a:latin typeface="Calibri"/>
              <a:ea typeface="Calibri"/>
              <a:cs typeface="Calibri"/>
              <a:sym typeface="Calibri"/>
            </a:endParaRPr>
          </a:p>
        </p:txBody>
      </p:sp>
      <p:pic>
        <p:nvPicPr>
          <p:cNvPr id="259" name="Google Shape;259;g3bb5fbf5691_0_158"/>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260" name="Google Shape;260;g3bb5fbf5691_0_158"/>
          <p:cNvSpPr txBox="1"/>
          <p:nvPr/>
        </p:nvSpPr>
        <p:spPr>
          <a:xfrm>
            <a:off x="318350" y="1136925"/>
            <a:ext cx="5520900" cy="40842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1155CC"/>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A two-dimensional rotation is applied to an object by repositioning it along a circular path in the xy-plane.</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1155CC"/>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Initial angle of the object P with respect to origin = Φ</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1155CC"/>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 Rotation angle = θ</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1155CC"/>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Let us suppose you want to rotate it at the angle θ. After rotating it to a new location, you will get a new point P’ (x’, y’).</a:t>
            </a:r>
            <a:endParaRPr sz="2000" b="0" i="0" u="none" strike="noStrike" cap="none">
              <a:solidFill>
                <a:srgbClr val="000000"/>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1155CC"/>
              </a:buClr>
              <a:buSzPts val="2000"/>
              <a:buFont typeface="Times New Roman"/>
              <a:buChar char="■"/>
            </a:pPr>
            <a:r>
              <a:rPr lang="en-US" sz="2000" b="0" i="0" u="none" strike="noStrike" cap="none">
                <a:solidFill>
                  <a:srgbClr val="000000"/>
                </a:solidFill>
                <a:latin typeface="Times New Roman"/>
                <a:ea typeface="Times New Roman"/>
                <a:cs typeface="Times New Roman"/>
                <a:sym typeface="Times New Roman"/>
              </a:rPr>
              <a:t>This rotation is achieved by using the following rotation equations:</a:t>
            </a:r>
            <a:endParaRPr sz="2000" b="0" i="0" u="none" strike="noStrike" cap="none">
              <a:solidFill>
                <a:srgbClr val="000000"/>
              </a:solidFill>
              <a:latin typeface="Times New Roman"/>
              <a:ea typeface="Times New Roman"/>
              <a:cs typeface="Times New Roman"/>
              <a:sym typeface="Times New Roman"/>
            </a:endParaRPr>
          </a:p>
        </p:txBody>
      </p:sp>
      <p:pic>
        <p:nvPicPr>
          <p:cNvPr id="261" name="Google Shape;261;g3bb5fbf5691_0_158" title="rotateAnimate (1).gif"/>
          <p:cNvPicPr preferRelativeResize="0"/>
          <p:nvPr/>
        </p:nvPicPr>
        <p:blipFill rotWithShape="1">
          <a:blip r:embed="rId4">
            <a:alphaModFix/>
          </a:blip>
          <a:srcRect/>
          <a:stretch/>
        </p:blipFill>
        <p:spPr>
          <a:xfrm>
            <a:off x="6115049" y="1300725"/>
            <a:ext cx="2973166" cy="2061088"/>
          </a:xfrm>
          <a:prstGeom prst="rect">
            <a:avLst/>
          </a:prstGeom>
          <a:noFill/>
          <a:ln>
            <a:noFill/>
          </a:ln>
        </p:spPr>
      </p:pic>
      <p:pic>
        <p:nvPicPr>
          <p:cNvPr id="262" name="Google Shape;262;g3bb5fbf5691_0_158"/>
          <p:cNvPicPr preferRelativeResize="0"/>
          <p:nvPr/>
        </p:nvPicPr>
        <p:blipFill rotWithShape="1">
          <a:blip r:embed="rId5">
            <a:alphaModFix/>
          </a:blip>
          <a:srcRect t="19012" b="21367"/>
          <a:stretch/>
        </p:blipFill>
        <p:spPr>
          <a:xfrm>
            <a:off x="1864574" y="5153299"/>
            <a:ext cx="2555750" cy="1015849"/>
          </a:xfrm>
          <a:prstGeom prst="rect">
            <a:avLst/>
          </a:prstGeom>
          <a:noFill/>
          <a:ln>
            <a:noFill/>
          </a:ln>
        </p:spPr>
      </p:pic>
      <p:pic>
        <p:nvPicPr>
          <p:cNvPr id="263" name="Google Shape;263;g3bb5fbf5691_0_158"/>
          <p:cNvPicPr preferRelativeResize="0"/>
          <p:nvPr/>
        </p:nvPicPr>
        <p:blipFill rotWithShape="1">
          <a:blip r:embed="rId6">
            <a:alphaModFix/>
          </a:blip>
          <a:srcRect l="11063" r="4290"/>
          <a:stretch/>
        </p:blipFill>
        <p:spPr>
          <a:xfrm>
            <a:off x="6284975" y="4019300"/>
            <a:ext cx="2729449" cy="2149850"/>
          </a:xfrm>
          <a:prstGeom prst="rect">
            <a:avLst/>
          </a:prstGeom>
          <a:noFill/>
          <a:ln>
            <a:noFill/>
          </a:ln>
        </p:spPr>
      </p:pic>
      <p:sp>
        <p:nvSpPr>
          <p:cNvPr id="264" name="Google Shape;264;g3bb5fbf5691_0_158"/>
          <p:cNvSpPr txBox="1"/>
          <p:nvPr/>
        </p:nvSpPr>
        <p:spPr>
          <a:xfrm>
            <a:off x="6381625" y="3555488"/>
            <a:ext cx="2706600" cy="46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980000"/>
                </a:solidFill>
                <a:latin typeface="Times New Roman"/>
                <a:ea typeface="Times New Roman"/>
                <a:cs typeface="Times New Roman"/>
                <a:sym typeface="Times New Roman"/>
              </a:rPr>
              <a:t>Rotation of objects</a:t>
            </a:r>
            <a:endParaRPr sz="1800" b="1" i="0" u="none" strike="noStrike" cap="none">
              <a:solidFill>
                <a:srgbClr val="98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g3bb5fbf5691_0_233"/>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70" name="Google Shape;270;g3bb5fbf5691_0_233"/>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
        <p:nvSpPr>
          <p:cNvPr id="271" name="Google Shape;271;g3bb5fbf5691_0_233"/>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(Rotation)</a:t>
            </a:r>
            <a:endParaRPr sz="3800" b="0" i="0" u="none" strike="noStrike" cap="none">
              <a:solidFill>
                <a:schemeClr val="lt1"/>
              </a:solidFill>
              <a:latin typeface="Calibri"/>
              <a:ea typeface="Calibri"/>
              <a:cs typeface="Calibri"/>
              <a:sym typeface="Calibri"/>
            </a:endParaRPr>
          </a:p>
        </p:txBody>
      </p:sp>
      <p:pic>
        <p:nvPicPr>
          <p:cNvPr id="272" name="Google Shape;272;g3bb5fbf5691_0_233"/>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273" name="Google Shape;273;g3bb5fbf5691_0_233"/>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274" name="Google Shape;274;g3bb5fbf5691_0_233"/>
          <p:cNvSpPr txBox="1"/>
          <p:nvPr/>
        </p:nvSpPr>
        <p:spPr>
          <a:xfrm>
            <a:off x="454775" y="1297575"/>
            <a:ext cx="37656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80000"/>
                </a:solidFill>
                <a:latin typeface="Arial"/>
                <a:ea typeface="Arial"/>
                <a:cs typeface="Arial"/>
                <a:sym typeface="Arial"/>
              </a:rPr>
              <a:t>Derivation of the rotation: </a:t>
            </a:r>
            <a:endParaRPr sz="1800" b="1" i="0" u="none" strike="noStrike" cap="none">
              <a:solidFill>
                <a:srgbClr val="980000"/>
              </a:solidFill>
              <a:latin typeface="Arial"/>
              <a:ea typeface="Arial"/>
              <a:cs typeface="Arial"/>
              <a:sym typeface="Arial"/>
            </a:endParaRPr>
          </a:p>
        </p:txBody>
      </p:sp>
      <p:sp>
        <p:nvSpPr>
          <p:cNvPr id="275" name="Google Shape;275;g3bb5fbf5691_0_233"/>
          <p:cNvSpPr txBox="1"/>
          <p:nvPr/>
        </p:nvSpPr>
        <p:spPr>
          <a:xfrm>
            <a:off x="928687" y="2143125"/>
            <a:ext cx="1495500" cy="7524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6" name="Google Shape;276;g3bb5fbf5691_0_233"/>
          <p:cNvSpPr txBox="1"/>
          <p:nvPr/>
        </p:nvSpPr>
        <p:spPr>
          <a:xfrm>
            <a:off x="428625" y="3143250"/>
            <a:ext cx="4500600" cy="10002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7" name="Google Shape;277;g3bb5fbf5691_0_233"/>
          <p:cNvSpPr txBox="1"/>
          <p:nvPr/>
        </p:nvSpPr>
        <p:spPr>
          <a:xfrm>
            <a:off x="428625" y="4071937"/>
            <a:ext cx="4286400" cy="8955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78" name="Google Shape;278;g3bb5fbf5691_0_233"/>
          <p:cNvSpPr txBox="1"/>
          <p:nvPr/>
        </p:nvSpPr>
        <p:spPr>
          <a:xfrm>
            <a:off x="428625" y="5143500"/>
            <a:ext cx="2886000" cy="9144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pic>
        <p:nvPicPr>
          <p:cNvPr id="279" name="Google Shape;279;g3bb5fbf5691_0_233"/>
          <p:cNvPicPr preferRelativeResize="0"/>
          <p:nvPr/>
        </p:nvPicPr>
        <p:blipFill rotWithShape="1">
          <a:blip r:embed="rId8">
            <a:alphaModFix/>
          </a:blip>
          <a:srcRect/>
          <a:stretch/>
        </p:blipFill>
        <p:spPr>
          <a:xfrm>
            <a:off x="4990675" y="2490750"/>
            <a:ext cx="3909974" cy="32144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83"/>
        <p:cNvGrpSpPr/>
        <p:nvPr/>
      </p:nvGrpSpPr>
      <p:grpSpPr>
        <a:xfrm>
          <a:off x="0" y="0"/>
          <a:ext cx="0" cy="0"/>
          <a:chOff x="0" y="0"/>
          <a:chExt cx="0" cy="0"/>
        </a:xfrm>
      </p:grpSpPr>
      <p:sp>
        <p:nvSpPr>
          <p:cNvPr id="284" name="Google Shape;284;g3bbe9322812_0_20"/>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85" name="Google Shape;285;g3bbe9322812_0_20"/>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
        <p:nvSpPr>
          <p:cNvPr id="286" name="Google Shape;286;g3bbe9322812_0_20"/>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(Rotation)</a:t>
            </a:r>
            <a:endParaRPr sz="3800" b="0" i="0" u="none" strike="noStrike" cap="none">
              <a:solidFill>
                <a:schemeClr val="lt1"/>
              </a:solidFill>
              <a:latin typeface="Calibri"/>
              <a:ea typeface="Calibri"/>
              <a:cs typeface="Calibri"/>
              <a:sym typeface="Calibri"/>
            </a:endParaRPr>
          </a:p>
        </p:txBody>
      </p:sp>
      <p:pic>
        <p:nvPicPr>
          <p:cNvPr id="287" name="Google Shape;287;g3bbe9322812_0_20"/>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288" name="Google Shape;288;g3bbe9322812_0_20"/>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289" name="Google Shape;289;g3bbe9322812_0_20"/>
          <p:cNvSpPr txBox="1"/>
          <p:nvPr/>
        </p:nvSpPr>
        <p:spPr>
          <a:xfrm>
            <a:off x="454775" y="1297575"/>
            <a:ext cx="4429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980000"/>
                </a:solidFill>
                <a:latin typeface="Arial"/>
                <a:ea typeface="Arial"/>
                <a:cs typeface="Arial"/>
                <a:sym typeface="Arial"/>
              </a:rPr>
              <a:t>Derivation of the rotation (continued): </a:t>
            </a:r>
            <a:endParaRPr sz="1800" b="1" i="0" u="none" strike="noStrike" cap="none">
              <a:solidFill>
                <a:srgbClr val="980000"/>
              </a:solidFill>
              <a:latin typeface="Arial"/>
              <a:ea typeface="Arial"/>
              <a:cs typeface="Arial"/>
              <a:sym typeface="Arial"/>
            </a:endParaRPr>
          </a:p>
        </p:txBody>
      </p:sp>
      <p:pic>
        <p:nvPicPr>
          <p:cNvPr id="290" name="Google Shape;290;g3bbe9322812_0_20"/>
          <p:cNvPicPr preferRelativeResize="0"/>
          <p:nvPr/>
        </p:nvPicPr>
        <p:blipFill rotWithShape="1">
          <a:blip r:embed="rId4">
            <a:alphaModFix/>
          </a:blip>
          <a:srcRect/>
          <a:stretch/>
        </p:blipFill>
        <p:spPr>
          <a:xfrm>
            <a:off x="4990675" y="2490750"/>
            <a:ext cx="3909974" cy="3214490"/>
          </a:xfrm>
          <a:prstGeom prst="rect">
            <a:avLst/>
          </a:prstGeom>
          <a:noFill/>
          <a:ln>
            <a:noFill/>
          </a:ln>
        </p:spPr>
      </p:pic>
      <p:sp>
        <p:nvSpPr>
          <p:cNvPr id="291" name="Google Shape;291;g3bbe9322812_0_20"/>
          <p:cNvSpPr txBox="1"/>
          <p:nvPr/>
        </p:nvSpPr>
        <p:spPr>
          <a:xfrm>
            <a:off x="635751" y="1913500"/>
            <a:ext cx="2574900" cy="8424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2" name="Google Shape;292;g3bbe9322812_0_20"/>
          <p:cNvSpPr txBox="1"/>
          <p:nvPr/>
        </p:nvSpPr>
        <p:spPr>
          <a:xfrm>
            <a:off x="635750" y="3038050"/>
            <a:ext cx="1865400" cy="9186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3" name="Google Shape;293;g3bbe9322812_0_20"/>
          <p:cNvSpPr txBox="1"/>
          <p:nvPr/>
        </p:nvSpPr>
        <p:spPr>
          <a:xfrm>
            <a:off x="363825" y="3930488"/>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Rewriting in matrix form gives us :</a:t>
            </a:r>
            <a:endParaRPr sz="1400" b="0" i="0" u="none" strike="noStrike" cap="none">
              <a:solidFill>
                <a:srgbClr val="000000"/>
              </a:solidFill>
              <a:latin typeface="Arial"/>
              <a:ea typeface="Arial"/>
              <a:cs typeface="Arial"/>
              <a:sym typeface="Arial"/>
            </a:endParaRPr>
          </a:p>
        </p:txBody>
      </p:sp>
      <p:sp>
        <p:nvSpPr>
          <p:cNvPr id="294" name="Google Shape;294;g3bbe9322812_0_20"/>
          <p:cNvSpPr txBox="1"/>
          <p:nvPr/>
        </p:nvSpPr>
        <p:spPr>
          <a:xfrm>
            <a:off x="477050" y="4417900"/>
            <a:ext cx="2670000" cy="7695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295" name="Google Shape;295;g3bbe9322812_0_20"/>
          <p:cNvSpPr txBox="1"/>
          <p:nvPr/>
        </p:nvSpPr>
        <p:spPr>
          <a:xfrm>
            <a:off x="635750" y="5571125"/>
            <a:ext cx="1032900" cy="461700"/>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99"/>
        <p:cNvGrpSpPr/>
        <p:nvPr/>
      </p:nvGrpSpPr>
      <p:grpSpPr>
        <a:xfrm>
          <a:off x="0" y="0"/>
          <a:ext cx="0" cy="0"/>
          <a:chOff x="0" y="0"/>
          <a:chExt cx="0" cy="0"/>
        </a:xfrm>
      </p:grpSpPr>
      <p:sp>
        <p:nvSpPr>
          <p:cNvPr id="300" name="Google Shape;300;g3bbe9322812_0_41"/>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01" name="Google Shape;301;g3bbe9322812_0_4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
        <p:nvSpPr>
          <p:cNvPr id="302" name="Google Shape;302;g3bbe9322812_0_41"/>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(Rotation Example)</a:t>
            </a:r>
            <a:endParaRPr sz="3600" b="0" i="0" u="none" strike="noStrike" cap="none">
              <a:solidFill>
                <a:schemeClr val="lt1"/>
              </a:solidFill>
              <a:latin typeface="Calibri"/>
              <a:ea typeface="Calibri"/>
              <a:cs typeface="Calibri"/>
              <a:sym typeface="Calibri"/>
            </a:endParaRPr>
          </a:p>
        </p:txBody>
      </p:sp>
      <p:pic>
        <p:nvPicPr>
          <p:cNvPr id="303" name="Google Shape;303;g3bbe9322812_0_4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04" name="Google Shape;304;g3bbe9322812_0_41"/>
          <p:cNvSpPr txBox="1"/>
          <p:nvPr/>
        </p:nvSpPr>
        <p:spPr>
          <a:xfrm>
            <a:off x="227325" y="1036900"/>
            <a:ext cx="86862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line segment with starting point as (0, 0) and ending point as (4, 4). Apply a 30-degree rotation in the anticlockwise direction on the line segment and find out the new coordinates of the line.</a:t>
            </a:r>
            <a:endParaRPr sz="1400" b="0" i="0" u="none" strike="noStrike" cap="none">
              <a:solidFill>
                <a:srgbClr val="000000"/>
              </a:solidFill>
              <a:latin typeface="Arial"/>
              <a:ea typeface="Arial"/>
              <a:cs typeface="Arial"/>
              <a:sym typeface="Arial"/>
            </a:endParaRPr>
          </a:p>
        </p:txBody>
      </p:sp>
      <p:sp>
        <p:nvSpPr>
          <p:cNvPr id="305" name="Google Shape;305;g3bbe9322812_0_41"/>
          <p:cNvSpPr txBox="1"/>
          <p:nvPr/>
        </p:nvSpPr>
        <p:spPr>
          <a:xfrm>
            <a:off x="327425" y="15734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306" name="Google Shape;306;g3bbe9322812_0_41"/>
          <p:cNvSpPr txBox="1"/>
          <p:nvPr/>
        </p:nvSpPr>
        <p:spPr>
          <a:xfrm>
            <a:off x="363825" y="1973750"/>
            <a:ext cx="7789500" cy="169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We rotate a straight line by its end points with the same angle. Then, we redraw a line between the new end points.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Old ending coordinates of the line = (x, y) = (4, 4)</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Rotation angle = θ = 30º</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Let the new ending coordinates of the line after rotation be (x’, y’).</a:t>
            </a:r>
            <a:endParaRPr sz="1400" b="0" i="0" u="none" strike="noStrike" cap="none">
              <a:solidFill>
                <a:srgbClr val="000000"/>
              </a:solidFill>
              <a:latin typeface="Arial"/>
              <a:ea typeface="Arial"/>
              <a:cs typeface="Arial"/>
              <a:sym typeface="Arial"/>
            </a:endParaRPr>
          </a:p>
        </p:txBody>
      </p:sp>
      <p:sp>
        <p:nvSpPr>
          <p:cNvPr id="307" name="Google Shape;307;g3bbe9322812_0_41"/>
          <p:cNvSpPr txBox="1"/>
          <p:nvPr/>
        </p:nvSpPr>
        <p:spPr>
          <a:xfrm>
            <a:off x="454775" y="3755000"/>
            <a:ext cx="4206600" cy="2467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Applying the rotation equations, we have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xcosθ – ysinθ</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4 x cos30º – 4 x sin30º</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4 x (√3 / 2) – 4 x (1 /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2√3 –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2(√3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2(1.73 – 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1.46</a:t>
            </a:r>
            <a:endParaRPr sz="1400" b="0" i="0" u="none" strike="noStrike" cap="none">
              <a:solidFill>
                <a:srgbClr val="000000"/>
              </a:solidFill>
              <a:latin typeface="Arial"/>
              <a:ea typeface="Arial"/>
              <a:cs typeface="Arial"/>
              <a:sym typeface="Arial"/>
            </a:endParaRPr>
          </a:p>
        </p:txBody>
      </p:sp>
      <p:sp>
        <p:nvSpPr>
          <p:cNvPr id="308" name="Google Shape;308;g3bbe9322812_0_41"/>
          <p:cNvSpPr txBox="1"/>
          <p:nvPr/>
        </p:nvSpPr>
        <p:spPr>
          <a:xfrm>
            <a:off x="4829700" y="4125625"/>
            <a:ext cx="3000000" cy="1908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y</a:t>
            </a:r>
            <a:r>
              <a:rPr lang="en-US" sz="1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xsinθ + ycosθ</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4 x sin30º + 4 x cos30º</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4 x (1 / 2) + 4 x (√3 /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 + 2√3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2(1 + √3)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2(1 + 1.73)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5.46</a:t>
            </a:r>
            <a:endParaRPr sz="1400" b="0" i="0" u="none" strike="noStrike" cap="none">
              <a:solidFill>
                <a:srgbClr val="000000"/>
              </a:solidFill>
              <a:latin typeface="Arial"/>
              <a:ea typeface="Arial"/>
              <a:cs typeface="Arial"/>
              <a:sym typeface="Arial"/>
            </a:endParaRPr>
          </a:p>
        </p:txBody>
      </p:sp>
      <p:sp>
        <p:nvSpPr>
          <p:cNvPr id="309" name="Google Shape;309;g3bbe9322812_0_41"/>
          <p:cNvSpPr txBox="1"/>
          <p:nvPr/>
        </p:nvSpPr>
        <p:spPr>
          <a:xfrm>
            <a:off x="1058075" y="5779200"/>
            <a:ext cx="6582000" cy="713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300"/>
              </a:spcBef>
              <a:spcAft>
                <a:spcPts val="0"/>
              </a:spcAft>
              <a:buClr>
                <a:srgbClr val="000000"/>
              </a:buClr>
              <a:buSzPts val="1250"/>
              <a:buFont typeface="Arial"/>
              <a:buNone/>
            </a:pPr>
            <a:r>
              <a:rPr lang="en-US" sz="1250" b="0" i="0" u="none" strike="noStrike" cap="none">
                <a:solidFill>
                  <a:srgbClr val="303030"/>
                </a:solidFill>
                <a:latin typeface="Arial"/>
                <a:ea typeface="Arial"/>
                <a:cs typeface="Arial"/>
                <a:sym typeface="Arial"/>
              </a:rPr>
              <a:t> </a:t>
            </a:r>
            <a:endParaRPr sz="1250" b="0" i="0" u="none" strike="noStrike" cap="none">
              <a:solidFill>
                <a:srgbClr val="303030"/>
              </a:solidFill>
              <a:latin typeface="Arial"/>
              <a:ea typeface="Arial"/>
              <a:cs typeface="Arial"/>
              <a:sym typeface="Arial"/>
            </a:endParaRPr>
          </a:p>
          <a:p>
            <a:pPr marL="0" marR="0" lvl="0" indent="0" algn="just" rtl="0">
              <a:lnSpc>
                <a:spcPct val="115000"/>
              </a:lnSpc>
              <a:spcBef>
                <a:spcPts val="900"/>
              </a:spcBef>
              <a:spcAft>
                <a:spcPts val="900"/>
              </a:spcAft>
              <a:buClr>
                <a:srgbClr val="000000"/>
              </a:buClr>
              <a:buSzPts val="1250"/>
              <a:buFont typeface="Arial"/>
              <a:buNone/>
            </a:pPr>
            <a:r>
              <a:rPr lang="en-US" sz="1250" b="0" i="0" u="none" strike="noStrike" cap="none">
                <a:solidFill>
                  <a:srgbClr val="303030"/>
                </a:solidFill>
                <a:latin typeface="Arial"/>
                <a:ea typeface="Arial"/>
                <a:cs typeface="Arial"/>
                <a:sym typeface="Arial"/>
              </a:rPr>
              <a:t>Thus, the new ending coordinates of the line after rotation are (1.46, 5.46).</a:t>
            </a:r>
            <a:endParaRPr sz="1250" b="0" i="0" u="none" strike="noStrike" cap="none">
              <a:solidFill>
                <a:srgbClr val="30303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sp>
        <p:nvSpPr>
          <p:cNvPr id="314" name="Google Shape;314;g3bbe9322812_0_72"/>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(Rotation Example)</a:t>
            </a:r>
            <a:endParaRPr sz="3600" b="0" i="0" u="none" strike="noStrike" cap="none">
              <a:solidFill>
                <a:schemeClr val="lt1"/>
              </a:solidFill>
              <a:latin typeface="Calibri"/>
              <a:ea typeface="Calibri"/>
              <a:cs typeface="Calibri"/>
              <a:sym typeface="Calibri"/>
            </a:endParaRPr>
          </a:p>
        </p:txBody>
      </p:sp>
      <p:pic>
        <p:nvPicPr>
          <p:cNvPr id="315" name="Google Shape;315;g3bbe9322812_0_7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pic>
        <p:nvPicPr>
          <p:cNvPr id="316" name="Google Shape;316;g3bbe9322812_0_72"/>
          <p:cNvPicPr preferRelativeResize="0"/>
          <p:nvPr/>
        </p:nvPicPr>
        <p:blipFill rotWithShape="1">
          <a:blip r:embed="rId4">
            <a:alphaModFix/>
          </a:blip>
          <a:srcRect/>
          <a:stretch/>
        </p:blipFill>
        <p:spPr>
          <a:xfrm>
            <a:off x="716300" y="1914400"/>
            <a:ext cx="2263400" cy="743338"/>
          </a:xfrm>
          <a:prstGeom prst="rect">
            <a:avLst/>
          </a:prstGeom>
          <a:noFill/>
          <a:ln>
            <a:noFill/>
          </a:ln>
        </p:spPr>
      </p:pic>
      <p:sp>
        <p:nvSpPr>
          <p:cNvPr id="317" name="Google Shape;317;g3bbe9322812_0_72"/>
          <p:cNvSpPr txBox="1"/>
          <p:nvPr/>
        </p:nvSpPr>
        <p:spPr>
          <a:xfrm>
            <a:off x="363820" y="929500"/>
            <a:ext cx="78816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Alternatively,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 matrix form, the new ending coordinates of the line after rotation may be obtained as</a:t>
            </a:r>
            <a:endParaRPr sz="1400" b="0" i="0" u="none" strike="noStrike" cap="none">
              <a:solidFill>
                <a:srgbClr val="000000"/>
              </a:solidFill>
              <a:latin typeface="Arial"/>
              <a:ea typeface="Arial"/>
              <a:cs typeface="Arial"/>
              <a:sym typeface="Arial"/>
            </a:endParaRPr>
          </a:p>
        </p:txBody>
      </p:sp>
      <p:pic>
        <p:nvPicPr>
          <p:cNvPr id="318" name="Google Shape;318;g3bbe9322812_0_72"/>
          <p:cNvPicPr preferRelativeResize="0"/>
          <p:nvPr/>
        </p:nvPicPr>
        <p:blipFill rotWithShape="1">
          <a:blip r:embed="rId5">
            <a:alphaModFix/>
          </a:blip>
          <a:srcRect/>
          <a:stretch/>
        </p:blipFill>
        <p:spPr>
          <a:xfrm>
            <a:off x="716300" y="2841525"/>
            <a:ext cx="2448880" cy="699700"/>
          </a:xfrm>
          <a:prstGeom prst="rect">
            <a:avLst/>
          </a:prstGeom>
          <a:noFill/>
          <a:ln>
            <a:noFill/>
          </a:ln>
        </p:spPr>
      </p:pic>
      <p:pic>
        <p:nvPicPr>
          <p:cNvPr id="319" name="Google Shape;319;g3bbe9322812_0_72"/>
          <p:cNvPicPr preferRelativeResize="0"/>
          <p:nvPr/>
        </p:nvPicPr>
        <p:blipFill rotWithShape="1">
          <a:blip r:embed="rId6">
            <a:alphaModFix/>
          </a:blip>
          <a:srcRect/>
          <a:stretch/>
        </p:blipFill>
        <p:spPr>
          <a:xfrm>
            <a:off x="716300" y="3725000"/>
            <a:ext cx="2522118" cy="699700"/>
          </a:xfrm>
          <a:prstGeom prst="rect">
            <a:avLst/>
          </a:prstGeom>
          <a:noFill/>
          <a:ln>
            <a:noFill/>
          </a:ln>
        </p:spPr>
      </p:pic>
      <p:pic>
        <p:nvPicPr>
          <p:cNvPr id="320" name="Google Shape;320;g3bbe9322812_0_72"/>
          <p:cNvPicPr preferRelativeResize="0"/>
          <p:nvPr/>
        </p:nvPicPr>
        <p:blipFill rotWithShape="1">
          <a:blip r:embed="rId7">
            <a:alphaModFix/>
          </a:blip>
          <a:srcRect/>
          <a:stretch/>
        </p:blipFill>
        <p:spPr>
          <a:xfrm>
            <a:off x="716300" y="4608475"/>
            <a:ext cx="2785501" cy="621425"/>
          </a:xfrm>
          <a:prstGeom prst="rect">
            <a:avLst/>
          </a:prstGeom>
          <a:noFill/>
          <a:ln>
            <a:noFill/>
          </a:ln>
        </p:spPr>
      </p:pic>
      <p:pic>
        <p:nvPicPr>
          <p:cNvPr id="321" name="Google Shape;321;g3bbe9322812_0_72"/>
          <p:cNvPicPr preferRelativeResize="0"/>
          <p:nvPr/>
        </p:nvPicPr>
        <p:blipFill rotWithShape="1">
          <a:blip r:embed="rId8">
            <a:alphaModFix/>
          </a:blip>
          <a:srcRect/>
          <a:stretch/>
        </p:blipFill>
        <p:spPr>
          <a:xfrm>
            <a:off x="716300" y="5292375"/>
            <a:ext cx="1338936" cy="699700"/>
          </a:xfrm>
          <a:prstGeom prst="rect">
            <a:avLst/>
          </a:prstGeom>
          <a:noFill/>
          <a:ln>
            <a:noFill/>
          </a:ln>
        </p:spPr>
      </p:pic>
      <p:sp>
        <p:nvSpPr>
          <p:cNvPr id="322" name="Google Shape;322;g3bbe9322812_0_72"/>
          <p:cNvSpPr txBox="1"/>
          <p:nvPr/>
        </p:nvSpPr>
        <p:spPr>
          <a:xfrm>
            <a:off x="559245" y="6054550"/>
            <a:ext cx="8127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Thus, the new ending coordinates of the line after rotation are (1.46, 5.46).</a:t>
            </a:r>
            <a:endParaRPr sz="1400" b="0" i="0" u="none" strike="noStrike" cap="none">
              <a:solidFill>
                <a:srgbClr val="000000"/>
              </a:solidFill>
              <a:latin typeface="Arial"/>
              <a:ea typeface="Arial"/>
              <a:cs typeface="Arial"/>
              <a:sym typeface="Arial"/>
            </a:endParaRPr>
          </a:p>
        </p:txBody>
      </p:sp>
      <p:pic>
        <p:nvPicPr>
          <p:cNvPr id="323" name="Google Shape;323;g3bbe9322812_0_72" descr="Rotation in Computer Graphics | Problem-1 | Solution"/>
          <p:cNvPicPr preferRelativeResize="0"/>
          <p:nvPr/>
        </p:nvPicPr>
        <p:blipFill rotWithShape="1">
          <a:blip r:embed="rId9">
            <a:alphaModFix/>
          </a:blip>
          <a:srcRect/>
          <a:stretch/>
        </p:blipFill>
        <p:spPr>
          <a:xfrm>
            <a:off x="4245375" y="2250925"/>
            <a:ext cx="3705225" cy="2905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27"/>
        <p:cNvGrpSpPr/>
        <p:nvPr/>
      </p:nvGrpSpPr>
      <p:grpSpPr>
        <a:xfrm>
          <a:off x="0" y="0"/>
          <a:ext cx="0" cy="0"/>
          <a:chOff x="0" y="0"/>
          <a:chExt cx="0" cy="0"/>
        </a:xfrm>
      </p:grpSpPr>
      <p:sp>
        <p:nvSpPr>
          <p:cNvPr id="328" name="Google Shape;328;g3bb5fbf5691_0_224"/>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29" name="Google Shape;329;g3bb5fbf5691_0_224"/>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
        <p:nvSpPr>
          <p:cNvPr id="330" name="Google Shape;330;g3bb5fbf5691_0_224"/>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(Reflection)</a:t>
            </a:r>
            <a:endParaRPr sz="3800" b="0" i="0" u="none" strike="noStrike" cap="none">
              <a:solidFill>
                <a:schemeClr val="lt1"/>
              </a:solidFill>
              <a:latin typeface="Calibri"/>
              <a:ea typeface="Calibri"/>
              <a:cs typeface="Calibri"/>
              <a:sym typeface="Calibri"/>
            </a:endParaRPr>
          </a:p>
        </p:txBody>
      </p:sp>
      <p:pic>
        <p:nvPicPr>
          <p:cNvPr id="331" name="Google Shape;331;g3bb5fbf5691_0_224"/>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32" name="Google Shape;332;g3bb5fbf5691_0_224"/>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333" name="Google Shape;333;g3bb5fbf5691_0_224"/>
          <p:cNvSpPr txBox="1"/>
          <p:nvPr/>
        </p:nvSpPr>
        <p:spPr>
          <a:xfrm>
            <a:off x="363825" y="1227900"/>
            <a:ext cx="8151600" cy="9234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0000"/>
              </a:lnSpc>
              <a:spcBef>
                <a:spcPts val="0"/>
              </a:spcBef>
              <a:spcAft>
                <a:spcPts val="0"/>
              </a:spcAft>
              <a:buClr>
                <a:srgbClr val="0B5394"/>
              </a:buClr>
              <a:buSzPts val="1700"/>
              <a:buFont typeface="Arial"/>
              <a:buChar char="■"/>
            </a:pPr>
            <a:r>
              <a:rPr lang="en-US" sz="1400" b="0" i="0" u="none" strike="noStrike" cap="none">
                <a:solidFill>
                  <a:srgbClr val="000000"/>
                </a:solidFill>
                <a:latin typeface="Arial"/>
                <a:ea typeface="Arial"/>
                <a:cs typeface="Arial"/>
                <a:sym typeface="Arial"/>
              </a:rPr>
              <a:t>Reflection is the mirror image of the original object. In other words, we can say that it is a rotation operation with 180°. </a:t>
            </a:r>
            <a:endParaRPr sz="1400" b="0" i="0" u="none" strike="noStrike" cap="none">
              <a:solidFill>
                <a:srgbClr val="000000"/>
              </a:solidFill>
              <a:latin typeface="Arial"/>
              <a:ea typeface="Arial"/>
              <a:cs typeface="Arial"/>
              <a:sym typeface="Arial"/>
            </a:endParaRPr>
          </a:p>
          <a:p>
            <a:pPr marL="457200" marR="0" lvl="0" indent="-336550" algn="l" rtl="0">
              <a:lnSpc>
                <a:spcPct val="100000"/>
              </a:lnSpc>
              <a:spcBef>
                <a:spcPts val="0"/>
              </a:spcBef>
              <a:spcAft>
                <a:spcPts val="0"/>
              </a:spcAft>
              <a:buClr>
                <a:srgbClr val="0B5394"/>
              </a:buClr>
              <a:buSzPts val="1700"/>
              <a:buFont typeface="Arial"/>
              <a:buChar char="■"/>
            </a:pPr>
            <a:r>
              <a:rPr lang="en-US" sz="1400" b="0" i="0" u="none" strike="noStrike" cap="none">
                <a:solidFill>
                  <a:srgbClr val="000000"/>
                </a:solidFill>
                <a:latin typeface="Arial"/>
                <a:ea typeface="Arial"/>
                <a:cs typeface="Arial"/>
                <a:sym typeface="Arial"/>
              </a:rPr>
              <a:t>In reflection transformation, the size of the object does not change.</a:t>
            </a:r>
            <a:endParaRPr sz="1400" b="0" i="0" u="none" strike="noStrike" cap="none">
              <a:solidFill>
                <a:srgbClr val="000000"/>
              </a:solidFill>
              <a:latin typeface="Arial"/>
              <a:ea typeface="Arial"/>
              <a:cs typeface="Arial"/>
              <a:sym typeface="Arial"/>
            </a:endParaRPr>
          </a:p>
        </p:txBody>
      </p:sp>
      <p:pic>
        <p:nvPicPr>
          <p:cNvPr id="334" name="Google Shape;334;g3bb5fbf5691_0_224"/>
          <p:cNvPicPr preferRelativeResize="0"/>
          <p:nvPr/>
        </p:nvPicPr>
        <p:blipFill rotWithShape="1">
          <a:blip r:embed="rId4">
            <a:alphaModFix/>
          </a:blip>
          <a:srcRect/>
          <a:stretch/>
        </p:blipFill>
        <p:spPr>
          <a:xfrm>
            <a:off x="1025575" y="2544525"/>
            <a:ext cx="5943600" cy="2295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338"/>
        <p:cNvGrpSpPr/>
        <p:nvPr/>
      </p:nvGrpSpPr>
      <p:grpSpPr>
        <a:xfrm>
          <a:off x="0" y="0"/>
          <a:ext cx="0" cy="0"/>
          <a:chOff x="0" y="0"/>
          <a:chExt cx="0" cy="0"/>
        </a:xfrm>
      </p:grpSpPr>
      <p:sp>
        <p:nvSpPr>
          <p:cNvPr id="339" name="Google Shape;339;g3bbe9322812_0_104"/>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40" name="Google Shape;340;g3bbe9322812_0_104"/>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
        <p:nvSpPr>
          <p:cNvPr id="341" name="Google Shape;341;g3bbe9322812_0_104"/>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(Reflection)</a:t>
            </a:r>
            <a:endParaRPr sz="3800" b="0" i="0" u="none" strike="noStrike" cap="none">
              <a:solidFill>
                <a:schemeClr val="lt1"/>
              </a:solidFill>
              <a:latin typeface="Calibri"/>
              <a:ea typeface="Calibri"/>
              <a:cs typeface="Calibri"/>
              <a:sym typeface="Calibri"/>
            </a:endParaRPr>
          </a:p>
        </p:txBody>
      </p:sp>
      <p:pic>
        <p:nvPicPr>
          <p:cNvPr id="342" name="Google Shape;342;g3bbe9322812_0_104"/>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43" name="Google Shape;343;g3bbe9322812_0_104"/>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344" name="Google Shape;344;g3bbe9322812_0_104"/>
          <p:cNvSpPr txBox="1"/>
          <p:nvPr/>
        </p:nvSpPr>
        <p:spPr>
          <a:xfrm>
            <a:off x="507125" y="1152925"/>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Reflection on X-Axis:</a:t>
            </a:r>
            <a:endParaRPr sz="1300" b="1" i="0" u="sng" strike="noStrike" cap="none">
              <a:solidFill>
                <a:srgbClr val="303030"/>
              </a:solidFill>
              <a:latin typeface="Arial"/>
              <a:ea typeface="Arial"/>
              <a:cs typeface="Arial"/>
              <a:sym typeface="Arial"/>
            </a:endParaRPr>
          </a:p>
        </p:txBody>
      </p:sp>
      <p:pic>
        <p:nvPicPr>
          <p:cNvPr id="345" name="Google Shape;345;g3bbe9322812_0_104"/>
          <p:cNvPicPr preferRelativeResize="0"/>
          <p:nvPr/>
        </p:nvPicPr>
        <p:blipFill rotWithShape="1">
          <a:blip r:embed="rId4">
            <a:alphaModFix/>
          </a:blip>
          <a:srcRect/>
          <a:stretch/>
        </p:blipFill>
        <p:spPr>
          <a:xfrm>
            <a:off x="414450" y="1753123"/>
            <a:ext cx="2432600" cy="1731900"/>
          </a:xfrm>
          <a:prstGeom prst="rect">
            <a:avLst/>
          </a:prstGeom>
          <a:noFill/>
          <a:ln>
            <a:noFill/>
          </a:ln>
        </p:spPr>
      </p:pic>
      <p:sp>
        <p:nvSpPr>
          <p:cNvPr id="346" name="Google Shape;346;g3bbe9322812_0_104"/>
          <p:cNvSpPr txBox="1"/>
          <p:nvPr/>
        </p:nvSpPr>
        <p:spPr>
          <a:xfrm>
            <a:off x="4074950" y="1674250"/>
            <a:ext cx="4575000" cy="532200"/>
          </a:xfrm>
          <a:prstGeom prst="rect">
            <a:avLst/>
          </a:prstGeom>
          <a:noFill/>
          <a:ln>
            <a:noFill/>
          </a:ln>
        </p:spPr>
        <p:txBody>
          <a:bodyPr spcFirstLastPara="1" wrap="square" lIns="91425" tIns="91425" rIns="91425" bIns="91425" anchor="t" anchorCtr="0">
            <a:spAutoFit/>
          </a:bodyPr>
          <a:lstStyle/>
          <a:p>
            <a:pPr marL="139700" marR="0" lvl="0" indent="0" algn="l" rtl="0">
              <a:lnSpc>
                <a:spcPct val="115000"/>
              </a:lnSpc>
              <a:spcBef>
                <a:spcPts val="0"/>
              </a:spcBef>
              <a:spcAft>
                <a:spcPts val="0"/>
              </a:spcAft>
              <a:buClr>
                <a:srgbClr val="000000"/>
              </a:buClr>
              <a:buSzPts val="1050"/>
              <a:buFont typeface="Arial"/>
              <a:buNone/>
            </a:pPr>
            <a:r>
              <a:rPr lang="en-US" sz="1050" b="1" i="0" u="none" strike="noStrike" cap="none">
                <a:solidFill>
                  <a:srgbClr val="0E0E0E"/>
                </a:solidFill>
                <a:latin typeface="Arial"/>
                <a:ea typeface="Arial"/>
                <a:cs typeface="Arial"/>
                <a:sym typeface="Arial"/>
              </a:rPr>
              <a:t>Reflection about the line y = 0, the X-axis, is accomplished with the transformation matrix.</a:t>
            </a:r>
            <a:endParaRPr sz="1050" b="1" i="0" u="none" strike="noStrike" cap="none">
              <a:solidFill>
                <a:srgbClr val="0E0E0E"/>
              </a:solidFill>
              <a:latin typeface="Arial"/>
              <a:ea typeface="Arial"/>
              <a:cs typeface="Arial"/>
              <a:sym typeface="Arial"/>
            </a:endParaRPr>
          </a:p>
        </p:txBody>
      </p:sp>
      <p:sp>
        <p:nvSpPr>
          <p:cNvPr id="347" name="Google Shape;347;g3bbe9322812_0_104"/>
          <p:cNvSpPr txBox="1"/>
          <p:nvPr/>
        </p:nvSpPr>
        <p:spPr>
          <a:xfrm>
            <a:off x="414450" y="4256675"/>
            <a:ext cx="5946900" cy="1082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This reflection is achieved by using the following reflection equations:</a:t>
            </a:r>
            <a:endParaRPr sz="1150" b="0" i="0" u="none" strike="noStrike" cap="none">
              <a:solidFill>
                <a:srgbClr val="303030"/>
              </a:solidFill>
              <a:latin typeface="Arial"/>
              <a:ea typeface="Arial"/>
              <a:cs typeface="Arial"/>
              <a:sym typeface="Arial"/>
            </a:endParaRPr>
          </a:p>
          <a:p>
            <a:pPr marL="596900" marR="0" lvl="0" indent="-339725" algn="l" rtl="0">
              <a:lnSpc>
                <a:spcPct val="115000"/>
              </a:lnSpc>
              <a:spcBef>
                <a:spcPts val="900"/>
              </a:spcBef>
              <a:spcAft>
                <a:spcPts val="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x’ = x</a:t>
            </a:r>
            <a:endParaRPr sz="1700" b="0" i="0" u="none" strike="noStrike" cap="none">
              <a:solidFill>
                <a:schemeClr val="dk1"/>
              </a:solidFill>
              <a:latin typeface="Arial"/>
              <a:ea typeface="Arial"/>
              <a:cs typeface="Arial"/>
              <a:sym typeface="Arial"/>
            </a:endParaRPr>
          </a:p>
          <a:p>
            <a:pPr marL="596900" marR="0" lvl="0" indent="-339725" algn="l" rtl="0">
              <a:lnSpc>
                <a:spcPct val="115000"/>
              </a:lnSpc>
              <a:spcBef>
                <a:spcPts val="0"/>
              </a:spcBef>
              <a:spcAft>
                <a:spcPts val="150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y’= -y</a:t>
            </a:r>
            <a:endParaRPr sz="1700" b="0" i="0" u="none" strike="noStrike" cap="none">
              <a:solidFill>
                <a:schemeClr val="dk1"/>
              </a:solidFill>
              <a:latin typeface="Arial"/>
              <a:ea typeface="Arial"/>
              <a:cs typeface="Arial"/>
              <a:sym typeface="Arial"/>
            </a:endParaRPr>
          </a:p>
        </p:txBody>
      </p:sp>
      <p:pic>
        <p:nvPicPr>
          <p:cNvPr id="348" name="Google Shape;348;g3bbe9322812_0_104"/>
          <p:cNvPicPr preferRelativeResize="0"/>
          <p:nvPr/>
        </p:nvPicPr>
        <p:blipFill rotWithShape="1">
          <a:blip r:embed="rId5">
            <a:alphaModFix/>
          </a:blip>
          <a:srcRect/>
          <a:stretch/>
        </p:blipFill>
        <p:spPr>
          <a:xfrm>
            <a:off x="4903000" y="2349750"/>
            <a:ext cx="3086100" cy="11697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352"/>
        <p:cNvGrpSpPr/>
        <p:nvPr/>
      </p:nvGrpSpPr>
      <p:grpSpPr>
        <a:xfrm>
          <a:off x="0" y="0"/>
          <a:ext cx="0" cy="0"/>
          <a:chOff x="0" y="0"/>
          <a:chExt cx="0" cy="0"/>
        </a:xfrm>
      </p:grpSpPr>
      <p:sp>
        <p:nvSpPr>
          <p:cNvPr id="353" name="Google Shape;353;g3bbe9322812_0_132"/>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54" name="Google Shape;354;g3bbe9322812_0_13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
        <p:nvSpPr>
          <p:cNvPr id="355" name="Google Shape;355;g3bbe9322812_0_132"/>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(Reflection)</a:t>
            </a:r>
            <a:endParaRPr sz="3800" b="0" i="0" u="none" strike="noStrike" cap="none">
              <a:solidFill>
                <a:schemeClr val="lt1"/>
              </a:solidFill>
              <a:latin typeface="Calibri"/>
              <a:ea typeface="Calibri"/>
              <a:cs typeface="Calibri"/>
              <a:sym typeface="Calibri"/>
            </a:endParaRPr>
          </a:p>
        </p:txBody>
      </p:sp>
      <p:pic>
        <p:nvPicPr>
          <p:cNvPr id="356" name="Google Shape;356;g3bbe9322812_0_13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57" name="Google Shape;357;g3bbe9322812_0_132"/>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358" name="Google Shape;358;g3bbe9322812_0_132"/>
          <p:cNvSpPr txBox="1"/>
          <p:nvPr/>
        </p:nvSpPr>
        <p:spPr>
          <a:xfrm>
            <a:off x="507125" y="1152925"/>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Reflection on Y-Axis:</a:t>
            </a:r>
            <a:endParaRPr sz="1300" b="1" i="0" u="sng" strike="noStrike" cap="none">
              <a:solidFill>
                <a:srgbClr val="303030"/>
              </a:solidFill>
              <a:latin typeface="Arial"/>
              <a:ea typeface="Arial"/>
              <a:cs typeface="Arial"/>
              <a:sym typeface="Arial"/>
            </a:endParaRPr>
          </a:p>
        </p:txBody>
      </p:sp>
      <p:sp>
        <p:nvSpPr>
          <p:cNvPr id="359" name="Google Shape;359;g3bbe9322812_0_132"/>
          <p:cNvSpPr txBox="1"/>
          <p:nvPr/>
        </p:nvSpPr>
        <p:spPr>
          <a:xfrm>
            <a:off x="4074950" y="1674250"/>
            <a:ext cx="4575000" cy="532200"/>
          </a:xfrm>
          <a:prstGeom prst="rect">
            <a:avLst/>
          </a:prstGeom>
          <a:noFill/>
          <a:ln>
            <a:noFill/>
          </a:ln>
        </p:spPr>
        <p:txBody>
          <a:bodyPr spcFirstLastPara="1" wrap="square" lIns="91425" tIns="91425" rIns="91425" bIns="91425" anchor="t" anchorCtr="0">
            <a:spAutoFit/>
          </a:bodyPr>
          <a:lstStyle/>
          <a:p>
            <a:pPr marL="139700" marR="0" lvl="0" indent="0" algn="l" rtl="0">
              <a:lnSpc>
                <a:spcPct val="115000"/>
              </a:lnSpc>
              <a:spcBef>
                <a:spcPts val="0"/>
              </a:spcBef>
              <a:spcAft>
                <a:spcPts val="0"/>
              </a:spcAft>
              <a:buClr>
                <a:srgbClr val="000000"/>
              </a:buClr>
              <a:buSzPts val="1050"/>
              <a:buFont typeface="Arial"/>
              <a:buNone/>
            </a:pPr>
            <a:r>
              <a:rPr lang="en-US" sz="1050" b="1" i="0" u="none" strike="noStrike" cap="none">
                <a:solidFill>
                  <a:srgbClr val="0E0E0E"/>
                </a:solidFill>
                <a:latin typeface="Arial"/>
                <a:ea typeface="Arial"/>
                <a:cs typeface="Arial"/>
                <a:sym typeface="Arial"/>
              </a:rPr>
              <a:t>Reflection about the line x = 0, the Y-axis, is accomplished with the transformation matrix.</a:t>
            </a:r>
            <a:endParaRPr sz="1050" b="1" i="0" u="none" strike="noStrike" cap="none">
              <a:solidFill>
                <a:srgbClr val="0E0E0E"/>
              </a:solidFill>
              <a:latin typeface="Arial"/>
              <a:ea typeface="Arial"/>
              <a:cs typeface="Arial"/>
              <a:sym typeface="Arial"/>
            </a:endParaRPr>
          </a:p>
        </p:txBody>
      </p:sp>
      <p:sp>
        <p:nvSpPr>
          <p:cNvPr id="360" name="Google Shape;360;g3bbe9322812_0_132"/>
          <p:cNvSpPr txBox="1"/>
          <p:nvPr/>
        </p:nvSpPr>
        <p:spPr>
          <a:xfrm>
            <a:off x="414450" y="4256675"/>
            <a:ext cx="5946900" cy="1082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This reflection is achieved by using the following reflection equations:</a:t>
            </a:r>
            <a:endParaRPr sz="1150" b="0" i="0" u="none" strike="noStrike" cap="none">
              <a:solidFill>
                <a:srgbClr val="303030"/>
              </a:solidFill>
              <a:latin typeface="Arial"/>
              <a:ea typeface="Arial"/>
              <a:cs typeface="Arial"/>
              <a:sym typeface="Arial"/>
            </a:endParaRPr>
          </a:p>
          <a:p>
            <a:pPr marL="596900" marR="0" lvl="0" indent="-339725" algn="l" rtl="0">
              <a:lnSpc>
                <a:spcPct val="115000"/>
              </a:lnSpc>
              <a:spcBef>
                <a:spcPts val="900"/>
              </a:spcBef>
              <a:spcAft>
                <a:spcPts val="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x’ = -x</a:t>
            </a:r>
            <a:endParaRPr sz="1700" b="0" i="0" u="none" strike="noStrike" cap="none">
              <a:solidFill>
                <a:schemeClr val="dk1"/>
              </a:solidFill>
              <a:latin typeface="Arial"/>
              <a:ea typeface="Arial"/>
              <a:cs typeface="Arial"/>
              <a:sym typeface="Arial"/>
            </a:endParaRPr>
          </a:p>
          <a:p>
            <a:pPr marL="596900" marR="0" lvl="0" indent="-339725" algn="l" rtl="0">
              <a:lnSpc>
                <a:spcPct val="115000"/>
              </a:lnSpc>
              <a:spcBef>
                <a:spcPts val="0"/>
              </a:spcBef>
              <a:spcAft>
                <a:spcPts val="150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y’= y</a:t>
            </a:r>
            <a:endParaRPr sz="1700" b="0" i="0" u="none" strike="noStrike" cap="none">
              <a:solidFill>
                <a:schemeClr val="dk1"/>
              </a:solidFill>
              <a:latin typeface="Arial"/>
              <a:ea typeface="Arial"/>
              <a:cs typeface="Arial"/>
              <a:sym typeface="Arial"/>
            </a:endParaRPr>
          </a:p>
        </p:txBody>
      </p:sp>
      <p:pic>
        <p:nvPicPr>
          <p:cNvPr id="361" name="Google Shape;361;g3bbe9322812_0_132"/>
          <p:cNvPicPr preferRelativeResize="0"/>
          <p:nvPr/>
        </p:nvPicPr>
        <p:blipFill rotWithShape="1">
          <a:blip r:embed="rId4">
            <a:alphaModFix/>
          </a:blip>
          <a:srcRect/>
          <a:stretch/>
        </p:blipFill>
        <p:spPr>
          <a:xfrm>
            <a:off x="552625" y="1737375"/>
            <a:ext cx="3040100" cy="1719550"/>
          </a:xfrm>
          <a:prstGeom prst="rect">
            <a:avLst/>
          </a:prstGeom>
          <a:noFill/>
          <a:ln>
            <a:noFill/>
          </a:ln>
        </p:spPr>
      </p:pic>
      <p:pic>
        <p:nvPicPr>
          <p:cNvPr id="362" name="Google Shape;362;g3bbe9322812_0_132"/>
          <p:cNvPicPr preferRelativeResize="0"/>
          <p:nvPr/>
        </p:nvPicPr>
        <p:blipFill rotWithShape="1">
          <a:blip r:embed="rId5">
            <a:alphaModFix/>
          </a:blip>
          <a:srcRect/>
          <a:stretch/>
        </p:blipFill>
        <p:spPr>
          <a:xfrm>
            <a:off x="5157150" y="2374225"/>
            <a:ext cx="2865075" cy="962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366"/>
        <p:cNvGrpSpPr/>
        <p:nvPr/>
      </p:nvGrpSpPr>
      <p:grpSpPr>
        <a:xfrm>
          <a:off x="0" y="0"/>
          <a:ext cx="0" cy="0"/>
          <a:chOff x="0" y="0"/>
          <a:chExt cx="0" cy="0"/>
        </a:xfrm>
      </p:grpSpPr>
      <p:sp>
        <p:nvSpPr>
          <p:cNvPr id="367" name="Google Shape;367;g3bbe9322812_0_151"/>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68" name="Google Shape;368;g3bbe9322812_0_15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
        <p:nvSpPr>
          <p:cNvPr id="369" name="Google Shape;369;g3bbe9322812_0_151"/>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(Reflection)</a:t>
            </a:r>
            <a:endParaRPr sz="3800" b="0" i="0" u="none" strike="noStrike" cap="none">
              <a:solidFill>
                <a:schemeClr val="lt1"/>
              </a:solidFill>
              <a:latin typeface="Calibri"/>
              <a:ea typeface="Calibri"/>
              <a:cs typeface="Calibri"/>
              <a:sym typeface="Calibri"/>
            </a:endParaRPr>
          </a:p>
        </p:txBody>
      </p:sp>
      <p:pic>
        <p:nvPicPr>
          <p:cNvPr id="370" name="Google Shape;370;g3bbe9322812_0_15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71" name="Google Shape;371;g3bbe9322812_0_151"/>
          <p:cNvSpPr txBox="1"/>
          <p:nvPr/>
        </p:nvSpPr>
        <p:spPr>
          <a:xfrm>
            <a:off x="363825" y="5505275"/>
            <a:ext cx="7977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400" b="0" i="0" u="none" strike="noStrike" cap="none">
                <a:solidFill>
                  <a:srgbClr val="000000"/>
                </a:solidFill>
                <a:latin typeface="Times New Roman"/>
                <a:ea typeface="Times New Roman"/>
                <a:cs typeface="Times New Roman"/>
                <a:sym typeface="Times New Roman"/>
              </a:rPr>
              <a:t>In this value of x and y, both will be reversed. This is also called a half revolution about the origin.</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372" name="Google Shape;372;g3bbe9322812_0_151"/>
          <p:cNvSpPr txBox="1"/>
          <p:nvPr/>
        </p:nvSpPr>
        <p:spPr>
          <a:xfrm>
            <a:off x="507125" y="1152925"/>
            <a:ext cx="7833600" cy="684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Reflection about an axis perpendicular to xy plane and passing through origin:</a:t>
            </a:r>
            <a:endParaRPr sz="1300" b="1" i="0" u="sng" strike="noStrike" cap="none">
              <a:solidFill>
                <a:srgbClr val="30303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300"/>
              <a:buFont typeface="Arial"/>
              <a:buNone/>
            </a:pPr>
            <a:endParaRPr sz="1300" b="1" i="0" u="sng" strike="noStrike" cap="none">
              <a:solidFill>
                <a:srgbClr val="303030"/>
              </a:solidFill>
              <a:latin typeface="Arial"/>
              <a:ea typeface="Arial"/>
              <a:cs typeface="Arial"/>
              <a:sym typeface="Arial"/>
            </a:endParaRPr>
          </a:p>
        </p:txBody>
      </p:sp>
      <p:sp>
        <p:nvSpPr>
          <p:cNvPr id="373" name="Google Shape;373;g3bbe9322812_0_151"/>
          <p:cNvSpPr txBox="1"/>
          <p:nvPr/>
        </p:nvSpPr>
        <p:spPr>
          <a:xfrm>
            <a:off x="4447850" y="1674250"/>
            <a:ext cx="4575000" cy="3693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1200"/>
              </a:spcAft>
              <a:buClr>
                <a:srgbClr val="000000"/>
              </a:buClr>
              <a:buSzPts val="1200"/>
              <a:buFont typeface="Arial"/>
              <a:buNone/>
            </a:pPr>
            <a:r>
              <a:rPr lang="en-US" sz="1200" b="0" i="0" u="none" strike="noStrike" cap="none">
                <a:solidFill>
                  <a:srgbClr val="333333"/>
                </a:solidFill>
                <a:latin typeface="Roboto"/>
                <a:ea typeface="Roboto"/>
                <a:cs typeface="Roboto"/>
                <a:sym typeface="Roboto"/>
              </a:rPr>
              <a:t>The matrix of this transformation is given below</a:t>
            </a:r>
            <a:endParaRPr sz="1050" b="1" i="0" u="none" strike="noStrike" cap="none">
              <a:solidFill>
                <a:srgbClr val="0E0E0E"/>
              </a:solidFill>
              <a:latin typeface="Arial"/>
              <a:ea typeface="Arial"/>
              <a:cs typeface="Arial"/>
              <a:sym typeface="Arial"/>
            </a:endParaRPr>
          </a:p>
        </p:txBody>
      </p:sp>
      <p:sp>
        <p:nvSpPr>
          <p:cNvPr id="374" name="Google Shape;374;g3bbe9322812_0_151"/>
          <p:cNvSpPr txBox="1"/>
          <p:nvPr/>
        </p:nvSpPr>
        <p:spPr>
          <a:xfrm>
            <a:off x="414450" y="4256675"/>
            <a:ext cx="5946900" cy="1100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0"/>
              </a:spcAft>
              <a:buClr>
                <a:srgbClr val="000000"/>
              </a:buClr>
              <a:buSzPts val="1250"/>
              <a:buFont typeface="Arial"/>
              <a:buNone/>
            </a:pPr>
            <a:r>
              <a:rPr lang="en-US" sz="1250" b="0" i="0" u="none" strike="noStrike" cap="none">
                <a:solidFill>
                  <a:srgbClr val="303030"/>
                </a:solidFill>
                <a:latin typeface="Arial"/>
                <a:ea typeface="Arial"/>
                <a:cs typeface="Arial"/>
                <a:sym typeface="Arial"/>
              </a:rPr>
              <a:t>This reflection is achieved by using the following reflection equations:</a:t>
            </a:r>
            <a:endParaRPr sz="1250" b="0" i="0" u="none" strike="noStrike" cap="none">
              <a:solidFill>
                <a:srgbClr val="303030"/>
              </a:solidFill>
              <a:latin typeface="Arial"/>
              <a:ea typeface="Arial"/>
              <a:cs typeface="Arial"/>
              <a:sym typeface="Arial"/>
            </a:endParaRPr>
          </a:p>
          <a:p>
            <a:pPr marL="596900" marR="0" lvl="0" indent="-339725" algn="l" rtl="0">
              <a:lnSpc>
                <a:spcPct val="115000"/>
              </a:lnSpc>
              <a:spcBef>
                <a:spcPts val="900"/>
              </a:spcBef>
              <a:spcAft>
                <a:spcPts val="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x’ = -x</a:t>
            </a:r>
            <a:endParaRPr sz="1700" b="0" i="0" u="none" strike="noStrike" cap="none">
              <a:solidFill>
                <a:schemeClr val="dk1"/>
              </a:solidFill>
              <a:latin typeface="Arial"/>
              <a:ea typeface="Arial"/>
              <a:cs typeface="Arial"/>
              <a:sym typeface="Arial"/>
            </a:endParaRPr>
          </a:p>
          <a:p>
            <a:pPr marL="596900" marR="0" lvl="0" indent="-339725" algn="l" rtl="0">
              <a:lnSpc>
                <a:spcPct val="115000"/>
              </a:lnSpc>
              <a:spcBef>
                <a:spcPts val="0"/>
              </a:spcBef>
              <a:spcAft>
                <a:spcPts val="1500"/>
              </a:spcAft>
              <a:buClr>
                <a:srgbClr val="303030"/>
              </a:buClr>
              <a:buSzPts val="1750"/>
              <a:buFont typeface="Arial"/>
              <a:buChar char="●"/>
            </a:pPr>
            <a:r>
              <a:rPr lang="en-US" sz="1750" b="0" i="0" u="none" strike="noStrike" cap="none">
                <a:solidFill>
                  <a:srgbClr val="303030"/>
                </a:solidFill>
                <a:latin typeface="Arial"/>
                <a:ea typeface="Arial"/>
                <a:cs typeface="Arial"/>
                <a:sym typeface="Arial"/>
              </a:rPr>
              <a:t>y’= -y</a:t>
            </a:r>
            <a:endParaRPr sz="1700" b="0" i="0" u="none" strike="noStrike" cap="none">
              <a:solidFill>
                <a:schemeClr val="dk1"/>
              </a:solidFill>
              <a:latin typeface="Arial"/>
              <a:ea typeface="Arial"/>
              <a:cs typeface="Arial"/>
              <a:sym typeface="Arial"/>
            </a:endParaRPr>
          </a:p>
        </p:txBody>
      </p:sp>
      <p:pic>
        <p:nvPicPr>
          <p:cNvPr id="375" name="Google Shape;375;g3bbe9322812_0_151"/>
          <p:cNvPicPr preferRelativeResize="0"/>
          <p:nvPr/>
        </p:nvPicPr>
        <p:blipFill rotWithShape="1">
          <a:blip r:embed="rId4">
            <a:alphaModFix/>
          </a:blip>
          <a:srcRect/>
          <a:stretch/>
        </p:blipFill>
        <p:spPr>
          <a:xfrm>
            <a:off x="643550" y="1582925"/>
            <a:ext cx="3431400" cy="2329625"/>
          </a:xfrm>
          <a:prstGeom prst="rect">
            <a:avLst/>
          </a:prstGeom>
          <a:noFill/>
          <a:ln>
            <a:noFill/>
          </a:ln>
        </p:spPr>
      </p:pic>
      <p:pic>
        <p:nvPicPr>
          <p:cNvPr id="376" name="Google Shape;376;g3bbe9322812_0_151"/>
          <p:cNvPicPr preferRelativeResize="0"/>
          <p:nvPr/>
        </p:nvPicPr>
        <p:blipFill rotWithShape="1">
          <a:blip r:embed="rId5">
            <a:alphaModFix/>
          </a:blip>
          <a:srcRect/>
          <a:stretch/>
        </p:blipFill>
        <p:spPr>
          <a:xfrm>
            <a:off x="5024250" y="2143163"/>
            <a:ext cx="2723925" cy="907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380"/>
        <p:cNvGrpSpPr/>
        <p:nvPr/>
      </p:nvGrpSpPr>
      <p:grpSpPr>
        <a:xfrm>
          <a:off x="0" y="0"/>
          <a:ext cx="0" cy="0"/>
          <a:chOff x="0" y="0"/>
          <a:chExt cx="0" cy="0"/>
        </a:xfrm>
      </p:grpSpPr>
      <p:sp>
        <p:nvSpPr>
          <p:cNvPr id="381" name="Google Shape;381;g3bbe9322812_0_225"/>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82" name="Google Shape;382;g3bbe9322812_0_225"/>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
        <p:nvSpPr>
          <p:cNvPr id="383" name="Google Shape;383;g3bbe9322812_0_225"/>
          <p:cNvSpPr txBox="1"/>
          <p:nvPr/>
        </p:nvSpPr>
        <p:spPr>
          <a:xfrm>
            <a:off x="363725" y="10327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(Scaling Example)</a:t>
            </a:r>
            <a:endParaRPr sz="3600" b="0" i="0" u="none" strike="noStrike" cap="none">
              <a:solidFill>
                <a:schemeClr val="lt1"/>
              </a:solidFill>
              <a:latin typeface="Calibri"/>
              <a:ea typeface="Calibri"/>
              <a:cs typeface="Calibri"/>
              <a:sym typeface="Calibri"/>
            </a:endParaRPr>
          </a:p>
        </p:txBody>
      </p:sp>
      <p:pic>
        <p:nvPicPr>
          <p:cNvPr id="384" name="Google Shape;384;g3bbe9322812_0_225"/>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385" name="Google Shape;385;g3bbe9322812_0_225"/>
          <p:cNvSpPr txBox="1"/>
          <p:nvPr/>
        </p:nvSpPr>
        <p:spPr>
          <a:xfrm>
            <a:off x="227325" y="994700"/>
            <a:ext cx="8686200" cy="6156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triangle with coordinate points A(3, 4), B(6, 4), and C(5, 6). Apply the reflection on the X axis and obtain the new coordinates of the object.</a:t>
            </a:r>
            <a:endParaRPr sz="1400" b="0" i="0" u="none" strike="noStrike" cap="none">
              <a:solidFill>
                <a:srgbClr val="000000"/>
              </a:solidFill>
              <a:latin typeface="Arial"/>
              <a:ea typeface="Arial"/>
              <a:cs typeface="Arial"/>
              <a:sym typeface="Arial"/>
            </a:endParaRPr>
          </a:p>
        </p:txBody>
      </p:sp>
      <p:sp>
        <p:nvSpPr>
          <p:cNvPr id="386" name="Google Shape;386;g3bbe9322812_0_225"/>
          <p:cNvSpPr txBox="1"/>
          <p:nvPr/>
        </p:nvSpPr>
        <p:spPr>
          <a:xfrm>
            <a:off x="309250" y="16103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387" name="Google Shape;387;g3bbe9322812_0_225"/>
          <p:cNvSpPr txBox="1"/>
          <p:nvPr/>
        </p:nvSpPr>
        <p:spPr>
          <a:xfrm>
            <a:off x="436525" y="1991925"/>
            <a:ext cx="6321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For a reflection across the x-axis, the matrix equation is:</a:t>
            </a:r>
            <a:endParaRPr sz="1400" b="0" i="0" u="none" strike="noStrike" cap="none">
              <a:solidFill>
                <a:srgbClr val="000000"/>
              </a:solidFill>
              <a:latin typeface="Arial"/>
              <a:ea typeface="Arial"/>
              <a:cs typeface="Arial"/>
              <a:sym typeface="Arial"/>
            </a:endParaRPr>
          </a:p>
        </p:txBody>
      </p:sp>
      <p:pic>
        <p:nvPicPr>
          <p:cNvPr id="388" name="Google Shape;388;g3bbe9322812_0_225"/>
          <p:cNvPicPr preferRelativeResize="0"/>
          <p:nvPr/>
        </p:nvPicPr>
        <p:blipFill rotWithShape="1">
          <a:blip r:embed="rId4">
            <a:alphaModFix/>
          </a:blip>
          <a:srcRect/>
          <a:stretch/>
        </p:blipFill>
        <p:spPr>
          <a:xfrm>
            <a:off x="946600" y="2444475"/>
            <a:ext cx="1936675" cy="687200"/>
          </a:xfrm>
          <a:prstGeom prst="rect">
            <a:avLst/>
          </a:prstGeom>
          <a:noFill/>
          <a:ln>
            <a:noFill/>
          </a:ln>
        </p:spPr>
      </p:pic>
      <p:sp>
        <p:nvSpPr>
          <p:cNvPr id="389" name="Google Shape;389;g3bbe9322812_0_225"/>
          <p:cNvSpPr txBox="1"/>
          <p:nvPr/>
        </p:nvSpPr>
        <p:spPr>
          <a:xfrm>
            <a:off x="498025" y="335740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B5394"/>
                </a:solidFill>
                <a:latin typeface="Arial"/>
                <a:ea typeface="Arial"/>
                <a:cs typeface="Arial"/>
                <a:sym typeface="Arial"/>
              </a:rPr>
              <a:t>For Point A (3, 4):</a:t>
            </a:r>
            <a:endParaRPr sz="1400" b="1" i="0" u="none" strike="noStrike" cap="none">
              <a:solidFill>
                <a:srgbClr val="0B5394"/>
              </a:solidFill>
              <a:latin typeface="Arial"/>
              <a:ea typeface="Arial"/>
              <a:cs typeface="Arial"/>
              <a:sym typeface="Arial"/>
            </a:endParaRPr>
          </a:p>
        </p:txBody>
      </p:sp>
      <p:pic>
        <p:nvPicPr>
          <p:cNvPr id="390" name="Google Shape;390;g3bbe9322812_0_225"/>
          <p:cNvPicPr preferRelativeResize="0"/>
          <p:nvPr/>
        </p:nvPicPr>
        <p:blipFill rotWithShape="1">
          <a:blip r:embed="rId5">
            <a:alphaModFix/>
          </a:blip>
          <a:srcRect/>
          <a:stretch/>
        </p:blipFill>
        <p:spPr>
          <a:xfrm>
            <a:off x="2092125" y="3325413"/>
            <a:ext cx="3315248" cy="547700"/>
          </a:xfrm>
          <a:prstGeom prst="rect">
            <a:avLst/>
          </a:prstGeom>
          <a:noFill/>
          <a:ln>
            <a:noFill/>
          </a:ln>
        </p:spPr>
      </p:pic>
      <p:sp>
        <p:nvSpPr>
          <p:cNvPr id="391" name="Google Shape;391;g3bbe9322812_0_225"/>
          <p:cNvSpPr txBox="1"/>
          <p:nvPr/>
        </p:nvSpPr>
        <p:spPr>
          <a:xfrm>
            <a:off x="498025" y="4209963"/>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B5394"/>
                </a:solidFill>
                <a:latin typeface="Arial"/>
                <a:ea typeface="Arial"/>
                <a:cs typeface="Arial"/>
                <a:sym typeface="Arial"/>
              </a:rPr>
              <a:t>For Point B (6, 4)</a:t>
            </a:r>
            <a:r>
              <a:rPr lang="en-US"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pic>
        <p:nvPicPr>
          <p:cNvPr id="392" name="Google Shape;392;g3bbe9322812_0_225"/>
          <p:cNvPicPr preferRelativeResize="0"/>
          <p:nvPr/>
        </p:nvPicPr>
        <p:blipFill rotWithShape="1">
          <a:blip r:embed="rId6">
            <a:alphaModFix/>
          </a:blip>
          <a:srcRect l="5934"/>
          <a:stretch/>
        </p:blipFill>
        <p:spPr>
          <a:xfrm>
            <a:off x="2130200" y="4030650"/>
            <a:ext cx="1901250" cy="687175"/>
          </a:xfrm>
          <a:prstGeom prst="rect">
            <a:avLst/>
          </a:prstGeom>
          <a:noFill/>
          <a:ln>
            <a:noFill/>
          </a:ln>
        </p:spPr>
      </p:pic>
      <p:sp>
        <p:nvSpPr>
          <p:cNvPr id="393" name="Google Shape;393;g3bbe9322812_0_225"/>
          <p:cNvSpPr txBox="1"/>
          <p:nvPr/>
        </p:nvSpPr>
        <p:spPr>
          <a:xfrm>
            <a:off x="498013" y="5062538"/>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B5394"/>
                </a:solidFill>
                <a:latin typeface="Arial"/>
                <a:ea typeface="Arial"/>
                <a:cs typeface="Arial"/>
                <a:sym typeface="Arial"/>
              </a:rPr>
              <a:t>For Point C(5, 6):</a:t>
            </a:r>
            <a:endParaRPr sz="1400" b="1" i="0" u="none" strike="noStrike" cap="none">
              <a:solidFill>
                <a:srgbClr val="0B5394"/>
              </a:solidFill>
              <a:latin typeface="Arial"/>
              <a:ea typeface="Arial"/>
              <a:cs typeface="Arial"/>
              <a:sym typeface="Arial"/>
            </a:endParaRPr>
          </a:p>
        </p:txBody>
      </p:sp>
      <p:pic>
        <p:nvPicPr>
          <p:cNvPr id="394" name="Google Shape;394;g3bbe9322812_0_225"/>
          <p:cNvPicPr preferRelativeResize="0"/>
          <p:nvPr/>
        </p:nvPicPr>
        <p:blipFill rotWithShape="1">
          <a:blip r:embed="rId7">
            <a:alphaModFix/>
          </a:blip>
          <a:srcRect l="9436"/>
          <a:stretch/>
        </p:blipFill>
        <p:spPr>
          <a:xfrm>
            <a:off x="2130200" y="4875375"/>
            <a:ext cx="1721825" cy="687200"/>
          </a:xfrm>
          <a:prstGeom prst="rect">
            <a:avLst/>
          </a:prstGeom>
          <a:noFill/>
          <a:ln>
            <a:noFill/>
          </a:ln>
        </p:spPr>
      </p:pic>
      <p:sp>
        <p:nvSpPr>
          <p:cNvPr id="395" name="Google Shape;395;g3bbe9322812_0_225"/>
          <p:cNvSpPr txBox="1"/>
          <p:nvPr/>
        </p:nvSpPr>
        <p:spPr>
          <a:xfrm>
            <a:off x="520750" y="5651663"/>
            <a:ext cx="47613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B5394"/>
                </a:solidFill>
                <a:latin typeface="Arial"/>
                <a:ea typeface="Arial"/>
                <a:cs typeface="Arial"/>
                <a:sym typeface="Arial"/>
              </a:rPr>
              <a:t>New Point:</a:t>
            </a:r>
            <a:r>
              <a:rPr lang="en-US" sz="1400" b="0" i="0" u="none" strike="noStrike" cap="none">
                <a:solidFill>
                  <a:srgbClr val="000000"/>
                </a:solidFill>
                <a:latin typeface="Arial"/>
                <a:ea typeface="Arial"/>
                <a:cs typeface="Arial"/>
                <a:sym typeface="Arial"/>
              </a:rPr>
              <a:t> A' = (3, -4), </a:t>
            </a:r>
            <a:r>
              <a:rPr lang="en-US" sz="1400" b="0" i="0" u="none" strike="noStrike" cap="none">
                <a:solidFill>
                  <a:schemeClr val="dk1"/>
                </a:solidFill>
                <a:latin typeface="Arial"/>
                <a:ea typeface="Arial"/>
                <a:cs typeface="Arial"/>
                <a:sym typeface="Arial"/>
              </a:rPr>
              <a:t>B' = (6, -4), C' = (5, -6)</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6" name="Google Shape;396;g3bbe9322812_0_225" descr="Reflection in Computer Graphics | Problem-01 | Solution"/>
          <p:cNvPicPr preferRelativeResize="0"/>
          <p:nvPr/>
        </p:nvPicPr>
        <p:blipFill rotWithShape="1">
          <a:blip r:embed="rId8">
            <a:alphaModFix/>
          </a:blip>
          <a:srcRect/>
          <a:stretch/>
        </p:blipFill>
        <p:spPr>
          <a:xfrm>
            <a:off x="5339600" y="2335325"/>
            <a:ext cx="3764976" cy="3522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400"/>
        <p:cNvGrpSpPr/>
        <p:nvPr/>
      </p:nvGrpSpPr>
      <p:grpSpPr>
        <a:xfrm>
          <a:off x="0" y="0"/>
          <a:ext cx="0" cy="0"/>
          <a:chOff x="0" y="0"/>
          <a:chExt cx="0" cy="0"/>
        </a:xfrm>
      </p:grpSpPr>
      <p:sp>
        <p:nvSpPr>
          <p:cNvPr id="401" name="Google Shape;401;g3bbe9322812_0_245"/>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02" name="Google Shape;402;g3bbe9322812_0_245"/>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
        <p:nvSpPr>
          <p:cNvPr id="403" name="Google Shape;403;g3bbe9322812_0_245"/>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(Shearing)</a:t>
            </a:r>
            <a:endParaRPr sz="3800" b="0" i="0" u="none" strike="noStrike" cap="none">
              <a:solidFill>
                <a:schemeClr val="lt1"/>
              </a:solidFill>
              <a:latin typeface="Calibri"/>
              <a:ea typeface="Calibri"/>
              <a:cs typeface="Calibri"/>
              <a:sym typeface="Calibri"/>
            </a:endParaRPr>
          </a:p>
        </p:txBody>
      </p:sp>
      <p:pic>
        <p:nvPicPr>
          <p:cNvPr id="404" name="Google Shape;404;g3bbe9322812_0_245"/>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05" name="Google Shape;405;g3bbe9322812_0_245"/>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406" name="Google Shape;406;g3bbe9322812_0_245"/>
          <p:cNvSpPr txBox="1"/>
          <p:nvPr/>
        </p:nvSpPr>
        <p:spPr>
          <a:xfrm>
            <a:off x="236475" y="1227900"/>
            <a:ext cx="4575000" cy="2098500"/>
          </a:xfrm>
          <a:prstGeom prst="rect">
            <a:avLst/>
          </a:prstGeom>
          <a:noFill/>
          <a:ln>
            <a:noFill/>
          </a:ln>
        </p:spPr>
        <p:txBody>
          <a:bodyPr spcFirstLastPara="1" wrap="square" lIns="91425" tIns="91425" rIns="91425" bIns="91425" anchor="t" anchorCtr="0">
            <a:spAutoFit/>
          </a:bodyPr>
          <a:lstStyle/>
          <a:p>
            <a:pPr marL="457200" marR="0" lvl="0" indent="-330200" algn="just" rtl="0">
              <a:lnSpc>
                <a:spcPct val="100000"/>
              </a:lnSpc>
              <a:spcBef>
                <a:spcPts val="1000"/>
              </a:spcBef>
              <a:spcAft>
                <a:spcPts val="0"/>
              </a:spcAft>
              <a:buClr>
                <a:srgbClr val="0B5394"/>
              </a:buClr>
              <a:buSzPts val="1600"/>
              <a:buFont typeface="Arial"/>
              <a:buChar char="■"/>
            </a:pPr>
            <a:r>
              <a:rPr lang="en-US" sz="1400" b="0" i="0" u="none" strike="noStrike" cap="none">
                <a:solidFill>
                  <a:srgbClr val="000000"/>
                </a:solidFill>
                <a:latin typeface="Arial"/>
                <a:ea typeface="Arial"/>
                <a:cs typeface="Arial"/>
                <a:sym typeface="Arial"/>
              </a:rPr>
              <a:t>Shear is a transformation that distorts the shape of an object such that the transformed shape appears as if the object were composed of internal layers that had been caused to slide over each other</a:t>
            </a:r>
            <a:endParaRPr sz="1400" b="0" i="0" u="none" strike="noStrike" cap="none">
              <a:solidFill>
                <a:srgbClr val="000000"/>
              </a:solidFill>
              <a:latin typeface="Arial"/>
              <a:ea typeface="Arial"/>
              <a:cs typeface="Arial"/>
              <a:sym typeface="Arial"/>
            </a:endParaRPr>
          </a:p>
          <a:p>
            <a:pPr marL="457200" marR="0" lvl="0" indent="-330200" algn="just" rtl="0">
              <a:lnSpc>
                <a:spcPct val="100000"/>
              </a:lnSpc>
              <a:spcBef>
                <a:spcPts val="1000"/>
              </a:spcBef>
              <a:spcAft>
                <a:spcPts val="0"/>
              </a:spcAft>
              <a:buClr>
                <a:srgbClr val="0B5394"/>
              </a:buClr>
              <a:buSzPts val="1600"/>
              <a:buFont typeface="Arial"/>
              <a:buChar char="■"/>
            </a:pPr>
            <a:r>
              <a:rPr lang="en-US" sz="1400" b="0" i="0" u="none" strike="noStrike" cap="none">
                <a:solidFill>
                  <a:srgbClr val="000000"/>
                </a:solidFill>
                <a:latin typeface="Arial"/>
                <a:ea typeface="Arial"/>
                <a:cs typeface="Arial"/>
                <a:sym typeface="Arial"/>
              </a:rPr>
              <a:t> Two common shearing transformations are those that shift coordinate x values and those that shift y values</a:t>
            </a:r>
            <a:endParaRPr sz="1400" b="0" i="0" u="none" strike="noStrike" cap="none">
              <a:solidFill>
                <a:srgbClr val="000000"/>
              </a:solidFill>
              <a:latin typeface="Arial"/>
              <a:ea typeface="Arial"/>
              <a:cs typeface="Arial"/>
              <a:sym typeface="Arial"/>
            </a:endParaRPr>
          </a:p>
        </p:txBody>
      </p:sp>
      <p:pic>
        <p:nvPicPr>
          <p:cNvPr id="407" name="Google Shape;407;g3bbe9322812_0_245" title="shearAnimate.gif"/>
          <p:cNvPicPr preferRelativeResize="0"/>
          <p:nvPr/>
        </p:nvPicPr>
        <p:blipFill rotWithShape="1">
          <a:blip r:embed="rId4">
            <a:alphaModFix/>
          </a:blip>
          <a:srcRect/>
          <a:stretch/>
        </p:blipFill>
        <p:spPr>
          <a:xfrm>
            <a:off x="4982750" y="1090025"/>
            <a:ext cx="4008850" cy="2975650"/>
          </a:xfrm>
          <a:prstGeom prst="rect">
            <a:avLst/>
          </a:prstGeom>
          <a:noFill/>
          <a:ln>
            <a:noFill/>
          </a:ln>
        </p:spPr>
      </p:pic>
      <p:pic>
        <p:nvPicPr>
          <p:cNvPr id="408" name="Google Shape;408;g3bbe9322812_0_245" descr="Versions of Shearing in 2D plane"/>
          <p:cNvPicPr preferRelativeResize="0"/>
          <p:nvPr/>
        </p:nvPicPr>
        <p:blipFill rotWithShape="1">
          <a:blip r:embed="rId5">
            <a:alphaModFix/>
          </a:blip>
          <a:srcRect r="-7456" b="-7456"/>
          <a:stretch/>
        </p:blipFill>
        <p:spPr>
          <a:xfrm>
            <a:off x="645775" y="3889550"/>
            <a:ext cx="3336276" cy="971675"/>
          </a:xfrm>
          <a:prstGeom prst="rect">
            <a:avLst/>
          </a:prstGeom>
          <a:noFill/>
          <a:ln>
            <a:noFill/>
          </a:ln>
        </p:spPr>
      </p:pic>
      <p:pic>
        <p:nvPicPr>
          <p:cNvPr id="409" name="Google Shape;409;g3bbe9322812_0_245"/>
          <p:cNvPicPr preferRelativeResize="0"/>
          <p:nvPr/>
        </p:nvPicPr>
        <p:blipFill rotWithShape="1">
          <a:blip r:embed="rId6">
            <a:alphaModFix/>
          </a:blip>
          <a:srcRect/>
          <a:stretch/>
        </p:blipFill>
        <p:spPr>
          <a:xfrm>
            <a:off x="4452820" y="3745475"/>
            <a:ext cx="4117204" cy="2098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413"/>
        <p:cNvGrpSpPr/>
        <p:nvPr/>
      </p:nvGrpSpPr>
      <p:grpSpPr>
        <a:xfrm>
          <a:off x="0" y="0"/>
          <a:ext cx="0" cy="0"/>
          <a:chOff x="0" y="0"/>
          <a:chExt cx="0" cy="0"/>
        </a:xfrm>
      </p:grpSpPr>
      <p:sp>
        <p:nvSpPr>
          <p:cNvPr id="414" name="Google Shape;414;g3bbe9322812_0_264"/>
          <p:cNvSpPr txBox="1"/>
          <p:nvPr/>
        </p:nvSpPr>
        <p:spPr>
          <a:xfrm>
            <a:off x="3371850" y="63927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15" name="Google Shape;415;g3bbe9322812_0_264"/>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
        <p:nvSpPr>
          <p:cNvPr id="416" name="Google Shape;416;g3bbe9322812_0_264"/>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b="0" i="0" u="none" strike="noStrike" cap="none">
                <a:solidFill>
                  <a:schemeClr val="lt1"/>
                </a:solidFill>
                <a:latin typeface="Calibri"/>
                <a:ea typeface="Calibri"/>
                <a:cs typeface="Calibri"/>
                <a:sym typeface="Calibri"/>
              </a:rPr>
              <a:t>2D Transformations (Shearing)</a:t>
            </a:r>
            <a:endParaRPr sz="3800" b="0" i="0" u="none" strike="noStrike" cap="none">
              <a:solidFill>
                <a:schemeClr val="lt1"/>
              </a:solidFill>
              <a:latin typeface="Calibri"/>
              <a:ea typeface="Calibri"/>
              <a:cs typeface="Calibri"/>
              <a:sym typeface="Calibri"/>
            </a:endParaRPr>
          </a:p>
        </p:txBody>
      </p:sp>
      <p:pic>
        <p:nvPicPr>
          <p:cNvPr id="417" name="Google Shape;417;g3bbe9322812_0_264"/>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18" name="Google Shape;418;g3bbe9322812_0_264"/>
          <p:cNvSpPr txBox="1"/>
          <p:nvPr/>
        </p:nvSpPr>
        <p:spPr>
          <a:xfrm>
            <a:off x="236475" y="1227900"/>
            <a:ext cx="6739800" cy="8424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300"/>
              </a:spcBef>
              <a:spcAft>
                <a:spcPts val="0"/>
              </a:spcAft>
              <a:buClr>
                <a:srgbClr val="0B5394"/>
              </a:buClr>
              <a:buSzPts val="1600"/>
              <a:buFont typeface="Arial"/>
              <a:buChar char="■"/>
            </a:pPr>
            <a:r>
              <a:rPr lang="en-US" sz="1150" b="0" i="0" u="none" strike="noStrike" cap="none">
                <a:solidFill>
                  <a:srgbClr val="303030"/>
                </a:solidFill>
                <a:latin typeface="Arial"/>
                <a:ea typeface="Arial"/>
                <a:cs typeface="Arial"/>
                <a:sym typeface="Arial"/>
              </a:rPr>
              <a:t>Consider a point object O that has to be sheared in a 2D plane.</a:t>
            </a:r>
            <a:endParaRPr sz="1150" b="0" i="0" u="none" strike="noStrike" cap="none">
              <a:solidFill>
                <a:srgbClr val="303030"/>
              </a:solidFill>
              <a:latin typeface="Arial"/>
              <a:ea typeface="Arial"/>
              <a:cs typeface="Arial"/>
              <a:sym typeface="Arial"/>
            </a:endParaRPr>
          </a:p>
          <a:p>
            <a:pPr marL="457200" marR="0" lvl="0" indent="-330200" algn="just" rtl="0">
              <a:lnSpc>
                <a:spcPct val="100000"/>
              </a:lnSpc>
              <a:spcBef>
                <a:spcPts val="1000"/>
              </a:spcBef>
              <a:spcAft>
                <a:spcPts val="0"/>
              </a:spcAft>
              <a:buClr>
                <a:srgbClr val="0B5394"/>
              </a:buClr>
              <a:buSzPts val="1600"/>
              <a:buFont typeface="Arial"/>
              <a:buChar char="■"/>
            </a:pPr>
            <a:endParaRPr sz="1400" b="0" i="0" u="none" strike="noStrike" cap="none">
              <a:solidFill>
                <a:srgbClr val="000000"/>
              </a:solidFill>
              <a:latin typeface="Arial"/>
              <a:ea typeface="Arial"/>
              <a:cs typeface="Arial"/>
              <a:sym typeface="Arial"/>
            </a:endParaRPr>
          </a:p>
        </p:txBody>
      </p:sp>
      <p:sp>
        <p:nvSpPr>
          <p:cNvPr id="419" name="Google Shape;419;g3bbe9322812_0_264"/>
          <p:cNvSpPr txBox="1"/>
          <p:nvPr/>
        </p:nvSpPr>
        <p:spPr>
          <a:xfrm>
            <a:off x="752725" y="1762300"/>
            <a:ext cx="4731900" cy="1291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Let-</a:t>
            </a:r>
            <a:endParaRPr sz="1150" b="0" i="0" u="none" strike="noStrike" cap="none">
              <a:solidFill>
                <a:srgbClr val="303030"/>
              </a:solidFill>
              <a:latin typeface="Arial"/>
              <a:ea typeface="Arial"/>
              <a:cs typeface="Arial"/>
              <a:sym typeface="Arial"/>
            </a:endParaRPr>
          </a:p>
          <a:p>
            <a:pPr marL="596900" marR="0" lvl="0" indent="-301625" algn="l" rtl="0">
              <a:lnSpc>
                <a:spcPct val="115000"/>
              </a:lnSpc>
              <a:spcBef>
                <a:spcPts val="900"/>
              </a:spcBef>
              <a:spcAft>
                <a:spcPts val="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Initial coordinates of the object O = (X, Y)</a:t>
            </a:r>
            <a:endParaRPr sz="1100" b="0" i="0" u="none" strike="noStrike" cap="none">
              <a:solidFill>
                <a:schemeClr val="dk1"/>
              </a:solidFill>
              <a:latin typeface="Arial"/>
              <a:ea typeface="Arial"/>
              <a:cs typeface="Arial"/>
              <a:sym typeface="Arial"/>
            </a:endParaRPr>
          </a:p>
          <a:p>
            <a:pPr marL="596900" marR="0" lvl="0" indent="-301625" algn="l" rtl="0">
              <a:lnSpc>
                <a:spcPct val="115000"/>
              </a:lnSpc>
              <a:spcBef>
                <a:spcPts val="0"/>
              </a:spcBef>
              <a:spcAft>
                <a:spcPts val="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Shearing parameter towards X direction = Sh</a:t>
            </a:r>
            <a:r>
              <a:rPr lang="en-US" sz="1150" b="0" i="0" u="none" strike="noStrike" cap="none" baseline="-25000">
                <a:solidFill>
                  <a:srgbClr val="303030"/>
                </a:solidFill>
                <a:latin typeface="Arial"/>
                <a:ea typeface="Arial"/>
                <a:cs typeface="Arial"/>
                <a:sym typeface="Arial"/>
              </a:rPr>
              <a:t>x</a:t>
            </a:r>
            <a:endParaRPr sz="1100" b="0" i="0" u="none" strike="noStrike" cap="none">
              <a:solidFill>
                <a:schemeClr val="dk1"/>
              </a:solidFill>
              <a:latin typeface="Arial"/>
              <a:ea typeface="Arial"/>
              <a:cs typeface="Arial"/>
              <a:sym typeface="Arial"/>
            </a:endParaRPr>
          </a:p>
          <a:p>
            <a:pPr marL="596900" marR="0" lvl="0" indent="-301625" algn="l" rtl="0">
              <a:lnSpc>
                <a:spcPct val="115000"/>
              </a:lnSpc>
              <a:spcBef>
                <a:spcPts val="0"/>
              </a:spcBef>
              <a:spcAft>
                <a:spcPts val="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Shearing parameter towards Y direction = Sh</a:t>
            </a:r>
            <a:r>
              <a:rPr lang="en-US" sz="1150" b="0" i="0" u="none" strike="noStrike" cap="none" baseline="-25000">
                <a:solidFill>
                  <a:srgbClr val="303030"/>
                </a:solidFill>
                <a:latin typeface="Arial"/>
                <a:ea typeface="Arial"/>
                <a:cs typeface="Arial"/>
                <a:sym typeface="Arial"/>
              </a:rPr>
              <a:t>y</a:t>
            </a:r>
            <a:endParaRPr sz="1100" b="0" i="0" u="none" strike="noStrike" cap="none">
              <a:solidFill>
                <a:schemeClr val="dk1"/>
              </a:solidFill>
              <a:latin typeface="Arial"/>
              <a:ea typeface="Arial"/>
              <a:cs typeface="Arial"/>
              <a:sym typeface="Arial"/>
            </a:endParaRPr>
          </a:p>
          <a:p>
            <a:pPr marL="596900" marR="0" lvl="0" indent="-301625" algn="l" rtl="0">
              <a:lnSpc>
                <a:spcPct val="115000"/>
              </a:lnSpc>
              <a:spcBef>
                <a:spcPts val="0"/>
              </a:spcBef>
              <a:spcAft>
                <a:spcPts val="150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New coordinates of the object O after shearing = (X, Y)</a:t>
            </a:r>
            <a:endParaRPr sz="1100" b="0" i="0" u="none" strike="noStrike" cap="none">
              <a:solidFill>
                <a:schemeClr val="dk1"/>
              </a:solidFill>
              <a:latin typeface="Arial"/>
              <a:ea typeface="Arial"/>
              <a:cs typeface="Arial"/>
              <a:sym typeface="Arial"/>
            </a:endParaRPr>
          </a:p>
        </p:txBody>
      </p:sp>
      <p:sp>
        <p:nvSpPr>
          <p:cNvPr id="420" name="Google Shape;420;g3bbe9322812_0_264"/>
          <p:cNvSpPr txBox="1"/>
          <p:nvPr/>
        </p:nvSpPr>
        <p:spPr>
          <a:xfrm>
            <a:off x="450350" y="3294775"/>
            <a:ext cx="4288500" cy="1745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Shearing in X Axis-</a:t>
            </a:r>
            <a:endParaRPr sz="1300" b="1" i="0" u="sng" strike="noStrike" cap="none">
              <a:solidFill>
                <a:srgbClr val="303030"/>
              </a:solidFill>
              <a:latin typeface="Arial"/>
              <a:ea typeface="Arial"/>
              <a:cs typeface="Arial"/>
              <a:sym typeface="Arial"/>
            </a:endParaRPr>
          </a:p>
          <a:p>
            <a:pPr marL="0" marR="0" lvl="0" indent="0" algn="l" rtl="0">
              <a:lnSpc>
                <a:spcPct val="115000"/>
              </a:lnSpc>
              <a:spcBef>
                <a:spcPts val="3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 </a:t>
            </a:r>
            <a:endParaRPr sz="1150" b="0" i="0" u="none" strike="noStrike" cap="none">
              <a:solidFill>
                <a:srgbClr val="303030"/>
              </a:solidFill>
              <a:latin typeface="Arial"/>
              <a:ea typeface="Arial"/>
              <a:cs typeface="Arial"/>
              <a:sym typeface="Arial"/>
            </a:endParaRPr>
          </a:p>
          <a:p>
            <a:pPr marL="0" marR="0" lvl="0" indent="0" algn="l" rtl="0">
              <a:lnSpc>
                <a:spcPct val="115000"/>
              </a:lnSpc>
              <a:spcBef>
                <a:spcPts val="9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Shearing in X axis is achieved by using the following shearing equations:</a:t>
            </a:r>
            <a:endParaRPr sz="1150" b="0" i="0" u="none" strike="noStrike" cap="none">
              <a:solidFill>
                <a:srgbClr val="303030"/>
              </a:solidFill>
              <a:latin typeface="Arial"/>
              <a:ea typeface="Arial"/>
              <a:cs typeface="Arial"/>
              <a:sym typeface="Arial"/>
            </a:endParaRPr>
          </a:p>
          <a:p>
            <a:pPr marL="596900" marR="0" lvl="0" indent="-301625" algn="l" rtl="0">
              <a:lnSpc>
                <a:spcPct val="115000"/>
              </a:lnSpc>
              <a:spcBef>
                <a:spcPts val="900"/>
              </a:spcBef>
              <a:spcAft>
                <a:spcPts val="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x’ = x + Sh</a:t>
            </a:r>
            <a:r>
              <a:rPr lang="en-US" sz="1150" b="0" i="0" u="none" strike="noStrike" cap="none" baseline="-25000">
                <a:solidFill>
                  <a:srgbClr val="303030"/>
                </a:solidFill>
                <a:latin typeface="Arial"/>
                <a:ea typeface="Arial"/>
                <a:cs typeface="Arial"/>
                <a:sym typeface="Arial"/>
              </a:rPr>
              <a:t>x</a:t>
            </a:r>
            <a:r>
              <a:rPr lang="en-US" sz="1150" b="0" i="0" u="none" strike="noStrike" cap="none">
                <a:solidFill>
                  <a:srgbClr val="303030"/>
                </a:solidFill>
                <a:latin typeface="Arial"/>
                <a:ea typeface="Arial"/>
                <a:cs typeface="Arial"/>
                <a:sym typeface="Arial"/>
              </a:rPr>
              <a:t> . y</a:t>
            </a:r>
            <a:endParaRPr sz="1100" b="0" i="0" u="none" strike="noStrike" cap="none">
              <a:solidFill>
                <a:schemeClr val="dk1"/>
              </a:solidFill>
              <a:latin typeface="Arial"/>
              <a:ea typeface="Arial"/>
              <a:cs typeface="Arial"/>
              <a:sym typeface="Arial"/>
            </a:endParaRPr>
          </a:p>
          <a:p>
            <a:pPr marL="596900" marR="0" lvl="0" indent="-301625" algn="l" rtl="0">
              <a:lnSpc>
                <a:spcPct val="115000"/>
              </a:lnSpc>
              <a:spcBef>
                <a:spcPts val="0"/>
              </a:spcBef>
              <a:spcAft>
                <a:spcPts val="150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y’= y</a:t>
            </a:r>
            <a:endParaRPr sz="1100" b="0" i="0" u="none" strike="noStrike" cap="none">
              <a:solidFill>
                <a:schemeClr val="dk1"/>
              </a:solidFill>
              <a:latin typeface="Arial"/>
              <a:ea typeface="Arial"/>
              <a:cs typeface="Arial"/>
              <a:sym typeface="Arial"/>
            </a:endParaRPr>
          </a:p>
        </p:txBody>
      </p:sp>
      <p:sp>
        <p:nvSpPr>
          <p:cNvPr id="421" name="Google Shape;421;g3bbe9322812_0_264"/>
          <p:cNvSpPr txBox="1"/>
          <p:nvPr/>
        </p:nvSpPr>
        <p:spPr>
          <a:xfrm>
            <a:off x="320700" y="4920750"/>
            <a:ext cx="4063200" cy="565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900"/>
              </a:spcAft>
              <a:buClr>
                <a:srgbClr val="000000"/>
              </a:buClr>
              <a:buSzPts val="1150"/>
              <a:buFont typeface="Arial"/>
              <a:buNone/>
            </a:pPr>
            <a:r>
              <a:rPr lang="en-US" sz="1150" b="0" i="0" u="none" strike="noStrike" cap="none">
                <a:solidFill>
                  <a:srgbClr val="303030"/>
                </a:solidFill>
                <a:latin typeface="Arial"/>
                <a:ea typeface="Arial"/>
                <a:cs typeface="Arial"/>
                <a:sym typeface="Arial"/>
              </a:rPr>
              <a:t>In Matrix form, the above shearing equations may be represented as</a:t>
            </a:r>
            <a:endParaRPr sz="1150" b="0" i="0" u="none" strike="noStrike" cap="none">
              <a:solidFill>
                <a:srgbClr val="303030"/>
              </a:solidFill>
              <a:latin typeface="Arial"/>
              <a:ea typeface="Arial"/>
              <a:cs typeface="Arial"/>
              <a:sym typeface="Arial"/>
            </a:endParaRPr>
          </a:p>
        </p:txBody>
      </p:sp>
      <p:sp>
        <p:nvSpPr>
          <p:cNvPr id="422" name="Google Shape;422;g3bbe9322812_0_264"/>
          <p:cNvSpPr txBox="1"/>
          <p:nvPr/>
        </p:nvSpPr>
        <p:spPr>
          <a:xfrm>
            <a:off x="5343075" y="3735625"/>
            <a:ext cx="3000000" cy="1087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0"/>
              </a:spcAft>
              <a:buClr>
                <a:srgbClr val="000000"/>
              </a:buClr>
              <a:buSzPts val="1150"/>
              <a:buFont typeface="Arial"/>
              <a:buNone/>
            </a:pPr>
            <a:r>
              <a:rPr lang="en-US" sz="1150" b="0" i="0" u="none" strike="noStrike" cap="none">
                <a:solidFill>
                  <a:srgbClr val="303030"/>
                </a:solidFill>
                <a:latin typeface="Arial"/>
                <a:ea typeface="Arial"/>
                <a:cs typeface="Arial"/>
                <a:sym typeface="Arial"/>
              </a:rPr>
              <a:t>Shearing in Y axis is achieved by using the following shearing equations:</a:t>
            </a:r>
            <a:endParaRPr sz="1150" b="0" i="0" u="none" strike="noStrike" cap="none">
              <a:solidFill>
                <a:srgbClr val="303030"/>
              </a:solidFill>
              <a:latin typeface="Arial"/>
              <a:ea typeface="Arial"/>
              <a:cs typeface="Arial"/>
              <a:sym typeface="Arial"/>
            </a:endParaRPr>
          </a:p>
          <a:p>
            <a:pPr marL="596900" marR="0" lvl="0" indent="-301625" algn="l" rtl="0">
              <a:lnSpc>
                <a:spcPct val="115000"/>
              </a:lnSpc>
              <a:spcBef>
                <a:spcPts val="900"/>
              </a:spcBef>
              <a:spcAft>
                <a:spcPts val="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x’=  x</a:t>
            </a:r>
            <a:endParaRPr sz="1100" b="0" i="0" u="none" strike="noStrike" cap="none">
              <a:solidFill>
                <a:schemeClr val="dk1"/>
              </a:solidFill>
              <a:latin typeface="Arial"/>
              <a:ea typeface="Arial"/>
              <a:cs typeface="Arial"/>
              <a:sym typeface="Arial"/>
            </a:endParaRPr>
          </a:p>
          <a:p>
            <a:pPr marL="596900" marR="0" lvl="0" indent="-301625" algn="l" rtl="0">
              <a:lnSpc>
                <a:spcPct val="115000"/>
              </a:lnSpc>
              <a:spcBef>
                <a:spcPts val="0"/>
              </a:spcBef>
              <a:spcAft>
                <a:spcPts val="1500"/>
              </a:spcAft>
              <a:buClr>
                <a:srgbClr val="303030"/>
              </a:buClr>
              <a:buSzPts val="1150"/>
              <a:buFont typeface="Arial"/>
              <a:buChar char="●"/>
            </a:pPr>
            <a:r>
              <a:rPr lang="en-US" sz="1150" b="0" i="0" u="none" strike="noStrike" cap="none">
                <a:solidFill>
                  <a:srgbClr val="303030"/>
                </a:solidFill>
                <a:latin typeface="Arial"/>
                <a:ea typeface="Arial"/>
                <a:cs typeface="Arial"/>
                <a:sym typeface="Arial"/>
              </a:rPr>
              <a:t>y’ = y + Sh</a:t>
            </a:r>
            <a:r>
              <a:rPr lang="en-US" sz="1150" b="0" i="0" u="none" strike="noStrike" cap="none" baseline="-25000">
                <a:solidFill>
                  <a:srgbClr val="303030"/>
                </a:solidFill>
                <a:latin typeface="Arial"/>
                <a:ea typeface="Arial"/>
                <a:cs typeface="Arial"/>
                <a:sym typeface="Arial"/>
              </a:rPr>
              <a:t>y</a:t>
            </a:r>
            <a:r>
              <a:rPr lang="en-US" sz="1150" b="0" i="0" u="none" strike="noStrike" cap="none">
                <a:solidFill>
                  <a:srgbClr val="303030"/>
                </a:solidFill>
                <a:latin typeface="Arial"/>
                <a:ea typeface="Arial"/>
                <a:cs typeface="Arial"/>
                <a:sym typeface="Arial"/>
              </a:rPr>
              <a:t>. x</a:t>
            </a:r>
            <a:endParaRPr sz="1100" b="0" i="0" u="none" strike="noStrike" cap="none">
              <a:solidFill>
                <a:schemeClr val="dk1"/>
              </a:solidFill>
              <a:latin typeface="Arial"/>
              <a:ea typeface="Arial"/>
              <a:cs typeface="Arial"/>
              <a:sym typeface="Arial"/>
            </a:endParaRPr>
          </a:p>
        </p:txBody>
      </p:sp>
      <p:sp>
        <p:nvSpPr>
          <p:cNvPr id="423" name="Google Shape;423;g3bbe9322812_0_264"/>
          <p:cNvSpPr txBox="1"/>
          <p:nvPr/>
        </p:nvSpPr>
        <p:spPr>
          <a:xfrm>
            <a:off x="5153325" y="3236538"/>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Shearing in Y Axis-</a:t>
            </a:r>
            <a:endParaRPr sz="1300" b="1" i="0" u="sng" strike="noStrike" cap="none">
              <a:solidFill>
                <a:srgbClr val="303030"/>
              </a:solidFill>
              <a:latin typeface="Arial"/>
              <a:ea typeface="Arial"/>
              <a:cs typeface="Arial"/>
              <a:sym typeface="Arial"/>
            </a:endParaRPr>
          </a:p>
        </p:txBody>
      </p:sp>
      <p:sp>
        <p:nvSpPr>
          <p:cNvPr id="424" name="Google Shape;424;g3bbe9322812_0_264"/>
          <p:cNvSpPr txBox="1"/>
          <p:nvPr/>
        </p:nvSpPr>
        <p:spPr>
          <a:xfrm>
            <a:off x="4811475" y="4920750"/>
            <a:ext cx="4332600" cy="565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900"/>
              </a:spcAft>
              <a:buClr>
                <a:srgbClr val="000000"/>
              </a:buClr>
              <a:buSzPts val="1150"/>
              <a:buFont typeface="Arial"/>
              <a:buNone/>
            </a:pPr>
            <a:r>
              <a:rPr lang="en-US" sz="1150" b="0" i="0" u="none" strike="noStrike" cap="none">
                <a:solidFill>
                  <a:srgbClr val="303030"/>
                </a:solidFill>
                <a:latin typeface="Arial"/>
                <a:ea typeface="Arial"/>
                <a:cs typeface="Arial"/>
                <a:sym typeface="Arial"/>
              </a:rPr>
              <a:t>In Matrix form, the above shearing equations may be represented as</a:t>
            </a:r>
            <a:endParaRPr sz="1150" b="0" i="0" u="none" strike="noStrike" cap="none">
              <a:solidFill>
                <a:srgbClr val="303030"/>
              </a:solidFill>
              <a:latin typeface="Arial"/>
              <a:ea typeface="Arial"/>
              <a:cs typeface="Arial"/>
              <a:sym typeface="Arial"/>
            </a:endParaRPr>
          </a:p>
        </p:txBody>
      </p:sp>
      <p:pic>
        <p:nvPicPr>
          <p:cNvPr id="425" name="Google Shape;425;g3bbe9322812_0_264"/>
          <p:cNvPicPr preferRelativeResize="0"/>
          <p:nvPr/>
        </p:nvPicPr>
        <p:blipFill rotWithShape="1">
          <a:blip r:embed="rId4">
            <a:alphaModFix/>
          </a:blip>
          <a:srcRect/>
          <a:stretch/>
        </p:blipFill>
        <p:spPr>
          <a:xfrm>
            <a:off x="5261150" y="5583275"/>
            <a:ext cx="2264757" cy="769500"/>
          </a:xfrm>
          <a:prstGeom prst="rect">
            <a:avLst/>
          </a:prstGeom>
          <a:noFill/>
          <a:ln>
            <a:noFill/>
          </a:ln>
        </p:spPr>
      </p:pic>
      <p:pic>
        <p:nvPicPr>
          <p:cNvPr id="426" name="Google Shape;426;g3bbe9322812_0_264"/>
          <p:cNvPicPr preferRelativeResize="0"/>
          <p:nvPr/>
        </p:nvPicPr>
        <p:blipFill rotWithShape="1">
          <a:blip r:embed="rId5">
            <a:alphaModFix/>
          </a:blip>
          <a:srcRect/>
          <a:stretch/>
        </p:blipFill>
        <p:spPr>
          <a:xfrm>
            <a:off x="501450" y="5583275"/>
            <a:ext cx="2809300" cy="682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430"/>
        <p:cNvGrpSpPr/>
        <p:nvPr/>
      </p:nvGrpSpPr>
      <p:grpSpPr>
        <a:xfrm>
          <a:off x="0" y="0"/>
          <a:ext cx="0" cy="0"/>
          <a:chOff x="0" y="0"/>
          <a:chExt cx="0" cy="0"/>
        </a:xfrm>
      </p:grpSpPr>
      <p:sp>
        <p:nvSpPr>
          <p:cNvPr id="431" name="Google Shape;431;g3bbe9322812_0_295"/>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32" name="Google Shape;432;g3bbe9322812_0_295"/>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
        <p:nvSpPr>
          <p:cNvPr id="433" name="Google Shape;433;g3bbe9322812_0_295"/>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(Shearing Example)</a:t>
            </a:r>
            <a:endParaRPr sz="3600" b="0" i="0" u="none" strike="noStrike" cap="none">
              <a:solidFill>
                <a:schemeClr val="lt1"/>
              </a:solidFill>
              <a:latin typeface="Calibri"/>
              <a:ea typeface="Calibri"/>
              <a:cs typeface="Calibri"/>
              <a:sym typeface="Calibri"/>
            </a:endParaRPr>
          </a:p>
        </p:txBody>
      </p:sp>
      <p:pic>
        <p:nvPicPr>
          <p:cNvPr id="434" name="Google Shape;434;g3bbe9322812_0_295"/>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35" name="Google Shape;435;g3bbe9322812_0_295"/>
          <p:cNvSpPr txBox="1"/>
          <p:nvPr/>
        </p:nvSpPr>
        <p:spPr>
          <a:xfrm>
            <a:off x="227325" y="1036900"/>
            <a:ext cx="86862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triangle with points (1, 1), (0, 0) and (1, 0). Apply shear parameter 2 on X axis and 2 on Y axis and find out the new coordinates of the object.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g3bbe9322812_0_295"/>
          <p:cNvSpPr txBox="1"/>
          <p:nvPr/>
        </p:nvSpPr>
        <p:spPr>
          <a:xfrm>
            <a:off x="327425" y="15734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437" name="Google Shape;437;g3bbe9322812_0_295"/>
          <p:cNvSpPr txBox="1"/>
          <p:nvPr/>
        </p:nvSpPr>
        <p:spPr>
          <a:xfrm>
            <a:off x="363825" y="1973750"/>
            <a:ext cx="77895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Initial coordinates of the triangle = A (1, 1), B(0, 0), C(1,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Shearing parameter towards X direction </a:t>
            </a:r>
            <a:r>
              <a:rPr lang="en-US" sz="1400" b="0" i="0" u="none" strike="noStrike" cap="none">
                <a:solidFill>
                  <a:srgbClr val="303030"/>
                </a:solidFill>
                <a:latin typeface="Arial"/>
                <a:ea typeface="Arial"/>
                <a:cs typeface="Arial"/>
                <a:sym typeface="Arial"/>
              </a:rPr>
              <a:t>Sh</a:t>
            </a:r>
            <a:r>
              <a:rPr lang="en-US" sz="1400" b="0" i="0" u="none" strike="noStrike" cap="none" baseline="-25000">
                <a:solidFill>
                  <a:srgbClr val="303030"/>
                </a:solidFill>
                <a:latin typeface="Arial"/>
                <a:ea typeface="Arial"/>
                <a:cs typeface="Arial"/>
                <a:sym typeface="Arial"/>
              </a:rPr>
              <a:t>x</a:t>
            </a:r>
            <a:r>
              <a:rPr lang="en-US" sz="1400" b="0" i="0" u="none" strike="noStrike" cap="none">
                <a:solidFill>
                  <a:srgbClr val="303030"/>
                </a:solidFill>
                <a:latin typeface="Arial"/>
                <a:ea typeface="Arial"/>
                <a:cs typeface="Arial"/>
                <a:sym typeface="Arial"/>
              </a:rPr>
              <a:t> </a:t>
            </a:r>
            <a:r>
              <a:rPr lang="en-US" sz="1400" b="0" i="0" u="none" strike="noStrike" cap="none">
                <a:solidFill>
                  <a:srgbClr val="000000"/>
                </a:solidFill>
                <a:latin typeface="Arial"/>
                <a:ea typeface="Arial"/>
                <a:cs typeface="Arial"/>
                <a:sym typeface="Arial"/>
              </a:rPr>
              <a:t>=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Shearing parameter towards Y direction </a:t>
            </a:r>
            <a:r>
              <a:rPr lang="en-US" sz="1400" b="0" i="0" u="none" strike="noStrike" cap="none">
                <a:solidFill>
                  <a:srgbClr val="303030"/>
                </a:solidFill>
                <a:latin typeface="Arial"/>
                <a:ea typeface="Arial"/>
                <a:cs typeface="Arial"/>
                <a:sym typeface="Arial"/>
              </a:rPr>
              <a:t>Sh</a:t>
            </a:r>
            <a:r>
              <a:rPr lang="en-US" sz="1400" b="0" i="0" u="none" strike="noStrike" cap="none" baseline="-25000">
                <a:solidFill>
                  <a:srgbClr val="303030"/>
                </a:solidFill>
                <a:latin typeface="Arial"/>
                <a:ea typeface="Arial"/>
                <a:cs typeface="Arial"/>
                <a:sym typeface="Arial"/>
              </a:rPr>
              <a:t>y</a:t>
            </a:r>
            <a:r>
              <a:rPr lang="en-US" sz="1400" b="0" i="0" u="none" strike="noStrike" cap="none">
                <a:solidFill>
                  <a:srgbClr val="000000"/>
                </a:solidFill>
                <a:latin typeface="Arial"/>
                <a:ea typeface="Arial"/>
                <a:cs typeface="Arial"/>
                <a:sym typeface="Arial"/>
              </a:rPr>
              <a:t>= 2</a:t>
            </a:r>
            <a:endParaRPr sz="1400" b="0" i="0" u="none" strike="noStrike" cap="none">
              <a:solidFill>
                <a:srgbClr val="000000"/>
              </a:solidFill>
              <a:latin typeface="Arial"/>
              <a:ea typeface="Arial"/>
              <a:cs typeface="Arial"/>
              <a:sym typeface="Arial"/>
            </a:endParaRPr>
          </a:p>
        </p:txBody>
      </p:sp>
      <p:sp>
        <p:nvSpPr>
          <p:cNvPr id="438" name="Google Shape;438;g3bbe9322812_0_295"/>
          <p:cNvSpPr txBox="1"/>
          <p:nvPr/>
        </p:nvSpPr>
        <p:spPr>
          <a:xfrm>
            <a:off x="454775" y="2910600"/>
            <a:ext cx="4511400" cy="145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chemeClr val="dk1"/>
              </a:buClr>
              <a:buSzPts val="1100"/>
              <a:buFont typeface="Arial"/>
              <a:buNone/>
            </a:pPr>
            <a:r>
              <a:rPr lang="en-US" sz="1700" b="1" i="0" u="sng" strike="noStrike" cap="none">
                <a:solidFill>
                  <a:srgbClr val="303030"/>
                </a:solidFill>
                <a:latin typeface="Arial"/>
                <a:ea typeface="Arial"/>
                <a:cs typeface="Arial"/>
                <a:sym typeface="Arial"/>
              </a:rPr>
              <a:t>Shearing in X Axis-</a:t>
            </a:r>
            <a:endParaRPr sz="1150" b="0" i="0" u="none" strike="noStrike" cap="none">
              <a:solidFill>
                <a:srgbClr val="303030"/>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100"/>
              <a:buFont typeface="Arial"/>
              <a:buNone/>
            </a:pPr>
            <a:r>
              <a:rPr lang="en-US" sz="1300" b="1" i="0" u="sng" strike="noStrike" cap="none">
                <a:solidFill>
                  <a:srgbClr val="303030"/>
                </a:solidFill>
                <a:latin typeface="Arial"/>
                <a:ea typeface="Arial"/>
                <a:cs typeface="Arial"/>
                <a:sym typeface="Arial"/>
              </a:rPr>
              <a:t>For Coordinates A(1, 1)</a:t>
            </a:r>
            <a:endParaRPr sz="1150" b="0" i="0" u="none" strike="noStrike" cap="none">
              <a:solidFill>
                <a:srgbClr val="303030"/>
              </a:solidFill>
              <a:latin typeface="Arial"/>
              <a:ea typeface="Arial"/>
              <a:cs typeface="Arial"/>
              <a:sym typeface="Arial"/>
            </a:endParaRPr>
          </a:p>
          <a:p>
            <a:pPr marL="0" marR="0" lvl="0" indent="0" algn="l" rtl="0">
              <a:lnSpc>
                <a:spcPct val="115000"/>
              </a:lnSpc>
              <a:spcBef>
                <a:spcPts val="300"/>
              </a:spcBef>
              <a:spcAft>
                <a:spcPts val="0"/>
              </a:spcAft>
              <a:buClr>
                <a:schemeClr val="dk1"/>
              </a:buClr>
              <a:buSzPts val="1100"/>
              <a:buFont typeface="Arial"/>
              <a:buNone/>
            </a:pPr>
            <a:endParaRPr sz="1150" b="0" i="0" u="none" strike="noStrike" cap="none">
              <a:solidFill>
                <a:srgbClr val="30303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39" name="Google Shape;439;g3bbe9322812_0_295"/>
          <p:cNvPicPr preferRelativeResize="0"/>
          <p:nvPr/>
        </p:nvPicPr>
        <p:blipFill rotWithShape="1">
          <a:blip r:embed="rId4">
            <a:alphaModFix/>
          </a:blip>
          <a:srcRect/>
          <a:stretch/>
        </p:blipFill>
        <p:spPr>
          <a:xfrm>
            <a:off x="227325" y="3761925"/>
            <a:ext cx="3990100" cy="1684497"/>
          </a:xfrm>
          <a:prstGeom prst="rect">
            <a:avLst/>
          </a:prstGeom>
          <a:noFill/>
          <a:ln>
            <a:noFill/>
          </a:ln>
        </p:spPr>
      </p:pic>
      <p:sp>
        <p:nvSpPr>
          <p:cNvPr id="440" name="Google Shape;440;g3bbe9322812_0_295"/>
          <p:cNvSpPr txBox="1"/>
          <p:nvPr/>
        </p:nvSpPr>
        <p:spPr>
          <a:xfrm>
            <a:off x="5339050" y="3228900"/>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sng" strike="noStrike" cap="none">
                <a:solidFill>
                  <a:srgbClr val="000000"/>
                </a:solidFill>
                <a:latin typeface="Arial"/>
                <a:ea typeface="Arial"/>
                <a:cs typeface="Arial"/>
                <a:sym typeface="Arial"/>
              </a:rPr>
              <a:t>For Coordinates B(0, 0)</a:t>
            </a:r>
            <a:endParaRPr sz="1300" b="1" i="0" u="sng" strike="noStrike" cap="none">
              <a:solidFill>
                <a:srgbClr val="000000"/>
              </a:solidFill>
              <a:latin typeface="Arial"/>
              <a:ea typeface="Arial"/>
              <a:cs typeface="Arial"/>
              <a:sym typeface="Arial"/>
            </a:endParaRPr>
          </a:p>
        </p:txBody>
      </p:sp>
      <p:pic>
        <p:nvPicPr>
          <p:cNvPr id="441" name="Google Shape;441;g3bbe9322812_0_295"/>
          <p:cNvPicPr preferRelativeResize="0"/>
          <p:nvPr/>
        </p:nvPicPr>
        <p:blipFill rotWithShape="1">
          <a:blip r:embed="rId5">
            <a:alphaModFix/>
          </a:blip>
          <a:srcRect/>
          <a:stretch/>
        </p:blipFill>
        <p:spPr>
          <a:xfrm>
            <a:off x="4539125" y="3747089"/>
            <a:ext cx="4374400" cy="1803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445"/>
        <p:cNvGrpSpPr/>
        <p:nvPr/>
      </p:nvGrpSpPr>
      <p:grpSpPr>
        <a:xfrm>
          <a:off x="0" y="0"/>
          <a:ext cx="0" cy="0"/>
          <a:chOff x="0" y="0"/>
          <a:chExt cx="0" cy="0"/>
        </a:xfrm>
      </p:grpSpPr>
      <p:sp>
        <p:nvSpPr>
          <p:cNvPr id="446" name="Google Shape;446;g3bbe9322812_0_317"/>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47" name="Google Shape;447;g3bbe9322812_0_317"/>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
        <p:nvSpPr>
          <p:cNvPr id="448" name="Google Shape;448;g3bbe9322812_0_317"/>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(Shearing Example)</a:t>
            </a:r>
            <a:endParaRPr sz="3600" b="0" i="0" u="none" strike="noStrike" cap="none">
              <a:solidFill>
                <a:schemeClr val="lt1"/>
              </a:solidFill>
              <a:latin typeface="Calibri"/>
              <a:ea typeface="Calibri"/>
              <a:cs typeface="Calibri"/>
              <a:sym typeface="Calibri"/>
            </a:endParaRPr>
          </a:p>
        </p:txBody>
      </p:sp>
      <p:pic>
        <p:nvPicPr>
          <p:cNvPr id="449" name="Google Shape;449;g3bbe9322812_0_317"/>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50" name="Google Shape;450;g3bbe9322812_0_317"/>
          <p:cNvSpPr txBox="1"/>
          <p:nvPr/>
        </p:nvSpPr>
        <p:spPr>
          <a:xfrm>
            <a:off x="227325" y="1036900"/>
            <a:ext cx="86862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triangle with points (1, 1), (0, 0) and (1, 0). Apply shear parameter 2 on the X axis and 2 on the Y axis and find out the new coordinates of the object.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g3bbe9322812_0_317"/>
          <p:cNvSpPr txBox="1"/>
          <p:nvPr/>
        </p:nvSpPr>
        <p:spPr>
          <a:xfrm>
            <a:off x="327425" y="15734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452" name="Google Shape;452;g3bbe9322812_0_317"/>
          <p:cNvSpPr txBox="1"/>
          <p:nvPr/>
        </p:nvSpPr>
        <p:spPr>
          <a:xfrm>
            <a:off x="327425" y="2082550"/>
            <a:ext cx="4511400" cy="1057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For Coordinates C(1, 0)</a:t>
            </a:r>
            <a:endParaRPr sz="1150" b="0" i="0" u="none" strike="noStrike" cap="none">
              <a:solidFill>
                <a:srgbClr val="303030"/>
              </a:solidFill>
              <a:latin typeface="Arial"/>
              <a:ea typeface="Arial"/>
              <a:cs typeface="Arial"/>
              <a:sym typeface="Arial"/>
            </a:endParaRPr>
          </a:p>
          <a:p>
            <a:pPr marL="0" marR="0" lvl="0" indent="0" algn="l" rtl="0">
              <a:lnSpc>
                <a:spcPct val="115000"/>
              </a:lnSpc>
              <a:spcBef>
                <a:spcPts val="300"/>
              </a:spcBef>
              <a:spcAft>
                <a:spcPts val="0"/>
              </a:spcAft>
              <a:buClr>
                <a:srgbClr val="000000"/>
              </a:buClr>
              <a:buSzPts val="1150"/>
              <a:buFont typeface="Arial"/>
              <a:buNone/>
            </a:pPr>
            <a:endParaRPr sz="1150" b="0" i="0" u="none" strike="noStrike" cap="none">
              <a:solidFill>
                <a:srgbClr val="30303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53" name="Google Shape;453;g3bbe9322812_0_317"/>
          <p:cNvPicPr preferRelativeResize="0"/>
          <p:nvPr/>
        </p:nvPicPr>
        <p:blipFill rotWithShape="1">
          <a:blip r:embed="rId4">
            <a:alphaModFix/>
          </a:blip>
          <a:srcRect/>
          <a:stretch/>
        </p:blipFill>
        <p:spPr>
          <a:xfrm>
            <a:off x="227325" y="2601475"/>
            <a:ext cx="4147599" cy="1602875"/>
          </a:xfrm>
          <a:prstGeom prst="rect">
            <a:avLst/>
          </a:prstGeom>
          <a:noFill/>
          <a:ln>
            <a:noFill/>
          </a:ln>
        </p:spPr>
      </p:pic>
      <p:sp>
        <p:nvSpPr>
          <p:cNvPr id="454" name="Google Shape;454;g3bbe9322812_0_317"/>
          <p:cNvSpPr txBox="1"/>
          <p:nvPr/>
        </p:nvSpPr>
        <p:spPr>
          <a:xfrm>
            <a:off x="363825" y="4502250"/>
            <a:ext cx="79404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Thus, New coordinates of the triangle after shearing in X axis = A (3, 1), B(0, 0), C(1, 0).</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458"/>
        <p:cNvGrpSpPr/>
        <p:nvPr/>
      </p:nvGrpSpPr>
      <p:grpSpPr>
        <a:xfrm>
          <a:off x="0" y="0"/>
          <a:ext cx="0" cy="0"/>
          <a:chOff x="0" y="0"/>
          <a:chExt cx="0" cy="0"/>
        </a:xfrm>
      </p:grpSpPr>
      <p:sp>
        <p:nvSpPr>
          <p:cNvPr id="459" name="Google Shape;459;g3bbe9322812_0_336"/>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60" name="Google Shape;460;g3bbe9322812_0_336"/>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26</a:t>
            </a:fld>
            <a:endParaRPr sz="1400" b="0" i="0" u="none" strike="noStrike" cap="none">
              <a:solidFill>
                <a:srgbClr val="000000"/>
              </a:solidFill>
              <a:latin typeface="Arial"/>
              <a:ea typeface="Arial"/>
              <a:cs typeface="Arial"/>
              <a:sym typeface="Arial"/>
            </a:endParaRPr>
          </a:p>
        </p:txBody>
      </p:sp>
      <p:sp>
        <p:nvSpPr>
          <p:cNvPr id="461" name="Google Shape;461;g3bbe9322812_0_336"/>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(Shearing Example)</a:t>
            </a:r>
            <a:endParaRPr sz="3600" b="0" i="0" u="none" strike="noStrike" cap="none">
              <a:solidFill>
                <a:schemeClr val="lt1"/>
              </a:solidFill>
              <a:latin typeface="Calibri"/>
              <a:ea typeface="Calibri"/>
              <a:cs typeface="Calibri"/>
              <a:sym typeface="Calibri"/>
            </a:endParaRPr>
          </a:p>
        </p:txBody>
      </p:sp>
      <p:pic>
        <p:nvPicPr>
          <p:cNvPr id="462" name="Google Shape;462;g3bbe9322812_0_336"/>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63" name="Google Shape;463;g3bbe9322812_0_336"/>
          <p:cNvSpPr txBox="1"/>
          <p:nvPr/>
        </p:nvSpPr>
        <p:spPr>
          <a:xfrm>
            <a:off x="227325" y="1036900"/>
            <a:ext cx="86862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triangle with points (1, 1), (0, 0) and (1, 0). Apply shear parameter 2 on X axis and 2 on Y axis and find out the new coordinates of the object.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g3bbe9322812_0_336"/>
          <p:cNvSpPr txBox="1"/>
          <p:nvPr/>
        </p:nvSpPr>
        <p:spPr>
          <a:xfrm>
            <a:off x="327425" y="15734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465" name="Google Shape;465;g3bbe9322812_0_336"/>
          <p:cNvSpPr txBox="1"/>
          <p:nvPr/>
        </p:nvSpPr>
        <p:spPr>
          <a:xfrm>
            <a:off x="363825" y="1973750"/>
            <a:ext cx="7789500" cy="831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Initial coordinates of the triangle = A (1, 1), B(0, 0), C(1, 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Shearing parameter towards X direction </a:t>
            </a:r>
            <a:r>
              <a:rPr lang="en-US" sz="1400" b="0" i="0" u="none" strike="noStrike" cap="none">
                <a:solidFill>
                  <a:srgbClr val="303030"/>
                </a:solidFill>
                <a:latin typeface="Arial"/>
                <a:ea typeface="Arial"/>
                <a:cs typeface="Arial"/>
                <a:sym typeface="Arial"/>
              </a:rPr>
              <a:t>Sh</a:t>
            </a:r>
            <a:r>
              <a:rPr lang="en-US" sz="1400" b="0" i="0" u="none" strike="noStrike" cap="none" baseline="-25000">
                <a:solidFill>
                  <a:srgbClr val="303030"/>
                </a:solidFill>
                <a:latin typeface="Arial"/>
                <a:ea typeface="Arial"/>
                <a:cs typeface="Arial"/>
                <a:sym typeface="Arial"/>
              </a:rPr>
              <a:t>x</a:t>
            </a:r>
            <a:r>
              <a:rPr lang="en-US" sz="1400" b="0" i="0" u="none" strike="noStrike" cap="none">
                <a:solidFill>
                  <a:srgbClr val="303030"/>
                </a:solidFill>
                <a:latin typeface="Arial"/>
                <a:ea typeface="Arial"/>
                <a:cs typeface="Arial"/>
                <a:sym typeface="Arial"/>
              </a:rPr>
              <a:t> </a:t>
            </a:r>
            <a:r>
              <a:rPr lang="en-US" sz="1400" b="0" i="0" u="none" strike="noStrike" cap="none">
                <a:solidFill>
                  <a:srgbClr val="000000"/>
                </a:solidFill>
                <a:latin typeface="Arial"/>
                <a:ea typeface="Arial"/>
                <a:cs typeface="Arial"/>
                <a:sym typeface="Arial"/>
              </a:rPr>
              <a:t>= 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Shearing parameter towards Y direction </a:t>
            </a:r>
            <a:r>
              <a:rPr lang="en-US" sz="1400" b="0" i="0" u="none" strike="noStrike" cap="none">
                <a:solidFill>
                  <a:srgbClr val="303030"/>
                </a:solidFill>
                <a:latin typeface="Arial"/>
                <a:ea typeface="Arial"/>
                <a:cs typeface="Arial"/>
                <a:sym typeface="Arial"/>
              </a:rPr>
              <a:t>Sh</a:t>
            </a:r>
            <a:r>
              <a:rPr lang="en-US" sz="1400" b="0" i="0" u="none" strike="noStrike" cap="none" baseline="-25000">
                <a:solidFill>
                  <a:srgbClr val="303030"/>
                </a:solidFill>
                <a:latin typeface="Arial"/>
                <a:ea typeface="Arial"/>
                <a:cs typeface="Arial"/>
                <a:sym typeface="Arial"/>
              </a:rPr>
              <a:t>y</a:t>
            </a:r>
            <a:r>
              <a:rPr lang="en-US" sz="1400" b="0" i="0" u="none" strike="noStrike" cap="none">
                <a:solidFill>
                  <a:srgbClr val="000000"/>
                </a:solidFill>
                <a:latin typeface="Arial"/>
                <a:ea typeface="Arial"/>
                <a:cs typeface="Arial"/>
                <a:sym typeface="Arial"/>
              </a:rPr>
              <a:t>= 2</a:t>
            </a:r>
            <a:endParaRPr sz="1400" b="0" i="0" u="none" strike="noStrike" cap="none">
              <a:solidFill>
                <a:srgbClr val="000000"/>
              </a:solidFill>
              <a:latin typeface="Arial"/>
              <a:ea typeface="Arial"/>
              <a:cs typeface="Arial"/>
              <a:sym typeface="Arial"/>
            </a:endParaRPr>
          </a:p>
        </p:txBody>
      </p:sp>
      <p:sp>
        <p:nvSpPr>
          <p:cNvPr id="466" name="Google Shape;466;g3bbe9322812_0_336"/>
          <p:cNvSpPr txBox="1"/>
          <p:nvPr/>
        </p:nvSpPr>
        <p:spPr>
          <a:xfrm>
            <a:off x="454775" y="2910600"/>
            <a:ext cx="4511400" cy="145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700"/>
              <a:buFont typeface="Arial"/>
              <a:buNone/>
            </a:pPr>
            <a:r>
              <a:rPr lang="en-US" sz="1700" b="1" i="0" u="sng" strike="noStrike" cap="none">
                <a:solidFill>
                  <a:srgbClr val="303030"/>
                </a:solidFill>
                <a:latin typeface="Arial"/>
                <a:ea typeface="Arial"/>
                <a:cs typeface="Arial"/>
                <a:sym typeface="Arial"/>
              </a:rPr>
              <a:t>Shearing in Y Axis-</a:t>
            </a:r>
            <a:endParaRPr sz="1150" b="0" i="0" u="none" strike="noStrike" cap="none">
              <a:solidFill>
                <a:srgbClr val="30303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For Coordinates A(1, 1)</a:t>
            </a:r>
            <a:endParaRPr sz="1150" b="0" i="0" u="none" strike="noStrike" cap="none">
              <a:solidFill>
                <a:srgbClr val="303030"/>
              </a:solidFill>
              <a:latin typeface="Arial"/>
              <a:ea typeface="Arial"/>
              <a:cs typeface="Arial"/>
              <a:sym typeface="Arial"/>
            </a:endParaRPr>
          </a:p>
          <a:p>
            <a:pPr marL="0" marR="0" lvl="0" indent="0" algn="l" rtl="0">
              <a:lnSpc>
                <a:spcPct val="115000"/>
              </a:lnSpc>
              <a:spcBef>
                <a:spcPts val="300"/>
              </a:spcBef>
              <a:spcAft>
                <a:spcPts val="0"/>
              </a:spcAft>
              <a:buClr>
                <a:srgbClr val="000000"/>
              </a:buClr>
              <a:buSzPts val="1150"/>
              <a:buFont typeface="Arial"/>
              <a:buNone/>
            </a:pPr>
            <a:endParaRPr sz="1150" b="0" i="0" u="none" strike="noStrike" cap="none">
              <a:solidFill>
                <a:srgbClr val="30303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g3bbe9322812_0_336"/>
          <p:cNvSpPr txBox="1"/>
          <p:nvPr/>
        </p:nvSpPr>
        <p:spPr>
          <a:xfrm>
            <a:off x="5339050" y="3228900"/>
            <a:ext cx="30000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1" i="0" u="sng" strike="noStrike" cap="none">
                <a:solidFill>
                  <a:srgbClr val="000000"/>
                </a:solidFill>
                <a:latin typeface="Arial"/>
                <a:ea typeface="Arial"/>
                <a:cs typeface="Arial"/>
                <a:sym typeface="Arial"/>
              </a:rPr>
              <a:t>For Coordinates B(0, 0)</a:t>
            </a:r>
            <a:endParaRPr sz="1300" b="1" i="0" u="sng" strike="noStrike" cap="none">
              <a:solidFill>
                <a:srgbClr val="000000"/>
              </a:solidFill>
              <a:latin typeface="Arial"/>
              <a:ea typeface="Arial"/>
              <a:cs typeface="Arial"/>
              <a:sym typeface="Arial"/>
            </a:endParaRPr>
          </a:p>
        </p:txBody>
      </p:sp>
      <p:pic>
        <p:nvPicPr>
          <p:cNvPr id="468" name="Google Shape;468;g3bbe9322812_0_336"/>
          <p:cNvPicPr preferRelativeResize="0"/>
          <p:nvPr/>
        </p:nvPicPr>
        <p:blipFill rotWithShape="1">
          <a:blip r:embed="rId4">
            <a:alphaModFix/>
          </a:blip>
          <a:srcRect/>
          <a:stretch/>
        </p:blipFill>
        <p:spPr>
          <a:xfrm>
            <a:off x="181925" y="3922850"/>
            <a:ext cx="4206500" cy="1587505"/>
          </a:xfrm>
          <a:prstGeom prst="rect">
            <a:avLst/>
          </a:prstGeom>
          <a:noFill/>
          <a:ln>
            <a:noFill/>
          </a:ln>
        </p:spPr>
      </p:pic>
      <p:pic>
        <p:nvPicPr>
          <p:cNvPr id="469" name="Google Shape;469;g3bbe9322812_0_336"/>
          <p:cNvPicPr preferRelativeResize="0"/>
          <p:nvPr/>
        </p:nvPicPr>
        <p:blipFill rotWithShape="1">
          <a:blip r:embed="rId5">
            <a:alphaModFix/>
          </a:blip>
          <a:srcRect/>
          <a:stretch/>
        </p:blipFill>
        <p:spPr>
          <a:xfrm>
            <a:off x="4570425" y="3936625"/>
            <a:ext cx="3957801" cy="1638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73"/>
        <p:cNvGrpSpPr/>
        <p:nvPr/>
      </p:nvGrpSpPr>
      <p:grpSpPr>
        <a:xfrm>
          <a:off x="0" y="0"/>
          <a:ext cx="0" cy="0"/>
          <a:chOff x="0" y="0"/>
          <a:chExt cx="0" cy="0"/>
        </a:xfrm>
      </p:grpSpPr>
      <p:sp>
        <p:nvSpPr>
          <p:cNvPr id="474" name="Google Shape;474;g3bbe9322812_0_352"/>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75" name="Google Shape;475;g3bbe9322812_0_35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
        <p:nvSpPr>
          <p:cNvPr id="476" name="Google Shape;476;g3bbe9322812_0_352"/>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(Shearing Example)</a:t>
            </a:r>
            <a:endParaRPr sz="3600" b="0" i="0" u="none" strike="noStrike" cap="none">
              <a:solidFill>
                <a:schemeClr val="lt1"/>
              </a:solidFill>
              <a:latin typeface="Calibri"/>
              <a:ea typeface="Calibri"/>
              <a:cs typeface="Calibri"/>
              <a:sym typeface="Calibri"/>
            </a:endParaRPr>
          </a:p>
        </p:txBody>
      </p:sp>
      <p:pic>
        <p:nvPicPr>
          <p:cNvPr id="477" name="Google Shape;477;g3bbe9322812_0_35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sp>
        <p:nvSpPr>
          <p:cNvPr id="478" name="Google Shape;478;g3bbe9322812_0_352"/>
          <p:cNvSpPr txBox="1"/>
          <p:nvPr/>
        </p:nvSpPr>
        <p:spPr>
          <a:xfrm>
            <a:off x="227325" y="1036900"/>
            <a:ext cx="8686200" cy="831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Given a triangle with points (1, 1), (0, 0) and (1, 0). Apply shear parameter 2 on the X axis and 2 on the Y axis and find out the new coordinates of the object.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g3bbe9322812_0_352"/>
          <p:cNvSpPr txBox="1"/>
          <p:nvPr/>
        </p:nvSpPr>
        <p:spPr>
          <a:xfrm>
            <a:off x="327425" y="1573400"/>
            <a:ext cx="1500900" cy="500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980000"/>
                </a:solidFill>
                <a:latin typeface="Calibri"/>
                <a:ea typeface="Calibri"/>
                <a:cs typeface="Calibri"/>
                <a:sym typeface="Calibri"/>
              </a:rPr>
              <a:t>Solutions: </a:t>
            </a:r>
            <a:endParaRPr sz="1600" b="1" i="0" u="none" strike="noStrike" cap="none">
              <a:solidFill>
                <a:srgbClr val="980000"/>
              </a:solidFill>
              <a:latin typeface="Calibri"/>
              <a:ea typeface="Calibri"/>
              <a:cs typeface="Calibri"/>
              <a:sym typeface="Calibri"/>
            </a:endParaRPr>
          </a:p>
        </p:txBody>
      </p:sp>
      <p:sp>
        <p:nvSpPr>
          <p:cNvPr id="480" name="Google Shape;480;g3bbe9322812_0_352"/>
          <p:cNvSpPr txBox="1"/>
          <p:nvPr/>
        </p:nvSpPr>
        <p:spPr>
          <a:xfrm>
            <a:off x="327425" y="2082550"/>
            <a:ext cx="4511400" cy="1057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300"/>
              <a:buFont typeface="Arial"/>
              <a:buNone/>
            </a:pPr>
            <a:r>
              <a:rPr lang="en-US" sz="1300" b="1" i="0" u="sng" strike="noStrike" cap="none">
                <a:solidFill>
                  <a:srgbClr val="303030"/>
                </a:solidFill>
                <a:latin typeface="Arial"/>
                <a:ea typeface="Arial"/>
                <a:cs typeface="Arial"/>
                <a:sym typeface="Arial"/>
              </a:rPr>
              <a:t>For Coordinates C(1, 0)</a:t>
            </a:r>
            <a:endParaRPr sz="1150" b="0" i="0" u="none" strike="noStrike" cap="none">
              <a:solidFill>
                <a:srgbClr val="303030"/>
              </a:solidFill>
              <a:latin typeface="Arial"/>
              <a:ea typeface="Arial"/>
              <a:cs typeface="Arial"/>
              <a:sym typeface="Arial"/>
            </a:endParaRPr>
          </a:p>
          <a:p>
            <a:pPr marL="0" marR="0" lvl="0" indent="0" algn="l" rtl="0">
              <a:lnSpc>
                <a:spcPct val="115000"/>
              </a:lnSpc>
              <a:spcBef>
                <a:spcPts val="300"/>
              </a:spcBef>
              <a:spcAft>
                <a:spcPts val="0"/>
              </a:spcAft>
              <a:buClr>
                <a:srgbClr val="000000"/>
              </a:buClr>
              <a:buSzPts val="1150"/>
              <a:buFont typeface="Arial"/>
              <a:buNone/>
            </a:pPr>
            <a:endParaRPr sz="1150" b="0" i="0" u="none" strike="noStrike" cap="none">
              <a:solidFill>
                <a:srgbClr val="30303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g3bbe9322812_0_352"/>
          <p:cNvSpPr txBox="1"/>
          <p:nvPr/>
        </p:nvSpPr>
        <p:spPr>
          <a:xfrm>
            <a:off x="427275" y="4635725"/>
            <a:ext cx="7940400" cy="361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300"/>
              </a:spcBef>
              <a:spcAft>
                <a:spcPts val="900"/>
              </a:spcAft>
              <a:buClr>
                <a:schemeClr val="dk1"/>
              </a:buClr>
              <a:buSzPts val="1100"/>
              <a:buFont typeface="Arial"/>
              <a:buNone/>
            </a:pPr>
            <a:r>
              <a:rPr lang="en-US" sz="1150" b="0" i="0" u="none" strike="noStrike" cap="none">
                <a:solidFill>
                  <a:srgbClr val="303030"/>
                </a:solidFill>
                <a:latin typeface="Arial"/>
                <a:ea typeface="Arial"/>
                <a:cs typeface="Arial"/>
                <a:sym typeface="Arial"/>
              </a:rPr>
              <a:t>Thus, New coordinates of the triangle after shearing in Y axis = A (1, 3), B(0, 0), C(1, 2).</a:t>
            </a:r>
            <a:endParaRPr sz="1400" b="0" i="0" u="none" strike="noStrike" cap="none">
              <a:solidFill>
                <a:srgbClr val="000000"/>
              </a:solidFill>
              <a:latin typeface="Arial"/>
              <a:ea typeface="Arial"/>
              <a:cs typeface="Arial"/>
              <a:sym typeface="Arial"/>
            </a:endParaRPr>
          </a:p>
        </p:txBody>
      </p:sp>
      <p:pic>
        <p:nvPicPr>
          <p:cNvPr id="482" name="Google Shape;482;g3bbe9322812_0_352"/>
          <p:cNvPicPr preferRelativeResize="0"/>
          <p:nvPr/>
        </p:nvPicPr>
        <p:blipFill rotWithShape="1">
          <a:blip r:embed="rId4">
            <a:alphaModFix/>
          </a:blip>
          <a:srcRect/>
          <a:stretch/>
        </p:blipFill>
        <p:spPr>
          <a:xfrm>
            <a:off x="427263" y="2740175"/>
            <a:ext cx="4411574" cy="1750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86"/>
        <p:cNvGrpSpPr/>
        <p:nvPr/>
      </p:nvGrpSpPr>
      <p:grpSpPr>
        <a:xfrm>
          <a:off x="0" y="0"/>
          <a:ext cx="0" cy="0"/>
          <a:chOff x="0" y="0"/>
          <a:chExt cx="0" cy="0"/>
        </a:xfrm>
      </p:grpSpPr>
      <p:sp>
        <p:nvSpPr>
          <p:cNvPr id="487" name="Google Shape;487;g3bbe9322812_0_365"/>
          <p:cNvSpPr txBox="1"/>
          <p:nvPr/>
        </p:nvSpPr>
        <p:spPr>
          <a:xfrm>
            <a:off x="3027375" y="64929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488" name="Google Shape;488;g3bbe9322812_0_365"/>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
        <p:nvSpPr>
          <p:cNvPr id="489" name="Google Shape;489;g3bbe9322812_0_365"/>
          <p:cNvSpPr txBox="1"/>
          <p:nvPr/>
        </p:nvSpPr>
        <p:spPr>
          <a:xfrm>
            <a:off x="363825" y="168125"/>
            <a:ext cx="7789500" cy="7389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chemeClr val="lt1"/>
                </a:solidFill>
                <a:latin typeface="Calibri"/>
                <a:ea typeface="Calibri"/>
                <a:cs typeface="Calibri"/>
                <a:sym typeface="Calibri"/>
              </a:rPr>
              <a:t>2D Transformations (Shearing Example)</a:t>
            </a:r>
            <a:endParaRPr sz="3600" b="0" i="0" u="none" strike="noStrike" cap="none">
              <a:solidFill>
                <a:schemeClr val="lt1"/>
              </a:solidFill>
              <a:latin typeface="Calibri"/>
              <a:ea typeface="Calibri"/>
              <a:cs typeface="Calibri"/>
              <a:sym typeface="Calibri"/>
            </a:endParaRPr>
          </a:p>
        </p:txBody>
      </p:sp>
      <p:pic>
        <p:nvPicPr>
          <p:cNvPr id="490" name="Google Shape;490;g3bbe9322812_0_365"/>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803"/>
              </a:srgbClr>
            </a:outerShdw>
          </a:effectLst>
        </p:spPr>
      </p:pic>
      <p:pic>
        <p:nvPicPr>
          <p:cNvPr id="491" name="Google Shape;491;g3bbe9322812_0_365" descr="Shearing in Computer Graphics | Problem-01 | Solution"/>
          <p:cNvPicPr preferRelativeResize="0"/>
          <p:nvPr/>
        </p:nvPicPr>
        <p:blipFill rotWithShape="1">
          <a:blip r:embed="rId4">
            <a:alphaModFix/>
          </a:blip>
          <a:srcRect/>
          <a:stretch/>
        </p:blipFill>
        <p:spPr>
          <a:xfrm>
            <a:off x="1117475" y="1400700"/>
            <a:ext cx="6643700" cy="4297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7"/>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300"/>
              <a:buFont typeface="Calibri"/>
              <a:buNone/>
            </a:pPr>
            <a:r>
              <a:rPr lang="en-US" sz="3300" b="0" i="0" u="none">
                <a:solidFill>
                  <a:schemeClr val="dk1"/>
                </a:solidFill>
                <a:latin typeface="Calibri"/>
                <a:ea typeface="Calibri"/>
                <a:cs typeface="Calibri"/>
                <a:sym typeface="Calibri"/>
              </a:rPr>
              <a:t> </a:t>
            </a:r>
            <a:endParaRPr/>
          </a:p>
        </p:txBody>
      </p:sp>
      <p:pic>
        <p:nvPicPr>
          <p:cNvPr id="498" name="Google Shape;498;p17"/>
          <p:cNvPicPr preferRelativeResize="0">
            <a:picLocks noGrp="1"/>
          </p:cNvPicPr>
          <p:nvPr>
            <p:ph type="body" idx="1"/>
          </p:nvPr>
        </p:nvPicPr>
        <p:blipFill rotWithShape="1">
          <a:blip r:embed="rId3">
            <a:alphaModFix/>
          </a:blip>
          <a:srcRect/>
          <a:stretch/>
        </p:blipFill>
        <p:spPr>
          <a:xfrm>
            <a:off x="1671637" y="1295400"/>
            <a:ext cx="5800725" cy="4351337"/>
          </a:xfrm>
          <a:prstGeom prst="rect">
            <a:avLst/>
          </a:prstGeom>
          <a:noFill/>
          <a:ln>
            <a:noFill/>
          </a:ln>
        </p:spPr>
      </p:pic>
      <p:pic>
        <p:nvPicPr>
          <p:cNvPr id="499" name="Google Shape;499;p17"/>
          <p:cNvPicPr preferRelativeResize="0"/>
          <p:nvPr/>
        </p:nvPicPr>
        <p:blipFill rotWithShape="1">
          <a:blip r:embed="rId4">
            <a:alphaModFix/>
          </a:blip>
          <a:srcRect/>
          <a:stretch/>
        </p:blipFill>
        <p:spPr>
          <a:xfrm>
            <a:off x="8077200" y="22225"/>
            <a:ext cx="1371600" cy="685800"/>
          </a:xfrm>
          <a:prstGeom prst="rect">
            <a:avLst/>
          </a:prstGeom>
          <a:noFill/>
          <a:ln>
            <a:noFill/>
          </a:ln>
        </p:spPr>
      </p:pic>
      <p:sp>
        <p:nvSpPr>
          <p:cNvPr id="500" name="Google Shape;500;p17"/>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501" name="Google Shape;501;p17"/>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29</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98"/>
                                        </p:tgtEl>
                                        <p:attrNameLst>
                                          <p:attrName>style.visibility</p:attrName>
                                        </p:attrNameLst>
                                      </p:cBhvr>
                                      <p:to>
                                        <p:strVal val="visible"/>
                                      </p:to>
                                    </p:set>
                                    <p:anim calcmode="lin" valueType="num">
                                      <p:cBhvr additive="base">
                                        <p:cTn id="7" dur="1000"/>
                                        <p:tgtEl>
                                          <p:spTgt spid="498"/>
                                        </p:tgtEl>
                                        <p:attrNameLst>
                                          <p:attrName>ppt_w</p:attrName>
                                        </p:attrNameLst>
                                      </p:cBhvr>
                                      <p:tavLst>
                                        <p:tav tm="0">
                                          <p:val>
                                            <p:strVal val="0"/>
                                          </p:val>
                                        </p:tav>
                                        <p:tav tm="100000">
                                          <p:val>
                                            <p:strVal val="#ppt_w"/>
                                          </p:val>
                                        </p:tav>
                                      </p:tavLst>
                                    </p:anim>
                                    <p:anim calcmode="lin" valueType="num">
                                      <p:cBhvr additive="base">
                                        <p:cTn id="8" dur="1000"/>
                                        <p:tgtEl>
                                          <p:spTgt spid="49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2229</Words>
  <Application>Microsoft Office PowerPoint</Application>
  <PresentationFormat>On-screen Show (4:3)</PresentationFormat>
  <Paragraphs>257</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Roboto</vt:lpstr>
      <vt:lpstr>Noto Sans Symbols</vt:lpstr>
      <vt:lpstr>Tahoma</vt:lpstr>
      <vt:lpstr>Century Gothic</vt:lpstr>
      <vt:lpstr>Times New Roman</vt:lpstr>
      <vt:lpstr>Office Theme</vt:lpstr>
      <vt:lpstr> Computer Graphics 2D Transformation Lecture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Brian Mac Namee</dc:creator>
  <cp:lastModifiedBy>DIU</cp:lastModifiedBy>
  <cp:revision>1</cp:revision>
  <dcterms:created xsi:type="dcterms:W3CDTF">2006-08-22T08:27:31Z</dcterms:created>
  <dcterms:modified xsi:type="dcterms:W3CDTF">2026-06-09T02:39:24Z</dcterms:modified>
</cp:coreProperties>
</file>