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6858000" type="screen4x3"/>
  <p:notesSz cx="9866313" cy="67357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jqSniUEPnSZeOrZ34Dn2Dvh6eok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65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4275137" cy="33655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588000" y="0"/>
            <a:ext cx="4276725" cy="33655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6397625"/>
            <a:ext cx="4275137" cy="3365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3249613" y="504825"/>
            <a:ext cx="3367087" cy="25257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6" name="Google Shape;86;p1: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98" name="Google Shape;98;p2: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8" name="Google Shape;108;p3: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3: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18" name="Google Shape;118;p4: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4: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28" name="Google Shape;128;p5: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38" name="Google Shape;138;p6: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6: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49" name="Google Shape;149;p7: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7: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8: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59" name="Google Shape;159;p8: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8: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9: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68" name="Google Shape;168;p9: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9: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78" name="Google Shape;178;p10: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0: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1: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88" name="Google Shape;188;p11: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1: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2: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98" name="Google Shape;198;p12: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2: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3: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07" name="Google Shape;207;p13: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3: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4: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17" name="Google Shape;217;p14: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14: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26" name="Google Shape;226;p15: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15: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6: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36" name="Google Shape;236;p16: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16: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7: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46" name="Google Shape;246;p17: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17: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8: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56" name="Google Shape;256;p18: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8: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9: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66" name="Google Shape;266;p19: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19: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0: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77" name="Google Shape;277;p20: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20: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1: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87" name="Google Shape;287;p21: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21: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2: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97" name="Google Shape;297;p22: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22: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3: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07" name="Google Shape;307;p23: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23: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4: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7" name="Google Shape;317;p24: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24: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5: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27" name="Google Shape;327;p25: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25: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6: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38" name="Google Shape;338;p26: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26: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7: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48" name="Google Shape;348;p27: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27: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8: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58" name="Google Shape;358;p28: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28: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9: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68" name="Google Shape;368;p29: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29: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0: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78" name="Google Shape;378;p30:notes"/>
          <p:cNvSpPr txBox="1">
            <a:spLocks noGrp="1"/>
          </p:cNvSpPr>
          <p:nvPr>
            <p:ph type="body" idx="1"/>
          </p:nvPr>
        </p:nvSpPr>
        <p:spPr>
          <a:xfrm>
            <a:off x="987425" y="3198812"/>
            <a:ext cx="7893050" cy="3032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30:notes"/>
          <p:cNvSpPr txBox="1"/>
          <p:nvPr/>
        </p:nvSpPr>
        <p:spPr>
          <a:xfrm>
            <a:off x="5588000" y="6397625"/>
            <a:ext cx="4276725" cy="33655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a:solidFill>
                  <a:srgbClr val="000000"/>
                </a:solidFill>
                <a:latin typeface="Arial"/>
                <a:ea typeface="Arial"/>
                <a:cs typeface="Arial"/>
                <a:sym typeface="Arial"/>
              </a:rPr>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31:notes"/>
          <p:cNvSpPr txBox="1">
            <a:spLocks noGrp="1"/>
          </p:cNvSpPr>
          <p:nvPr>
            <p:ph type="body" idx="1"/>
          </p:nvPr>
        </p:nvSpPr>
        <p:spPr>
          <a:xfrm>
            <a:off x="987425" y="3198812"/>
            <a:ext cx="7893050" cy="30321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31:notes"/>
          <p:cNvSpPr>
            <a:spLocks noGrp="1" noRot="1" noChangeAspect="1"/>
          </p:cNvSpPr>
          <p:nvPr>
            <p:ph type="sldImg" idx="2"/>
          </p:nvPr>
        </p:nvSpPr>
        <p:spPr>
          <a:xfrm>
            <a:off x="3249612" y="504825"/>
            <a:ext cx="3367087" cy="25257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3"/>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33"/>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8" name="Google Shape;18;p33"/>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4"/>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34"/>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4" name="Google Shape;24;p34"/>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4"/>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35"/>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1"/>
        <p:cNvGrpSpPr/>
        <p:nvPr/>
      </p:nvGrpSpPr>
      <p:grpSpPr>
        <a:xfrm>
          <a:off x="0" y="0"/>
          <a:ext cx="0" cy="0"/>
          <a:chOff x="0" y="0"/>
          <a:chExt cx="0" cy="0"/>
        </a:xfrm>
      </p:grpSpPr>
      <p:sp>
        <p:nvSpPr>
          <p:cNvPr id="32" name="Google Shape;32;p36"/>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3" name="Google Shape;33;p36"/>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4" name="Google Shape;34;p36"/>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6"/>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7"/>
        <p:cNvGrpSpPr/>
        <p:nvPr/>
      </p:nvGrpSpPr>
      <p:grpSpPr>
        <a:xfrm>
          <a:off x="0" y="0"/>
          <a:ext cx="0" cy="0"/>
          <a:chOff x="0" y="0"/>
          <a:chExt cx="0" cy="0"/>
        </a:xfrm>
      </p:grpSpPr>
      <p:sp>
        <p:nvSpPr>
          <p:cNvPr id="38" name="Google Shape;38;p37"/>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9" name="Google Shape;39;p37"/>
          <p:cNvSpPr txBox="1">
            <a:spLocks noGrp="1"/>
          </p:cNvSpPr>
          <p:nvPr>
            <p:ph type="body" idx="1"/>
          </p:nvPr>
        </p:nvSpPr>
        <p:spPr>
          <a:xfrm rot="5400000">
            <a:off x="2396332" y="57943"/>
            <a:ext cx="4351337"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0" name="Google Shape;40;p37"/>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3"/>
        <p:cNvGrpSpPr/>
        <p:nvPr/>
      </p:nvGrpSpPr>
      <p:grpSpPr>
        <a:xfrm>
          <a:off x="0" y="0"/>
          <a:ext cx="0" cy="0"/>
          <a:chOff x="0" y="0"/>
          <a:chExt cx="0" cy="0"/>
        </a:xfrm>
      </p:grpSpPr>
      <p:sp>
        <p:nvSpPr>
          <p:cNvPr id="44" name="Google Shape;44;p38"/>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5" name="Google Shape;45;p38"/>
          <p:cNvSpPr>
            <a:spLocks noGrp="1"/>
          </p:cNvSpPr>
          <p:nvPr>
            <p:ph type="pic" idx="2"/>
          </p:nvPr>
        </p:nvSpPr>
        <p:spPr>
          <a:xfrm>
            <a:off x="3887391" y="987426"/>
            <a:ext cx="4629150" cy="4873625"/>
          </a:xfrm>
          <a:prstGeom prst="rect">
            <a:avLst/>
          </a:prstGeom>
          <a:noFill/>
          <a:ln>
            <a:noFill/>
          </a:ln>
        </p:spPr>
      </p:sp>
      <p:sp>
        <p:nvSpPr>
          <p:cNvPr id="46" name="Google Shape;46;p38"/>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47" name="Google Shape;47;p38"/>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0"/>
        <p:cNvGrpSpPr/>
        <p:nvPr/>
      </p:nvGrpSpPr>
      <p:grpSpPr>
        <a:xfrm>
          <a:off x="0" y="0"/>
          <a:ext cx="0" cy="0"/>
          <a:chOff x="0" y="0"/>
          <a:chExt cx="0" cy="0"/>
        </a:xfrm>
      </p:grpSpPr>
      <p:sp>
        <p:nvSpPr>
          <p:cNvPr id="51" name="Google Shape;51;p3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2" name="Google Shape;52;p3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53" name="Google Shape;53;p39"/>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54" name="Google Shape;54;p3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40"/>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9" name="Google Shape;59;p4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4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41"/>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4" name="Google Shape;64;p41"/>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65" name="Google Shape;65;p41"/>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6" name="Google Shape;66;p41"/>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67" name="Google Shape;67;p41"/>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8" name="Google Shape;68;p4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4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1"/>
        <p:cNvGrpSpPr/>
        <p:nvPr/>
      </p:nvGrpSpPr>
      <p:grpSpPr>
        <a:xfrm>
          <a:off x="0" y="0"/>
          <a:ext cx="0" cy="0"/>
          <a:chOff x="0" y="0"/>
          <a:chExt cx="0" cy="0"/>
        </a:xfrm>
      </p:grpSpPr>
      <p:sp>
        <p:nvSpPr>
          <p:cNvPr id="72" name="Google Shape;72;p42"/>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3" name="Google Shape;73;p42"/>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4" name="Google Shape;74;p42"/>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4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8"/>
        <p:cNvGrpSpPr/>
        <p:nvPr/>
      </p:nvGrpSpPr>
      <p:grpSpPr>
        <a:xfrm>
          <a:off x="0" y="0"/>
          <a:ext cx="0" cy="0"/>
          <a:chOff x="0" y="0"/>
          <a:chExt cx="0" cy="0"/>
        </a:xfrm>
      </p:grpSpPr>
      <p:sp>
        <p:nvSpPr>
          <p:cNvPr id="79" name="Google Shape;79;p43"/>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43"/>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81" name="Google Shape;81;p43"/>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4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11" name="Google Shape;11;p32"/>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3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3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hyperlink" Target="http://en.wikipedia.org/wiki/Neon_lamp"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en.wikipedia.org/wiki/Inert_gase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990600" y="762000"/>
            <a:ext cx="6858000" cy="2316162"/>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Calibri"/>
              <a:buNone/>
            </a:pPr>
            <a:br>
              <a:rPr lang="en-US" sz="4100" b="0" i="0" u="none">
                <a:solidFill>
                  <a:schemeClr val="dk1"/>
                </a:solidFill>
                <a:latin typeface="Calibri"/>
                <a:ea typeface="Calibri"/>
                <a:cs typeface="Calibri"/>
                <a:sym typeface="Calibri"/>
              </a:rPr>
            </a:br>
            <a:r>
              <a:rPr lang="en-US" sz="3600" b="1" i="0" u="none">
                <a:solidFill>
                  <a:schemeClr val="dk1"/>
                </a:solidFill>
                <a:latin typeface="Calibri"/>
                <a:ea typeface="Calibri"/>
                <a:cs typeface="Calibri"/>
                <a:sym typeface="Calibri"/>
              </a:rPr>
              <a:t>Computer Graphics</a:t>
            </a:r>
            <a:br>
              <a:rPr lang="en-US" sz="3600" b="1" i="0" u="none">
                <a:solidFill>
                  <a:schemeClr val="dk1"/>
                </a:solidFill>
                <a:latin typeface="Calibri"/>
                <a:ea typeface="Calibri"/>
                <a:cs typeface="Calibri"/>
                <a:sym typeface="Calibri"/>
              </a:rPr>
            </a:br>
            <a:r>
              <a:rPr lang="en-US" sz="3600" b="1" i="0" u="none">
                <a:solidFill>
                  <a:schemeClr val="dk1"/>
                </a:solidFill>
                <a:latin typeface="Calibri"/>
                <a:ea typeface="Calibri"/>
                <a:cs typeface="Calibri"/>
                <a:sym typeface="Calibri"/>
              </a:rPr>
              <a:t>Video Display Devices</a:t>
            </a:r>
            <a:br>
              <a:rPr lang="en-US" sz="3600" b="1" i="0" u="none">
                <a:solidFill>
                  <a:schemeClr val="dk1"/>
                </a:solidFill>
                <a:latin typeface="Calibri"/>
                <a:ea typeface="Calibri"/>
                <a:cs typeface="Calibri"/>
                <a:sym typeface="Calibri"/>
              </a:rPr>
            </a:br>
            <a:r>
              <a:rPr lang="en-US" sz="3000" b="1" i="0" u="none">
                <a:solidFill>
                  <a:srgbClr val="FF0000"/>
                </a:solidFill>
                <a:latin typeface="Calibri"/>
                <a:ea typeface="Calibri"/>
                <a:cs typeface="Calibri"/>
                <a:sym typeface="Calibri"/>
              </a:rPr>
              <a:t>Lecture-2</a:t>
            </a:r>
            <a:br>
              <a:rPr lang="en-US" sz="4100" b="0" i="0" u="none">
                <a:solidFill>
                  <a:schemeClr val="dk1"/>
                </a:solidFill>
                <a:latin typeface="Calibri"/>
                <a:ea typeface="Calibri"/>
                <a:cs typeface="Calibri"/>
                <a:sym typeface="Calibri"/>
              </a:rPr>
            </a:br>
            <a:endParaRPr/>
          </a:p>
        </p:txBody>
      </p:sp>
      <p:sp>
        <p:nvSpPr>
          <p:cNvPr id="90" name="Google Shape;90;p1"/>
          <p:cNvSpPr txBox="1">
            <a:spLocks noGrp="1"/>
          </p:cNvSpPr>
          <p:nvPr>
            <p:ph type="subTitle" idx="1"/>
          </p:nvPr>
        </p:nvSpPr>
        <p:spPr>
          <a:xfrm>
            <a:off x="990600" y="4624387"/>
            <a:ext cx="6858000" cy="165576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1800"/>
              <a:buNone/>
            </a:pPr>
            <a:endParaRPr sz="1800" b="0" i="0" u="none" dirty="0">
              <a:solidFill>
                <a:schemeClr val="dk1"/>
              </a:solidFill>
              <a:latin typeface="Calibri"/>
              <a:ea typeface="Calibri"/>
              <a:cs typeface="Calibri"/>
              <a:sym typeface="Calibri"/>
            </a:endParaRPr>
          </a:p>
          <a:p>
            <a:pPr marL="0" lvl="0" indent="0" algn="ctr" rtl="0">
              <a:lnSpc>
                <a:spcPct val="90000"/>
              </a:lnSpc>
              <a:spcBef>
                <a:spcPts val="700"/>
              </a:spcBef>
              <a:spcAft>
                <a:spcPts val="0"/>
              </a:spcAft>
              <a:buClr>
                <a:schemeClr val="dk1"/>
              </a:buClr>
              <a:buSzPts val="1800"/>
              <a:buNone/>
            </a:pPr>
            <a:r>
              <a:rPr lang="en-US" dirty="0" err="1">
                <a:solidFill>
                  <a:srgbClr val="FF0000"/>
                </a:solidFill>
              </a:rPr>
              <a:t>Nazmun</a:t>
            </a:r>
            <a:r>
              <a:rPr lang="en-US" dirty="0">
                <a:solidFill>
                  <a:srgbClr val="FF0000"/>
                </a:solidFill>
              </a:rPr>
              <a:t> Nessa Moon</a:t>
            </a:r>
            <a:br>
              <a:rPr lang="en-US" dirty="0"/>
            </a:br>
            <a:r>
              <a:rPr lang="en-US" dirty="0"/>
              <a:t>Associate Professor</a:t>
            </a:r>
            <a:br>
              <a:rPr lang="en-US" sz="1800" b="0" i="0" u="none" dirty="0">
                <a:solidFill>
                  <a:schemeClr val="dk1"/>
                </a:solidFill>
                <a:latin typeface="Calibri"/>
                <a:ea typeface="Calibri"/>
                <a:cs typeface="Calibri"/>
                <a:sym typeface="Calibri"/>
              </a:rPr>
            </a:br>
            <a:r>
              <a:rPr lang="en-US" sz="1800" b="0" i="0" u="none" dirty="0">
                <a:solidFill>
                  <a:schemeClr val="dk1"/>
                </a:solidFill>
                <a:latin typeface="Calibri"/>
                <a:ea typeface="Calibri"/>
                <a:cs typeface="Calibri"/>
                <a:sym typeface="Calibri"/>
              </a:rPr>
              <a:t>Department of Computer Science and Engineering</a:t>
            </a:r>
            <a:br>
              <a:rPr lang="en-US" sz="1800" b="0" i="0" u="none" dirty="0">
                <a:solidFill>
                  <a:schemeClr val="dk1"/>
                </a:solidFill>
                <a:latin typeface="Calibri"/>
                <a:ea typeface="Calibri"/>
                <a:cs typeface="Calibri"/>
                <a:sym typeface="Calibri"/>
              </a:rPr>
            </a:br>
            <a:r>
              <a:rPr lang="en-US" sz="1800" b="0" i="0" u="none" dirty="0">
                <a:solidFill>
                  <a:schemeClr val="dk1"/>
                </a:solidFill>
                <a:latin typeface="Calibri"/>
                <a:ea typeface="Calibri"/>
                <a:cs typeface="Calibri"/>
                <a:sym typeface="Calibri"/>
              </a:rPr>
              <a:t>Daffodil International University, DIU</a:t>
            </a:r>
            <a:endParaRPr dirty="0"/>
          </a:p>
        </p:txBody>
      </p:sp>
      <p:sp>
        <p:nvSpPr>
          <p:cNvPr id="91" name="Google Shape;91;p1" descr="Diu Logo PNG Images - CleanPNG"/>
          <p:cNvSpPr txBox="1"/>
          <p:nvPr/>
        </p:nvSpPr>
        <p:spPr>
          <a:xfrm>
            <a:off x="155575" y="-144462"/>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92" name="Google Shape;92;p1"/>
          <p:cNvPicPr preferRelativeResize="0"/>
          <p:nvPr/>
        </p:nvPicPr>
        <p:blipFill rotWithShape="1">
          <a:blip r:embed="rId3">
            <a:alphaModFix/>
          </a:blip>
          <a:srcRect/>
          <a:stretch/>
        </p:blipFill>
        <p:spPr>
          <a:xfrm>
            <a:off x="3733800" y="381000"/>
            <a:ext cx="1371600" cy="685800"/>
          </a:xfrm>
          <a:prstGeom prst="rect">
            <a:avLst/>
          </a:prstGeom>
          <a:noFill/>
          <a:ln>
            <a:noFill/>
          </a:ln>
        </p:spPr>
      </p:pic>
      <p:sp>
        <p:nvSpPr>
          <p:cNvPr id="93" name="Google Shape;93;p1"/>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94" name="Google Shape;94;p1"/>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1</a:t>
            </a:fld>
            <a:endParaRPr/>
          </a:p>
        </p:txBody>
      </p:sp>
      <p:pic>
        <p:nvPicPr>
          <p:cNvPr id="95" name="Google Shape;95;p1"/>
          <p:cNvPicPr preferRelativeResize="0"/>
          <p:nvPr/>
        </p:nvPicPr>
        <p:blipFill rotWithShape="1">
          <a:blip r:embed="rId4">
            <a:alphaModFix/>
          </a:blip>
          <a:srcRect/>
          <a:stretch/>
        </p:blipFill>
        <p:spPr>
          <a:xfrm>
            <a:off x="3124200" y="2359025"/>
            <a:ext cx="2652450" cy="2652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628650" y="365125"/>
            <a:ext cx="7606500" cy="759000"/>
          </a:xfrm>
          <a:prstGeom prst="rect">
            <a:avLst/>
          </a:prstGeom>
          <a:solidFill>
            <a:srgbClr val="3D85C6"/>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300"/>
              <a:buFont typeface="Calibri"/>
              <a:buNone/>
            </a:pPr>
            <a:r>
              <a:rPr lang="en-US" sz="3300" b="0" i="0" u="none">
                <a:solidFill>
                  <a:schemeClr val="dk1"/>
                </a:solidFill>
                <a:latin typeface="Calibri"/>
                <a:ea typeface="Calibri"/>
                <a:cs typeface="Calibri"/>
                <a:sym typeface="Calibri"/>
              </a:rPr>
              <a:t>Contents</a:t>
            </a:r>
            <a:endParaRPr/>
          </a:p>
        </p:txBody>
      </p:sp>
      <p:sp>
        <p:nvSpPr>
          <p:cNvPr id="102" name="Google Shape;102;p2"/>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Autofit/>
          </a:bodyPr>
          <a:lstStyle/>
          <a:p>
            <a:pPr marL="514350" marR="0" lvl="0" indent="-514350" algn="l" rtl="0">
              <a:lnSpc>
                <a:spcPct val="90000"/>
              </a:lnSpc>
              <a:spcBef>
                <a:spcPts val="0"/>
              </a:spcBef>
              <a:spcAft>
                <a:spcPts val="0"/>
              </a:spcAft>
              <a:buClr>
                <a:srgbClr val="404040"/>
              </a:buClr>
              <a:buSzPts val="2100"/>
              <a:buFont typeface="Arial"/>
              <a:buNone/>
            </a:pPr>
            <a:r>
              <a:rPr lang="en-US" sz="2000" b="1" i="0" u="none" strike="noStrike" cap="none">
                <a:latin typeface="Calibri"/>
                <a:ea typeface="Calibri"/>
                <a:cs typeface="Calibri"/>
                <a:sym typeface="Calibri"/>
              </a:rPr>
              <a:t>1.  Refresh Cathode-Ray Tube</a:t>
            </a:r>
            <a:endParaRPr sz="2000"/>
          </a:p>
          <a:p>
            <a:pPr marL="514350" marR="0" lvl="0" indent="-514350" algn="l" rtl="0">
              <a:lnSpc>
                <a:spcPct val="90000"/>
              </a:lnSpc>
              <a:spcBef>
                <a:spcPts val="700"/>
              </a:spcBef>
              <a:spcAft>
                <a:spcPts val="0"/>
              </a:spcAft>
              <a:buClr>
                <a:srgbClr val="404040"/>
              </a:buClr>
              <a:buSzPts val="2100"/>
              <a:buFont typeface="Arial"/>
              <a:buNone/>
            </a:pPr>
            <a:r>
              <a:rPr lang="en-US" sz="2000" b="1" i="0" u="none" strike="noStrike" cap="none">
                <a:latin typeface="Calibri"/>
                <a:ea typeface="Calibri"/>
                <a:cs typeface="Calibri"/>
                <a:sym typeface="Calibri"/>
              </a:rPr>
              <a:t>2. Raster Scan Displays</a:t>
            </a:r>
            <a:endParaRPr sz="2000"/>
          </a:p>
          <a:p>
            <a:pPr marL="514350" marR="0" lvl="0" indent="-514350" algn="l" rtl="0">
              <a:lnSpc>
                <a:spcPct val="90000"/>
              </a:lnSpc>
              <a:spcBef>
                <a:spcPts val="700"/>
              </a:spcBef>
              <a:spcAft>
                <a:spcPts val="0"/>
              </a:spcAft>
              <a:buClr>
                <a:srgbClr val="404040"/>
              </a:buClr>
              <a:buSzPts val="2100"/>
              <a:buFont typeface="Arial"/>
              <a:buNone/>
            </a:pPr>
            <a:r>
              <a:rPr lang="en-US" sz="2000" b="1" i="0" u="none" strike="noStrike" cap="none">
                <a:latin typeface="Calibri"/>
                <a:ea typeface="Calibri"/>
                <a:cs typeface="Calibri"/>
                <a:sym typeface="Calibri"/>
              </a:rPr>
              <a:t>3. Random-Scan Displays</a:t>
            </a:r>
            <a:endParaRPr sz="2000"/>
          </a:p>
          <a:p>
            <a:pPr marL="514350" marR="0" lvl="0" indent="-514350" algn="l" rtl="0">
              <a:lnSpc>
                <a:spcPct val="90000"/>
              </a:lnSpc>
              <a:spcBef>
                <a:spcPts val="700"/>
              </a:spcBef>
              <a:spcAft>
                <a:spcPts val="0"/>
              </a:spcAft>
              <a:buClr>
                <a:srgbClr val="404040"/>
              </a:buClr>
              <a:buSzPts val="2100"/>
              <a:buFont typeface="Arial"/>
              <a:buNone/>
            </a:pPr>
            <a:r>
              <a:rPr lang="en-US" sz="2000" b="1" i="0" u="none" strike="noStrike" cap="none">
                <a:latin typeface="Calibri"/>
                <a:ea typeface="Calibri"/>
                <a:cs typeface="Calibri"/>
                <a:sym typeface="Calibri"/>
              </a:rPr>
              <a:t>4. Color CRT Monitors</a:t>
            </a:r>
            <a:endParaRPr sz="2000"/>
          </a:p>
          <a:p>
            <a:pPr marL="879475" marR="0" lvl="1" indent="-514350" algn="l" rtl="0">
              <a:lnSpc>
                <a:spcPct val="90000"/>
              </a:lnSpc>
              <a:spcBef>
                <a:spcPts val="300"/>
              </a:spcBef>
              <a:spcAft>
                <a:spcPts val="0"/>
              </a:spcAft>
              <a:buClr>
                <a:srgbClr val="404040"/>
              </a:buClr>
              <a:buSzPts val="1800"/>
              <a:buFont typeface="Arial"/>
              <a:buNone/>
            </a:pPr>
            <a:r>
              <a:rPr lang="en-US" sz="2000" b="1" i="0" u="none" strike="noStrike" cap="none">
                <a:latin typeface="Calibri"/>
                <a:ea typeface="Calibri"/>
                <a:cs typeface="Calibri"/>
                <a:sym typeface="Calibri"/>
              </a:rPr>
              <a:t>4.1 Beam-Penetration Method</a:t>
            </a:r>
            <a:endParaRPr sz="2000"/>
          </a:p>
          <a:p>
            <a:pPr marL="879475" marR="0" lvl="1" indent="-514350" algn="l" rtl="0">
              <a:lnSpc>
                <a:spcPct val="90000"/>
              </a:lnSpc>
              <a:spcBef>
                <a:spcPts val="300"/>
              </a:spcBef>
              <a:spcAft>
                <a:spcPts val="0"/>
              </a:spcAft>
              <a:buClr>
                <a:srgbClr val="404040"/>
              </a:buClr>
              <a:buSzPts val="1800"/>
              <a:buFont typeface="Arial"/>
              <a:buNone/>
            </a:pPr>
            <a:r>
              <a:rPr lang="en-US" sz="2000" b="1" i="0" u="none" strike="noStrike" cap="none">
                <a:latin typeface="Calibri"/>
                <a:ea typeface="Calibri"/>
                <a:cs typeface="Calibri"/>
                <a:sym typeface="Calibri"/>
              </a:rPr>
              <a:t>4.2 Shadow-Mask Method</a:t>
            </a:r>
            <a:endParaRPr sz="2000"/>
          </a:p>
          <a:p>
            <a:pPr marL="514350" marR="0" lvl="0" indent="-514350" algn="l" rtl="0">
              <a:lnSpc>
                <a:spcPct val="90000"/>
              </a:lnSpc>
              <a:spcBef>
                <a:spcPts val="700"/>
              </a:spcBef>
              <a:spcAft>
                <a:spcPts val="0"/>
              </a:spcAft>
              <a:buClr>
                <a:srgbClr val="404040"/>
              </a:buClr>
              <a:buSzPts val="2100"/>
              <a:buFont typeface="Arial"/>
              <a:buNone/>
            </a:pPr>
            <a:r>
              <a:rPr lang="en-US" sz="2000" b="1" i="0" u="none" strike="noStrike" cap="none">
                <a:latin typeface="Calibri"/>
                <a:ea typeface="Calibri"/>
                <a:cs typeface="Calibri"/>
                <a:sym typeface="Calibri"/>
              </a:rPr>
              <a:t>5. Direct-View Storage Tubes</a:t>
            </a:r>
            <a:endParaRPr sz="2000"/>
          </a:p>
          <a:p>
            <a:pPr marL="514350" marR="0" lvl="0" indent="-514350" algn="l" rtl="0">
              <a:lnSpc>
                <a:spcPct val="90000"/>
              </a:lnSpc>
              <a:spcBef>
                <a:spcPts val="700"/>
              </a:spcBef>
              <a:spcAft>
                <a:spcPts val="0"/>
              </a:spcAft>
              <a:buClr>
                <a:srgbClr val="404040"/>
              </a:buClr>
              <a:buSzPts val="2100"/>
              <a:buFont typeface="Arial"/>
              <a:buNone/>
            </a:pPr>
            <a:r>
              <a:rPr lang="en-US" sz="2000" b="1" i="0" u="none" strike="noStrike" cap="none">
                <a:latin typeface="Calibri"/>
                <a:ea typeface="Calibri"/>
                <a:cs typeface="Calibri"/>
                <a:sym typeface="Calibri"/>
              </a:rPr>
              <a:t>6. Flat-Panel Displays</a:t>
            </a:r>
            <a:endParaRPr sz="2000"/>
          </a:p>
          <a:p>
            <a:pPr marL="879475" marR="0" lvl="1" indent="-514350" algn="l" rtl="0">
              <a:lnSpc>
                <a:spcPct val="90000"/>
              </a:lnSpc>
              <a:spcBef>
                <a:spcPts val="300"/>
              </a:spcBef>
              <a:spcAft>
                <a:spcPts val="0"/>
              </a:spcAft>
              <a:buClr>
                <a:srgbClr val="404040"/>
              </a:buClr>
              <a:buSzPts val="1800"/>
              <a:buFont typeface="Arial"/>
              <a:buNone/>
            </a:pPr>
            <a:r>
              <a:rPr lang="en-US" sz="2000" b="1" i="0" u="none" strike="noStrike" cap="none">
                <a:latin typeface="Calibri"/>
                <a:ea typeface="Calibri"/>
                <a:cs typeface="Calibri"/>
                <a:sym typeface="Calibri"/>
              </a:rPr>
              <a:t>6.1 Plasma Panel</a:t>
            </a:r>
            <a:endParaRPr sz="2000"/>
          </a:p>
          <a:p>
            <a:pPr marL="879475" marR="0" lvl="1" indent="-514350" algn="l" rtl="0">
              <a:lnSpc>
                <a:spcPct val="90000"/>
              </a:lnSpc>
              <a:spcBef>
                <a:spcPts val="300"/>
              </a:spcBef>
              <a:spcAft>
                <a:spcPts val="0"/>
              </a:spcAft>
              <a:buClr>
                <a:srgbClr val="404040"/>
              </a:buClr>
              <a:buSzPts val="1800"/>
              <a:buFont typeface="Arial"/>
              <a:buNone/>
            </a:pPr>
            <a:r>
              <a:rPr lang="en-US" sz="2000" b="1" i="0" u="none" strike="noStrike" cap="none">
                <a:latin typeface="Calibri"/>
                <a:ea typeface="Calibri"/>
                <a:cs typeface="Calibri"/>
                <a:sym typeface="Calibri"/>
              </a:rPr>
              <a:t>6.2 Thin-Film Electroluminescent Display</a:t>
            </a:r>
            <a:endParaRPr sz="2000"/>
          </a:p>
          <a:p>
            <a:pPr marL="879475" marR="0" lvl="1" indent="-514350" algn="l" rtl="0">
              <a:lnSpc>
                <a:spcPct val="90000"/>
              </a:lnSpc>
              <a:spcBef>
                <a:spcPts val="300"/>
              </a:spcBef>
              <a:spcAft>
                <a:spcPts val="0"/>
              </a:spcAft>
              <a:buClr>
                <a:srgbClr val="404040"/>
              </a:buClr>
              <a:buSzPts val="1800"/>
              <a:buFont typeface="Arial"/>
              <a:buNone/>
            </a:pPr>
            <a:r>
              <a:rPr lang="en-US" sz="2000" b="1" i="0" u="none" strike="noStrike" cap="none">
                <a:latin typeface="Calibri"/>
                <a:ea typeface="Calibri"/>
                <a:cs typeface="Calibri"/>
                <a:sym typeface="Calibri"/>
              </a:rPr>
              <a:t>6.3</a:t>
            </a:r>
            <a:r>
              <a:rPr lang="en-US" sz="2000" b="0" i="0" u="none" strike="noStrike" cap="none">
                <a:latin typeface="Calibri"/>
                <a:ea typeface="Calibri"/>
                <a:cs typeface="Calibri"/>
                <a:sym typeface="Calibri"/>
              </a:rPr>
              <a:t> </a:t>
            </a:r>
            <a:r>
              <a:rPr lang="en-US" sz="2000" b="1" i="0" u="none" strike="noStrike" cap="none">
                <a:latin typeface="Calibri"/>
                <a:ea typeface="Calibri"/>
                <a:cs typeface="Calibri"/>
                <a:sym typeface="Calibri"/>
              </a:rPr>
              <a:t>LED</a:t>
            </a:r>
            <a:endParaRPr sz="2000"/>
          </a:p>
          <a:p>
            <a:pPr marL="879475" marR="0" lvl="1" indent="-514350" algn="l" rtl="0">
              <a:lnSpc>
                <a:spcPct val="90000"/>
              </a:lnSpc>
              <a:spcBef>
                <a:spcPts val="300"/>
              </a:spcBef>
              <a:spcAft>
                <a:spcPts val="0"/>
              </a:spcAft>
              <a:buClr>
                <a:srgbClr val="404040"/>
              </a:buClr>
              <a:buSzPts val="1800"/>
              <a:buFont typeface="Arial"/>
              <a:buNone/>
            </a:pPr>
            <a:r>
              <a:rPr lang="en-US" sz="2000" b="1" i="0" u="none" strike="noStrike" cap="none">
                <a:latin typeface="Calibri"/>
                <a:ea typeface="Calibri"/>
                <a:cs typeface="Calibri"/>
                <a:sym typeface="Calibri"/>
              </a:rPr>
              <a:t>6.4 LCD</a:t>
            </a:r>
            <a:endParaRPr sz="2000"/>
          </a:p>
          <a:p>
            <a:pPr marL="514350" marR="0" lvl="0" indent="-514350" algn="l" rtl="0">
              <a:lnSpc>
                <a:spcPct val="90000"/>
              </a:lnSpc>
              <a:spcBef>
                <a:spcPts val="700"/>
              </a:spcBef>
              <a:spcAft>
                <a:spcPts val="0"/>
              </a:spcAft>
              <a:buClr>
                <a:schemeClr val="dk1"/>
              </a:buClr>
              <a:buSzPts val="2100"/>
              <a:buFont typeface="Arial"/>
              <a:buNone/>
            </a:pPr>
            <a:endParaRPr sz="2000" b="1" i="0" u="none" strike="noStrike" cap="none">
              <a:latin typeface="Calibri"/>
              <a:ea typeface="Calibri"/>
              <a:cs typeface="Calibri"/>
              <a:sym typeface="Calibri"/>
            </a:endParaRPr>
          </a:p>
          <a:p>
            <a:pPr marL="514350" marR="0" lvl="0" indent="-514350" algn="l" rtl="0">
              <a:lnSpc>
                <a:spcPct val="90000"/>
              </a:lnSpc>
              <a:spcBef>
                <a:spcPts val="700"/>
              </a:spcBef>
              <a:spcAft>
                <a:spcPts val="0"/>
              </a:spcAft>
              <a:buClr>
                <a:schemeClr val="dk1"/>
              </a:buClr>
              <a:buSzPts val="2100"/>
              <a:buFont typeface="Arial"/>
              <a:buNone/>
            </a:pPr>
            <a:endParaRPr sz="2000" b="1" i="0" u="none" strike="noStrike" cap="none">
              <a:latin typeface="Calibri"/>
              <a:ea typeface="Calibri"/>
              <a:cs typeface="Calibri"/>
              <a:sym typeface="Calibri"/>
            </a:endParaRPr>
          </a:p>
          <a:p>
            <a:pPr marL="514350" marR="0" lvl="0" indent="-514350" algn="l" rtl="0">
              <a:lnSpc>
                <a:spcPct val="90000"/>
              </a:lnSpc>
              <a:spcBef>
                <a:spcPts val="700"/>
              </a:spcBef>
              <a:spcAft>
                <a:spcPts val="0"/>
              </a:spcAft>
              <a:buClr>
                <a:schemeClr val="dk1"/>
              </a:buClr>
              <a:buSzPts val="2100"/>
              <a:buFont typeface="Arial"/>
              <a:buNone/>
            </a:pPr>
            <a:endParaRPr sz="2000" b="1" i="0" u="none" strike="noStrike" cap="none">
              <a:latin typeface="Calibri"/>
              <a:ea typeface="Calibri"/>
              <a:cs typeface="Calibri"/>
              <a:sym typeface="Calibri"/>
            </a:endParaRPr>
          </a:p>
          <a:p>
            <a:pPr marL="514350" marR="0" lvl="0" indent="-514350" algn="l" rtl="0">
              <a:lnSpc>
                <a:spcPct val="90000"/>
              </a:lnSpc>
              <a:spcBef>
                <a:spcPts val="700"/>
              </a:spcBef>
              <a:spcAft>
                <a:spcPts val="0"/>
              </a:spcAft>
              <a:buClr>
                <a:schemeClr val="dk1"/>
              </a:buClr>
              <a:buSzPts val="2100"/>
              <a:buFont typeface="Arial"/>
              <a:buNone/>
            </a:pPr>
            <a:endParaRPr sz="2000" b="1" i="0" u="none" strike="noStrike" cap="none">
              <a:latin typeface="Calibri"/>
              <a:ea typeface="Calibri"/>
              <a:cs typeface="Calibri"/>
              <a:sym typeface="Calibri"/>
            </a:endParaRPr>
          </a:p>
          <a:p>
            <a:pPr marL="171450" marR="0" lvl="0" indent="-38100" algn="l" rtl="0">
              <a:lnSpc>
                <a:spcPct val="90000"/>
              </a:lnSpc>
              <a:spcBef>
                <a:spcPts val="750"/>
              </a:spcBef>
              <a:spcAft>
                <a:spcPts val="0"/>
              </a:spcAft>
              <a:buClr>
                <a:schemeClr val="dk1"/>
              </a:buClr>
              <a:buSzPts val="2100"/>
              <a:buFont typeface="Arial"/>
              <a:buNone/>
            </a:pPr>
            <a:endParaRPr sz="2000" b="1" i="0" u="none">
              <a:latin typeface="Calibri"/>
              <a:ea typeface="Calibri"/>
              <a:cs typeface="Calibri"/>
              <a:sym typeface="Calibri"/>
            </a:endParaRPr>
          </a:p>
        </p:txBody>
      </p:sp>
      <p:sp>
        <p:nvSpPr>
          <p:cNvPr id="103" name="Google Shape;103;p2"/>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104" name="Google Shape;104;p2"/>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2</a:t>
            </a:fld>
            <a:endParaRPr/>
          </a:p>
        </p:txBody>
      </p:sp>
      <p:pic>
        <p:nvPicPr>
          <p:cNvPr id="105" name="Google Shape;105;p2"/>
          <p:cNvPicPr preferRelativeResize="0"/>
          <p:nvPr/>
        </p:nvPicPr>
        <p:blipFill rotWithShape="1">
          <a:blip r:embed="rId3">
            <a:alphaModFix/>
          </a:blip>
          <a:srcRect/>
          <a:stretch/>
        </p:blipFill>
        <p:spPr>
          <a:xfrm>
            <a:off x="8104200" y="438375"/>
            <a:ext cx="1371600" cy="685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262626"/>
              </a:buClr>
              <a:buSzPct val="100000"/>
              <a:buFont typeface="Calibri"/>
              <a:buNone/>
            </a:pPr>
            <a:br>
              <a:rPr lang="en-US" sz="3000" b="1">
                <a:solidFill>
                  <a:srgbClr val="262626"/>
                </a:solidFill>
              </a:rPr>
            </a:br>
            <a:r>
              <a:rPr lang="en-US" sz="3000" b="1" i="0" u="none">
                <a:solidFill>
                  <a:srgbClr val="262626"/>
                </a:solidFill>
                <a:latin typeface="Calibri"/>
                <a:ea typeface="Calibri"/>
                <a:cs typeface="Calibri"/>
                <a:sym typeface="Calibri"/>
              </a:rPr>
              <a:t>Refresh Cathode-Ray Tube</a:t>
            </a:r>
            <a:br>
              <a:rPr lang="en-US" sz="3000" b="1" i="0" u="none">
                <a:solidFill>
                  <a:srgbClr val="262626"/>
                </a:solidFill>
                <a:latin typeface="Calibri"/>
                <a:ea typeface="Calibri"/>
                <a:cs typeface="Calibri"/>
                <a:sym typeface="Calibri"/>
              </a:rPr>
            </a:br>
            <a:endParaRPr/>
          </a:p>
        </p:txBody>
      </p:sp>
      <p:sp>
        <p:nvSpPr>
          <p:cNvPr id="112" name="Google Shape;112;p3"/>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p>
            <a:pPr marL="273050" marR="0" lvl="0" indent="-273050" algn="just" rtl="0">
              <a:lnSpc>
                <a:spcPct val="90000"/>
              </a:lnSpc>
              <a:spcBef>
                <a:spcPts val="0"/>
              </a:spcBef>
              <a:spcAft>
                <a:spcPts val="0"/>
              </a:spcAft>
              <a:buClr>
                <a:srgbClr val="404040"/>
              </a:buClr>
              <a:buSzPts val="2100"/>
              <a:buFont typeface="Arial"/>
              <a:buNone/>
            </a:pPr>
            <a:r>
              <a:rPr lang="en-US" sz="2000" b="0" i="0" u="none">
                <a:latin typeface="Calibri"/>
                <a:ea typeface="Calibri"/>
                <a:cs typeface="Calibri"/>
                <a:sym typeface="Calibri"/>
              </a:rPr>
              <a:t>	The following figure illustrates the basic operation of a CRT. A beam of electrons (cathode rays) emitted by an electron gun, passes through focusing and deflection systems that direct the beam toward specified positions on the phosphor coated screen. The phosphor then emits a small spot of light at each position contacted by the electron beam. Because the light emitted by the phosphor fades very rapidly, the picture is redrawn repeatedly and quickly.</a:t>
            </a:r>
            <a:endParaRPr sz="2000"/>
          </a:p>
        </p:txBody>
      </p:sp>
      <p:sp>
        <p:nvSpPr>
          <p:cNvPr id="113" name="Google Shape;113;p3"/>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114" name="Google Shape;114;p3"/>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3</a:t>
            </a:fld>
            <a:endParaRPr/>
          </a:p>
        </p:txBody>
      </p:sp>
      <p:pic>
        <p:nvPicPr>
          <p:cNvPr id="115" name="Google Shape;115;p3"/>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4" descr="ClickHandler"/>
          <p:cNvPicPr preferRelativeResize="0"/>
          <p:nvPr/>
        </p:nvPicPr>
        <p:blipFill rotWithShape="1">
          <a:blip r:embed="rId3">
            <a:alphaModFix/>
          </a:blip>
          <a:srcRect/>
          <a:stretch/>
        </p:blipFill>
        <p:spPr>
          <a:xfrm>
            <a:off x="838200" y="1447800"/>
            <a:ext cx="7426325" cy="4286250"/>
          </a:xfrm>
          <a:prstGeom prst="rect">
            <a:avLst/>
          </a:prstGeom>
          <a:noFill/>
          <a:ln>
            <a:noFill/>
          </a:ln>
        </p:spPr>
      </p:pic>
      <p:sp>
        <p:nvSpPr>
          <p:cNvPr id="122" name="Google Shape;122;p4"/>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123" name="Google Shape;123;p4"/>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4</a:t>
            </a:fld>
            <a:endParaRPr/>
          </a:p>
        </p:txBody>
      </p:sp>
      <p:sp>
        <p:nvSpPr>
          <p:cNvPr id="124" name="Google Shape;124;p4"/>
          <p:cNvSpPr txBox="1">
            <a:spLocks noGrp="1"/>
          </p:cNvSpPr>
          <p:nvPr>
            <p:ph type="title" idx="4294967295"/>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262626"/>
              </a:buClr>
              <a:buSzPct val="100000"/>
              <a:buFont typeface="Calibri"/>
              <a:buNone/>
            </a:pPr>
            <a:br>
              <a:rPr lang="en-US" sz="3000" b="1">
                <a:solidFill>
                  <a:srgbClr val="262626"/>
                </a:solidFill>
              </a:rPr>
            </a:br>
            <a:r>
              <a:rPr lang="en-US" sz="3000" b="1" i="0" u="none">
                <a:solidFill>
                  <a:srgbClr val="262626"/>
                </a:solidFill>
                <a:latin typeface="Calibri"/>
                <a:ea typeface="Calibri"/>
                <a:cs typeface="Calibri"/>
                <a:sym typeface="Calibri"/>
              </a:rPr>
              <a:t>Refresh Cathode-Ray Tube</a:t>
            </a:r>
            <a:br>
              <a:rPr lang="en-US" sz="3000" b="1" i="0" u="none">
                <a:solidFill>
                  <a:srgbClr val="262626"/>
                </a:solidFill>
                <a:latin typeface="Calibri"/>
                <a:ea typeface="Calibri"/>
                <a:cs typeface="Calibri"/>
                <a:sym typeface="Calibri"/>
              </a:rPr>
            </a:br>
            <a:endParaRPr/>
          </a:p>
        </p:txBody>
      </p:sp>
      <p:pic>
        <p:nvPicPr>
          <p:cNvPr id="125" name="Google Shape;125;p4"/>
          <p:cNvPicPr preferRelativeResize="0"/>
          <p:nvPr/>
        </p:nvPicPr>
        <p:blipFill rotWithShape="1">
          <a:blip r:embed="rId4">
            <a:alphaModFix/>
          </a:blip>
          <a:srcRect/>
          <a:stretch/>
        </p:blipFill>
        <p:spPr>
          <a:xfrm>
            <a:off x="8127150" y="482200"/>
            <a:ext cx="1224300" cy="612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p>
            <a:pPr marL="273050" marR="0" lvl="0" indent="-177800" algn="just" rtl="0">
              <a:lnSpc>
                <a:spcPct val="90000"/>
              </a:lnSpc>
              <a:spcBef>
                <a:spcPts val="0"/>
              </a:spcBef>
              <a:spcAft>
                <a:spcPts val="0"/>
              </a:spcAft>
              <a:buSzPts val="600"/>
              <a:buFont typeface="Noto Sans Symbols"/>
              <a:buChar char="⚫"/>
            </a:pPr>
            <a:r>
              <a:rPr lang="en-US" sz="2000" b="0" i="0" u="none">
                <a:latin typeface="Calibri"/>
                <a:ea typeface="Calibri"/>
                <a:cs typeface="Calibri"/>
                <a:sym typeface="Calibri"/>
              </a:rPr>
              <a:t>Heat is supplied to the cathode by current through filament, which produces electrons.</a:t>
            </a:r>
            <a:endParaRPr sz="2000"/>
          </a:p>
          <a:p>
            <a:pPr marL="273050" marR="0" lvl="0" indent="-177800" algn="just" rtl="0">
              <a:lnSpc>
                <a:spcPct val="90000"/>
              </a:lnSpc>
              <a:spcBef>
                <a:spcPts val="700"/>
              </a:spcBef>
              <a:spcAft>
                <a:spcPts val="0"/>
              </a:spcAft>
              <a:buSzPts val="600"/>
              <a:buFont typeface="Noto Sans Symbols"/>
              <a:buChar char="⚫"/>
            </a:pPr>
            <a:r>
              <a:rPr lang="en-US" sz="2000" b="0" i="0" u="none">
                <a:latin typeface="Calibri"/>
                <a:ea typeface="Calibri"/>
                <a:cs typeface="Calibri"/>
                <a:sym typeface="Calibri"/>
              </a:rPr>
              <a:t>Intensity of the electron beam is controlled by setting voltage levels on the control grid. A high negative voltage shut off the beam, and a smaller negative voltage simply decreases the number of electrons in the beam.</a:t>
            </a:r>
            <a:endParaRPr sz="2000"/>
          </a:p>
          <a:p>
            <a:pPr marL="273050" marR="0" lvl="0" indent="-177800" algn="just" rtl="0">
              <a:lnSpc>
                <a:spcPct val="90000"/>
              </a:lnSpc>
              <a:spcBef>
                <a:spcPts val="700"/>
              </a:spcBef>
              <a:spcAft>
                <a:spcPts val="0"/>
              </a:spcAft>
              <a:buSzPts val="600"/>
              <a:buFont typeface="Noto Sans Symbols"/>
              <a:buChar char="⚫"/>
            </a:pPr>
            <a:r>
              <a:rPr lang="en-US" sz="2000" b="0" i="0" u="none">
                <a:latin typeface="Calibri"/>
                <a:ea typeface="Calibri"/>
                <a:cs typeface="Calibri"/>
                <a:sym typeface="Calibri"/>
              </a:rPr>
              <a:t>The focusing system is needed to force the electron beam to converge into a small spot as it strikes the phosphor.</a:t>
            </a:r>
            <a:endParaRPr sz="2000"/>
          </a:p>
          <a:p>
            <a:pPr marL="273050" marR="0" lvl="0" indent="-177800" algn="just" rtl="0">
              <a:lnSpc>
                <a:spcPct val="90000"/>
              </a:lnSpc>
              <a:spcBef>
                <a:spcPts val="700"/>
              </a:spcBef>
              <a:spcAft>
                <a:spcPts val="0"/>
              </a:spcAft>
              <a:buSzPts val="600"/>
              <a:buFont typeface="Noto Sans Symbols"/>
              <a:buChar char="⚫"/>
            </a:pPr>
            <a:r>
              <a:rPr lang="en-US" sz="2000" b="0" i="0" u="none">
                <a:latin typeface="Calibri"/>
                <a:ea typeface="Calibri"/>
                <a:cs typeface="Calibri"/>
                <a:sym typeface="Calibri"/>
              </a:rPr>
              <a:t>The resolution is referred as the number of points per centimeter that can be plotted horizontally and vertically. Eg. 1280 × 1024.</a:t>
            </a:r>
            <a:endParaRPr sz="2000"/>
          </a:p>
          <a:p>
            <a:pPr marL="273050" marR="0" lvl="0" indent="-177800" algn="just" rtl="0">
              <a:lnSpc>
                <a:spcPct val="90000"/>
              </a:lnSpc>
              <a:spcBef>
                <a:spcPts val="700"/>
              </a:spcBef>
              <a:spcAft>
                <a:spcPts val="0"/>
              </a:spcAft>
              <a:buSzPts val="600"/>
              <a:buFont typeface="Noto Sans Symbols"/>
              <a:buChar char="⚫"/>
            </a:pPr>
            <a:r>
              <a:rPr lang="en-US" sz="2000" b="0" i="0" u="none">
                <a:latin typeface="Calibri"/>
                <a:ea typeface="Calibri"/>
                <a:cs typeface="Calibri"/>
                <a:sym typeface="Calibri"/>
              </a:rPr>
              <a:t>Aspect ratio: Ratio of vertical points to horizontal points necessary to produce equal-length lines in both directions on the screen.</a:t>
            </a:r>
            <a:endParaRPr sz="2000"/>
          </a:p>
          <a:p>
            <a:pPr marL="171450" marR="0" lvl="0" indent="-38100" algn="l" rtl="0">
              <a:lnSpc>
                <a:spcPct val="90000"/>
              </a:lnSpc>
              <a:spcBef>
                <a:spcPts val="750"/>
              </a:spcBef>
              <a:spcAft>
                <a:spcPts val="0"/>
              </a:spcAft>
              <a:buClr>
                <a:schemeClr val="dk1"/>
              </a:buClr>
              <a:buSzPts val="2100"/>
              <a:buFont typeface="Arial"/>
              <a:buNone/>
            </a:pPr>
            <a:endParaRPr sz="2000" b="0" i="0" u="none">
              <a:latin typeface="Calibri"/>
              <a:ea typeface="Calibri"/>
              <a:cs typeface="Calibri"/>
              <a:sym typeface="Calibri"/>
            </a:endParaRPr>
          </a:p>
        </p:txBody>
      </p:sp>
      <p:sp>
        <p:nvSpPr>
          <p:cNvPr id="132" name="Google Shape;132;p5"/>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133" name="Google Shape;133;p5"/>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5</a:t>
            </a:fld>
            <a:endParaRPr/>
          </a:p>
        </p:txBody>
      </p:sp>
      <p:sp>
        <p:nvSpPr>
          <p:cNvPr id="134" name="Google Shape;134;p5"/>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r>
              <a:rPr lang="en-US" sz="3200"/>
              <a:t>Working Principle of CRT</a:t>
            </a:r>
            <a:endParaRPr sz="3200"/>
          </a:p>
          <a:p>
            <a:pPr marL="0" lvl="0" indent="0" algn="l" rtl="0">
              <a:lnSpc>
                <a:spcPct val="90000"/>
              </a:lnSpc>
              <a:spcBef>
                <a:spcPts val="0"/>
              </a:spcBef>
              <a:spcAft>
                <a:spcPts val="0"/>
              </a:spcAft>
              <a:buClr>
                <a:srgbClr val="262626"/>
              </a:buClr>
              <a:buSzPct val="100000"/>
              <a:buFont typeface="Calibri"/>
              <a:buNone/>
            </a:pPr>
            <a:endParaRPr sz="3000" b="1">
              <a:solidFill>
                <a:srgbClr val="262626"/>
              </a:solidFill>
            </a:endParaRPr>
          </a:p>
        </p:txBody>
      </p:sp>
      <p:pic>
        <p:nvPicPr>
          <p:cNvPr id="135" name="Google Shape;135;p5"/>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6"/>
          <p:cNvSpPr txBox="1">
            <a:spLocks noGrp="1"/>
          </p:cNvSpPr>
          <p:nvPr>
            <p:ph type="body" idx="1"/>
          </p:nvPr>
        </p:nvSpPr>
        <p:spPr>
          <a:xfrm>
            <a:off x="457200" y="1367762"/>
            <a:ext cx="8229600" cy="2438400"/>
          </a:xfrm>
          <a:prstGeom prst="rect">
            <a:avLst/>
          </a:prstGeom>
          <a:noFill/>
          <a:ln>
            <a:noFill/>
          </a:ln>
        </p:spPr>
        <p:txBody>
          <a:bodyPr spcFirstLastPara="1" wrap="square" lIns="91425" tIns="45700" rIns="91425" bIns="45700" anchor="t" anchorCtr="0">
            <a:normAutofit/>
          </a:bodyPr>
          <a:lstStyle/>
          <a:p>
            <a:pPr marL="171450" marR="0" lvl="0" indent="0" algn="just" rtl="0">
              <a:lnSpc>
                <a:spcPct val="70000"/>
              </a:lnSpc>
              <a:spcBef>
                <a:spcPts val="0"/>
              </a:spcBef>
              <a:spcAft>
                <a:spcPts val="0"/>
              </a:spcAft>
              <a:buNone/>
            </a:pPr>
            <a:r>
              <a:rPr lang="en-US" sz="2100" b="0" i="0" u="none">
                <a:latin typeface="Calibri"/>
                <a:ea typeface="Calibri"/>
                <a:cs typeface="Calibri"/>
                <a:sym typeface="Calibri"/>
              </a:rPr>
              <a:t>In a raster-scan system, the electron beam is swept across the screen, one row at a time from top to bottom. As the electron beam moves across each row, the beam intensity is turned on and off to create a pattern of illuminated spots. Picture definition is stored in a memory area called the refresh buffer or frame buffer used for redrawn. Each screen point is referred to as a pixel or pel (picture element). Refreshing on raster-scan displays is carried out at the rate of 60 to 80 frames per second. The unit for refreshing rate is Hertz (Hz).</a:t>
            </a:r>
            <a:endParaRPr/>
          </a:p>
          <a:p>
            <a:pPr marL="171450" marR="0" lvl="0" indent="-38100" algn="l" rtl="0">
              <a:lnSpc>
                <a:spcPct val="90000"/>
              </a:lnSpc>
              <a:spcBef>
                <a:spcPts val="750"/>
              </a:spcBef>
              <a:spcAft>
                <a:spcPts val="0"/>
              </a:spcAft>
              <a:buClr>
                <a:schemeClr val="dk1"/>
              </a:buClr>
              <a:buSzPts val="2100"/>
              <a:buFont typeface="Arial"/>
              <a:buNone/>
            </a:pPr>
            <a:endParaRPr sz="2100" b="0" i="0" u="none">
              <a:latin typeface="Calibri"/>
              <a:ea typeface="Calibri"/>
              <a:cs typeface="Calibri"/>
              <a:sym typeface="Calibri"/>
            </a:endParaRPr>
          </a:p>
        </p:txBody>
      </p:sp>
      <p:pic>
        <p:nvPicPr>
          <p:cNvPr id="142" name="Google Shape;142;p6" descr="raster"/>
          <p:cNvPicPr preferRelativeResize="0"/>
          <p:nvPr/>
        </p:nvPicPr>
        <p:blipFill rotWithShape="1">
          <a:blip r:embed="rId3">
            <a:alphaModFix/>
          </a:blip>
          <a:srcRect/>
          <a:stretch/>
        </p:blipFill>
        <p:spPr>
          <a:xfrm>
            <a:off x="2076450" y="3282300"/>
            <a:ext cx="4724400" cy="3149600"/>
          </a:xfrm>
          <a:prstGeom prst="rect">
            <a:avLst/>
          </a:prstGeom>
          <a:noFill/>
          <a:ln>
            <a:noFill/>
          </a:ln>
        </p:spPr>
      </p:pic>
      <p:sp>
        <p:nvSpPr>
          <p:cNvPr id="143" name="Google Shape;143;p6"/>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144" name="Google Shape;144;p6"/>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6</a:t>
            </a:fld>
            <a:endParaRPr/>
          </a:p>
        </p:txBody>
      </p:sp>
      <p:sp>
        <p:nvSpPr>
          <p:cNvPr id="145" name="Google Shape;145;p6"/>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262626"/>
              </a:buClr>
              <a:buSzPct val="100000"/>
              <a:buFont typeface="Calibri"/>
              <a:buNone/>
            </a:pPr>
            <a:endParaRPr b="1">
              <a:solidFill>
                <a:srgbClr val="262626"/>
              </a:solidFill>
            </a:endParaRPr>
          </a:p>
          <a:p>
            <a:pPr marL="0" lvl="0" indent="0" algn="l" rtl="0">
              <a:spcBef>
                <a:spcPts val="0"/>
              </a:spcBef>
              <a:spcAft>
                <a:spcPts val="0"/>
              </a:spcAft>
              <a:buClr>
                <a:srgbClr val="262626"/>
              </a:buClr>
              <a:buSzPct val="100000"/>
              <a:buFont typeface="Calibri"/>
              <a:buNone/>
            </a:pPr>
            <a:endParaRPr b="1">
              <a:solidFill>
                <a:srgbClr val="262626"/>
              </a:solidFill>
            </a:endParaRPr>
          </a:p>
          <a:p>
            <a:pPr marL="0" lvl="0" indent="0" algn="l" rtl="0">
              <a:spcBef>
                <a:spcPts val="0"/>
              </a:spcBef>
              <a:spcAft>
                <a:spcPts val="0"/>
              </a:spcAft>
              <a:buClr>
                <a:srgbClr val="262626"/>
              </a:buClr>
              <a:buSzPct val="100000"/>
              <a:buFont typeface="Calibri"/>
              <a:buNone/>
            </a:pPr>
            <a:r>
              <a:rPr lang="en-US" b="1">
                <a:solidFill>
                  <a:srgbClr val="262626"/>
                </a:solidFill>
              </a:rPr>
              <a:t>Raster Scan Displays</a:t>
            </a:r>
            <a:br>
              <a:rPr lang="en-US" b="1">
                <a:solidFill>
                  <a:srgbClr val="262626"/>
                </a:solidFill>
              </a:rPr>
            </a:br>
            <a:endParaRPr/>
          </a:p>
          <a:p>
            <a:pPr marL="0" lvl="0" indent="0" algn="l" rtl="0">
              <a:lnSpc>
                <a:spcPct val="90000"/>
              </a:lnSpc>
              <a:spcBef>
                <a:spcPts val="0"/>
              </a:spcBef>
              <a:spcAft>
                <a:spcPts val="0"/>
              </a:spcAft>
              <a:buClr>
                <a:srgbClr val="262626"/>
              </a:buClr>
              <a:buSzPct val="93750"/>
              <a:buFont typeface="Calibri"/>
              <a:buNone/>
            </a:pPr>
            <a:endParaRPr sz="3200"/>
          </a:p>
        </p:txBody>
      </p:sp>
      <p:pic>
        <p:nvPicPr>
          <p:cNvPr id="146" name="Google Shape;146;p6"/>
          <p:cNvPicPr preferRelativeResize="0"/>
          <p:nvPr/>
        </p:nvPicPr>
        <p:blipFill rotWithShape="1">
          <a:blip r:embed="rId4">
            <a:alphaModFix/>
          </a:blip>
          <a:srcRect/>
          <a:stretch/>
        </p:blipFill>
        <p:spPr>
          <a:xfrm>
            <a:off x="8127150" y="482200"/>
            <a:ext cx="1224300" cy="612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7"/>
          <p:cNvSpPr txBox="1">
            <a:spLocks noGrp="1"/>
          </p:cNvSpPr>
          <p:nvPr>
            <p:ph type="body" idx="1"/>
          </p:nvPr>
        </p:nvSpPr>
        <p:spPr>
          <a:xfrm>
            <a:off x="457200" y="1295400"/>
            <a:ext cx="8229600" cy="4830762"/>
          </a:xfrm>
          <a:prstGeom prst="rect">
            <a:avLst/>
          </a:prstGeom>
          <a:noFill/>
          <a:ln>
            <a:noFill/>
          </a:ln>
        </p:spPr>
        <p:txBody>
          <a:bodyPr spcFirstLastPara="1" wrap="square" lIns="91425" tIns="45700" rIns="91425" bIns="45700" anchor="t" anchorCtr="0">
            <a:noAutofit/>
          </a:bodyPr>
          <a:lstStyle/>
          <a:p>
            <a:pPr marL="171450" marR="0" lvl="0" indent="-171450" algn="just" rtl="0">
              <a:lnSpc>
                <a:spcPct val="90000"/>
              </a:lnSpc>
              <a:spcBef>
                <a:spcPts val="0"/>
              </a:spcBef>
              <a:spcAft>
                <a:spcPts val="0"/>
              </a:spcAft>
              <a:buClr>
                <a:schemeClr val="dk1"/>
              </a:buClr>
              <a:buSzPts val="2100"/>
              <a:buFont typeface="Arial"/>
              <a:buChar char="•"/>
            </a:pPr>
            <a:r>
              <a:rPr lang="en-US" sz="2100" b="0" i="0" u="none">
                <a:solidFill>
                  <a:schemeClr val="dk1"/>
                </a:solidFill>
                <a:latin typeface="Calibri"/>
                <a:ea typeface="Calibri"/>
                <a:cs typeface="Calibri"/>
                <a:sym typeface="Calibri"/>
              </a:rPr>
              <a:t>The CRT has the electron beam directed only to the parts of the screen where a picture is to be drawn. Random-scan monitors draw a picture one line at a time, called as vector display. </a:t>
            </a:r>
            <a:endParaRPr/>
          </a:p>
          <a:p>
            <a:pPr marL="171450" marR="0" lvl="0" indent="-171450" algn="just" rtl="0">
              <a:lnSpc>
                <a:spcPct val="90000"/>
              </a:lnSpc>
              <a:spcBef>
                <a:spcPts val="700"/>
              </a:spcBef>
              <a:spcAft>
                <a:spcPts val="0"/>
              </a:spcAft>
              <a:buClr>
                <a:schemeClr val="dk1"/>
              </a:buClr>
              <a:buSzPts val="2100"/>
              <a:buFont typeface="Arial"/>
              <a:buChar char="•"/>
            </a:pPr>
            <a:r>
              <a:rPr lang="en-US" sz="2100" b="0" i="0" u="none">
                <a:solidFill>
                  <a:schemeClr val="dk1"/>
                </a:solidFill>
                <a:latin typeface="Calibri"/>
                <a:ea typeface="Calibri"/>
                <a:cs typeface="Calibri"/>
                <a:sym typeface="Calibri"/>
              </a:rPr>
              <a:t>Refresh rates on a ransom-scan system depends on the number of lines to be displayed. Picture definition is stored as a set of line-drawing commands in the refresh display file or refresh buffer. </a:t>
            </a:r>
            <a:endParaRPr/>
          </a:p>
          <a:p>
            <a:pPr marL="171450" marR="0" lvl="0" indent="-171450" algn="just" rtl="0">
              <a:lnSpc>
                <a:spcPct val="90000"/>
              </a:lnSpc>
              <a:spcBef>
                <a:spcPts val="700"/>
              </a:spcBef>
              <a:spcAft>
                <a:spcPts val="0"/>
              </a:spcAft>
              <a:buClr>
                <a:schemeClr val="dk1"/>
              </a:buClr>
              <a:buSzPts val="2100"/>
              <a:buFont typeface="Arial"/>
              <a:buChar char="•"/>
            </a:pPr>
            <a:r>
              <a:rPr lang="en-US" sz="2100" b="0" i="0" u="none">
                <a:solidFill>
                  <a:schemeClr val="dk1"/>
                </a:solidFill>
                <a:latin typeface="Calibri"/>
                <a:ea typeface="Calibri"/>
                <a:cs typeface="Calibri"/>
                <a:sym typeface="Calibri"/>
              </a:rPr>
              <a:t>These systems are designed for the line-drawing applications and can’t display realistic shaded scenes.</a:t>
            </a:r>
            <a:endParaRPr/>
          </a:p>
          <a:p>
            <a:pPr marL="171450" marR="0" lvl="0" indent="-38100" algn="l" rtl="0">
              <a:lnSpc>
                <a:spcPct val="90000"/>
              </a:lnSpc>
              <a:spcBef>
                <a:spcPts val="750"/>
              </a:spcBef>
              <a:spcAft>
                <a:spcPts val="0"/>
              </a:spcAft>
              <a:buClr>
                <a:schemeClr val="dk1"/>
              </a:buClr>
              <a:buSzPts val="2100"/>
              <a:buFont typeface="Arial"/>
              <a:buNone/>
            </a:pPr>
            <a:endParaRPr sz="2100" b="0" i="0" u="none">
              <a:solidFill>
                <a:schemeClr val="dk1"/>
              </a:solidFill>
              <a:latin typeface="Calibri"/>
              <a:ea typeface="Calibri"/>
              <a:cs typeface="Calibri"/>
              <a:sym typeface="Calibri"/>
            </a:endParaRPr>
          </a:p>
        </p:txBody>
      </p:sp>
      <p:sp>
        <p:nvSpPr>
          <p:cNvPr id="153" name="Google Shape;153;p7"/>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154" name="Google Shape;154;p7"/>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7</a:t>
            </a:fld>
            <a:endParaRPr/>
          </a:p>
        </p:txBody>
      </p:sp>
      <p:sp>
        <p:nvSpPr>
          <p:cNvPr id="155" name="Google Shape;155;p7"/>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262626"/>
              </a:buClr>
              <a:buSzPct val="100000"/>
              <a:buFont typeface="Calibri"/>
              <a:buNone/>
            </a:pPr>
            <a:endParaRPr b="1">
              <a:solidFill>
                <a:srgbClr val="262626"/>
              </a:solidFill>
            </a:endParaRPr>
          </a:p>
          <a:p>
            <a:pPr marL="0" lvl="0" indent="0" algn="l" rtl="0">
              <a:spcBef>
                <a:spcPts val="0"/>
              </a:spcBef>
              <a:spcAft>
                <a:spcPts val="0"/>
              </a:spcAft>
              <a:buClr>
                <a:srgbClr val="262626"/>
              </a:buClr>
              <a:buSzPct val="100000"/>
              <a:buFont typeface="Calibri"/>
              <a:buNone/>
            </a:pPr>
            <a:endParaRPr b="1">
              <a:solidFill>
                <a:srgbClr val="262626"/>
              </a:solidFill>
            </a:endParaRPr>
          </a:p>
          <a:p>
            <a:pPr marL="0" lvl="0" indent="0" algn="l" rtl="0">
              <a:spcBef>
                <a:spcPts val="0"/>
              </a:spcBef>
              <a:spcAft>
                <a:spcPts val="0"/>
              </a:spcAft>
              <a:buClr>
                <a:srgbClr val="262626"/>
              </a:buClr>
              <a:buSzPct val="100000"/>
              <a:buFont typeface="Calibri"/>
              <a:buNone/>
            </a:pPr>
            <a:r>
              <a:rPr lang="en-US" b="1">
                <a:solidFill>
                  <a:srgbClr val="262626"/>
                </a:solidFill>
              </a:rPr>
              <a:t>Random Scan Displays</a:t>
            </a:r>
            <a:br>
              <a:rPr lang="en-US" b="1">
                <a:solidFill>
                  <a:srgbClr val="262626"/>
                </a:solidFill>
              </a:rPr>
            </a:br>
            <a:endParaRPr/>
          </a:p>
          <a:p>
            <a:pPr marL="0" lvl="0" indent="0" algn="l" rtl="0">
              <a:lnSpc>
                <a:spcPct val="90000"/>
              </a:lnSpc>
              <a:spcBef>
                <a:spcPts val="0"/>
              </a:spcBef>
              <a:spcAft>
                <a:spcPts val="0"/>
              </a:spcAft>
              <a:buClr>
                <a:srgbClr val="262626"/>
              </a:buClr>
              <a:buSzPct val="93750"/>
              <a:buFont typeface="Calibri"/>
              <a:buNone/>
            </a:pPr>
            <a:endParaRPr sz="3200"/>
          </a:p>
        </p:txBody>
      </p:sp>
      <p:pic>
        <p:nvPicPr>
          <p:cNvPr id="156" name="Google Shape;156;p7"/>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8" descr="Random"/>
          <p:cNvPicPr preferRelativeResize="0"/>
          <p:nvPr/>
        </p:nvPicPr>
        <p:blipFill rotWithShape="1">
          <a:blip r:embed="rId3">
            <a:alphaModFix/>
          </a:blip>
          <a:srcRect/>
          <a:stretch/>
        </p:blipFill>
        <p:spPr>
          <a:xfrm>
            <a:off x="1295400" y="809625"/>
            <a:ext cx="6553200" cy="5057775"/>
          </a:xfrm>
          <a:prstGeom prst="rect">
            <a:avLst/>
          </a:prstGeom>
          <a:noFill/>
          <a:ln>
            <a:noFill/>
          </a:ln>
        </p:spPr>
      </p:pic>
      <p:sp>
        <p:nvSpPr>
          <p:cNvPr id="163" name="Google Shape;163;p8"/>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164" name="Google Shape;164;p8"/>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8</a:t>
            </a:fld>
            <a:endParaRPr/>
          </a:p>
        </p:txBody>
      </p:sp>
      <p:pic>
        <p:nvPicPr>
          <p:cNvPr id="165" name="Google Shape;165;p8"/>
          <p:cNvPicPr preferRelativeResize="0"/>
          <p:nvPr/>
        </p:nvPicPr>
        <p:blipFill rotWithShape="1">
          <a:blip r:embed="rId4">
            <a:alphaModFix/>
          </a:blip>
          <a:srcRect/>
          <a:stretch/>
        </p:blipFill>
        <p:spPr>
          <a:xfrm>
            <a:off x="8127150" y="482200"/>
            <a:ext cx="1224300" cy="612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9"/>
          <p:cNvSpPr txBox="1">
            <a:spLocks noGrp="1"/>
          </p:cNvSpPr>
          <p:nvPr>
            <p:ph type="body" idx="1"/>
          </p:nvPr>
        </p:nvSpPr>
        <p:spPr>
          <a:xfrm>
            <a:off x="628650" y="1852625"/>
            <a:ext cx="7886700" cy="4351200"/>
          </a:xfrm>
          <a:prstGeom prst="rect">
            <a:avLst/>
          </a:prstGeom>
          <a:noFill/>
          <a:ln>
            <a:noFill/>
          </a:ln>
        </p:spPr>
        <p:txBody>
          <a:bodyPr spcFirstLastPara="1" wrap="square" lIns="91425" tIns="45700" rIns="91425" bIns="45700" anchor="t" anchorCtr="0">
            <a:noAutofit/>
          </a:bodyPr>
          <a:lstStyle/>
          <a:p>
            <a:pPr marL="171450" marR="0" lvl="0" indent="-171450" algn="l" rtl="0">
              <a:lnSpc>
                <a:spcPct val="90000"/>
              </a:lnSpc>
              <a:spcBef>
                <a:spcPts val="0"/>
              </a:spcBef>
              <a:spcAft>
                <a:spcPts val="0"/>
              </a:spcAft>
              <a:buClr>
                <a:schemeClr val="dk1"/>
              </a:buClr>
              <a:buSzPts val="2100"/>
              <a:buFont typeface="Arial"/>
              <a:buChar char="•"/>
            </a:pPr>
            <a:r>
              <a:rPr lang="en-US" sz="2100" b="0" i="0" u="none">
                <a:solidFill>
                  <a:schemeClr val="dk1"/>
                </a:solidFill>
                <a:latin typeface="Calibri"/>
                <a:ea typeface="Calibri"/>
                <a:cs typeface="Calibri"/>
                <a:sym typeface="Calibri"/>
              </a:rPr>
              <a:t>Two basic methods are used for producing color displays </a:t>
            </a:r>
            <a:endParaRPr/>
          </a:p>
          <a:p>
            <a:pPr marL="857250" marR="0" lvl="2" indent="-171450" algn="l" rtl="0">
              <a:lnSpc>
                <a:spcPct val="90000"/>
              </a:lnSpc>
              <a:spcBef>
                <a:spcPts val="300"/>
              </a:spcBef>
              <a:spcAft>
                <a:spcPts val="0"/>
              </a:spcAft>
              <a:buClr>
                <a:schemeClr val="dk1"/>
              </a:buClr>
              <a:buSzPts val="1500"/>
              <a:buFont typeface="Noto Sans Symbols"/>
              <a:buChar char="✔"/>
            </a:pPr>
            <a:r>
              <a:rPr lang="en-US" sz="1500" b="0" i="0" u="none" strike="noStrike" cap="none">
                <a:solidFill>
                  <a:schemeClr val="dk1"/>
                </a:solidFill>
                <a:latin typeface="Calibri"/>
                <a:ea typeface="Calibri"/>
                <a:cs typeface="Calibri"/>
                <a:sym typeface="Calibri"/>
              </a:rPr>
              <a:t>Beam penetration and </a:t>
            </a:r>
            <a:endParaRPr/>
          </a:p>
          <a:p>
            <a:pPr marL="857250" marR="0" lvl="2" indent="-171450" algn="l" rtl="0">
              <a:lnSpc>
                <a:spcPct val="90000"/>
              </a:lnSpc>
              <a:spcBef>
                <a:spcPts val="300"/>
              </a:spcBef>
              <a:spcAft>
                <a:spcPts val="0"/>
              </a:spcAft>
              <a:buClr>
                <a:schemeClr val="dk1"/>
              </a:buClr>
              <a:buSzPts val="1500"/>
              <a:buFont typeface="Noto Sans Symbols"/>
              <a:buChar char="✔"/>
            </a:pPr>
            <a:r>
              <a:rPr lang="en-US" sz="1500" b="0" i="0" u="none" strike="noStrike" cap="none">
                <a:solidFill>
                  <a:schemeClr val="dk1"/>
                </a:solidFill>
                <a:latin typeface="Calibri"/>
                <a:ea typeface="Calibri"/>
                <a:cs typeface="Calibri"/>
                <a:sym typeface="Calibri"/>
              </a:rPr>
              <a:t>shadow-mask method.</a:t>
            </a:r>
            <a:endParaRPr/>
          </a:p>
          <a:p>
            <a:pPr marL="171450" marR="0" lvl="0" indent="-76200" algn="l" rtl="0">
              <a:lnSpc>
                <a:spcPct val="90000"/>
              </a:lnSpc>
              <a:spcBef>
                <a:spcPts val="750"/>
              </a:spcBef>
              <a:spcAft>
                <a:spcPts val="0"/>
              </a:spcAft>
              <a:buClr>
                <a:schemeClr val="dk1"/>
              </a:buClr>
              <a:buSzPts val="1500"/>
              <a:buFont typeface="Arial"/>
              <a:buNone/>
            </a:pPr>
            <a:endParaRPr sz="1500" b="0" i="0" u="none" strike="noStrike" cap="none">
              <a:solidFill>
                <a:schemeClr val="dk1"/>
              </a:solidFill>
              <a:latin typeface="Calibri"/>
              <a:ea typeface="Calibri"/>
              <a:cs typeface="Calibri"/>
              <a:sym typeface="Calibri"/>
            </a:endParaRPr>
          </a:p>
        </p:txBody>
      </p:sp>
      <p:sp>
        <p:nvSpPr>
          <p:cNvPr id="172" name="Google Shape;172;p9"/>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173" name="Google Shape;173;p9"/>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9</a:t>
            </a:fld>
            <a:endParaRPr/>
          </a:p>
        </p:txBody>
      </p:sp>
      <p:sp>
        <p:nvSpPr>
          <p:cNvPr id="174" name="Google Shape;174;p9"/>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endParaRPr sz="3200" b="1"/>
          </a:p>
          <a:p>
            <a:pPr marL="0" lvl="0" indent="0" algn="l" rtl="0">
              <a:spcBef>
                <a:spcPts val="0"/>
              </a:spcBef>
              <a:spcAft>
                <a:spcPts val="0"/>
              </a:spcAft>
              <a:buClr>
                <a:schemeClr val="dk1"/>
              </a:buClr>
              <a:buSzPct val="100000"/>
              <a:buFont typeface="Calibri"/>
              <a:buNone/>
            </a:pPr>
            <a:r>
              <a:rPr lang="en-US" sz="3200" b="1"/>
              <a:t>Color CRT Monitors</a:t>
            </a:r>
            <a:endParaRPr/>
          </a:p>
          <a:p>
            <a:pPr marL="0" lvl="0" indent="0" algn="l" rtl="0">
              <a:lnSpc>
                <a:spcPct val="90000"/>
              </a:lnSpc>
              <a:spcBef>
                <a:spcPts val="0"/>
              </a:spcBef>
              <a:spcAft>
                <a:spcPts val="0"/>
              </a:spcAft>
              <a:buClr>
                <a:srgbClr val="262626"/>
              </a:buClr>
              <a:buSzPct val="90909"/>
              <a:buFont typeface="Calibri"/>
              <a:buNone/>
            </a:pPr>
            <a:endParaRPr b="1">
              <a:solidFill>
                <a:srgbClr val="262626"/>
              </a:solidFill>
            </a:endParaRPr>
          </a:p>
        </p:txBody>
      </p:sp>
      <p:pic>
        <p:nvPicPr>
          <p:cNvPr id="175" name="Google Shape;175;p9"/>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0"/>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p>
            <a:pPr marL="273050" marR="0" lvl="0" indent="-273050" algn="just" rtl="0">
              <a:lnSpc>
                <a:spcPct val="90000"/>
              </a:lnSpc>
              <a:spcBef>
                <a:spcPts val="0"/>
              </a:spcBef>
              <a:spcAft>
                <a:spcPts val="0"/>
              </a:spcAft>
              <a:buClr>
                <a:srgbClr val="A5A5A5"/>
              </a:buClr>
              <a:buSzPts val="2100"/>
              <a:buFont typeface="Noto Sans Symbols"/>
              <a:buChar char="⚫"/>
            </a:pPr>
            <a:r>
              <a:rPr lang="en-US" sz="2100" b="0" i="0" u="none">
                <a:solidFill>
                  <a:srgbClr val="404040"/>
                </a:solidFill>
                <a:latin typeface="Calibri"/>
                <a:ea typeface="Calibri"/>
                <a:cs typeface="Calibri"/>
                <a:sym typeface="Calibri"/>
              </a:rPr>
              <a:t>The beam penetration method for displaying color pictures has been used with random scan monitors. </a:t>
            </a:r>
            <a:endParaRPr/>
          </a:p>
          <a:p>
            <a:pPr marL="273050" marR="0" lvl="0" indent="-273050" algn="just" rtl="0">
              <a:lnSpc>
                <a:spcPct val="90000"/>
              </a:lnSpc>
              <a:spcBef>
                <a:spcPts val="700"/>
              </a:spcBef>
              <a:spcAft>
                <a:spcPts val="0"/>
              </a:spcAft>
              <a:buClr>
                <a:srgbClr val="A5A5A5"/>
              </a:buClr>
              <a:buSzPts val="2100"/>
              <a:buFont typeface="Noto Sans Symbols"/>
              <a:buChar char="⚫"/>
            </a:pPr>
            <a:r>
              <a:rPr lang="en-US" sz="2100" b="0" i="0" u="none">
                <a:solidFill>
                  <a:srgbClr val="404040"/>
                </a:solidFill>
                <a:latin typeface="Calibri"/>
                <a:ea typeface="Calibri"/>
                <a:cs typeface="Calibri"/>
                <a:sym typeface="Calibri"/>
              </a:rPr>
              <a:t>Two layers of phosphor, usually red and green are coated onto the screen and the displayed color depends on how far the electron beam penetrates into the phosphor layers. </a:t>
            </a:r>
            <a:endParaRPr/>
          </a:p>
          <a:p>
            <a:pPr marL="273050" marR="0" lvl="0" indent="-273050" algn="just" rtl="0">
              <a:lnSpc>
                <a:spcPct val="90000"/>
              </a:lnSpc>
              <a:spcBef>
                <a:spcPts val="700"/>
              </a:spcBef>
              <a:spcAft>
                <a:spcPts val="0"/>
              </a:spcAft>
              <a:buClr>
                <a:srgbClr val="A5A5A5"/>
              </a:buClr>
              <a:buSzPts val="2100"/>
              <a:buFont typeface="Noto Sans Symbols"/>
              <a:buChar char="⚫"/>
            </a:pPr>
            <a:r>
              <a:rPr lang="en-US" sz="2100" b="0" i="0" u="none">
                <a:solidFill>
                  <a:srgbClr val="404040"/>
                </a:solidFill>
                <a:latin typeface="Calibri"/>
                <a:ea typeface="Calibri"/>
                <a:cs typeface="Calibri"/>
                <a:sym typeface="Calibri"/>
              </a:rPr>
              <a:t>A beam of slow electrons excites only the outer red layer, fast electrons penetrates through red layer and excites the inner green layer. The electrons with intermediate speed produce the combinations of red and green color are emitted to show two additional colors, orange and yellow. </a:t>
            </a:r>
            <a:endParaRPr/>
          </a:p>
          <a:p>
            <a:pPr marL="273050" marR="0" lvl="0" indent="-273050" algn="just" rtl="0">
              <a:lnSpc>
                <a:spcPct val="90000"/>
              </a:lnSpc>
              <a:spcBef>
                <a:spcPts val="700"/>
              </a:spcBef>
              <a:spcAft>
                <a:spcPts val="0"/>
              </a:spcAft>
              <a:buClr>
                <a:srgbClr val="A5A5A5"/>
              </a:buClr>
              <a:buSzPts val="2100"/>
              <a:buFont typeface="Noto Sans Symbols"/>
              <a:buChar char="⚫"/>
            </a:pPr>
            <a:r>
              <a:rPr lang="en-US" sz="2100" b="0" i="0" u="none">
                <a:solidFill>
                  <a:srgbClr val="404040"/>
                </a:solidFill>
                <a:latin typeface="Calibri"/>
                <a:ea typeface="Calibri"/>
                <a:cs typeface="Calibri"/>
                <a:sym typeface="Calibri"/>
              </a:rPr>
              <a:t>The speed of electrons is controlled by the beam-acceleration voltage. But the quality of the pictures is not good here.</a:t>
            </a:r>
            <a:endParaRPr/>
          </a:p>
          <a:p>
            <a:pPr marL="171450" marR="0" lvl="0" indent="-38100" algn="l" rtl="0">
              <a:lnSpc>
                <a:spcPct val="90000"/>
              </a:lnSpc>
              <a:spcBef>
                <a:spcPts val="750"/>
              </a:spcBef>
              <a:spcAft>
                <a:spcPts val="0"/>
              </a:spcAft>
              <a:buClr>
                <a:schemeClr val="dk1"/>
              </a:buClr>
              <a:buSzPts val="2100"/>
              <a:buFont typeface="Arial"/>
              <a:buNone/>
            </a:pPr>
            <a:endParaRPr sz="2100" b="0" i="0" u="none">
              <a:solidFill>
                <a:srgbClr val="404040"/>
              </a:solidFill>
              <a:latin typeface="Calibri"/>
              <a:ea typeface="Calibri"/>
              <a:cs typeface="Calibri"/>
              <a:sym typeface="Calibri"/>
            </a:endParaRPr>
          </a:p>
        </p:txBody>
      </p:sp>
      <p:sp>
        <p:nvSpPr>
          <p:cNvPr id="182" name="Google Shape;182;p10"/>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183" name="Google Shape;183;p10"/>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10</a:t>
            </a:fld>
            <a:endParaRPr/>
          </a:p>
        </p:txBody>
      </p:sp>
      <p:sp>
        <p:nvSpPr>
          <p:cNvPr id="184" name="Google Shape;184;p10"/>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endParaRPr b="1"/>
          </a:p>
          <a:p>
            <a:pPr marL="0" lvl="0" indent="0" algn="l" rtl="0">
              <a:spcBef>
                <a:spcPts val="0"/>
              </a:spcBef>
              <a:spcAft>
                <a:spcPts val="0"/>
              </a:spcAft>
              <a:buClr>
                <a:schemeClr val="dk1"/>
              </a:buClr>
              <a:buSzPct val="100000"/>
              <a:buFont typeface="Calibri"/>
              <a:buNone/>
            </a:pPr>
            <a:r>
              <a:rPr lang="en-US" b="1"/>
              <a:t>Beam-Penetration Method</a:t>
            </a:r>
            <a:endParaRPr/>
          </a:p>
          <a:p>
            <a:pPr marL="0" lvl="0" indent="0" algn="l" rtl="0">
              <a:lnSpc>
                <a:spcPct val="90000"/>
              </a:lnSpc>
              <a:spcBef>
                <a:spcPts val="0"/>
              </a:spcBef>
              <a:spcAft>
                <a:spcPts val="0"/>
              </a:spcAft>
              <a:buClr>
                <a:srgbClr val="262626"/>
              </a:buClr>
              <a:buSzPct val="90909"/>
              <a:buFont typeface="Calibri"/>
              <a:buNone/>
            </a:pPr>
            <a:endParaRPr b="1">
              <a:solidFill>
                <a:srgbClr val="262626"/>
              </a:solidFill>
            </a:endParaRPr>
          </a:p>
        </p:txBody>
      </p:sp>
      <p:pic>
        <p:nvPicPr>
          <p:cNvPr id="185" name="Google Shape;185;p10"/>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1"/>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p>
            <a:pPr marL="273050" marR="0" lvl="0" indent="-273050" algn="just" rtl="0">
              <a:lnSpc>
                <a:spcPct val="90000"/>
              </a:lnSpc>
              <a:spcBef>
                <a:spcPts val="0"/>
              </a:spcBef>
              <a:spcAft>
                <a:spcPts val="0"/>
              </a:spcAft>
              <a:buSzPts val="2100"/>
              <a:buFont typeface="Noto Sans Symbols"/>
              <a:buChar char="⚫"/>
            </a:pPr>
            <a:r>
              <a:rPr lang="en-US" sz="2100" b="0" i="0" u="none">
                <a:latin typeface="Calibri"/>
                <a:ea typeface="Calibri"/>
                <a:cs typeface="Calibri"/>
                <a:sym typeface="Calibri"/>
              </a:rPr>
              <a:t>It can produce a much wider range of color than the beam-penetration method. A shadow-mask CRT has three phosphor color dots at each pixel position with red, green and blue. This type of CRT has three electron guns, one for each color. The three electron beams are deflected and focused as a group onto the shadow mask, which contains corresponding holes for each pixel position.</a:t>
            </a:r>
            <a:endParaRPr/>
          </a:p>
          <a:p>
            <a:pPr marL="273050" marR="0" lvl="0" indent="-273050" algn="just" rtl="0">
              <a:lnSpc>
                <a:spcPct val="90000"/>
              </a:lnSpc>
              <a:spcBef>
                <a:spcPts val="700"/>
              </a:spcBef>
              <a:spcAft>
                <a:spcPts val="0"/>
              </a:spcAft>
              <a:buSzPts val="2100"/>
              <a:buFont typeface="Noto Sans Symbols"/>
              <a:buChar char="⚫"/>
            </a:pPr>
            <a:r>
              <a:rPr lang="en-US" sz="2100" b="0" i="0" u="none">
                <a:latin typeface="Calibri"/>
                <a:ea typeface="Calibri"/>
                <a:cs typeface="Calibri"/>
                <a:sym typeface="Calibri"/>
              </a:rPr>
              <a:t>The color variation is obtained by varying the intensity levels of the three electron beams. For example, turning off the green and red beam, we will get only blue color.</a:t>
            </a:r>
            <a:endParaRPr/>
          </a:p>
          <a:p>
            <a:pPr marL="171450" marR="0" lvl="0" indent="-38100" algn="l" rtl="0">
              <a:lnSpc>
                <a:spcPct val="90000"/>
              </a:lnSpc>
              <a:spcBef>
                <a:spcPts val="750"/>
              </a:spcBef>
              <a:spcAft>
                <a:spcPts val="0"/>
              </a:spcAft>
              <a:buClr>
                <a:schemeClr val="dk1"/>
              </a:buClr>
              <a:buSzPts val="2100"/>
              <a:buFont typeface="Arial"/>
              <a:buNone/>
            </a:pPr>
            <a:endParaRPr sz="2100" b="0" i="0" u="none">
              <a:latin typeface="Calibri"/>
              <a:ea typeface="Calibri"/>
              <a:cs typeface="Calibri"/>
              <a:sym typeface="Calibri"/>
            </a:endParaRPr>
          </a:p>
        </p:txBody>
      </p:sp>
      <p:sp>
        <p:nvSpPr>
          <p:cNvPr id="192" name="Google Shape;192;p11"/>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193" name="Google Shape;193;p11"/>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11</a:t>
            </a:fld>
            <a:endParaRPr/>
          </a:p>
        </p:txBody>
      </p:sp>
      <p:sp>
        <p:nvSpPr>
          <p:cNvPr id="194" name="Google Shape;194;p11"/>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r>
              <a:rPr lang="en-US" sz="4000" b="1"/>
              <a:t>Shadow-Mask Method</a:t>
            </a:r>
            <a:endParaRPr/>
          </a:p>
          <a:p>
            <a:pPr marL="0" lvl="0" indent="0" algn="l" rtl="0">
              <a:lnSpc>
                <a:spcPct val="90000"/>
              </a:lnSpc>
              <a:spcBef>
                <a:spcPts val="0"/>
              </a:spcBef>
              <a:spcAft>
                <a:spcPts val="0"/>
              </a:spcAft>
              <a:buClr>
                <a:srgbClr val="262626"/>
              </a:buClr>
              <a:buSzPct val="90909"/>
              <a:buFont typeface="Calibri"/>
              <a:buNone/>
            </a:pPr>
            <a:endParaRPr b="1"/>
          </a:p>
        </p:txBody>
      </p:sp>
      <p:pic>
        <p:nvPicPr>
          <p:cNvPr id="195" name="Google Shape;195;p11"/>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1" name="Google Shape;201;p12" descr="crt"/>
          <p:cNvPicPr preferRelativeResize="0"/>
          <p:nvPr/>
        </p:nvPicPr>
        <p:blipFill rotWithShape="1">
          <a:blip r:embed="rId3">
            <a:alphaModFix/>
          </a:blip>
          <a:srcRect/>
          <a:stretch/>
        </p:blipFill>
        <p:spPr>
          <a:xfrm>
            <a:off x="1371600" y="1054100"/>
            <a:ext cx="6477000" cy="4584700"/>
          </a:xfrm>
          <a:prstGeom prst="rect">
            <a:avLst/>
          </a:prstGeom>
          <a:noFill/>
          <a:ln>
            <a:noFill/>
          </a:ln>
        </p:spPr>
      </p:pic>
      <p:sp>
        <p:nvSpPr>
          <p:cNvPr id="202" name="Google Shape;202;p12"/>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203" name="Google Shape;203;p12"/>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12</a:t>
            </a:fld>
            <a:endParaRPr/>
          </a:p>
        </p:txBody>
      </p:sp>
      <p:pic>
        <p:nvPicPr>
          <p:cNvPr id="204" name="Google Shape;204;p12"/>
          <p:cNvPicPr preferRelativeResize="0"/>
          <p:nvPr/>
        </p:nvPicPr>
        <p:blipFill rotWithShape="1">
          <a:blip r:embed="rId4">
            <a:alphaModFix/>
          </a:blip>
          <a:srcRect/>
          <a:stretch/>
        </p:blipFill>
        <p:spPr>
          <a:xfrm>
            <a:off x="8077200" y="22225"/>
            <a:ext cx="1371600" cy="685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3"/>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Autofit/>
          </a:bodyPr>
          <a:lstStyle/>
          <a:p>
            <a:pPr marL="171450" marR="0" lvl="0" indent="-171450" algn="just" rtl="0">
              <a:lnSpc>
                <a:spcPct val="90000"/>
              </a:lnSpc>
              <a:spcBef>
                <a:spcPts val="0"/>
              </a:spcBef>
              <a:spcAft>
                <a:spcPts val="0"/>
              </a:spcAft>
              <a:buClr>
                <a:schemeClr val="dk1"/>
              </a:buClr>
              <a:buSzPts val="2100"/>
              <a:buFont typeface="Arial"/>
              <a:buChar char="•"/>
            </a:pPr>
            <a:r>
              <a:rPr lang="en-US" sz="2100" b="0" i="0" u="none">
                <a:solidFill>
                  <a:schemeClr val="dk1"/>
                </a:solidFill>
                <a:latin typeface="Calibri"/>
                <a:ea typeface="Calibri"/>
                <a:cs typeface="Calibri"/>
                <a:sym typeface="Calibri"/>
              </a:rPr>
              <a:t> An alternative method for maintaining a screen image is to store the picture information inside the CRT instead of refreshing the screen.</a:t>
            </a:r>
            <a:endParaRPr/>
          </a:p>
          <a:p>
            <a:pPr marL="171450" marR="0" lvl="0" indent="-171450" algn="just" rtl="0">
              <a:lnSpc>
                <a:spcPct val="90000"/>
              </a:lnSpc>
              <a:spcBef>
                <a:spcPts val="700"/>
              </a:spcBef>
              <a:spcAft>
                <a:spcPts val="0"/>
              </a:spcAft>
              <a:buClr>
                <a:schemeClr val="dk1"/>
              </a:buClr>
              <a:buSzPts val="2100"/>
              <a:buFont typeface="Arial"/>
              <a:buChar char="•"/>
            </a:pPr>
            <a:r>
              <a:rPr lang="en-US" sz="2100" b="0" i="0" u="none">
                <a:solidFill>
                  <a:schemeClr val="dk1"/>
                </a:solidFill>
                <a:latin typeface="Calibri"/>
                <a:ea typeface="Calibri"/>
                <a:cs typeface="Calibri"/>
                <a:sym typeface="Calibri"/>
              </a:rPr>
              <a:t>A direct-view storage device stores the picture information as a charge distribution just behind the phosphor coated screen. Two electron guns are used, the primary gun is used to store the picture pattern, the second, the floor gun, maintains the picture display.</a:t>
            </a:r>
            <a:endParaRPr/>
          </a:p>
          <a:p>
            <a:pPr marL="171450" marR="0" lvl="0" indent="-38100" algn="just" rtl="0">
              <a:lnSpc>
                <a:spcPct val="90000"/>
              </a:lnSpc>
              <a:spcBef>
                <a:spcPts val="700"/>
              </a:spcBef>
              <a:spcAft>
                <a:spcPts val="0"/>
              </a:spcAft>
              <a:buClr>
                <a:schemeClr val="dk1"/>
              </a:buClr>
              <a:buSzPts val="2100"/>
              <a:buFont typeface="Arial"/>
              <a:buNone/>
            </a:pPr>
            <a:endParaRPr sz="2100" b="0" i="0" u="none">
              <a:solidFill>
                <a:schemeClr val="dk1"/>
              </a:solidFill>
              <a:latin typeface="Calibri"/>
              <a:ea typeface="Calibri"/>
              <a:cs typeface="Calibri"/>
              <a:sym typeface="Calibri"/>
            </a:endParaRPr>
          </a:p>
          <a:p>
            <a:pPr marL="171450" marR="0" lvl="0" indent="-38100" algn="l" rtl="0">
              <a:lnSpc>
                <a:spcPct val="90000"/>
              </a:lnSpc>
              <a:spcBef>
                <a:spcPts val="750"/>
              </a:spcBef>
              <a:spcAft>
                <a:spcPts val="0"/>
              </a:spcAft>
              <a:buClr>
                <a:schemeClr val="dk1"/>
              </a:buClr>
              <a:buSzPts val="2100"/>
              <a:buFont typeface="Arial"/>
              <a:buNone/>
            </a:pPr>
            <a:endParaRPr sz="2100" b="0" i="0" u="none">
              <a:solidFill>
                <a:schemeClr val="dk1"/>
              </a:solidFill>
              <a:latin typeface="Calibri"/>
              <a:ea typeface="Calibri"/>
              <a:cs typeface="Calibri"/>
              <a:sym typeface="Calibri"/>
            </a:endParaRPr>
          </a:p>
        </p:txBody>
      </p:sp>
      <p:sp>
        <p:nvSpPr>
          <p:cNvPr id="211" name="Google Shape;211;p13"/>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212" name="Google Shape;212;p13"/>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13</a:t>
            </a:fld>
            <a:endParaRPr/>
          </a:p>
        </p:txBody>
      </p:sp>
      <p:sp>
        <p:nvSpPr>
          <p:cNvPr id="213" name="Google Shape;213;p13"/>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endParaRPr sz="4000" b="1"/>
          </a:p>
          <a:p>
            <a:pPr marL="0" lvl="0" indent="0" algn="l" rtl="0">
              <a:spcBef>
                <a:spcPts val="0"/>
              </a:spcBef>
              <a:spcAft>
                <a:spcPts val="0"/>
              </a:spcAft>
              <a:buClr>
                <a:schemeClr val="dk1"/>
              </a:buClr>
              <a:buSzPct val="100000"/>
              <a:buFont typeface="Calibri"/>
              <a:buNone/>
            </a:pPr>
            <a:r>
              <a:rPr lang="en-US" sz="4000" b="1"/>
              <a:t>Direct-View Storage Tubes</a:t>
            </a:r>
            <a:endParaRPr sz="4000" b="1"/>
          </a:p>
          <a:p>
            <a:pPr marL="0" lvl="0" indent="0" algn="l" rtl="0">
              <a:lnSpc>
                <a:spcPct val="90000"/>
              </a:lnSpc>
              <a:spcBef>
                <a:spcPts val="0"/>
              </a:spcBef>
              <a:spcAft>
                <a:spcPts val="0"/>
              </a:spcAft>
              <a:buClr>
                <a:srgbClr val="262626"/>
              </a:buClr>
              <a:buSzPct val="75000"/>
              <a:buFont typeface="Calibri"/>
              <a:buNone/>
            </a:pPr>
            <a:endParaRPr sz="4000" b="1"/>
          </a:p>
        </p:txBody>
      </p:sp>
      <p:pic>
        <p:nvPicPr>
          <p:cNvPr id="214" name="Google Shape;214;p13"/>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pic>
        <p:nvPicPr>
          <p:cNvPr id="220" name="Google Shape;220;p14" descr="dvst"/>
          <p:cNvPicPr preferRelativeResize="0"/>
          <p:nvPr/>
        </p:nvPicPr>
        <p:blipFill rotWithShape="1">
          <a:blip r:embed="rId3">
            <a:alphaModFix/>
          </a:blip>
          <a:srcRect/>
          <a:stretch/>
        </p:blipFill>
        <p:spPr>
          <a:xfrm>
            <a:off x="1143000" y="990600"/>
            <a:ext cx="6907212" cy="4724400"/>
          </a:xfrm>
          <a:prstGeom prst="rect">
            <a:avLst/>
          </a:prstGeom>
          <a:noFill/>
          <a:ln>
            <a:noFill/>
          </a:ln>
        </p:spPr>
      </p:pic>
      <p:sp>
        <p:nvSpPr>
          <p:cNvPr id="221" name="Google Shape;221;p14"/>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222" name="Google Shape;222;p14"/>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14</a:t>
            </a:fld>
            <a:endParaRPr/>
          </a:p>
        </p:txBody>
      </p:sp>
      <p:pic>
        <p:nvPicPr>
          <p:cNvPr id="223" name="Google Shape;223;p14"/>
          <p:cNvPicPr preferRelativeResize="0"/>
          <p:nvPr/>
        </p:nvPicPr>
        <p:blipFill rotWithShape="1">
          <a:blip r:embed="rId4">
            <a:alphaModFix/>
          </a:blip>
          <a:srcRect/>
          <a:stretch/>
        </p:blipFill>
        <p:spPr>
          <a:xfrm>
            <a:off x="8077200" y="22225"/>
            <a:ext cx="1371600" cy="685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5"/>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Autofit/>
          </a:bodyPr>
          <a:lstStyle/>
          <a:p>
            <a:pPr marL="171450" marR="0" lvl="0" indent="-171450" algn="l" rtl="0">
              <a:lnSpc>
                <a:spcPct val="90000"/>
              </a:lnSpc>
              <a:spcBef>
                <a:spcPts val="0"/>
              </a:spcBef>
              <a:spcAft>
                <a:spcPts val="0"/>
              </a:spcAft>
              <a:buClr>
                <a:schemeClr val="dk1"/>
              </a:buClr>
              <a:buSzPts val="2100"/>
              <a:buFont typeface="Arial"/>
              <a:buChar char="•"/>
            </a:pPr>
            <a:r>
              <a:rPr lang="en-US" sz="2100" b="1" i="0" u="none">
                <a:solidFill>
                  <a:schemeClr val="dk1"/>
                </a:solidFill>
                <a:latin typeface="Calibri"/>
                <a:ea typeface="Calibri"/>
                <a:cs typeface="Calibri"/>
                <a:sym typeface="Calibri"/>
              </a:rPr>
              <a:t>Advantage:</a:t>
            </a:r>
            <a:endParaRPr/>
          </a:p>
          <a:p>
            <a:pPr marL="514350" marR="0" lvl="1" indent="-171450" algn="just" rtl="0">
              <a:lnSpc>
                <a:spcPct val="90000"/>
              </a:lnSpc>
              <a:spcBef>
                <a:spcPts val="30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Because of no refreshing is needed very complex pictures can be displayed at very high resolutions without flicker.</a:t>
            </a:r>
            <a:endParaRPr/>
          </a:p>
          <a:p>
            <a:pPr marL="171450" marR="0" lvl="0" indent="-171450" algn="l" rtl="0">
              <a:lnSpc>
                <a:spcPct val="90000"/>
              </a:lnSpc>
              <a:spcBef>
                <a:spcPts val="700"/>
              </a:spcBef>
              <a:spcAft>
                <a:spcPts val="0"/>
              </a:spcAft>
              <a:buClr>
                <a:schemeClr val="dk1"/>
              </a:buClr>
              <a:buSzPts val="2100"/>
              <a:buFont typeface="Arial"/>
              <a:buChar char="•"/>
            </a:pPr>
            <a:r>
              <a:rPr lang="en-US" sz="2100" b="1" i="0" u="none">
                <a:solidFill>
                  <a:schemeClr val="dk1"/>
                </a:solidFill>
                <a:latin typeface="Calibri"/>
                <a:ea typeface="Calibri"/>
                <a:cs typeface="Calibri"/>
                <a:sym typeface="Calibri"/>
              </a:rPr>
              <a:t>Disadvantage:</a:t>
            </a:r>
            <a:endParaRPr/>
          </a:p>
          <a:p>
            <a:pPr marL="514350" marR="0" lvl="1" indent="-171450" algn="just" rtl="0">
              <a:lnSpc>
                <a:spcPct val="90000"/>
              </a:lnSpc>
              <a:spcBef>
                <a:spcPts val="30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it can not display colors, and selected parts of a picture can’t be erased. To eliminate the selected part of a picture, the entire screen must be erased and redrawn. It is a time consuming process.</a:t>
            </a:r>
            <a:endParaRPr/>
          </a:p>
          <a:p>
            <a:pPr marL="171450" marR="0" lvl="0" indent="-57150" algn="l" rtl="0">
              <a:lnSpc>
                <a:spcPct val="90000"/>
              </a:lnSpc>
              <a:spcBef>
                <a:spcPts val="75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0" name="Google Shape;230;p15"/>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231" name="Google Shape;231;p15"/>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15</a:t>
            </a:fld>
            <a:endParaRPr/>
          </a:p>
        </p:txBody>
      </p:sp>
      <p:sp>
        <p:nvSpPr>
          <p:cNvPr id="232" name="Google Shape;232;p15"/>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endParaRPr sz="4000" b="1"/>
          </a:p>
          <a:p>
            <a:pPr marL="0" lvl="0" indent="0" algn="l" rtl="0">
              <a:spcBef>
                <a:spcPts val="0"/>
              </a:spcBef>
              <a:spcAft>
                <a:spcPts val="0"/>
              </a:spcAft>
              <a:buClr>
                <a:schemeClr val="dk1"/>
              </a:buClr>
              <a:buSzPct val="100000"/>
              <a:buFont typeface="Calibri"/>
              <a:buNone/>
            </a:pPr>
            <a:r>
              <a:rPr lang="en-US" sz="4000" b="1"/>
              <a:t>Direct-View Storage Tubes</a:t>
            </a:r>
            <a:endParaRPr sz="4000" b="1"/>
          </a:p>
          <a:p>
            <a:pPr marL="0" lvl="0" indent="0" algn="l" rtl="0">
              <a:lnSpc>
                <a:spcPct val="90000"/>
              </a:lnSpc>
              <a:spcBef>
                <a:spcPts val="0"/>
              </a:spcBef>
              <a:spcAft>
                <a:spcPts val="0"/>
              </a:spcAft>
              <a:buClr>
                <a:srgbClr val="262626"/>
              </a:buClr>
              <a:buSzPct val="75000"/>
              <a:buFont typeface="Calibri"/>
              <a:buNone/>
            </a:pPr>
            <a:endParaRPr sz="4000" b="1"/>
          </a:p>
        </p:txBody>
      </p:sp>
      <p:pic>
        <p:nvPicPr>
          <p:cNvPr id="233" name="Google Shape;233;p15"/>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6"/>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p>
            <a:pPr marL="171450" marR="0" lvl="0" indent="0" algn="just" rtl="0">
              <a:lnSpc>
                <a:spcPct val="90000"/>
              </a:lnSpc>
              <a:spcBef>
                <a:spcPts val="0"/>
              </a:spcBef>
              <a:spcAft>
                <a:spcPts val="0"/>
              </a:spcAft>
              <a:buNone/>
            </a:pPr>
            <a:r>
              <a:rPr lang="en-US" sz="2000" b="0" i="0" u="none">
                <a:latin typeface="Calibri"/>
                <a:ea typeface="Calibri"/>
                <a:cs typeface="Calibri"/>
                <a:sym typeface="Calibri"/>
              </a:rPr>
              <a:t>It refers to a class or video devices that have reduced volume, weight and power requirements composed to CRT. A main advantage of flat-panel displays is that they are thinner than CRTs and we can hang them on walls or wear on our wrists. The two categories of flat-panel displays are </a:t>
            </a:r>
            <a:endParaRPr sz="2000"/>
          </a:p>
          <a:p>
            <a:pPr marL="639762" marR="0" lvl="1" indent="-176212" algn="just" rtl="0">
              <a:lnSpc>
                <a:spcPct val="90000"/>
              </a:lnSpc>
              <a:spcBef>
                <a:spcPts val="300"/>
              </a:spcBef>
              <a:spcAft>
                <a:spcPts val="0"/>
              </a:spcAft>
              <a:buSzPts val="700"/>
              <a:buFont typeface="Noto Sans Symbols"/>
              <a:buChar char="⚫"/>
            </a:pPr>
            <a:r>
              <a:rPr lang="en-US" sz="2000" b="0" i="0" u="none" strike="noStrike" cap="none">
                <a:latin typeface="Calibri"/>
                <a:ea typeface="Calibri"/>
                <a:cs typeface="Calibri"/>
                <a:sym typeface="Calibri"/>
              </a:rPr>
              <a:t>Emissive displays: the device which convert electrical energy into light. (Plasma panel),</a:t>
            </a:r>
            <a:r>
              <a:rPr lang="en-US" sz="2000" b="1" i="0" u="none" strike="noStrike" cap="none">
                <a:latin typeface="Calibri"/>
                <a:ea typeface="Calibri"/>
                <a:cs typeface="Calibri"/>
                <a:sym typeface="Calibri"/>
              </a:rPr>
              <a:t> </a:t>
            </a:r>
            <a:r>
              <a:rPr lang="en-US" sz="2000" b="0" i="0" u="none" strike="noStrike" cap="none">
                <a:latin typeface="Calibri"/>
                <a:ea typeface="Calibri"/>
                <a:cs typeface="Calibri"/>
                <a:sym typeface="Calibri"/>
              </a:rPr>
              <a:t>Thin-Film Electroluminescent Display, LED.</a:t>
            </a:r>
            <a:endParaRPr sz="2000"/>
          </a:p>
          <a:p>
            <a:pPr marL="639762" marR="0" lvl="1" indent="-176212" algn="just" rtl="0">
              <a:lnSpc>
                <a:spcPct val="90000"/>
              </a:lnSpc>
              <a:spcBef>
                <a:spcPts val="300"/>
              </a:spcBef>
              <a:spcAft>
                <a:spcPts val="0"/>
              </a:spcAft>
              <a:buSzPts val="700"/>
              <a:buFont typeface="Noto Sans Symbols"/>
              <a:buChar char="⚫"/>
            </a:pPr>
            <a:r>
              <a:rPr lang="en-US" sz="2000" b="0" i="0" u="none" strike="noStrike" cap="none">
                <a:latin typeface="Calibri"/>
                <a:ea typeface="Calibri"/>
                <a:cs typeface="Calibri"/>
                <a:sym typeface="Calibri"/>
              </a:rPr>
              <a:t>Non-Emissive displays: used optical effects to convert sunlight or light from some other source into graphic patterns. (LCD)</a:t>
            </a:r>
            <a:endParaRPr sz="2000"/>
          </a:p>
          <a:p>
            <a:pPr marL="171450" marR="0" lvl="0" indent="-57150" algn="l" rtl="0">
              <a:lnSpc>
                <a:spcPct val="90000"/>
              </a:lnSpc>
              <a:spcBef>
                <a:spcPts val="750"/>
              </a:spcBef>
              <a:spcAft>
                <a:spcPts val="0"/>
              </a:spcAft>
              <a:buClr>
                <a:schemeClr val="dk1"/>
              </a:buClr>
              <a:buSzPts val="1800"/>
              <a:buFont typeface="Arial"/>
              <a:buNone/>
            </a:pPr>
            <a:endParaRPr sz="1800" b="0" i="0" u="none" strike="noStrike" cap="none">
              <a:latin typeface="Calibri"/>
              <a:ea typeface="Calibri"/>
              <a:cs typeface="Calibri"/>
              <a:sym typeface="Calibri"/>
            </a:endParaRPr>
          </a:p>
        </p:txBody>
      </p:sp>
      <p:sp>
        <p:nvSpPr>
          <p:cNvPr id="240" name="Google Shape;240;p16"/>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241" name="Google Shape;241;p16"/>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16</a:t>
            </a:fld>
            <a:endParaRPr/>
          </a:p>
        </p:txBody>
      </p:sp>
      <p:sp>
        <p:nvSpPr>
          <p:cNvPr id="242" name="Google Shape;242;p16"/>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endParaRPr sz="4000" b="1"/>
          </a:p>
          <a:p>
            <a:pPr marL="0" lvl="0" indent="0" algn="l" rtl="0">
              <a:spcBef>
                <a:spcPts val="0"/>
              </a:spcBef>
              <a:spcAft>
                <a:spcPts val="0"/>
              </a:spcAft>
              <a:buClr>
                <a:schemeClr val="dk1"/>
              </a:buClr>
              <a:buSzPct val="100000"/>
              <a:buFont typeface="Calibri"/>
              <a:buNone/>
            </a:pPr>
            <a:endParaRPr sz="4000" b="1"/>
          </a:p>
          <a:p>
            <a:pPr marL="0" lvl="0" indent="0" algn="l" rtl="0">
              <a:spcBef>
                <a:spcPts val="0"/>
              </a:spcBef>
              <a:spcAft>
                <a:spcPts val="0"/>
              </a:spcAft>
              <a:buClr>
                <a:schemeClr val="dk1"/>
              </a:buClr>
              <a:buSzPct val="100000"/>
              <a:buFont typeface="Calibri"/>
              <a:buNone/>
            </a:pPr>
            <a:r>
              <a:rPr lang="en-US" sz="4000" b="1"/>
              <a:t>Flat-Panel Displays</a:t>
            </a:r>
            <a:endParaRPr/>
          </a:p>
          <a:p>
            <a:pPr marL="0" lvl="0" indent="0" algn="l" rtl="0">
              <a:spcBef>
                <a:spcPts val="0"/>
              </a:spcBef>
              <a:spcAft>
                <a:spcPts val="0"/>
              </a:spcAft>
              <a:buClr>
                <a:schemeClr val="dk1"/>
              </a:buClr>
              <a:buSzPct val="100000"/>
              <a:buFont typeface="Calibri"/>
              <a:buNone/>
            </a:pPr>
            <a:endParaRPr sz="4000" b="1"/>
          </a:p>
          <a:p>
            <a:pPr marL="0" lvl="0" indent="0" algn="l" rtl="0">
              <a:lnSpc>
                <a:spcPct val="90000"/>
              </a:lnSpc>
              <a:spcBef>
                <a:spcPts val="0"/>
              </a:spcBef>
              <a:spcAft>
                <a:spcPts val="0"/>
              </a:spcAft>
              <a:buClr>
                <a:srgbClr val="262626"/>
              </a:buClr>
              <a:buSzPct val="75000"/>
              <a:buFont typeface="Calibri"/>
              <a:buNone/>
            </a:pPr>
            <a:endParaRPr sz="4000" b="1"/>
          </a:p>
        </p:txBody>
      </p:sp>
      <p:pic>
        <p:nvPicPr>
          <p:cNvPr id="243" name="Google Shape;243;p16"/>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p17" descr="plasma"/>
          <p:cNvPicPr preferRelativeResize="0"/>
          <p:nvPr/>
        </p:nvPicPr>
        <p:blipFill rotWithShape="1">
          <a:blip r:embed="rId3">
            <a:alphaModFix/>
          </a:blip>
          <a:srcRect/>
          <a:stretch/>
        </p:blipFill>
        <p:spPr>
          <a:xfrm>
            <a:off x="990600" y="1143000"/>
            <a:ext cx="7315200" cy="5491162"/>
          </a:xfrm>
          <a:prstGeom prst="rect">
            <a:avLst/>
          </a:prstGeom>
          <a:noFill/>
          <a:ln>
            <a:noFill/>
          </a:ln>
        </p:spPr>
      </p:pic>
      <p:sp>
        <p:nvSpPr>
          <p:cNvPr id="250" name="Google Shape;250;p17"/>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251" name="Google Shape;251;p17"/>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17</a:t>
            </a:fld>
            <a:endParaRPr/>
          </a:p>
        </p:txBody>
      </p:sp>
      <p:sp>
        <p:nvSpPr>
          <p:cNvPr id="252" name="Google Shape;252;p17"/>
          <p:cNvSpPr txBox="1">
            <a:spLocks noGrp="1"/>
          </p:cNvSpPr>
          <p:nvPr>
            <p:ph type="title" idx="4294967295"/>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br>
              <a:rPr lang="en-US" b="1"/>
            </a:br>
            <a:r>
              <a:rPr lang="en-US" b="1"/>
              <a:t>Plasma Panel</a:t>
            </a:r>
            <a:endParaRPr/>
          </a:p>
          <a:p>
            <a:pPr marL="0" lvl="0" indent="0" algn="l" rtl="0">
              <a:lnSpc>
                <a:spcPct val="90000"/>
              </a:lnSpc>
              <a:spcBef>
                <a:spcPts val="0"/>
              </a:spcBef>
              <a:spcAft>
                <a:spcPts val="0"/>
              </a:spcAft>
              <a:buClr>
                <a:srgbClr val="262626"/>
              </a:buClr>
              <a:buSzPct val="75000"/>
              <a:buFont typeface="Calibri"/>
              <a:buNone/>
            </a:pPr>
            <a:endParaRPr sz="4000" b="1"/>
          </a:p>
        </p:txBody>
      </p:sp>
      <p:pic>
        <p:nvPicPr>
          <p:cNvPr id="253" name="Google Shape;253;p17"/>
          <p:cNvPicPr preferRelativeResize="0"/>
          <p:nvPr/>
        </p:nvPicPr>
        <p:blipFill rotWithShape="1">
          <a:blip r:embed="rId4">
            <a:alphaModFix/>
          </a:blip>
          <a:srcRect/>
          <a:stretch/>
        </p:blipFill>
        <p:spPr>
          <a:xfrm>
            <a:off x="8127150" y="482200"/>
            <a:ext cx="1224300" cy="612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8"/>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Autofit/>
          </a:bodyPr>
          <a:lstStyle/>
          <a:p>
            <a:pPr marL="171450" marR="0" lvl="0" indent="-171450" algn="just" rtl="0">
              <a:lnSpc>
                <a:spcPct val="90000"/>
              </a:lnSpc>
              <a:spcBef>
                <a:spcPts val="0"/>
              </a:spcBef>
              <a:spcAft>
                <a:spcPts val="0"/>
              </a:spcAft>
              <a:buClr>
                <a:schemeClr val="dk1"/>
              </a:buClr>
              <a:buSzPts val="2100"/>
              <a:buFont typeface="Arial"/>
              <a:buChar char="•"/>
            </a:pPr>
            <a:r>
              <a:rPr lang="en-US" sz="2100" b="0" i="0" u="none">
                <a:solidFill>
                  <a:schemeClr val="dk1"/>
                </a:solidFill>
                <a:latin typeface="Calibri"/>
                <a:ea typeface="Calibri"/>
                <a:cs typeface="Calibri"/>
                <a:sym typeface="Calibri"/>
              </a:rPr>
              <a:t>A plasma display panel is an array of hundreds of thousands of small, luminous (radiant) cells positioned between two plates of glass. Each cell is essentially a tiny </a:t>
            </a:r>
            <a:r>
              <a:rPr lang="en-US" sz="2100" b="0" i="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neon lamp</a:t>
            </a:r>
            <a:r>
              <a:rPr lang="en-US"/>
              <a:t>. </a:t>
            </a:r>
            <a:r>
              <a:rPr lang="en-US" sz="2100" b="0" i="0" u="none">
                <a:solidFill>
                  <a:schemeClr val="dk1"/>
                </a:solidFill>
                <a:latin typeface="Calibri"/>
                <a:ea typeface="Calibri"/>
                <a:cs typeface="Calibri"/>
                <a:sym typeface="Calibri"/>
              </a:rPr>
              <a:t>A plasma display panel is an array of hundreds of thousands of small, luminous (radiant) cells positioned between two plates of glass. Each cell is essentially a tiny neon lamp filled with rarefied neon, xenon, and other </a:t>
            </a:r>
            <a:r>
              <a:rPr lang="en-US" sz="2100" b="0" i="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inert gases</a:t>
            </a:r>
            <a:r>
              <a:rPr lang="en-US" sz="2100" b="0" i="0" u="none">
                <a:solidFill>
                  <a:schemeClr val="dk1"/>
                </a:solidFill>
                <a:latin typeface="Calibri"/>
                <a:ea typeface="Calibri"/>
                <a:cs typeface="Calibri"/>
                <a:sym typeface="Calibri"/>
              </a:rPr>
              <a:t>; the cells are luminous when they are electrified through "electrodes".</a:t>
            </a:r>
            <a:endParaRPr/>
          </a:p>
          <a:p>
            <a:pPr marL="171450" marR="0" lvl="0" indent="-38100" algn="l" rtl="0">
              <a:lnSpc>
                <a:spcPct val="90000"/>
              </a:lnSpc>
              <a:spcBef>
                <a:spcPts val="750"/>
              </a:spcBef>
              <a:spcAft>
                <a:spcPts val="0"/>
              </a:spcAft>
              <a:buClr>
                <a:schemeClr val="dk1"/>
              </a:buClr>
              <a:buSzPts val="2100"/>
              <a:buFont typeface="Arial"/>
              <a:buNone/>
            </a:pPr>
            <a:endParaRPr sz="2100" b="0" i="0" u="none">
              <a:solidFill>
                <a:schemeClr val="dk1"/>
              </a:solidFill>
              <a:latin typeface="Calibri"/>
              <a:ea typeface="Calibri"/>
              <a:cs typeface="Calibri"/>
              <a:sym typeface="Calibri"/>
            </a:endParaRPr>
          </a:p>
        </p:txBody>
      </p:sp>
      <p:sp>
        <p:nvSpPr>
          <p:cNvPr id="260" name="Google Shape;260;p18"/>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261" name="Google Shape;261;p18"/>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18</a:t>
            </a:fld>
            <a:endParaRPr/>
          </a:p>
        </p:txBody>
      </p:sp>
      <p:sp>
        <p:nvSpPr>
          <p:cNvPr id="262" name="Google Shape;262;p18"/>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Calibri"/>
              <a:buNone/>
            </a:pPr>
            <a:br>
              <a:rPr lang="en-US" sz="3000">
                <a:solidFill>
                  <a:srgbClr val="262626"/>
                </a:solidFill>
              </a:rPr>
            </a:br>
            <a:r>
              <a:rPr lang="en-US" sz="3000" b="1">
                <a:solidFill>
                  <a:srgbClr val="262626"/>
                </a:solidFill>
              </a:rPr>
              <a:t> How plasma displays works</a:t>
            </a:r>
            <a:endParaRPr/>
          </a:p>
          <a:p>
            <a:pPr marL="0" lvl="0" indent="0" algn="l" rtl="0">
              <a:lnSpc>
                <a:spcPct val="90000"/>
              </a:lnSpc>
              <a:spcBef>
                <a:spcPts val="0"/>
              </a:spcBef>
              <a:spcAft>
                <a:spcPts val="0"/>
              </a:spcAft>
              <a:buClr>
                <a:srgbClr val="262626"/>
              </a:buClr>
              <a:buSzPct val="90909"/>
              <a:buFont typeface="Calibri"/>
              <a:buNone/>
            </a:pPr>
            <a:endParaRPr b="1"/>
          </a:p>
        </p:txBody>
      </p:sp>
      <p:pic>
        <p:nvPicPr>
          <p:cNvPr id="263" name="Google Shape;263;p18"/>
          <p:cNvPicPr preferRelativeResize="0"/>
          <p:nvPr/>
        </p:nvPicPr>
        <p:blipFill rotWithShape="1">
          <a:blip r:embed="rId5">
            <a:alphaModFix/>
          </a:blip>
          <a:srcRect/>
          <a:stretch/>
        </p:blipFill>
        <p:spPr>
          <a:xfrm>
            <a:off x="8127150" y="482200"/>
            <a:ext cx="1224300" cy="612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9"/>
          <p:cNvSpPr txBox="1">
            <a:spLocks noGrp="1"/>
          </p:cNvSpPr>
          <p:nvPr>
            <p:ph type="body" idx="1"/>
          </p:nvPr>
        </p:nvSpPr>
        <p:spPr>
          <a:xfrm>
            <a:off x="533400" y="1552500"/>
            <a:ext cx="8229600" cy="6526500"/>
          </a:xfrm>
          <a:prstGeom prst="rect">
            <a:avLst/>
          </a:prstGeom>
          <a:noFill/>
          <a:ln>
            <a:noFill/>
          </a:ln>
        </p:spPr>
        <p:txBody>
          <a:bodyPr spcFirstLastPara="1" wrap="square" lIns="91425" tIns="45700" rIns="91425" bIns="45700" anchor="t" anchorCtr="0">
            <a:noAutofit/>
          </a:bodyPr>
          <a:lstStyle/>
          <a:p>
            <a:pPr marL="171450" marR="0" lvl="0" indent="-146050" algn="just" rtl="0">
              <a:lnSpc>
                <a:spcPct val="90000"/>
              </a:lnSpc>
              <a:spcBef>
                <a:spcPts val="0"/>
              </a:spcBef>
              <a:spcAft>
                <a:spcPts val="0"/>
              </a:spcAft>
              <a:buClr>
                <a:schemeClr val="dk1"/>
              </a:buClr>
              <a:buSzPts val="2000"/>
              <a:buFont typeface="Arial"/>
              <a:buChar char="•"/>
            </a:pPr>
            <a:r>
              <a:rPr lang="en-US" sz="2000" b="0" i="0" u="none">
                <a:solidFill>
                  <a:schemeClr val="dk1"/>
                </a:solidFill>
                <a:latin typeface="Calibri"/>
                <a:ea typeface="Calibri"/>
                <a:cs typeface="Calibri"/>
                <a:sym typeface="Calibri"/>
              </a:rPr>
              <a:t>The long electrodes are stripes of electrically conducting material that also lie between the glass plates, in front of and behind the cells. The "address electrodes" sit behind the cells, along the rear glass plate, and can be opaque. The transparent display electrodes are mounted in front of the cell, along the front glass plate. As can be seen in the illustration, the electrodes are covered by an insulating protective layer.</a:t>
            </a:r>
            <a:r>
              <a:rPr lang="en-US" sz="2000" b="0" i="0" u="none" baseline="30000">
                <a:solidFill>
                  <a:schemeClr val="dk1"/>
                </a:solidFill>
                <a:latin typeface="Calibri"/>
                <a:ea typeface="Calibri"/>
                <a:cs typeface="Calibri"/>
                <a:sym typeface="Calibri"/>
              </a:rPr>
              <a:t> </a:t>
            </a:r>
            <a:r>
              <a:rPr lang="en-US" sz="2000" b="0" i="0" u="none">
                <a:solidFill>
                  <a:schemeClr val="dk1"/>
                </a:solidFill>
                <a:latin typeface="Calibri"/>
                <a:ea typeface="Calibri"/>
                <a:cs typeface="Calibri"/>
                <a:sym typeface="Calibri"/>
              </a:rPr>
              <a:t>Control circuitry charges the electrodes that cross paths at a cell, creating a voltage difference between front and back. Some of the atoms in the gas of a cell then lose electrons and become ionized, which creates an electrically conducting plasma of atoms, free electrons, and ions. The collisions of the flowing electrons in the plasma with the inert gas atoms leads to light emission; such light-emitting plasmas are known as glow discharges.</a:t>
            </a:r>
            <a:endParaRPr sz="2000"/>
          </a:p>
          <a:p>
            <a:pPr marL="171450" marR="0" lvl="0" indent="-19050" algn="l" rtl="0">
              <a:lnSpc>
                <a:spcPct val="90000"/>
              </a:lnSpc>
              <a:spcBef>
                <a:spcPts val="750"/>
              </a:spcBef>
              <a:spcAft>
                <a:spcPts val="0"/>
              </a:spcAft>
              <a:buClr>
                <a:schemeClr val="dk1"/>
              </a:buClr>
              <a:buSzPts val="2400"/>
              <a:buFont typeface="Arial"/>
              <a:buNone/>
            </a:pPr>
            <a:endParaRPr sz="2000" b="0" i="0" u="none">
              <a:solidFill>
                <a:schemeClr val="dk1"/>
              </a:solidFill>
              <a:latin typeface="Calibri"/>
              <a:ea typeface="Calibri"/>
              <a:cs typeface="Calibri"/>
              <a:sym typeface="Calibri"/>
            </a:endParaRPr>
          </a:p>
        </p:txBody>
      </p:sp>
      <p:sp>
        <p:nvSpPr>
          <p:cNvPr id="270" name="Google Shape;270;p19"/>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271" name="Google Shape;271;p19"/>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19</a:t>
            </a:fld>
            <a:endParaRPr/>
          </a:p>
        </p:txBody>
      </p:sp>
      <p:pic>
        <p:nvPicPr>
          <p:cNvPr id="272" name="Google Shape;272;p19"/>
          <p:cNvPicPr preferRelativeResize="0"/>
          <p:nvPr/>
        </p:nvPicPr>
        <p:blipFill rotWithShape="1">
          <a:blip r:embed="rId3">
            <a:alphaModFix/>
          </a:blip>
          <a:srcRect/>
          <a:stretch/>
        </p:blipFill>
        <p:spPr>
          <a:xfrm>
            <a:off x="8127150" y="482200"/>
            <a:ext cx="1224300" cy="612150"/>
          </a:xfrm>
          <a:prstGeom prst="rect">
            <a:avLst/>
          </a:prstGeom>
          <a:noFill/>
          <a:ln>
            <a:noFill/>
          </a:ln>
        </p:spPr>
      </p:pic>
      <p:sp>
        <p:nvSpPr>
          <p:cNvPr id="273" name="Google Shape;273;p19"/>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br>
              <a:rPr lang="en-US" b="1"/>
            </a:br>
            <a:r>
              <a:rPr lang="en-US" b="1"/>
              <a:t>Plasma Panel</a:t>
            </a:r>
            <a:endParaRPr/>
          </a:p>
          <a:p>
            <a:pPr marL="0" lvl="0" indent="0" algn="l" rtl="0">
              <a:lnSpc>
                <a:spcPct val="90000"/>
              </a:lnSpc>
              <a:spcBef>
                <a:spcPts val="0"/>
              </a:spcBef>
              <a:spcAft>
                <a:spcPts val="0"/>
              </a:spcAft>
              <a:buClr>
                <a:srgbClr val="262626"/>
              </a:buClr>
              <a:buSzPct val="75000"/>
              <a:buFont typeface="Calibri"/>
              <a:buNone/>
            </a:pPr>
            <a:endParaRPr sz="4000" b="1"/>
          </a:p>
        </p:txBody>
      </p:sp>
      <p:pic>
        <p:nvPicPr>
          <p:cNvPr id="274" name="Google Shape;274;p19"/>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0"/>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p>
            <a:pPr marL="171450" marR="0" lvl="0" indent="0" algn="l" rtl="0">
              <a:lnSpc>
                <a:spcPct val="90000"/>
              </a:lnSpc>
              <a:spcBef>
                <a:spcPts val="0"/>
              </a:spcBef>
              <a:spcAft>
                <a:spcPts val="0"/>
              </a:spcAft>
              <a:buNone/>
            </a:pPr>
            <a:r>
              <a:rPr lang="en-US" sz="2000" b="1" i="0" u="none">
                <a:latin typeface="Calibri"/>
                <a:ea typeface="Calibri"/>
                <a:cs typeface="Calibri"/>
                <a:sym typeface="Calibri"/>
              </a:rPr>
              <a:t>Advantages</a:t>
            </a:r>
            <a:endParaRPr sz="2000"/>
          </a:p>
          <a:p>
            <a:pPr marL="171450" marR="0" lvl="0" indent="0" algn="l" rtl="0">
              <a:lnSpc>
                <a:spcPct val="90000"/>
              </a:lnSpc>
              <a:spcBef>
                <a:spcPts val="700"/>
              </a:spcBef>
              <a:spcAft>
                <a:spcPts val="0"/>
              </a:spcAft>
              <a:buNone/>
            </a:pPr>
            <a:r>
              <a:rPr lang="en-US" sz="2000" b="0" i="0" u="none">
                <a:latin typeface="Calibri"/>
                <a:ea typeface="Calibri"/>
                <a:cs typeface="Calibri"/>
                <a:sym typeface="Calibri"/>
              </a:rPr>
              <a:t>Picture quality </a:t>
            </a:r>
            <a:endParaRPr sz="2000"/>
          </a:p>
          <a:p>
            <a:pPr marL="639762" marR="0" lvl="1" indent="-169862"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Capable of producing deeper blacks allowing for superior contrast ratio.</a:t>
            </a:r>
            <a:endParaRPr sz="2000"/>
          </a:p>
          <a:p>
            <a:pPr marL="639762" marR="0" lvl="1" indent="-169862"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 Wider viewing angles than those of LCD; images do not suffer from degradation at high angles like LCDs</a:t>
            </a:r>
            <a:endParaRPr sz="2000"/>
          </a:p>
          <a:p>
            <a:pPr marL="639762" marR="0" lvl="1" indent="-169862"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Less visible motion blur, very high refresh rates and a faster response time, contributing to superior performance when displaying content with significant amounts of rapid. </a:t>
            </a:r>
            <a:endParaRPr sz="2000"/>
          </a:p>
          <a:p>
            <a:pPr marL="171450" marR="0" lvl="0" indent="-57150" algn="l" rtl="0">
              <a:lnSpc>
                <a:spcPct val="90000"/>
              </a:lnSpc>
              <a:spcBef>
                <a:spcPts val="750"/>
              </a:spcBef>
              <a:spcAft>
                <a:spcPts val="0"/>
              </a:spcAft>
              <a:buClr>
                <a:schemeClr val="dk1"/>
              </a:buClr>
              <a:buSzPts val="1800"/>
              <a:buFont typeface="Arial"/>
              <a:buNone/>
            </a:pPr>
            <a:endParaRPr sz="2000" b="0" i="0" u="none" strike="noStrike" cap="none">
              <a:latin typeface="Calibri"/>
              <a:ea typeface="Calibri"/>
              <a:cs typeface="Calibri"/>
              <a:sym typeface="Calibri"/>
            </a:endParaRPr>
          </a:p>
        </p:txBody>
      </p:sp>
      <p:sp>
        <p:nvSpPr>
          <p:cNvPr id="281" name="Google Shape;281;p20"/>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282" name="Google Shape;282;p20"/>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20</a:t>
            </a:fld>
            <a:endParaRPr/>
          </a:p>
        </p:txBody>
      </p:sp>
      <p:sp>
        <p:nvSpPr>
          <p:cNvPr id="283" name="Google Shape;283;p20"/>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br>
              <a:rPr lang="en-US" b="1"/>
            </a:br>
            <a:r>
              <a:rPr lang="en-US" b="1"/>
              <a:t>Plasma Panel</a:t>
            </a:r>
            <a:endParaRPr/>
          </a:p>
          <a:p>
            <a:pPr marL="0" lvl="0" indent="0" algn="l" rtl="0">
              <a:lnSpc>
                <a:spcPct val="90000"/>
              </a:lnSpc>
              <a:spcBef>
                <a:spcPts val="0"/>
              </a:spcBef>
              <a:spcAft>
                <a:spcPts val="0"/>
              </a:spcAft>
              <a:buClr>
                <a:srgbClr val="262626"/>
              </a:buClr>
              <a:buSzPct val="75000"/>
              <a:buFont typeface="Calibri"/>
              <a:buNone/>
            </a:pPr>
            <a:endParaRPr sz="4000" b="1"/>
          </a:p>
        </p:txBody>
      </p:sp>
      <p:pic>
        <p:nvPicPr>
          <p:cNvPr id="284" name="Google Shape;284;p20"/>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1"/>
          <p:cNvSpPr txBox="1">
            <a:spLocks noGrp="1"/>
          </p:cNvSpPr>
          <p:nvPr>
            <p:ph type="body" idx="1"/>
          </p:nvPr>
        </p:nvSpPr>
        <p:spPr>
          <a:xfrm>
            <a:off x="457200" y="1274100"/>
            <a:ext cx="8229600" cy="53340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404040"/>
              </a:buClr>
              <a:buSzPts val="2100"/>
              <a:buFont typeface="Arial"/>
              <a:buNone/>
            </a:pPr>
            <a:r>
              <a:rPr lang="en-US" sz="2000" b="1" i="0" u="none">
                <a:latin typeface="Calibri"/>
                <a:ea typeface="Calibri"/>
                <a:cs typeface="Calibri"/>
                <a:sym typeface="Calibri"/>
              </a:rPr>
              <a:t>Disadvantages</a:t>
            </a:r>
            <a:endParaRPr sz="2000"/>
          </a:p>
          <a:p>
            <a:pPr marL="639762" marR="0" lvl="1" indent="-169862"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Earlier generation displays were more susceptible to screen burn-in and image retention, recent models which reduces the effect of burn-in but does not prevent it. </a:t>
            </a:r>
            <a:endParaRPr sz="2000"/>
          </a:p>
          <a:p>
            <a:pPr marL="639762" marR="0" lvl="1" indent="-169862"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Use more electricity, on average, than an LCD TV. </a:t>
            </a:r>
            <a:endParaRPr sz="2000"/>
          </a:p>
          <a:p>
            <a:pPr marL="639762" marR="0" lvl="1" indent="-169862"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Do not work as well at high altitudes due to pressure differential between the gases inside the screen and the air pressure at altitude. It may cause a buzzing noise. Manufacturers rate their screens to indicate the altitude parameters. </a:t>
            </a:r>
            <a:endParaRPr sz="2000"/>
          </a:p>
          <a:p>
            <a:pPr marL="639762" marR="0" lvl="1" indent="-169862"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For those who wish to listen to AM radio, or are Amateur Radio operators (Hams) or Shortwave Listeners (SWL), the Radio Frequency Interference (RFI) from these devices can be irritating or disabling. </a:t>
            </a:r>
            <a:endParaRPr sz="2000"/>
          </a:p>
          <a:p>
            <a:pPr marL="639762" marR="0" lvl="1" indent="-169862"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Due to the strong infrared emissions inherent with the technology, standard IR repeater systems cannot be used in the viewing room. A more expensive "plasma compatible" sensor must be used.</a:t>
            </a:r>
            <a:endParaRPr sz="2000"/>
          </a:p>
          <a:p>
            <a:pPr marL="171450" marR="0" lvl="0" indent="-57150" algn="l" rtl="0">
              <a:lnSpc>
                <a:spcPct val="90000"/>
              </a:lnSpc>
              <a:spcBef>
                <a:spcPts val="750"/>
              </a:spcBef>
              <a:spcAft>
                <a:spcPts val="0"/>
              </a:spcAft>
              <a:buClr>
                <a:schemeClr val="dk1"/>
              </a:buClr>
              <a:buSzPts val="1800"/>
              <a:buFont typeface="Arial"/>
              <a:buNone/>
            </a:pPr>
            <a:endParaRPr sz="2000" b="0" i="0" u="none" strike="noStrike" cap="none">
              <a:latin typeface="Calibri"/>
              <a:ea typeface="Calibri"/>
              <a:cs typeface="Calibri"/>
              <a:sym typeface="Calibri"/>
            </a:endParaRPr>
          </a:p>
        </p:txBody>
      </p:sp>
      <p:sp>
        <p:nvSpPr>
          <p:cNvPr id="291" name="Google Shape;291;p21"/>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292" name="Google Shape;292;p21"/>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21</a:t>
            </a:fld>
            <a:endParaRPr/>
          </a:p>
        </p:txBody>
      </p:sp>
      <p:sp>
        <p:nvSpPr>
          <p:cNvPr id="293" name="Google Shape;293;p21"/>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br>
              <a:rPr lang="en-US" b="1"/>
            </a:br>
            <a:r>
              <a:rPr lang="en-US" b="1"/>
              <a:t>Plasma Panel</a:t>
            </a:r>
            <a:endParaRPr/>
          </a:p>
          <a:p>
            <a:pPr marL="0" lvl="0" indent="0" algn="l" rtl="0">
              <a:lnSpc>
                <a:spcPct val="90000"/>
              </a:lnSpc>
              <a:spcBef>
                <a:spcPts val="0"/>
              </a:spcBef>
              <a:spcAft>
                <a:spcPts val="0"/>
              </a:spcAft>
              <a:buClr>
                <a:srgbClr val="262626"/>
              </a:buClr>
              <a:buSzPct val="75000"/>
              <a:buFont typeface="Calibri"/>
              <a:buNone/>
            </a:pPr>
            <a:endParaRPr sz="4000" b="1"/>
          </a:p>
        </p:txBody>
      </p:sp>
      <p:pic>
        <p:nvPicPr>
          <p:cNvPr id="294" name="Google Shape;294;p21"/>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2"/>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p>
            <a:pPr marL="457200" marR="0" lvl="0" indent="-311150" algn="just" rtl="0">
              <a:lnSpc>
                <a:spcPct val="90000"/>
              </a:lnSpc>
              <a:spcBef>
                <a:spcPts val="0"/>
              </a:spcBef>
              <a:spcAft>
                <a:spcPts val="0"/>
              </a:spcAft>
              <a:buSzPts val="1300"/>
              <a:buFont typeface="Calibri"/>
              <a:buChar char="●"/>
            </a:pPr>
            <a:r>
              <a:rPr lang="en-US" sz="2000" b="0" i="0" u="none">
                <a:latin typeface="Calibri"/>
                <a:ea typeface="Calibri"/>
                <a:cs typeface="Calibri"/>
                <a:sym typeface="Calibri"/>
              </a:rPr>
              <a:t>The thin film EL glass panel consists of a luminescent phosphor layer sandwiched between transparent dielectric layers and a matrix of row and column electrodes. A circuit board containing the drive and control electronics is connected to the back of the glass panel. Voltage is applied to row and column electrodes causing the area of intersection (a pixel) to emit light.</a:t>
            </a:r>
            <a:endParaRPr sz="2000"/>
          </a:p>
          <a:p>
            <a:pPr marL="171450" marR="0" lvl="0" indent="-171450" algn="just" rtl="0">
              <a:lnSpc>
                <a:spcPct val="90000"/>
              </a:lnSpc>
              <a:spcBef>
                <a:spcPts val="700"/>
              </a:spcBef>
              <a:spcAft>
                <a:spcPts val="0"/>
              </a:spcAft>
              <a:buClr>
                <a:schemeClr val="dk1"/>
              </a:buClr>
              <a:buSzPts val="2400"/>
              <a:buFont typeface="Arial"/>
              <a:buNone/>
            </a:pPr>
            <a:endParaRPr sz="2000" b="0" i="0" u="none">
              <a:latin typeface="Calibri"/>
              <a:ea typeface="Calibri"/>
              <a:cs typeface="Calibri"/>
              <a:sym typeface="Calibri"/>
            </a:endParaRPr>
          </a:p>
          <a:p>
            <a:pPr marL="457200" marR="0" lvl="0" indent="-355600" algn="just" rtl="0">
              <a:lnSpc>
                <a:spcPct val="90000"/>
              </a:lnSpc>
              <a:spcBef>
                <a:spcPts val="700"/>
              </a:spcBef>
              <a:spcAft>
                <a:spcPts val="0"/>
              </a:spcAft>
              <a:buSzPts val="2000"/>
              <a:buFont typeface="Calibri"/>
              <a:buChar char="•"/>
            </a:pPr>
            <a:r>
              <a:rPr lang="en-US" sz="2000" b="0" i="0" u="none">
                <a:latin typeface="Calibri"/>
                <a:ea typeface="Calibri"/>
                <a:cs typeface="Calibri"/>
                <a:sym typeface="Calibri"/>
              </a:rPr>
              <a:t>The result of this solid-state design is a flat, compact, reliable, and inherently rugged display with exceptionally fast response times (&lt; 1 ms).</a:t>
            </a:r>
            <a:endParaRPr sz="2000"/>
          </a:p>
          <a:p>
            <a:pPr marL="171450" marR="0" lvl="0" indent="-19050" algn="l" rtl="0">
              <a:lnSpc>
                <a:spcPct val="90000"/>
              </a:lnSpc>
              <a:spcBef>
                <a:spcPts val="750"/>
              </a:spcBef>
              <a:spcAft>
                <a:spcPts val="0"/>
              </a:spcAft>
              <a:buClr>
                <a:schemeClr val="dk1"/>
              </a:buClr>
              <a:buSzPts val="2400"/>
              <a:buFont typeface="Arial"/>
              <a:buNone/>
            </a:pPr>
            <a:endParaRPr sz="2000" b="0" i="0" u="none">
              <a:latin typeface="Calibri"/>
              <a:ea typeface="Calibri"/>
              <a:cs typeface="Calibri"/>
              <a:sym typeface="Calibri"/>
            </a:endParaRPr>
          </a:p>
        </p:txBody>
      </p:sp>
      <p:sp>
        <p:nvSpPr>
          <p:cNvPr id="301" name="Google Shape;301;p22"/>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302" name="Google Shape;302;p22"/>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22</a:t>
            </a:fld>
            <a:endParaRPr/>
          </a:p>
        </p:txBody>
      </p:sp>
      <p:sp>
        <p:nvSpPr>
          <p:cNvPr id="303" name="Google Shape;303;p22"/>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262626"/>
              </a:buClr>
              <a:buSzPct val="100000"/>
              <a:buFont typeface="Calibri"/>
              <a:buNone/>
            </a:pPr>
            <a:endParaRPr b="1">
              <a:solidFill>
                <a:srgbClr val="262626"/>
              </a:solidFill>
            </a:endParaRPr>
          </a:p>
          <a:p>
            <a:pPr marL="0" lvl="0" indent="0" algn="l" rtl="0">
              <a:spcBef>
                <a:spcPts val="0"/>
              </a:spcBef>
              <a:spcAft>
                <a:spcPts val="0"/>
              </a:spcAft>
              <a:buClr>
                <a:srgbClr val="262626"/>
              </a:buClr>
              <a:buSzPct val="100000"/>
              <a:buFont typeface="Calibri"/>
              <a:buNone/>
            </a:pPr>
            <a:r>
              <a:rPr lang="en-US" b="1">
                <a:solidFill>
                  <a:srgbClr val="262626"/>
                </a:solidFill>
              </a:rPr>
              <a:t>Thin-Film Electroluminescent Display</a:t>
            </a:r>
            <a:endParaRPr/>
          </a:p>
          <a:p>
            <a:pPr marL="0" lvl="0" indent="0" algn="l" rtl="0">
              <a:lnSpc>
                <a:spcPct val="90000"/>
              </a:lnSpc>
              <a:spcBef>
                <a:spcPts val="0"/>
              </a:spcBef>
              <a:spcAft>
                <a:spcPts val="0"/>
              </a:spcAft>
              <a:buClr>
                <a:srgbClr val="262626"/>
              </a:buClr>
              <a:buSzPct val="75000"/>
              <a:buFont typeface="Calibri"/>
              <a:buNone/>
            </a:pPr>
            <a:endParaRPr sz="4000" b="1"/>
          </a:p>
        </p:txBody>
      </p:sp>
      <p:pic>
        <p:nvPicPr>
          <p:cNvPr id="304" name="Google Shape;304;p22"/>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310" name="Google Shape;310;p23" descr="TFEL"/>
          <p:cNvPicPr preferRelativeResize="0"/>
          <p:nvPr/>
        </p:nvPicPr>
        <p:blipFill rotWithShape="1">
          <a:blip r:embed="rId3">
            <a:alphaModFix/>
          </a:blip>
          <a:srcRect/>
          <a:stretch/>
        </p:blipFill>
        <p:spPr>
          <a:xfrm>
            <a:off x="1143000" y="1219200"/>
            <a:ext cx="7162800" cy="4767262"/>
          </a:xfrm>
          <a:prstGeom prst="rect">
            <a:avLst/>
          </a:prstGeom>
          <a:noFill/>
          <a:ln>
            <a:noFill/>
          </a:ln>
        </p:spPr>
      </p:pic>
      <p:sp>
        <p:nvSpPr>
          <p:cNvPr id="311" name="Google Shape;311;p23"/>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312" name="Google Shape;312;p23"/>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23</a:t>
            </a:fld>
            <a:endParaRPr/>
          </a:p>
        </p:txBody>
      </p:sp>
      <p:sp>
        <p:nvSpPr>
          <p:cNvPr id="313" name="Google Shape;313;p23"/>
          <p:cNvSpPr txBox="1">
            <a:spLocks noGrp="1"/>
          </p:cNvSpPr>
          <p:nvPr>
            <p:ph type="title" idx="4294967295"/>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262626"/>
              </a:buClr>
              <a:buSzPct val="100000"/>
              <a:buFont typeface="Calibri"/>
              <a:buNone/>
            </a:pPr>
            <a:endParaRPr b="1">
              <a:solidFill>
                <a:srgbClr val="262626"/>
              </a:solidFill>
            </a:endParaRPr>
          </a:p>
          <a:p>
            <a:pPr marL="0" lvl="0" indent="0" algn="l" rtl="0">
              <a:spcBef>
                <a:spcPts val="0"/>
              </a:spcBef>
              <a:spcAft>
                <a:spcPts val="0"/>
              </a:spcAft>
              <a:buClr>
                <a:srgbClr val="262626"/>
              </a:buClr>
              <a:buSzPct val="100000"/>
              <a:buFont typeface="Calibri"/>
              <a:buNone/>
            </a:pPr>
            <a:r>
              <a:rPr lang="en-US" b="1">
                <a:solidFill>
                  <a:srgbClr val="262626"/>
                </a:solidFill>
              </a:rPr>
              <a:t>Thin-Film Electroluminescent Display</a:t>
            </a:r>
            <a:endParaRPr/>
          </a:p>
          <a:p>
            <a:pPr marL="0" lvl="0" indent="0" algn="l" rtl="0">
              <a:lnSpc>
                <a:spcPct val="90000"/>
              </a:lnSpc>
              <a:spcBef>
                <a:spcPts val="0"/>
              </a:spcBef>
              <a:spcAft>
                <a:spcPts val="0"/>
              </a:spcAft>
              <a:buClr>
                <a:srgbClr val="262626"/>
              </a:buClr>
              <a:buSzPct val="75000"/>
              <a:buFont typeface="Calibri"/>
              <a:buNone/>
            </a:pPr>
            <a:endParaRPr sz="4000" b="1"/>
          </a:p>
        </p:txBody>
      </p:sp>
      <p:pic>
        <p:nvPicPr>
          <p:cNvPr id="314" name="Google Shape;314;p23"/>
          <p:cNvPicPr preferRelativeResize="0"/>
          <p:nvPr/>
        </p:nvPicPr>
        <p:blipFill rotWithShape="1">
          <a:blip r:embed="rId4">
            <a:alphaModFix/>
          </a:blip>
          <a:srcRect/>
          <a:stretch/>
        </p:blipFill>
        <p:spPr>
          <a:xfrm>
            <a:off x="8127150" y="482200"/>
            <a:ext cx="1224300" cy="6121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4"/>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Autofit/>
          </a:bodyPr>
          <a:lstStyle/>
          <a:p>
            <a:pPr marL="171450" marR="0" lvl="0" indent="-158750" algn="just" rtl="0">
              <a:lnSpc>
                <a:spcPct val="90000"/>
              </a:lnSpc>
              <a:spcBef>
                <a:spcPts val="0"/>
              </a:spcBef>
              <a:spcAft>
                <a:spcPts val="0"/>
              </a:spcAft>
              <a:buClr>
                <a:schemeClr val="dk1"/>
              </a:buClr>
              <a:buSzPts val="1900"/>
              <a:buFont typeface="Arial"/>
              <a:buChar char="•"/>
            </a:pPr>
            <a:r>
              <a:rPr lang="en-US" sz="1900" b="0" i="0" u="none">
                <a:solidFill>
                  <a:schemeClr val="dk1"/>
                </a:solidFill>
                <a:latin typeface="Calibri"/>
                <a:ea typeface="Calibri"/>
                <a:cs typeface="Calibri"/>
                <a:sym typeface="Calibri"/>
              </a:rPr>
              <a:t>A matrix of diodes is arranged to form the pixel positions in the display, and the picture definition is stored in a refresh buffer. As in scan-line refreshing of a CRT, information is read from the refresh buffer and converted to voltage levels that are applied to the diodes to produce the light patterns in the display.</a:t>
            </a:r>
            <a:endParaRPr sz="1900"/>
          </a:p>
        </p:txBody>
      </p:sp>
      <p:sp>
        <p:nvSpPr>
          <p:cNvPr id="321" name="Google Shape;321;p24"/>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322" name="Google Shape;322;p24"/>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24</a:t>
            </a:fld>
            <a:endParaRPr/>
          </a:p>
        </p:txBody>
      </p:sp>
      <p:sp>
        <p:nvSpPr>
          <p:cNvPr id="323" name="Google Shape;323;p24"/>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62626"/>
              </a:buClr>
              <a:buSzPts val="3000"/>
              <a:buFont typeface="Calibri"/>
              <a:buNone/>
            </a:pPr>
            <a:r>
              <a:rPr lang="en-US" b="1">
                <a:solidFill>
                  <a:srgbClr val="262626"/>
                </a:solidFill>
              </a:rPr>
              <a:t>LED</a:t>
            </a:r>
            <a:endParaRPr sz="4000" b="1"/>
          </a:p>
        </p:txBody>
      </p:sp>
      <p:pic>
        <p:nvPicPr>
          <p:cNvPr id="324" name="Google Shape;324;p24"/>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5"/>
          <p:cNvSpPr txBox="1">
            <a:spLocks noGrp="1"/>
          </p:cNvSpPr>
          <p:nvPr>
            <p:ph type="body" idx="1"/>
          </p:nvPr>
        </p:nvSpPr>
        <p:spPr>
          <a:xfrm>
            <a:off x="457200" y="1386000"/>
            <a:ext cx="8229600" cy="5181600"/>
          </a:xfrm>
          <a:prstGeom prst="rect">
            <a:avLst/>
          </a:prstGeom>
          <a:noFill/>
          <a:ln>
            <a:noFill/>
          </a:ln>
        </p:spPr>
        <p:txBody>
          <a:bodyPr spcFirstLastPara="1" wrap="square" lIns="91425" tIns="45700" rIns="91425" bIns="45700" anchor="t" anchorCtr="0">
            <a:normAutofit/>
          </a:bodyPr>
          <a:lstStyle/>
          <a:p>
            <a:pPr marL="171450" marR="0" lvl="0" indent="0" algn="l" rtl="0">
              <a:lnSpc>
                <a:spcPct val="90000"/>
              </a:lnSpc>
              <a:spcBef>
                <a:spcPts val="0"/>
              </a:spcBef>
              <a:spcAft>
                <a:spcPts val="0"/>
              </a:spcAft>
              <a:buNone/>
            </a:pPr>
            <a:r>
              <a:rPr lang="en-US" sz="2000" b="1" i="0" u="none">
                <a:latin typeface="Calibri"/>
                <a:ea typeface="Calibri"/>
                <a:cs typeface="Calibri"/>
                <a:sym typeface="Calibri"/>
              </a:rPr>
              <a:t>Advantages:</a:t>
            </a:r>
            <a:endParaRPr sz="2000" b="0" i="0" u="none">
              <a:latin typeface="Calibri"/>
              <a:ea typeface="Calibri"/>
              <a:cs typeface="Calibri"/>
              <a:sym typeface="Calibri"/>
            </a:endParaRPr>
          </a:p>
          <a:p>
            <a:pPr marL="639763" marR="0" lvl="1" indent="-169863"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A very low energy consumption level. </a:t>
            </a:r>
            <a:endParaRPr sz="2000"/>
          </a:p>
          <a:p>
            <a:pPr marL="639763" marR="0" lvl="1" indent="-169863"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Lasts much longer than traditional lighting. It has been known to last up to 50,000 hours. That's way more than any other available lighting type.</a:t>
            </a:r>
            <a:endParaRPr sz="2000"/>
          </a:p>
          <a:p>
            <a:pPr marL="639763" marR="0" lvl="1" indent="-169863"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Can easily resist thermal shocks and vibrations. Normal light bulbs are useless when you drop or bump them. Not LED lights.</a:t>
            </a:r>
            <a:endParaRPr sz="2000"/>
          </a:p>
          <a:p>
            <a:pPr marL="639763" marR="0" lvl="1" indent="-169863"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Great for spotlighting due to a directional distribution. All of the light molecules can easily be sent in one direction without losing energy.</a:t>
            </a:r>
            <a:endParaRPr sz="2000"/>
          </a:p>
          <a:p>
            <a:pPr marL="639763" marR="0" lvl="1" indent="-169863"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There is no infrared lighting from LED lights. And there is no UV radiation, which is better for you and the environment.</a:t>
            </a:r>
            <a:endParaRPr sz="2000"/>
          </a:p>
          <a:p>
            <a:pPr marL="639763" marR="0" lvl="1" indent="-169863"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Contains no mercury making it safer.</a:t>
            </a:r>
            <a:endParaRPr sz="2000"/>
          </a:p>
          <a:p>
            <a:pPr marL="639763" marR="0" lvl="1" indent="-169863" algn="just" rtl="0">
              <a:lnSpc>
                <a:spcPct val="90000"/>
              </a:lnSpc>
              <a:spcBef>
                <a:spcPts val="300"/>
              </a:spcBef>
              <a:spcAft>
                <a:spcPts val="0"/>
              </a:spcAft>
              <a:buSzPts val="600"/>
              <a:buFont typeface="Noto Sans Symbols"/>
              <a:buChar char="⚫"/>
            </a:pPr>
            <a:r>
              <a:rPr lang="en-US" sz="2000" b="0" i="0" u="none" strike="noStrike" cap="none">
                <a:latin typeface="Calibri"/>
                <a:ea typeface="Calibri"/>
                <a:cs typeface="Calibri"/>
                <a:sym typeface="Calibri"/>
              </a:rPr>
              <a:t>They make great colored lights from anywhere on the light spectrum</a:t>
            </a:r>
            <a:endParaRPr sz="2000"/>
          </a:p>
          <a:p>
            <a:pPr marL="171450" marR="0" lvl="0" indent="-57150" algn="l" rtl="0">
              <a:lnSpc>
                <a:spcPct val="90000"/>
              </a:lnSpc>
              <a:spcBef>
                <a:spcPts val="750"/>
              </a:spcBef>
              <a:spcAft>
                <a:spcPts val="0"/>
              </a:spcAft>
              <a:buClr>
                <a:schemeClr val="dk1"/>
              </a:buClr>
              <a:buSzPts val="1800"/>
              <a:buFont typeface="Arial"/>
              <a:buNone/>
            </a:pPr>
            <a:endParaRPr sz="2000" b="0" i="0" u="none" strike="noStrike" cap="none">
              <a:latin typeface="Calibri"/>
              <a:ea typeface="Calibri"/>
              <a:cs typeface="Calibri"/>
              <a:sym typeface="Calibri"/>
            </a:endParaRPr>
          </a:p>
        </p:txBody>
      </p:sp>
      <p:sp>
        <p:nvSpPr>
          <p:cNvPr id="331" name="Google Shape;331;p25"/>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332" name="Google Shape;332;p25"/>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25</a:t>
            </a:fld>
            <a:endParaRPr/>
          </a:p>
        </p:txBody>
      </p:sp>
      <p:pic>
        <p:nvPicPr>
          <p:cNvPr id="333" name="Google Shape;333;p25"/>
          <p:cNvPicPr preferRelativeResize="0"/>
          <p:nvPr/>
        </p:nvPicPr>
        <p:blipFill rotWithShape="1">
          <a:blip r:embed="rId3">
            <a:alphaModFix/>
          </a:blip>
          <a:srcRect/>
          <a:stretch/>
        </p:blipFill>
        <p:spPr>
          <a:xfrm>
            <a:off x="8127150" y="482200"/>
            <a:ext cx="1224300" cy="612150"/>
          </a:xfrm>
          <a:prstGeom prst="rect">
            <a:avLst/>
          </a:prstGeom>
          <a:noFill/>
          <a:ln>
            <a:noFill/>
          </a:ln>
        </p:spPr>
      </p:pic>
      <p:sp>
        <p:nvSpPr>
          <p:cNvPr id="334" name="Google Shape;334;p25"/>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62626"/>
              </a:buClr>
              <a:buSzPts val="3000"/>
              <a:buFont typeface="Calibri"/>
              <a:buNone/>
            </a:pPr>
            <a:r>
              <a:rPr lang="en-US" b="1">
                <a:solidFill>
                  <a:srgbClr val="262626"/>
                </a:solidFill>
              </a:rPr>
              <a:t>LED</a:t>
            </a:r>
            <a:endParaRPr sz="4000" b="1"/>
          </a:p>
        </p:txBody>
      </p:sp>
      <p:pic>
        <p:nvPicPr>
          <p:cNvPr id="335" name="Google Shape;335;p25"/>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26"/>
          <p:cNvSpPr txBox="1">
            <a:spLocks noGrp="1"/>
          </p:cNvSpPr>
          <p:nvPr>
            <p:ph type="body" idx="1"/>
          </p:nvPr>
        </p:nvSpPr>
        <p:spPr>
          <a:xfrm>
            <a:off x="457200" y="1687500"/>
            <a:ext cx="8229600" cy="4637100"/>
          </a:xfrm>
          <a:prstGeom prst="rect">
            <a:avLst/>
          </a:prstGeom>
          <a:noFill/>
          <a:ln>
            <a:noFill/>
          </a:ln>
        </p:spPr>
        <p:txBody>
          <a:bodyPr spcFirstLastPara="1" wrap="square" lIns="91425" tIns="45700" rIns="91425" bIns="45700" anchor="t" anchorCtr="0">
            <a:noAutofit/>
          </a:bodyPr>
          <a:lstStyle/>
          <a:p>
            <a:pPr marL="171450" marR="0" lvl="0" indent="0" algn="l" rtl="0">
              <a:lnSpc>
                <a:spcPct val="90000"/>
              </a:lnSpc>
              <a:spcBef>
                <a:spcPts val="0"/>
              </a:spcBef>
              <a:spcAft>
                <a:spcPts val="0"/>
              </a:spcAft>
              <a:buNone/>
            </a:pPr>
            <a:r>
              <a:rPr lang="en-US" sz="2000" b="1" i="0" u="none">
                <a:solidFill>
                  <a:schemeClr val="dk1"/>
                </a:solidFill>
                <a:latin typeface="Calibri"/>
                <a:ea typeface="Calibri"/>
                <a:cs typeface="Calibri"/>
                <a:sym typeface="Calibri"/>
              </a:rPr>
              <a:t>Disadvantages:</a:t>
            </a:r>
            <a:endParaRPr sz="2000" b="0" i="0" u="none">
              <a:solidFill>
                <a:schemeClr val="dk1"/>
              </a:solidFill>
              <a:latin typeface="Calibri"/>
              <a:ea typeface="Calibri"/>
              <a:cs typeface="Calibri"/>
              <a:sym typeface="Calibri"/>
            </a:endParaRPr>
          </a:p>
          <a:p>
            <a:pPr marL="514350" marR="0" lvl="1" indent="-184150" algn="just" rtl="0">
              <a:lnSpc>
                <a:spcPct val="90000"/>
              </a:lnSpc>
              <a:spcBef>
                <a:spcPts val="3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A very limited variety and selection for your home compared to other types of lighting.</a:t>
            </a:r>
            <a:endParaRPr sz="2000"/>
          </a:p>
          <a:p>
            <a:pPr marL="514350" marR="0" lvl="1" indent="-184150" algn="just" rtl="0">
              <a:lnSpc>
                <a:spcPct val="90000"/>
              </a:lnSpc>
              <a:spcBef>
                <a:spcPts val="3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Hard to find in smaller towns where consumers may have a smaller interest in this lighting alternative.</a:t>
            </a:r>
            <a:endParaRPr sz="2000"/>
          </a:p>
          <a:p>
            <a:pPr marL="514350" marR="0" lvl="1" indent="-184150" algn="just" rtl="0">
              <a:lnSpc>
                <a:spcPct val="90000"/>
              </a:lnSpc>
              <a:spcBef>
                <a:spcPts val="3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Significantly more expensive than regular lighting and not budget conscious.</a:t>
            </a:r>
            <a:endParaRPr sz="2000"/>
          </a:p>
          <a:p>
            <a:pPr marL="514350" marR="0" lvl="1" indent="-184150" algn="just" rtl="0">
              <a:lnSpc>
                <a:spcPct val="90000"/>
              </a:lnSpc>
              <a:spcBef>
                <a:spcPts val="3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Not good for residential flood lighting. You will need extra equipment to make this work</a:t>
            </a:r>
            <a:endParaRPr sz="2000"/>
          </a:p>
          <a:p>
            <a:pPr marL="514350" marR="0" lvl="1" indent="-184150" algn="just" rtl="0">
              <a:lnSpc>
                <a:spcPct val="90000"/>
              </a:lnSpc>
              <a:spcBef>
                <a:spcPts val="3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Although they are available in many colors, the quality of the colors is not quite as good as with regular lighting.</a:t>
            </a:r>
            <a:endParaRPr sz="2000"/>
          </a:p>
          <a:p>
            <a:pPr marL="171450" marR="0" lvl="0" indent="-57150" algn="l" rtl="0">
              <a:lnSpc>
                <a:spcPct val="90000"/>
              </a:lnSpc>
              <a:spcBef>
                <a:spcPts val="750"/>
              </a:spcBef>
              <a:spcAft>
                <a:spcPts val="0"/>
              </a:spcAft>
              <a:buClr>
                <a:schemeClr val="dk1"/>
              </a:buClr>
              <a:buSzPts val="1800"/>
              <a:buFont typeface="Arial"/>
              <a:buNone/>
            </a:pPr>
            <a:endParaRPr sz="2000" b="0" i="0" u="none" strike="noStrike" cap="none">
              <a:solidFill>
                <a:schemeClr val="dk1"/>
              </a:solidFill>
              <a:latin typeface="Calibri"/>
              <a:ea typeface="Calibri"/>
              <a:cs typeface="Calibri"/>
              <a:sym typeface="Calibri"/>
            </a:endParaRPr>
          </a:p>
        </p:txBody>
      </p:sp>
      <p:sp>
        <p:nvSpPr>
          <p:cNvPr id="342" name="Google Shape;342;p26"/>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343" name="Google Shape;343;p26"/>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26</a:t>
            </a:fld>
            <a:endParaRPr/>
          </a:p>
        </p:txBody>
      </p:sp>
      <p:sp>
        <p:nvSpPr>
          <p:cNvPr id="344" name="Google Shape;344;p26"/>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62626"/>
              </a:buClr>
              <a:buSzPts val="3000"/>
              <a:buFont typeface="Calibri"/>
              <a:buNone/>
            </a:pPr>
            <a:r>
              <a:rPr lang="en-US" b="1">
                <a:solidFill>
                  <a:srgbClr val="262626"/>
                </a:solidFill>
              </a:rPr>
              <a:t>LED</a:t>
            </a:r>
            <a:endParaRPr sz="4000" b="1"/>
          </a:p>
        </p:txBody>
      </p:sp>
      <p:pic>
        <p:nvPicPr>
          <p:cNvPr id="345" name="Google Shape;345;p26"/>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7"/>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p>
            <a:pPr marL="171450" marR="0" lvl="0" indent="0" algn="just" rtl="0">
              <a:lnSpc>
                <a:spcPct val="90000"/>
              </a:lnSpc>
              <a:spcBef>
                <a:spcPts val="0"/>
              </a:spcBef>
              <a:spcAft>
                <a:spcPts val="0"/>
              </a:spcAft>
              <a:buNone/>
            </a:pPr>
            <a:r>
              <a:rPr lang="en-US" sz="2000" b="0" i="0" u="none">
                <a:latin typeface="Calibri"/>
                <a:ea typeface="Calibri"/>
                <a:cs typeface="Calibri"/>
                <a:sym typeface="Calibri"/>
              </a:rPr>
              <a:t>LCD is commonly used in small systems, such as calculators, and portable, laptop computers. These non-emissive devices produce a picture by passing polarized light from the surroundings or from an internal light source through a liquid-crystal material that can be aligned either block or transmit the light.</a:t>
            </a:r>
            <a:endParaRPr sz="2000"/>
          </a:p>
          <a:p>
            <a:pPr marL="171450" marR="0" lvl="0" indent="0" algn="l" rtl="0">
              <a:lnSpc>
                <a:spcPct val="90000"/>
              </a:lnSpc>
              <a:spcBef>
                <a:spcPts val="750"/>
              </a:spcBef>
              <a:spcAft>
                <a:spcPts val="0"/>
              </a:spcAft>
              <a:buClr>
                <a:schemeClr val="dk1"/>
              </a:buClr>
              <a:buSzPts val="2800"/>
              <a:buFont typeface="Arial"/>
              <a:buNone/>
            </a:pPr>
            <a:endParaRPr sz="2400" b="0" i="0" u="none">
              <a:latin typeface="Calibri"/>
              <a:ea typeface="Calibri"/>
              <a:cs typeface="Calibri"/>
              <a:sym typeface="Calibri"/>
            </a:endParaRPr>
          </a:p>
        </p:txBody>
      </p:sp>
      <p:sp>
        <p:nvSpPr>
          <p:cNvPr id="352" name="Google Shape;352;p27"/>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353" name="Google Shape;353;p27"/>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27</a:t>
            </a:fld>
            <a:endParaRPr/>
          </a:p>
        </p:txBody>
      </p:sp>
      <p:sp>
        <p:nvSpPr>
          <p:cNvPr id="354" name="Google Shape;354;p27"/>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62626"/>
              </a:buClr>
              <a:buSzPts val="3000"/>
              <a:buFont typeface="Calibri"/>
              <a:buNone/>
            </a:pPr>
            <a:r>
              <a:rPr lang="en-US" b="1">
                <a:solidFill>
                  <a:srgbClr val="262626"/>
                </a:solidFill>
              </a:rPr>
              <a:t>LCD</a:t>
            </a:r>
            <a:endParaRPr sz="4000" b="1"/>
          </a:p>
        </p:txBody>
      </p:sp>
      <p:pic>
        <p:nvPicPr>
          <p:cNvPr id="355" name="Google Shape;355;p27"/>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8"/>
          <p:cNvSpPr txBox="1">
            <a:spLocks noGrp="1"/>
          </p:cNvSpPr>
          <p:nvPr>
            <p:ph type="body" idx="1"/>
          </p:nvPr>
        </p:nvSpPr>
        <p:spPr>
          <a:xfrm>
            <a:off x="457200" y="1390800"/>
            <a:ext cx="8229600" cy="5059500"/>
          </a:xfrm>
          <a:prstGeom prst="rect">
            <a:avLst/>
          </a:prstGeom>
          <a:noFill/>
          <a:ln>
            <a:noFill/>
          </a:ln>
        </p:spPr>
        <p:txBody>
          <a:bodyPr spcFirstLastPara="1" wrap="square" lIns="91425" tIns="45700" rIns="91425" bIns="45700" anchor="t" anchorCtr="0">
            <a:normAutofit/>
          </a:bodyPr>
          <a:lstStyle/>
          <a:p>
            <a:pPr marL="171450" marR="0" lvl="0" indent="0" algn="l" rtl="0">
              <a:lnSpc>
                <a:spcPct val="80000"/>
              </a:lnSpc>
              <a:spcBef>
                <a:spcPts val="0"/>
              </a:spcBef>
              <a:spcAft>
                <a:spcPts val="0"/>
              </a:spcAft>
              <a:buNone/>
            </a:pPr>
            <a:r>
              <a:rPr lang="en-US" b="1"/>
              <a:t> </a:t>
            </a:r>
            <a:r>
              <a:rPr lang="en-US" b="1" i="0" u="none">
                <a:latin typeface="Calibri"/>
                <a:ea typeface="Calibri"/>
                <a:cs typeface="Calibri"/>
                <a:sym typeface="Calibri"/>
              </a:rPr>
              <a:t>Advantages:</a:t>
            </a:r>
            <a:endParaRPr b="0" i="0" u="none">
              <a:latin typeface="Calibri"/>
              <a:ea typeface="Calibri"/>
              <a:cs typeface="Calibri"/>
              <a:sym typeface="Calibri"/>
            </a:endParaRPr>
          </a:p>
          <a:p>
            <a:pPr marL="273050" marR="0" lvl="0" indent="-273050" algn="l" rtl="0">
              <a:lnSpc>
                <a:spcPct val="80000"/>
              </a:lnSpc>
              <a:spcBef>
                <a:spcPts val="700"/>
              </a:spcBef>
              <a:spcAft>
                <a:spcPts val="0"/>
              </a:spcAft>
              <a:buClr>
                <a:srgbClr val="404040"/>
              </a:buClr>
              <a:buSzPts val="2100"/>
              <a:buFont typeface="Arial"/>
              <a:buNone/>
            </a:pPr>
            <a:r>
              <a:rPr lang="en-US" b="1" i="0" u="none">
                <a:latin typeface="Calibri"/>
                <a:ea typeface="Calibri"/>
                <a:cs typeface="Calibri"/>
                <a:sym typeface="Calibri"/>
              </a:rPr>
              <a:t>	1. Sharpness</a:t>
            </a:r>
            <a:r>
              <a:rPr lang="en-US" b="0" i="0" u="none">
                <a:latin typeface="Calibri"/>
                <a:ea typeface="Calibri"/>
                <a:cs typeface="Calibri"/>
                <a:sym typeface="Calibri"/>
              </a:rPr>
              <a:t> </a:t>
            </a:r>
            <a:br>
              <a:rPr lang="en-US" b="0" i="0" u="none">
                <a:latin typeface="Calibri"/>
                <a:ea typeface="Calibri"/>
                <a:cs typeface="Calibri"/>
                <a:sym typeface="Calibri"/>
              </a:rPr>
            </a:br>
            <a:r>
              <a:rPr lang="en-US" b="0" i="0" u="none">
                <a:latin typeface="Calibri"/>
                <a:ea typeface="Calibri"/>
                <a:cs typeface="Calibri"/>
                <a:sym typeface="Calibri"/>
              </a:rPr>
              <a:t>Image is perfectly sharp at the native resolution of the panel. LCDs using an analog input require careful adjustment of pixel tracking/phase. </a:t>
            </a:r>
            <a:endParaRPr/>
          </a:p>
          <a:p>
            <a:pPr marL="273050" marR="0" lvl="0" indent="-273050" algn="l" rtl="0">
              <a:lnSpc>
                <a:spcPct val="80000"/>
              </a:lnSpc>
              <a:spcBef>
                <a:spcPts val="700"/>
              </a:spcBef>
              <a:spcAft>
                <a:spcPts val="0"/>
              </a:spcAft>
              <a:buClr>
                <a:srgbClr val="404040"/>
              </a:buClr>
              <a:buSzPts val="2100"/>
              <a:buFont typeface="Arial"/>
              <a:buNone/>
            </a:pPr>
            <a:r>
              <a:rPr lang="en-US" b="1" i="0" u="none">
                <a:latin typeface="Calibri"/>
                <a:ea typeface="Calibri"/>
                <a:cs typeface="Calibri"/>
                <a:sym typeface="Calibri"/>
              </a:rPr>
              <a:t>	2. Geometric Distortion</a:t>
            </a:r>
            <a:r>
              <a:rPr lang="en-US" b="0" i="0" u="none">
                <a:latin typeface="Calibri"/>
                <a:ea typeface="Calibri"/>
                <a:cs typeface="Calibri"/>
                <a:sym typeface="Calibri"/>
              </a:rPr>
              <a:t> </a:t>
            </a:r>
            <a:br>
              <a:rPr lang="en-US" b="0" i="0" u="none">
                <a:latin typeface="Calibri"/>
                <a:ea typeface="Calibri"/>
                <a:cs typeface="Calibri"/>
                <a:sym typeface="Calibri"/>
              </a:rPr>
            </a:br>
            <a:r>
              <a:rPr lang="en-US" b="0" i="0" u="none">
                <a:latin typeface="Calibri"/>
                <a:ea typeface="Calibri"/>
                <a:cs typeface="Calibri"/>
                <a:sym typeface="Calibri"/>
              </a:rPr>
              <a:t>Zero geometric distortion at the native resolution of the panel. Minor distortion for other resolutions because the images must be rescaled. </a:t>
            </a:r>
            <a:endParaRPr/>
          </a:p>
          <a:p>
            <a:pPr marL="273050" marR="0" lvl="0" indent="-273050" algn="l" rtl="0">
              <a:lnSpc>
                <a:spcPct val="80000"/>
              </a:lnSpc>
              <a:spcBef>
                <a:spcPts val="700"/>
              </a:spcBef>
              <a:spcAft>
                <a:spcPts val="0"/>
              </a:spcAft>
              <a:buClr>
                <a:srgbClr val="404040"/>
              </a:buClr>
              <a:buSzPts val="2100"/>
              <a:buFont typeface="Arial"/>
              <a:buNone/>
            </a:pPr>
            <a:r>
              <a:rPr lang="en-US" b="1" i="0" u="none">
                <a:latin typeface="Calibri"/>
                <a:ea typeface="Calibri"/>
                <a:cs typeface="Calibri"/>
                <a:sym typeface="Calibri"/>
              </a:rPr>
              <a:t>	3. Brightness</a:t>
            </a:r>
            <a:r>
              <a:rPr lang="en-US" b="0" i="0" u="none">
                <a:latin typeface="Calibri"/>
                <a:ea typeface="Calibri"/>
                <a:cs typeface="Calibri"/>
                <a:sym typeface="Calibri"/>
              </a:rPr>
              <a:t> </a:t>
            </a:r>
            <a:br>
              <a:rPr lang="en-US" b="0" i="0" u="none">
                <a:latin typeface="Calibri"/>
                <a:ea typeface="Calibri"/>
                <a:cs typeface="Calibri"/>
                <a:sym typeface="Calibri"/>
              </a:rPr>
            </a:br>
            <a:r>
              <a:rPr lang="en-US" b="0" i="0" u="none">
                <a:latin typeface="Calibri"/>
                <a:ea typeface="Calibri"/>
                <a:cs typeface="Calibri"/>
                <a:sym typeface="Calibri"/>
              </a:rPr>
              <a:t>High peak intensity produces very bright images. Best for brightly lit environments. </a:t>
            </a:r>
            <a:endParaRPr/>
          </a:p>
          <a:p>
            <a:pPr marL="273050" marR="0" lvl="0" indent="-273050" algn="l" rtl="0">
              <a:lnSpc>
                <a:spcPct val="80000"/>
              </a:lnSpc>
              <a:spcBef>
                <a:spcPts val="700"/>
              </a:spcBef>
              <a:spcAft>
                <a:spcPts val="0"/>
              </a:spcAft>
              <a:buClr>
                <a:srgbClr val="404040"/>
              </a:buClr>
              <a:buSzPts val="2100"/>
              <a:buFont typeface="Arial"/>
              <a:buNone/>
            </a:pPr>
            <a:r>
              <a:rPr lang="en-US" b="1" i="0" u="none">
                <a:latin typeface="Calibri"/>
                <a:ea typeface="Calibri"/>
                <a:cs typeface="Calibri"/>
                <a:sym typeface="Calibri"/>
              </a:rPr>
              <a:t>	4. Screen Shape</a:t>
            </a:r>
            <a:r>
              <a:rPr lang="en-US" b="0" i="0" u="none">
                <a:latin typeface="Calibri"/>
                <a:ea typeface="Calibri"/>
                <a:cs typeface="Calibri"/>
                <a:sym typeface="Calibri"/>
              </a:rPr>
              <a:t> </a:t>
            </a:r>
            <a:br>
              <a:rPr lang="en-US" b="0" i="0" u="none">
                <a:latin typeface="Calibri"/>
                <a:ea typeface="Calibri"/>
                <a:cs typeface="Calibri"/>
                <a:sym typeface="Calibri"/>
              </a:rPr>
            </a:br>
            <a:r>
              <a:rPr lang="en-US" b="0" i="0" u="none">
                <a:latin typeface="Calibri"/>
                <a:ea typeface="Calibri"/>
                <a:cs typeface="Calibri"/>
                <a:sym typeface="Calibri"/>
              </a:rPr>
              <a:t>Screens are perfectly flat. </a:t>
            </a:r>
            <a:endParaRPr/>
          </a:p>
          <a:p>
            <a:pPr marL="273050" marR="0" lvl="0" indent="-273050" algn="l" rtl="0">
              <a:lnSpc>
                <a:spcPct val="80000"/>
              </a:lnSpc>
              <a:spcBef>
                <a:spcPts val="700"/>
              </a:spcBef>
              <a:spcAft>
                <a:spcPts val="0"/>
              </a:spcAft>
              <a:buClr>
                <a:srgbClr val="404040"/>
              </a:buClr>
              <a:buSzPts val="2100"/>
              <a:buFont typeface="Arial"/>
              <a:buNone/>
            </a:pPr>
            <a:r>
              <a:rPr lang="en-US" b="1" i="0" u="none">
                <a:latin typeface="Calibri"/>
                <a:ea typeface="Calibri"/>
                <a:cs typeface="Calibri"/>
                <a:sym typeface="Calibri"/>
              </a:rPr>
              <a:t>	5. Physical</a:t>
            </a:r>
            <a:r>
              <a:rPr lang="en-US" b="0" i="0" u="none">
                <a:latin typeface="Calibri"/>
                <a:ea typeface="Calibri"/>
                <a:cs typeface="Calibri"/>
                <a:sym typeface="Calibri"/>
              </a:rPr>
              <a:t> </a:t>
            </a:r>
            <a:br>
              <a:rPr lang="en-US" b="0" i="0" u="none">
                <a:latin typeface="Calibri"/>
                <a:ea typeface="Calibri"/>
                <a:cs typeface="Calibri"/>
                <a:sym typeface="Calibri"/>
              </a:rPr>
            </a:br>
            <a:r>
              <a:rPr lang="en-US" b="0" i="0" u="none">
                <a:latin typeface="Calibri"/>
                <a:ea typeface="Calibri"/>
                <a:cs typeface="Calibri"/>
                <a:sym typeface="Calibri"/>
              </a:rPr>
              <a:t>Thin, with a small footprint. Consume little electricity and produce little heat. </a:t>
            </a:r>
            <a:endParaRPr/>
          </a:p>
          <a:p>
            <a:pPr marL="171450" marR="0" lvl="0" indent="-38100" algn="l" rtl="0">
              <a:lnSpc>
                <a:spcPct val="90000"/>
              </a:lnSpc>
              <a:spcBef>
                <a:spcPts val="750"/>
              </a:spcBef>
              <a:spcAft>
                <a:spcPts val="0"/>
              </a:spcAft>
              <a:buClr>
                <a:schemeClr val="dk1"/>
              </a:buClr>
              <a:buSzPts val="2100"/>
              <a:buFont typeface="Arial"/>
              <a:buNone/>
            </a:pPr>
            <a:endParaRPr b="0" i="0" u="none">
              <a:latin typeface="Calibri"/>
              <a:ea typeface="Calibri"/>
              <a:cs typeface="Calibri"/>
              <a:sym typeface="Calibri"/>
            </a:endParaRPr>
          </a:p>
        </p:txBody>
      </p:sp>
      <p:sp>
        <p:nvSpPr>
          <p:cNvPr id="362" name="Google Shape;362;p28"/>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363" name="Google Shape;363;p28"/>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28</a:t>
            </a:fld>
            <a:endParaRPr/>
          </a:p>
        </p:txBody>
      </p:sp>
      <p:sp>
        <p:nvSpPr>
          <p:cNvPr id="364" name="Google Shape;364;p28"/>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62626"/>
              </a:buClr>
              <a:buSzPts val="3000"/>
              <a:buFont typeface="Calibri"/>
              <a:buNone/>
            </a:pPr>
            <a:r>
              <a:rPr lang="en-US" b="1">
                <a:solidFill>
                  <a:srgbClr val="262626"/>
                </a:solidFill>
              </a:rPr>
              <a:t>LCD</a:t>
            </a:r>
            <a:endParaRPr sz="4000" b="1"/>
          </a:p>
        </p:txBody>
      </p:sp>
      <p:pic>
        <p:nvPicPr>
          <p:cNvPr id="365" name="Google Shape;365;p28"/>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29"/>
          <p:cNvSpPr txBox="1">
            <a:spLocks noGrp="1"/>
          </p:cNvSpPr>
          <p:nvPr>
            <p:ph type="body" idx="1"/>
          </p:nvPr>
        </p:nvSpPr>
        <p:spPr>
          <a:xfrm>
            <a:off x="457200" y="1244100"/>
            <a:ext cx="8229600" cy="55167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US" sz="1900" b="1" i="0" u="none">
                <a:latin typeface="Calibri"/>
                <a:ea typeface="Calibri"/>
                <a:cs typeface="Calibri"/>
                <a:sym typeface="Calibri"/>
              </a:rPr>
              <a:t>Disadvantages:</a:t>
            </a:r>
            <a:endParaRPr sz="1900" b="0" i="0" u="none">
              <a:latin typeface="Calibri"/>
              <a:ea typeface="Calibri"/>
              <a:cs typeface="Calibri"/>
              <a:sym typeface="Calibri"/>
            </a:endParaRPr>
          </a:p>
          <a:p>
            <a:pPr marL="171450" marR="0" lvl="0" indent="-171450" algn="l" rtl="0">
              <a:lnSpc>
                <a:spcPct val="90000"/>
              </a:lnSpc>
              <a:spcBef>
                <a:spcPts val="700"/>
              </a:spcBef>
              <a:spcAft>
                <a:spcPts val="0"/>
              </a:spcAft>
              <a:buClr>
                <a:srgbClr val="404040"/>
              </a:buClr>
              <a:buSzPts val="1900"/>
              <a:buFont typeface="Arial"/>
              <a:buNone/>
            </a:pPr>
            <a:r>
              <a:rPr lang="en-US" sz="1900" b="1" i="0" u="none">
                <a:latin typeface="Calibri"/>
                <a:ea typeface="Calibri"/>
                <a:cs typeface="Calibri"/>
                <a:sym typeface="Calibri"/>
              </a:rPr>
              <a:t>1. Resolution</a:t>
            </a:r>
            <a:r>
              <a:rPr lang="en-US" sz="1900" b="0" i="0" u="none">
                <a:latin typeface="Calibri"/>
                <a:ea typeface="Calibri"/>
                <a:cs typeface="Calibri"/>
                <a:sym typeface="Calibri"/>
              </a:rPr>
              <a:t> </a:t>
            </a:r>
            <a:br>
              <a:rPr lang="en-US" sz="1900" b="0" i="0" u="none">
                <a:latin typeface="Calibri"/>
                <a:ea typeface="Calibri"/>
                <a:cs typeface="Calibri"/>
                <a:sym typeface="Calibri"/>
              </a:rPr>
            </a:br>
            <a:r>
              <a:rPr lang="en-US" sz="1900" b="0" i="0" u="none">
                <a:latin typeface="Calibri"/>
                <a:ea typeface="Calibri"/>
                <a:cs typeface="Calibri"/>
                <a:sym typeface="Calibri"/>
              </a:rPr>
              <a:t>Each panel has a fixed pixel resolution format determined at the time of manufacture that can not be changed. If you need fine text and graphics at more than one resolution do not get an LCD display. </a:t>
            </a:r>
            <a:endParaRPr/>
          </a:p>
          <a:p>
            <a:pPr marL="171450" marR="0" lvl="0" indent="-171450" algn="l" rtl="0">
              <a:lnSpc>
                <a:spcPct val="90000"/>
              </a:lnSpc>
              <a:spcBef>
                <a:spcPts val="700"/>
              </a:spcBef>
              <a:spcAft>
                <a:spcPts val="0"/>
              </a:spcAft>
              <a:buClr>
                <a:srgbClr val="404040"/>
              </a:buClr>
              <a:buSzPts val="1900"/>
              <a:buFont typeface="Arial"/>
              <a:buNone/>
            </a:pPr>
            <a:r>
              <a:rPr lang="en-US" sz="1900" b="1" i="0" u="none">
                <a:latin typeface="Calibri"/>
                <a:ea typeface="Calibri"/>
                <a:cs typeface="Calibri"/>
                <a:sym typeface="Calibri"/>
              </a:rPr>
              <a:t>2. Interference</a:t>
            </a:r>
            <a:r>
              <a:rPr lang="en-US" sz="1900" b="0" i="0" u="none">
                <a:latin typeface="Calibri"/>
                <a:ea typeface="Calibri"/>
                <a:cs typeface="Calibri"/>
                <a:sym typeface="Calibri"/>
              </a:rPr>
              <a:t> </a:t>
            </a:r>
            <a:br>
              <a:rPr lang="en-US" sz="1900" b="0" i="0" u="none">
                <a:latin typeface="Calibri"/>
                <a:ea typeface="Calibri"/>
                <a:cs typeface="Calibri"/>
                <a:sym typeface="Calibri"/>
              </a:rPr>
            </a:br>
            <a:r>
              <a:rPr lang="en-US" sz="1900" b="0" i="0" u="none">
                <a:latin typeface="Calibri"/>
                <a:ea typeface="Calibri"/>
                <a:cs typeface="Calibri"/>
                <a:sym typeface="Calibri"/>
              </a:rPr>
              <a:t>LCDs using an analog input require careful adjustment of pixel tracking/phase in order to reduce or eliminate digital noise in the image. Automatic pixel tracking/phase controls seldom produce the optimum setting. Timing drift and jitter may require frequent readjustments during the day. For some displays and video boards you may not be able to entirely eliminate the digital noise. </a:t>
            </a:r>
            <a:endParaRPr/>
          </a:p>
          <a:p>
            <a:pPr marL="171450" marR="0" lvl="0" indent="-171450" algn="l" rtl="0">
              <a:lnSpc>
                <a:spcPct val="90000"/>
              </a:lnSpc>
              <a:spcBef>
                <a:spcPts val="700"/>
              </a:spcBef>
              <a:spcAft>
                <a:spcPts val="0"/>
              </a:spcAft>
              <a:buClr>
                <a:srgbClr val="404040"/>
              </a:buClr>
              <a:buSzPts val="1900"/>
              <a:buFont typeface="Arial"/>
              <a:buNone/>
            </a:pPr>
            <a:r>
              <a:rPr lang="en-US" sz="1900" b="1" i="0" u="none">
                <a:latin typeface="Calibri"/>
                <a:ea typeface="Calibri"/>
                <a:cs typeface="Calibri"/>
                <a:sym typeface="Calibri"/>
              </a:rPr>
              <a:t>3. Viewing Angle</a:t>
            </a:r>
            <a:r>
              <a:rPr lang="en-US" sz="1900" b="0" i="0" u="none">
                <a:latin typeface="Calibri"/>
                <a:ea typeface="Calibri"/>
                <a:cs typeface="Calibri"/>
                <a:sym typeface="Calibri"/>
              </a:rPr>
              <a:t> </a:t>
            </a:r>
            <a:br>
              <a:rPr lang="en-US" sz="1900" b="0" i="0" u="none">
                <a:latin typeface="Calibri"/>
                <a:ea typeface="Calibri"/>
                <a:cs typeface="Calibri"/>
                <a:sym typeface="Calibri"/>
              </a:rPr>
            </a:br>
            <a:r>
              <a:rPr lang="en-US" sz="1900" b="0" i="0" u="none">
                <a:latin typeface="Calibri"/>
                <a:ea typeface="Calibri"/>
                <a:cs typeface="Calibri"/>
                <a:sym typeface="Calibri"/>
              </a:rPr>
              <a:t>Limited viewing angle. Brightness, contrast, gamma and color mixtures vary with the viewing angle. </a:t>
            </a:r>
            <a:endParaRPr/>
          </a:p>
          <a:p>
            <a:pPr marL="171450" marR="0" lvl="0" indent="-171450" algn="l" rtl="0">
              <a:lnSpc>
                <a:spcPct val="90000"/>
              </a:lnSpc>
              <a:spcBef>
                <a:spcPts val="700"/>
              </a:spcBef>
              <a:spcAft>
                <a:spcPts val="0"/>
              </a:spcAft>
              <a:buClr>
                <a:srgbClr val="404040"/>
              </a:buClr>
              <a:buSzPts val="1900"/>
              <a:buFont typeface="Arial"/>
              <a:buNone/>
            </a:pPr>
            <a:r>
              <a:rPr lang="en-US" sz="1900" b="1" i="0" u="none">
                <a:latin typeface="Calibri"/>
                <a:ea typeface="Calibri"/>
                <a:cs typeface="Calibri"/>
                <a:sym typeface="Calibri"/>
              </a:rPr>
              <a:t>4. Black-Level, Contrast and Color Saturation</a:t>
            </a:r>
            <a:r>
              <a:rPr lang="en-US" sz="1900" b="0" i="0" u="none">
                <a:latin typeface="Calibri"/>
                <a:ea typeface="Calibri"/>
                <a:cs typeface="Calibri"/>
                <a:sym typeface="Calibri"/>
              </a:rPr>
              <a:t> </a:t>
            </a:r>
            <a:br>
              <a:rPr lang="en-US" sz="1900" b="0" i="0" u="none">
                <a:latin typeface="Calibri"/>
                <a:ea typeface="Calibri"/>
                <a:cs typeface="Calibri"/>
                <a:sym typeface="Calibri"/>
              </a:rPr>
            </a:br>
            <a:r>
              <a:rPr lang="en-US" sz="1900" b="0" i="0" u="none">
                <a:latin typeface="Calibri"/>
                <a:ea typeface="Calibri"/>
                <a:cs typeface="Calibri"/>
                <a:sym typeface="Calibri"/>
              </a:rPr>
              <a:t>LCDs have difficulty producing black and very dark grays. As a result they generally have lower contrast than CRTs and the color saturation for low intensity colors is also reduced. Not suitable for use in dimly lit and dark environments. </a:t>
            </a:r>
            <a:endParaRPr/>
          </a:p>
        </p:txBody>
      </p:sp>
      <p:sp>
        <p:nvSpPr>
          <p:cNvPr id="372" name="Google Shape;372;p29"/>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373" name="Google Shape;373;p29"/>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29</a:t>
            </a:fld>
            <a:endParaRPr/>
          </a:p>
        </p:txBody>
      </p:sp>
      <p:sp>
        <p:nvSpPr>
          <p:cNvPr id="374" name="Google Shape;374;p29"/>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62626"/>
              </a:buClr>
              <a:buSzPts val="3000"/>
              <a:buFont typeface="Calibri"/>
              <a:buNone/>
            </a:pPr>
            <a:r>
              <a:rPr lang="en-US" b="1">
                <a:solidFill>
                  <a:srgbClr val="262626"/>
                </a:solidFill>
              </a:rPr>
              <a:t>LCD</a:t>
            </a:r>
            <a:endParaRPr sz="4000" b="1"/>
          </a:p>
        </p:txBody>
      </p:sp>
      <p:pic>
        <p:nvPicPr>
          <p:cNvPr id="375" name="Google Shape;375;p29"/>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0"/>
          <p:cNvSpPr txBox="1">
            <a:spLocks noGrp="1"/>
          </p:cNvSpPr>
          <p:nvPr>
            <p:ph type="body" idx="1"/>
          </p:nvPr>
        </p:nvSpPr>
        <p:spPr>
          <a:xfrm>
            <a:off x="457200" y="1355100"/>
            <a:ext cx="8229600" cy="5334000"/>
          </a:xfrm>
          <a:prstGeom prst="rect">
            <a:avLst/>
          </a:prstGeom>
          <a:noFill/>
          <a:ln>
            <a:noFill/>
          </a:ln>
        </p:spPr>
        <p:txBody>
          <a:bodyPr spcFirstLastPara="1" wrap="square" lIns="91425" tIns="45700" rIns="91425" bIns="45700" anchor="t" anchorCtr="0">
            <a:noAutofit/>
          </a:bodyPr>
          <a:lstStyle/>
          <a:p>
            <a:pPr marL="273050" marR="0" lvl="0" indent="-273050" algn="l" rtl="0">
              <a:lnSpc>
                <a:spcPct val="90000"/>
              </a:lnSpc>
              <a:spcBef>
                <a:spcPts val="0"/>
              </a:spcBef>
              <a:spcAft>
                <a:spcPts val="0"/>
              </a:spcAft>
              <a:buClr>
                <a:srgbClr val="404040"/>
              </a:buClr>
              <a:buSzPts val="1900"/>
              <a:buFont typeface="Arial"/>
              <a:buNone/>
            </a:pPr>
            <a:r>
              <a:rPr lang="en-US" sz="1800" b="1" i="0" u="none">
                <a:latin typeface="Calibri"/>
                <a:ea typeface="Calibri"/>
                <a:cs typeface="Calibri"/>
                <a:sym typeface="Calibri"/>
              </a:rPr>
              <a:t>5. Color and Gray-Scale Accuracy</a:t>
            </a:r>
            <a:r>
              <a:rPr lang="en-US" sz="1800" b="0" i="0" u="none">
                <a:latin typeface="Calibri"/>
                <a:ea typeface="Calibri"/>
                <a:cs typeface="Calibri"/>
                <a:sym typeface="Calibri"/>
              </a:rPr>
              <a:t> </a:t>
            </a:r>
            <a:br>
              <a:rPr lang="en-US" sz="1800" b="0" i="0" u="none">
                <a:latin typeface="Calibri"/>
                <a:ea typeface="Calibri"/>
                <a:cs typeface="Calibri"/>
                <a:sym typeface="Calibri"/>
              </a:rPr>
            </a:br>
            <a:r>
              <a:rPr lang="en-US" sz="1800" b="0" i="0" u="none">
                <a:latin typeface="Calibri"/>
                <a:ea typeface="Calibri"/>
                <a:cs typeface="Calibri"/>
                <a:sym typeface="Calibri"/>
              </a:rPr>
              <a:t>The internal Gamma and gray-scale of an LCD is very irregular. LCDs typically produce fewer than 256 discrete intensity levels. Generally not suitable for professional image color balancing. </a:t>
            </a:r>
            <a:endParaRPr sz="1800"/>
          </a:p>
          <a:p>
            <a:pPr marL="273050" marR="0" lvl="0" indent="-273050" algn="l" rtl="0">
              <a:lnSpc>
                <a:spcPct val="90000"/>
              </a:lnSpc>
              <a:spcBef>
                <a:spcPts val="700"/>
              </a:spcBef>
              <a:spcAft>
                <a:spcPts val="0"/>
              </a:spcAft>
              <a:buClr>
                <a:srgbClr val="404040"/>
              </a:buClr>
              <a:buSzPts val="1900"/>
              <a:buFont typeface="Arial"/>
              <a:buNone/>
            </a:pPr>
            <a:r>
              <a:rPr lang="en-US" sz="1800" b="1" i="0" u="none">
                <a:latin typeface="Calibri"/>
                <a:ea typeface="Calibri"/>
                <a:cs typeface="Calibri"/>
                <a:sym typeface="Calibri"/>
              </a:rPr>
              <a:t>6. Bad Pixels and Screen Uniformity</a:t>
            </a:r>
            <a:r>
              <a:rPr lang="en-US" sz="1800" b="0" i="0" u="none">
                <a:latin typeface="Calibri"/>
                <a:ea typeface="Calibri"/>
                <a:cs typeface="Calibri"/>
                <a:sym typeface="Calibri"/>
              </a:rPr>
              <a:t> </a:t>
            </a:r>
            <a:br>
              <a:rPr lang="en-US" sz="1800" b="0" i="0" u="none">
                <a:latin typeface="Calibri"/>
                <a:ea typeface="Calibri"/>
                <a:cs typeface="Calibri"/>
                <a:sym typeface="Calibri"/>
              </a:rPr>
            </a:br>
            <a:r>
              <a:rPr lang="en-US" sz="1800" b="0" i="0" u="none">
                <a:latin typeface="Calibri"/>
                <a:ea typeface="Calibri"/>
                <a:cs typeface="Calibri"/>
                <a:sym typeface="Calibri"/>
              </a:rPr>
              <a:t>LCDs can have many weak or stuck pixels, which are permanently on or off. Some pixels may be improperly connected to adjoining pixels, rows or columns. Also, the panel may not be uniformly illuminated by the backlight resulting in uneven intensity and shading over the screen. </a:t>
            </a:r>
            <a:endParaRPr sz="1800"/>
          </a:p>
          <a:p>
            <a:pPr marL="273050" marR="0" lvl="0" indent="-273050" algn="l" rtl="0">
              <a:lnSpc>
                <a:spcPct val="90000"/>
              </a:lnSpc>
              <a:spcBef>
                <a:spcPts val="700"/>
              </a:spcBef>
              <a:spcAft>
                <a:spcPts val="0"/>
              </a:spcAft>
              <a:buClr>
                <a:srgbClr val="404040"/>
              </a:buClr>
              <a:buSzPts val="1900"/>
              <a:buFont typeface="Arial"/>
              <a:buNone/>
            </a:pPr>
            <a:r>
              <a:rPr lang="en-US" sz="1800" b="1" i="0" u="none">
                <a:latin typeface="Calibri"/>
                <a:ea typeface="Calibri"/>
                <a:cs typeface="Calibri"/>
                <a:sym typeface="Calibri"/>
              </a:rPr>
              <a:t>7. Motion Artifacts</a:t>
            </a:r>
            <a:r>
              <a:rPr lang="en-US" sz="1800" b="0" i="0" u="none">
                <a:latin typeface="Calibri"/>
                <a:ea typeface="Calibri"/>
                <a:cs typeface="Calibri"/>
                <a:sym typeface="Calibri"/>
              </a:rPr>
              <a:t> </a:t>
            </a:r>
            <a:br>
              <a:rPr lang="en-US" sz="1800" b="0" i="0" u="none">
                <a:latin typeface="Calibri"/>
                <a:ea typeface="Calibri"/>
                <a:cs typeface="Calibri"/>
                <a:sym typeface="Calibri"/>
              </a:rPr>
            </a:br>
            <a:r>
              <a:rPr lang="en-US" sz="1800" b="0" i="0" u="none">
                <a:latin typeface="Calibri"/>
                <a:ea typeface="Calibri"/>
                <a:cs typeface="Calibri"/>
                <a:sym typeface="Calibri"/>
              </a:rPr>
              <a:t>Slow response times and scan rate conversion result in severe motion artifacts and image degradation for moving or rapidly changing images. </a:t>
            </a:r>
            <a:endParaRPr sz="1800"/>
          </a:p>
          <a:p>
            <a:pPr marL="273050" marR="0" lvl="0" indent="-273050" algn="l" rtl="0">
              <a:lnSpc>
                <a:spcPct val="90000"/>
              </a:lnSpc>
              <a:spcBef>
                <a:spcPts val="700"/>
              </a:spcBef>
              <a:spcAft>
                <a:spcPts val="0"/>
              </a:spcAft>
              <a:buClr>
                <a:srgbClr val="404040"/>
              </a:buClr>
              <a:buSzPts val="1900"/>
              <a:buFont typeface="Arial"/>
              <a:buNone/>
            </a:pPr>
            <a:r>
              <a:rPr lang="en-US" sz="1800" b="1" i="0" u="none">
                <a:latin typeface="Calibri"/>
                <a:ea typeface="Calibri"/>
                <a:cs typeface="Calibri"/>
                <a:sym typeface="Calibri"/>
              </a:rPr>
              <a:t>8. Aspect Ratio</a:t>
            </a:r>
            <a:r>
              <a:rPr lang="en-US" sz="1800" b="0" i="0" u="none">
                <a:latin typeface="Calibri"/>
                <a:ea typeface="Calibri"/>
                <a:cs typeface="Calibri"/>
                <a:sym typeface="Calibri"/>
              </a:rPr>
              <a:t> </a:t>
            </a:r>
            <a:br>
              <a:rPr lang="en-US" sz="1800" b="0" i="0" u="none">
                <a:latin typeface="Calibri"/>
                <a:ea typeface="Calibri"/>
                <a:cs typeface="Calibri"/>
                <a:sym typeface="Calibri"/>
              </a:rPr>
            </a:br>
            <a:r>
              <a:rPr lang="en-US" sz="1800" b="0" i="0" u="none">
                <a:latin typeface="Calibri"/>
                <a:ea typeface="Calibri"/>
                <a:cs typeface="Calibri"/>
                <a:sym typeface="Calibri"/>
              </a:rPr>
              <a:t>LCDs have a fixed resolution and aspect ratio. For panels with a resolution of 1280x1024 the aspect ratio is 5:4=1.25, which is noticeably smaller than the 4:3=1.33 aspect ratio for almost all other standard display modes. </a:t>
            </a:r>
            <a:endParaRPr sz="1800"/>
          </a:p>
          <a:p>
            <a:pPr marL="273050" marR="0" lvl="0" indent="-273050" algn="l" rtl="0">
              <a:lnSpc>
                <a:spcPct val="90000"/>
              </a:lnSpc>
              <a:spcBef>
                <a:spcPts val="700"/>
              </a:spcBef>
              <a:spcAft>
                <a:spcPts val="0"/>
              </a:spcAft>
              <a:buClr>
                <a:srgbClr val="404040"/>
              </a:buClr>
              <a:buSzPts val="1900"/>
              <a:buFont typeface="Arial"/>
              <a:buNone/>
            </a:pPr>
            <a:r>
              <a:rPr lang="en-US" sz="1800" b="1" i="0" u="none">
                <a:latin typeface="Calibri"/>
                <a:ea typeface="Calibri"/>
                <a:cs typeface="Calibri"/>
                <a:sym typeface="Calibri"/>
              </a:rPr>
              <a:t>9. Cost</a:t>
            </a:r>
            <a:r>
              <a:rPr lang="en-US" sz="1800" b="0" i="0" u="none">
                <a:latin typeface="Calibri"/>
                <a:ea typeface="Calibri"/>
                <a:cs typeface="Calibri"/>
                <a:sym typeface="Calibri"/>
              </a:rPr>
              <a:t> </a:t>
            </a:r>
            <a:br>
              <a:rPr lang="en-US" sz="1800" b="0" i="0" u="none">
                <a:latin typeface="Calibri"/>
                <a:ea typeface="Calibri"/>
                <a:cs typeface="Calibri"/>
                <a:sym typeface="Calibri"/>
              </a:rPr>
            </a:br>
            <a:r>
              <a:rPr lang="en-US" sz="1800" b="0" i="0" u="none">
                <a:latin typeface="Calibri"/>
                <a:ea typeface="Calibri"/>
                <a:cs typeface="Calibri"/>
                <a:sym typeface="Calibri"/>
              </a:rPr>
              <a:t>Considerably more expensive than comparable CRTs. </a:t>
            </a:r>
            <a:endParaRPr sz="1800"/>
          </a:p>
          <a:p>
            <a:pPr marL="171450" marR="0" lvl="0" indent="-50800" algn="l" rtl="0">
              <a:lnSpc>
                <a:spcPct val="90000"/>
              </a:lnSpc>
              <a:spcBef>
                <a:spcPts val="750"/>
              </a:spcBef>
              <a:spcAft>
                <a:spcPts val="0"/>
              </a:spcAft>
              <a:buClr>
                <a:schemeClr val="dk1"/>
              </a:buClr>
              <a:buSzPts val="1900"/>
              <a:buFont typeface="Arial"/>
              <a:buNone/>
            </a:pPr>
            <a:endParaRPr sz="1800" b="0" i="0" u="none">
              <a:latin typeface="Calibri"/>
              <a:ea typeface="Calibri"/>
              <a:cs typeface="Calibri"/>
              <a:sym typeface="Calibri"/>
            </a:endParaRPr>
          </a:p>
        </p:txBody>
      </p:sp>
      <p:sp>
        <p:nvSpPr>
          <p:cNvPr id="382" name="Google Shape;382;p30"/>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a:solidFill>
                  <a:srgbClr val="898989"/>
                </a:solidFill>
                <a:latin typeface="Arial"/>
                <a:ea typeface="Arial"/>
                <a:cs typeface="Arial"/>
                <a:sym typeface="Arial"/>
              </a:rPr>
              <a:t>Department of CSE, Daffodil International University</a:t>
            </a:r>
            <a:endParaRPr/>
          </a:p>
        </p:txBody>
      </p:sp>
      <p:sp>
        <p:nvSpPr>
          <p:cNvPr id="383" name="Google Shape;383;p30"/>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a:solidFill>
                  <a:srgbClr val="898989"/>
                </a:solidFill>
                <a:latin typeface="Arial"/>
                <a:ea typeface="Arial"/>
                <a:cs typeface="Arial"/>
                <a:sym typeface="Arial"/>
              </a:rPr>
              <a:t>30</a:t>
            </a:fld>
            <a:endParaRPr/>
          </a:p>
        </p:txBody>
      </p:sp>
      <p:sp>
        <p:nvSpPr>
          <p:cNvPr id="384" name="Google Shape;384;p30"/>
          <p:cNvSpPr txBox="1">
            <a:spLocks noGrp="1"/>
          </p:cNvSpPr>
          <p:nvPr>
            <p:ph type="title"/>
          </p:nvPr>
        </p:nvSpPr>
        <p:spPr>
          <a:xfrm>
            <a:off x="628650" y="346225"/>
            <a:ext cx="7620000" cy="884100"/>
          </a:xfrm>
          <a:prstGeom prst="rect">
            <a:avLst/>
          </a:prstGeom>
          <a:solidFill>
            <a:srgbClr val="3D85C6"/>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62626"/>
              </a:buClr>
              <a:buSzPts val="3000"/>
              <a:buFont typeface="Calibri"/>
              <a:buNone/>
            </a:pPr>
            <a:r>
              <a:rPr lang="en-US" b="1">
                <a:solidFill>
                  <a:srgbClr val="262626"/>
                </a:solidFill>
              </a:rPr>
              <a:t>LCD</a:t>
            </a:r>
            <a:endParaRPr sz="4000" b="1"/>
          </a:p>
        </p:txBody>
      </p:sp>
      <p:pic>
        <p:nvPicPr>
          <p:cNvPr id="385" name="Google Shape;385;p30"/>
          <p:cNvPicPr preferRelativeResize="0"/>
          <p:nvPr/>
        </p:nvPicPr>
        <p:blipFill rotWithShape="1">
          <a:blip r:embed="rId3">
            <a:alphaModFix/>
          </a:blip>
          <a:srcRect/>
          <a:stretch/>
        </p:blipFill>
        <p:spPr>
          <a:xfrm>
            <a:off x="8127150" y="482200"/>
            <a:ext cx="1224300" cy="6121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1"/>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300"/>
              <a:buFont typeface="Calibri"/>
              <a:buNone/>
            </a:pPr>
            <a:r>
              <a:rPr lang="en-US" sz="3300" b="0" i="0" u="none">
                <a:solidFill>
                  <a:schemeClr val="dk1"/>
                </a:solidFill>
                <a:latin typeface="Calibri"/>
                <a:ea typeface="Calibri"/>
                <a:cs typeface="Calibri"/>
                <a:sym typeface="Calibri"/>
              </a:rPr>
              <a:t> </a:t>
            </a:r>
            <a:endParaRPr/>
          </a:p>
        </p:txBody>
      </p:sp>
      <p:pic>
        <p:nvPicPr>
          <p:cNvPr id="391" name="Google Shape;391;p31"/>
          <p:cNvPicPr preferRelativeResize="0">
            <a:picLocks noGrp="1"/>
          </p:cNvPicPr>
          <p:nvPr>
            <p:ph type="body" idx="1"/>
          </p:nvPr>
        </p:nvPicPr>
        <p:blipFill rotWithShape="1">
          <a:blip r:embed="rId3">
            <a:alphaModFix/>
          </a:blip>
          <a:srcRect/>
          <a:stretch/>
        </p:blipFill>
        <p:spPr>
          <a:xfrm>
            <a:off x="1671637" y="1295400"/>
            <a:ext cx="5800725" cy="4351337"/>
          </a:xfrm>
          <a:prstGeom prst="rect">
            <a:avLst/>
          </a:prstGeom>
          <a:noFill/>
          <a:ln>
            <a:noFill/>
          </a:ln>
        </p:spPr>
      </p:pic>
      <p:pic>
        <p:nvPicPr>
          <p:cNvPr id="392" name="Google Shape;392;p31"/>
          <p:cNvPicPr preferRelativeResize="0"/>
          <p:nvPr/>
        </p:nvPicPr>
        <p:blipFill rotWithShape="1">
          <a:blip r:embed="rId4">
            <a:alphaModFix/>
          </a:blip>
          <a:srcRect/>
          <a:stretch/>
        </p:blipFill>
        <p:spPr>
          <a:xfrm>
            <a:off x="8077200" y="22225"/>
            <a:ext cx="1371600" cy="6858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2673</Words>
  <Application>Microsoft Office PowerPoint</Application>
  <PresentationFormat>On-screen Show (4:3)</PresentationFormat>
  <Paragraphs>223</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Noto Sans Symbols</vt:lpstr>
      <vt:lpstr>Office Theme</vt:lpstr>
      <vt:lpstr> Computer Graphics Video Display Devices Lecture-2 </vt:lpstr>
      <vt:lpstr>Contents</vt:lpstr>
      <vt:lpstr> Refresh Cathode-Ray Tube </vt:lpstr>
      <vt:lpstr> Refresh Cathode-Ray Tube </vt:lpstr>
      <vt:lpstr>Working Principle of CRT </vt:lpstr>
      <vt:lpstr>  Raster Scan Displays  </vt:lpstr>
      <vt:lpstr>  Random Scan Displays  </vt:lpstr>
      <vt:lpstr>PowerPoint Presentation</vt:lpstr>
      <vt:lpstr> Color CRT Monitors </vt:lpstr>
      <vt:lpstr> Beam-Penetration Method </vt:lpstr>
      <vt:lpstr>Shadow-Mask Method </vt:lpstr>
      <vt:lpstr>PowerPoint Presentation</vt:lpstr>
      <vt:lpstr> Direct-View Storage Tubes </vt:lpstr>
      <vt:lpstr>PowerPoint Presentation</vt:lpstr>
      <vt:lpstr> Direct-View Storage Tubes </vt:lpstr>
      <vt:lpstr>  Flat-Panel Displays  </vt:lpstr>
      <vt:lpstr> Plasma Panel </vt:lpstr>
      <vt:lpstr>  How plasma displays works </vt:lpstr>
      <vt:lpstr> Plasma Panel </vt:lpstr>
      <vt:lpstr> Plasma Panel </vt:lpstr>
      <vt:lpstr> Plasma Panel </vt:lpstr>
      <vt:lpstr> Thin-Film Electroluminescent Display </vt:lpstr>
      <vt:lpstr> Thin-Film Electroluminescent Display </vt:lpstr>
      <vt:lpstr>LED</vt:lpstr>
      <vt:lpstr>LED</vt:lpstr>
      <vt:lpstr>LED</vt:lpstr>
      <vt:lpstr>LCD</vt:lpstr>
      <vt:lpstr>LCD</vt:lpstr>
      <vt:lpstr>LCD</vt:lpstr>
      <vt:lpstr>LCD</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Tapasy Rabeya</dc:creator>
  <cp:lastModifiedBy>DIU</cp:lastModifiedBy>
  <cp:revision>1</cp:revision>
  <dcterms:created xsi:type="dcterms:W3CDTF">2006-08-16T00:00:00Z</dcterms:created>
  <dcterms:modified xsi:type="dcterms:W3CDTF">2026-06-07T02:12:24Z</dcterms:modified>
</cp:coreProperties>
</file>