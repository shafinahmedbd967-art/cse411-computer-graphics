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9296400" cy="7010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39">
          <p15:clr>
            <a:srgbClr val="000000"/>
          </p15:clr>
        </p15:guide>
        <p15:guide id="2" pos="2879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Xak/rJnQ96ugMiLWcp7E+DzgD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3B720E-353F-45ED-B3D4-7714DD3871CA}">
  <a:tblStyle styleId="{B13B720E-353F-45ED-B3D4-7714DD3871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656" y="96"/>
      </p:cViewPr>
      <p:guideLst>
        <p:guide orient="horz" pos="3339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265737" y="0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657975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265737" y="6657975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 txBox="1"/>
          <p:nvPr/>
        </p:nvSpPr>
        <p:spPr>
          <a:xfrm>
            <a:off x="5265737" y="6657975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b4883548c_0_0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00" cy="31545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3cb488354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b4883548c_0_208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00" cy="31545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cb4883548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92da07caf_0_36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00" cy="31545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3e92da07c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16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6:notes"/>
          <p:cNvSpPr txBox="1"/>
          <p:nvPr/>
        </p:nvSpPr>
        <p:spPr>
          <a:xfrm>
            <a:off x="5265737" y="6657975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2"/>
            <a:ext cx="35052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17:notes"/>
          <p:cNvSpPr txBox="1">
            <a:spLocks noGrp="1"/>
          </p:cNvSpPr>
          <p:nvPr>
            <p:ph type="body" idx="1"/>
          </p:nvPr>
        </p:nvSpPr>
        <p:spPr>
          <a:xfrm>
            <a:off x="930275" y="3330575"/>
            <a:ext cx="7435850" cy="315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7:notes"/>
          <p:cNvSpPr txBox="1"/>
          <p:nvPr/>
        </p:nvSpPr>
        <p:spPr>
          <a:xfrm>
            <a:off x="5265737" y="6657975"/>
            <a:ext cx="4029075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b4883548c_0_151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g3cb4883548c_0_15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g3cb4883548c_0_15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cb4883548c_0_155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g3cb4883548c_0_15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cb4883548c_0_15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cb4883548c_0_15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cb4883548c_0_1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cb4883548c_0_16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cb4883548c_0_16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g3cb4883548c_0_162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g3cb4883548c_0_16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cb4883548c_0_16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cb4883548c_0_16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b4883548c_0_170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g3cb4883548c_0_170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g3cb4883548c_0_17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b4883548c_0_174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g3cb4883548c_0_17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b4883548c_0_177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cb4883548c_0_177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g3cb4883548c_0_177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g3cb4883548c_0_177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cb4883548c_0_1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b4883548c_0_183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cb4883548c_0_18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b4883548c_0_186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cb4883548c_0_186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cb4883548c_0_18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b4883548c_0_19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b4883548c_0_19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3cb4883548c_0_19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g3cb4883548c_0_19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cb4883548c_0_19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cb4883548c_0_19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b4883548c_0_14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3cb4883548c_0_14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cb4883548c_0_14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ctrTitle"/>
          </p:nvPr>
        </p:nvSpPr>
        <p:spPr>
          <a:xfrm>
            <a:off x="990600" y="990600"/>
            <a:ext cx="7014900" cy="21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 sz="4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</a:t>
            </a:r>
            <a:b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Bresenham Line drawing Algorithm</a:t>
            </a:r>
            <a:br>
              <a:rPr lang="en-US" sz="36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Lecture-4</a:t>
            </a:r>
            <a:br>
              <a:rPr lang="en-US" sz="4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66" name="Google Shape;66;p1"/>
          <p:cNvSpPr txBox="1">
            <a:spLocks noGrp="1"/>
          </p:cNvSpPr>
          <p:nvPr>
            <p:ph type="subTitle" idx="1"/>
          </p:nvPr>
        </p:nvSpPr>
        <p:spPr>
          <a:xfrm>
            <a:off x="1066800" y="4700662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900" dirty="0" err="1">
                <a:solidFill>
                  <a:srgbClr val="FF0000"/>
                </a:solidFill>
              </a:rPr>
              <a:t>Nazmun</a:t>
            </a:r>
            <a:r>
              <a:rPr lang="en-US" sz="1900" dirty="0">
                <a:solidFill>
                  <a:srgbClr val="FF0000"/>
                </a:solidFill>
              </a:rPr>
              <a:t> Nessa Moon</a:t>
            </a:r>
            <a:br>
              <a:rPr lang="en-US" sz="1900" dirty="0"/>
            </a:br>
            <a:r>
              <a:rPr lang="en-US" sz="1900" dirty="0"/>
              <a:t>Associate Professor</a:t>
            </a:r>
            <a:br>
              <a:rPr lang="en-US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br>
              <a:rPr lang="en-US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Daffodil International University, DIU</a:t>
            </a:r>
            <a:endParaRPr dirty="0"/>
          </a:p>
        </p:txBody>
      </p:sp>
      <p:sp>
        <p:nvSpPr>
          <p:cNvPr id="67" name="Google Shape;67;p1" descr="Diu Logo PNG Images - CleanPNG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0" y="609600"/>
            <a:ext cx="1371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pic>
        <p:nvPicPr>
          <p:cNvPr id="71" name="Google Shape;7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8037" y="2679600"/>
            <a:ext cx="2867025" cy="21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/>
        </p:nvSpPr>
        <p:spPr>
          <a:xfrm>
            <a:off x="6132512" y="909637"/>
            <a:ext cx="2741700" cy="562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3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The Bresenham Line Algorithm</a:t>
            </a:r>
            <a:endParaRPr/>
          </a:p>
        </p:txBody>
      </p:sp>
      <p:sp>
        <p:nvSpPr>
          <p:cNvPr id="78" name="Google Shape;78;p2"/>
          <p:cNvSpPr txBox="1">
            <a:spLocks noGrp="1"/>
          </p:cNvSpPr>
          <p:nvPr>
            <p:ph type="body" idx="1"/>
          </p:nvPr>
        </p:nvSpPr>
        <p:spPr>
          <a:xfrm>
            <a:off x="457200" y="1333500"/>
            <a:ext cx="5775325" cy="55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Bresenham algorithm is another incremental scan conversion algorithm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big advantage of this algorithm is that it uses only integer calculations</a:t>
            </a:r>
            <a:endParaRPr/>
          </a:p>
        </p:txBody>
      </p:sp>
      <p:pic>
        <p:nvPicPr>
          <p:cNvPr id="79" name="Google Shape;79;p2"/>
          <p:cNvPicPr preferRelativeResize="0"/>
          <p:nvPr/>
        </p:nvPicPr>
        <p:blipFill rotWithShape="1">
          <a:blip r:embed="rId3">
            <a:alphaModFix/>
          </a:blip>
          <a:srcRect l="36816" t="12698" r="27932" b="21925"/>
          <a:stretch/>
        </p:blipFill>
        <p:spPr>
          <a:xfrm>
            <a:off x="6232525" y="1009650"/>
            <a:ext cx="2538412" cy="313848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 txBox="1"/>
          <p:nvPr/>
        </p:nvSpPr>
        <p:spPr>
          <a:xfrm>
            <a:off x="6130925" y="4191000"/>
            <a:ext cx="2743200" cy="22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Jack Bresenham worked for 27 years at IBM before entering academia. Bresenham developed his famous algorithms at IBM in the early 1960s</a:t>
            </a:r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82" name="Google Shape;82;p2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pic>
        <p:nvPicPr>
          <p:cNvPr id="83" name="Google Shape;8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>
            <a:spLocks noGrp="1"/>
          </p:cNvSpPr>
          <p:nvPr>
            <p:ph type="body" idx="1"/>
          </p:nvPr>
        </p:nvSpPr>
        <p:spPr>
          <a:xfrm>
            <a:off x="457200" y="1333500"/>
            <a:ext cx="8229600" cy="160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 across the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axis in unit intervals and at each step choose between two different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coordinates</a:t>
            </a:r>
            <a:endParaRPr/>
          </a:p>
        </p:txBody>
      </p:sp>
      <p:cxnSp>
        <p:nvCxnSpPr>
          <p:cNvPr id="89" name="Google Shape;89;p3"/>
          <p:cNvCxnSpPr/>
          <p:nvPr/>
        </p:nvCxnSpPr>
        <p:spPr>
          <a:xfrm>
            <a:off x="1487487" y="2994025"/>
            <a:ext cx="0" cy="32988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0" name="Google Shape;90;p3"/>
          <p:cNvCxnSpPr/>
          <p:nvPr/>
        </p:nvCxnSpPr>
        <p:spPr>
          <a:xfrm>
            <a:off x="2282825" y="3016250"/>
            <a:ext cx="0" cy="32972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1" name="Google Shape;91;p3"/>
          <p:cNvCxnSpPr/>
          <p:nvPr/>
        </p:nvCxnSpPr>
        <p:spPr>
          <a:xfrm>
            <a:off x="3078162" y="3035300"/>
            <a:ext cx="0" cy="32988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2" name="Google Shape;92;p3"/>
          <p:cNvCxnSpPr/>
          <p:nvPr/>
        </p:nvCxnSpPr>
        <p:spPr>
          <a:xfrm>
            <a:off x="3903662" y="3035300"/>
            <a:ext cx="0" cy="32988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3" name="Google Shape;93;p3"/>
          <p:cNvCxnSpPr/>
          <p:nvPr/>
        </p:nvCxnSpPr>
        <p:spPr>
          <a:xfrm>
            <a:off x="2785268" y="2420143"/>
            <a:ext cx="0" cy="36337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4" name="Google Shape;94;p3"/>
          <p:cNvCxnSpPr/>
          <p:nvPr/>
        </p:nvCxnSpPr>
        <p:spPr>
          <a:xfrm>
            <a:off x="2763043" y="3215481"/>
            <a:ext cx="0" cy="36337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5" name="Google Shape;95;p3"/>
          <p:cNvCxnSpPr/>
          <p:nvPr/>
        </p:nvCxnSpPr>
        <p:spPr>
          <a:xfrm>
            <a:off x="2743993" y="4007643"/>
            <a:ext cx="0" cy="36337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6" name="Google Shape;96;p3"/>
          <p:cNvSpPr/>
          <p:nvPr/>
        </p:nvSpPr>
        <p:spPr>
          <a:xfrm>
            <a:off x="1352550" y="4116387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748087" y="4116387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151062" y="4116387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949575" y="4116387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355725" y="4897437"/>
            <a:ext cx="258762" cy="25876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751262" y="4897437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154237" y="4897437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952750" y="4897437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354137" y="5705475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749675" y="5705475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152650" y="5705475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951162" y="5705475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 rot="10800000" flipH="1">
            <a:off x="963612" y="3244850"/>
            <a:ext cx="3362325" cy="2106612"/>
          </a:xfrm>
          <a:prstGeom prst="straightConnector1">
            <a:avLst/>
          </a:prstGeom>
          <a:noFill/>
          <a:ln w="3175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9" name="Google Shape;109;p3"/>
          <p:cNvCxnSpPr/>
          <p:nvPr/>
        </p:nvCxnSpPr>
        <p:spPr>
          <a:xfrm>
            <a:off x="2793206" y="1623218"/>
            <a:ext cx="0" cy="36337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0" name="Google Shape;110;p3"/>
          <p:cNvSpPr/>
          <p:nvPr/>
        </p:nvSpPr>
        <p:spPr>
          <a:xfrm>
            <a:off x="1360487" y="3319462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756025" y="3319462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159000" y="3319462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957512" y="3319462"/>
            <a:ext cx="258762" cy="25876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343025" y="62992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2135187" y="62992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2927350" y="62992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721100" y="62992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628650" y="564832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628650" y="405130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28650" y="4849812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28650" y="3252787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808537" y="2757487"/>
            <a:ext cx="4035425" cy="410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from position (2, 3) we have to choose between (3, 3) and (3, 4)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would like the point that is closer to the original line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90550" y="4491037"/>
            <a:ext cx="719137" cy="322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18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2490787" y="5226050"/>
            <a:ext cx="990600" cy="322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18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lang="en-US" sz="2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779462" y="3633787"/>
            <a:ext cx="1262062" cy="322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18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lang="en-US" sz="20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000" b="1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/>
          </a:p>
        </p:txBody>
      </p:sp>
      <p:cxnSp>
        <p:nvCxnSpPr>
          <p:cNvPr id="126" name="Google Shape;126;p3"/>
          <p:cNvCxnSpPr/>
          <p:nvPr/>
        </p:nvCxnSpPr>
        <p:spPr>
          <a:xfrm>
            <a:off x="2032000" y="3925887"/>
            <a:ext cx="139700" cy="203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7" name="Google Shape;127;p3"/>
          <p:cNvCxnSpPr/>
          <p:nvPr/>
        </p:nvCxnSpPr>
        <p:spPr>
          <a:xfrm rot="10800000">
            <a:off x="2378075" y="5154612"/>
            <a:ext cx="107950" cy="1587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8" name="Google Shape;128;p3"/>
          <p:cNvCxnSpPr/>
          <p:nvPr/>
        </p:nvCxnSpPr>
        <p:spPr>
          <a:xfrm>
            <a:off x="1247775" y="4818062"/>
            <a:ext cx="120650" cy="1079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9" name="Google Shape;129;p3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131" name="Google Shape;131;p3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3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The B</a:t>
            </a:r>
            <a:r>
              <a:rPr lang="en-US" sz="3300">
                <a:latin typeface="Calibri"/>
                <a:ea typeface="Calibri"/>
                <a:cs typeface="Calibri"/>
                <a:sym typeface="Calibri"/>
              </a:rPr>
              <a:t>ig Idea</a:t>
            </a:r>
            <a:endParaRPr/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474662" y="4017962"/>
            <a:ext cx="8680450" cy="284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36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coordinate on the mathematical line at </a:t>
            </a:r>
            <a:r>
              <a:rPr lang="en-US" sz="36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3600" b="0" i="1" u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36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6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is:</a:t>
            </a:r>
            <a:endParaRPr/>
          </a:p>
        </p:txBody>
      </p:sp>
      <p:sp>
        <p:nvSpPr>
          <p:cNvPr id="138" name="Google Shape;138;p4"/>
          <p:cNvSpPr txBox="1">
            <a:spLocks noGrp="1"/>
          </p:cNvSpPr>
          <p:nvPr>
            <p:ph type="body" idx="1"/>
          </p:nvPr>
        </p:nvSpPr>
        <p:spPr>
          <a:xfrm>
            <a:off x="474662" y="1333500"/>
            <a:ext cx="4475162" cy="284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sample position </a:t>
            </a:r>
            <a:r>
              <a:rPr lang="en-US" sz="3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6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3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vertical separations from the mathematical line are labelled </a:t>
            </a:r>
            <a:r>
              <a:rPr lang="en-US" sz="3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6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</a:t>
            </a:r>
            <a:r>
              <a:rPr lang="en-US"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3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6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</a:t>
            </a:r>
            <a:endParaRPr/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4637" y="4916487"/>
            <a:ext cx="3290887" cy="7223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4"/>
          <p:cNvGrpSpPr/>
          <p:nvPr/>
        </p:nvGrpSpPr>
        <p:grpSpPr>
          <a:xfrm>
            <a:off x="4857750" y="1489075"/>
            <a:ext cx="4267200" cy="2535237"/>
            <a:chOff x="2937" y="1065"/>
            <a:chExt cx="2688" cy="1597"/>
          </a:xfrm>
        </p:grpSpPr>
        <p:cxnSp>
          <p:nvCxnSpPr>
            <p:cNvPr id="141" name="Google Shape;141;p4"/>
            <p:cNvCxnSpPr/>
            <p:nvPr/>
          </p:nvCxnSpPr>
          <p:spPr>
            <a:xfrm rot="10800000">
              <a:off x="3416" y="1065"/>
              <a:ext cx="0" cy="1331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42" name="Google Shape;142;p4"/>
            <p:cNvCxnSpPr/>
            <p:nvPr/>
          </p:nvCxnSpPr>
          <p:spPr>
            <a:xfrm rot="10800000">
              <a:off x="4493" y="1213"/>
              <a:ext cx="0" cy="2264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43" name="Google Shape;143;p4"/>
            <p:cNvCxnSpPr/>
            <p:nvPr/>
          </p:nvCxnSpPr>
          <p:spPr>
            <a:xfrm rot="10800000" flipH="1">
              <a:off x="3659" y="1191"/>
              <a:ext cx="1481" cy="1100"/>
            </a:xfrm>
            <a:prstGeom prst="straightConnector1">
              <a:avLst/>
            </a:prstGeom>
            <a:noFill/>
            <a:ln w="31750" cap="flat" cmpd="sng">
              <a:solidFill>
                <a:schemeClr val="accent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4" name="Google Shape;144;p4"/>
            <p:cNvCxnSpPr/>
            <p:nvPr/>
          </p:nvCxnSpPr>
          <p:spPr>
            <a:xfrm>
              <a:off x="3359" y="1708"/>
              <a:ext cx="114" cy="0"/>
            </a:xfrm>
            <a:prstGeom prst="straightConnector1">
              <a:avLst/>
            </a:prstGeom>
            <a:noFill/>
            <a:ln w="12700" cap="flat" cmpd="sng">
              <a:solidFill>
                <a:srgbClr val="FF9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5" name="Google Shape;145;p4"/>
            <p:cNvCxnSpPr/>
            <p:nvPr/>
          </p:nvCxnSpPr>
          <p:spPr>
            <a:xfrm>
              <a:off x="3359" y="1331"/>
              <a:ext cx="114" cy="0"/>
            </a:xfrm>
            <a:prstGeom prst="straightConnector1">
              <a:avLst/>
            </a:prstGeom>
            <a:noFill/>
            <a:ln w="12700" cap="flat" cmpd="sng">
              <a:solidFill>
                <a:srgbClr val="FF9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6" name="Google Shape;146;p4"/>
            <p:cNvCxnSpPr/>
            <p:nvPr/>
          </p:nvCxnSpPr>
          <p:spPr>
            <a:xfrm>
              <a:off x="4446" y="2279"/>
              <a:ext cx="0" cy="119"/>
            </a:xfrm>
            <a:prstGeom prst="straightConnector1">
              <a:avLst/>
            </a:prstGeom>
            <a:noFill/>
            <a:ln w="12700" cap="flat" cmpd="sng">
              <a:solidFill>
                <a:srgbClr val="FF9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7" name="Google Shape;147;p4"/>
            <p:cNvSpPr/>
            <p:nvPr/>
          </p:nvSpPr>
          <p:spPr>
            <a:xfrm>
              <a:off x="4412" y="2031"/>
              <a:ext cx="74" cy="75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4412" y="1671"/>
              <a:ext cx="74" cy="75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4412" y="1293"/>
              <a:ext cx="74" cy="75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3168" y="1520"/>
              <a:ext cx="215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ts val="2800"/>
                <a:buFont typeface="Times New Roman"/>
                <a:buNone/>
              </a:pPr>
              <a:r>
                <a:rPr lang="en-US" sz="2800" b="1" i="1" u="non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3100" y="1836"/>
              <a:ext cx="291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ts val="2800"/>
                <a:buFont typeface="Times New Roman"/>
                <a:buNone/>
              </a:pPr>
              <a:r>
                <a:rPr lang="en-US" sz="2800" b="1" i="1" u="non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US" sz="2800" b="1" i="1" u="none" baseline="-25000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2937" y="1142"/>
              <a:ext cx="454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ts val="2800"/>
                <a:buFont typeface="Times New Roman"/>
                <a:buNone/>
              </a:pPr>
              <a:r>
                <a:rPr lang="en-US" sz="2800" b="1" i="1" u="non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US" sz="2800" b="1" i="1" u="none" baseline="-25000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k+</a:t>
              </a:r>
              <a:r>
                <a:rPr lang="en-US" sz="2800" b="1" i="0" u="none" baseline="-25000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4208" y="2335"/>
              <a:ext cx="544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9900"/>
                </a:buClr>
                <a:buSzPts val="2800"/>
                <a:buFont typeface="Times New Roman"/>
                <a:buNone/>
              </a:pPr>
              <a:r>
                <a:rPr lang="en-US" sz="2800" b="1" i="1" u="non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US" sz="2800" b="1" i="1" u="none" baseline="-25000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en-US" sz="2800" b="1" i="1" u="non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  <a:r>
                <a:rPr lang="en-US" sz="2800" b="1" i="0" u="non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4499" y="1704"/>
              <a:ext cx="74" cy="367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 flipH="1">
              <a:off x="4317" y="1336"/>
              <a:ext cx="90" cy="368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"/>
            <p:cNvSpPr txBox="1"/>
            <p:nvPr/>
          </p:nvSpPr>
          <p:spPr>
            <a:xfrm>
              <a:off x="4551" y="1687"/>
              <a:ext cx="573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lang="en-US" sz="2800" b="0" i="1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2800" b="0" i="1" u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lower</a:t>
              </a:r>
              <a:endParaRPr/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3781" y="1325"/>
              <a:ext cx="582" cy="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None/>
              </a:pPr>
              <a:r>
                <a:rPr lang="en-US" sz="2800" b="0" i="1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2800" b="0" i="1" u="none" baseline="-25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upper</a:t>
              </a:r>
              <a:endParaRPr/>
            </a:p>
          </p:txBody>
        </p:sp>
        <p:cxnSp>
          <p:nvCxnSpPr>
            <p:cNvPr id="158" name="Google Shape;158;p4"/>
            <p:cNvCxnSpPr/>
            <p:nvPr/>
          </p:nvCxnSpPr>
          <p:spPr>
            <a:xfrm>
              <a:off x="3358" y="2068"/>
              <a:ext cx="114" cy="0"/>
            </a:xfrm>
            <a:prstGeom prst="straightConnector1">
              <a:avLst/>
            </a:prstGeom>
            <a:noFill/>
            <a:ln w="12700" cap="flat" cmpd="sng">
              <a:solidFill>
                <a:srgbClr val="FF99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59" name="Google Shape;159;p4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161" name="Google Shape;161;p4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 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>
            <a:spLocks noGrp="1"/>
          </p:cNvSpPr>
          <p:nvPr>
            <p:ph type="body" idx="1"/>
          </p:nvPr>
        </p:nvSpPr>
        <p:spPr>
          <a:xfrm>
            <a:off x="457200" y="1333500"/>
            <a:ext cx="8686800" cy="55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given as follows: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use these to make a simple decision about which pixel is closer to the mathematical line</a:t>
            </a:r>
            <a:endParaRPr/>
          </a:p>
        </p:txBody>
      </p:sp>
      <p:grpSp>
        <p:nvGrpSpPr>
          <p:cNvPr id="168" name="Google Shape;168;p5"/>
          <p:cNvGrpSpPr/>
          <p:nvPr/>
        </p:nvGrpSpPr>
        <p:grpSpPr>
          <a:xfrm>
            <a:off x="2465387" y="2146300"/>
            <a:ext cx="4197350" cy="1247775"/>
            <a:chOff x="1030" y="2059"/>
            <a:chExt cx="2644" cy="786"/>
          </a:xfrm>
        </p:grpSpPr>
        <p:pic>
          <p:nvPicPr>
            <p:cNvPr id="169" name="Google Shape;169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0" y="2059"/>
              <a:ext cx="1493" cy="3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32" y="2450"/>
              <a:ext cx="2042" cy="3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" name="Google Shape;171;p5"/>
          <p:cNvGrpSpPr/>
          <p:nvPr/>
        </p:nvGrpSpPr>
        <p:grpSpPr>
          <a:xfrm>
            <a:off x="2179637" y="3833812"/>
            <a:ext cx="4762500" cy="1265237"/>
            <a:chOff x="1018" y="3070"/>
            <a:chExt cx="3000" cy="797"/>
          </a:xfrm>
        </p:grpSpPr>
        <p:pic>
          <p:nvPicPr>
            <p:cNvPr id="172" name="Google Shape;172;p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18" y="3070"/>
              <a:ext cx="2019" cy="4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624" y="3472"/>
              <a:ext cx="2394" cy="3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5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>
            <a:spLocks noGrp="1"/>
          </p:cNvSpPr>
          <p:nvPr>
            <p:ph type="body" idx="1"/>
          </p:nvPr>
        </p:nvSpPr>
        <p:spPr>
          <a:xfrm>
            <a:off x="457200" y="1333500"/>
            <a:ext cx="8686800" cy="55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simple decision is based on the difference between the two pixel positions: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substitute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∆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/∆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where ∆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differences between the end-points:</a:t>
            </a:r>
            <a:endParaRPr/>
          </a:p>
        </p:txBody>
      </p:sp>
      <p:pic>
        <p:nvPicPr>
          <p:cNvPr id="183" name="Google Shape;18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1700" y="2105025"/>
            <a:ext cx="7164387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712" y="3603625"/>
            <a:ext cx="7648575" cy="9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7725" y="4629150"/>
            <a:ext cx="5499100" cy="53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87725" y="5367337"/>
            <a:ext cx="358616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>
            <a:spLocks noGrp="1"/>
          </p:cNvSpPr>
          <p:nvPr>
            <p:ph type="body" idx="1"/>
          </p:nvPr>
        </p:nvSpPr>
        <p:spPr>
          <a:xfrm>
            <a:off x="401637" y="1231900"/>
            <a:ext cx="8113712" cy="494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a decision parameter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step along a line is given by: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sign of the decision parameter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same as that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negative, then we choose the lower pixel, otherwise we choose the upper pixel</a:t>
            </a:r>
            <a:endParaRPr/>
          </a:p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2150" y="1836737"/>
            <a:ext cx="4459287" cy="12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199" name="Google Shape;199;p7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>
            <a:spLocks noGrp="1"/>
          </p:cNvSpPr>
          <p:nvPr>
            <p:ph type="body" idx="1"/>
          </p:nvPr>
        </p:nvSpPr>
        <p:spPr>
          <a:xfrm>
            <a:off x="406400" y="1335087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coordinate changes occur along the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axis in unit steps so we can do everything with integer calculations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step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 the decision parameter is given as: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Subtracting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this we get:</a:t>
            </a:r>
            <a:endParaRPr/>
          </a:p>
          <a:p>
            <a:pPr marL="171450" marR="0" lvl="0" indent="-19050" algn="l" rtl="0">
              <a:lnSpc>
                <a:spcPct val="90000"/>
              </a:lnSpc>
              <a:spcBef>
                <a:spcPts val="75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0337" y="3381375"/>
            <a:ext cx="5191125" cy="62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875" y="4157662"/>
            <a:ext cx="7142162" cy="62706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210" name="Google Shape;210;p8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But,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k+</a:t>
            </a:r>
            <a:r>
              <a:rPr lang="en-US" sz="24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same as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so: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k+1 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either 0 or 1 depending on the sign of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decision parameter p0 is evaluated at (x0, y0) is given as:</a:t>
            </a:r>
            <a:endParaRPr/>
          </a:p>
        </p:txBody>
      </p:sp>
      <p:pic>
        <p:nvPicPr>
          <p:cNvPr id="217" name="Google Shape;21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3387" y="2419350"/>
            <a:ext cx="5468937" cy="62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4837" y="4297362"/>
            <a:ext cx="2473325" cy="62706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221" name="Google Shape;221;p9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Deriving The Bresenham Line Algorithm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3810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457200" y="1376362"/>
            <a:ext cx="8229600" cy="533558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BRESENHAM’S LINE DRAWING ALGORITHM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(for |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&lt; 1.0)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the two line end-points, storing the left end-point in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lang="en-US" sz="2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Plot the point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lang="en-US" sz="2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the constants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(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-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get the first value for the decision parameter as:</a:t>
            </a:r>
            <a:endParaRPr/>
          </a:p>
          <a:p>
            <a:pPr marL="609600" marR="0" lvl="0" indent="-4445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each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along the line, starting at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= 0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perform the following test. If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0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next point to plot is 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lang="en-US" sz="2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y</a:t>
            </a:r>
            <a:r>
              <a:rPr lang="en-US" sz="2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and:</a:t>
            </a:r>
            <a:endParaRPr/>
          </a:p>
        </p:txBody>
      </p:sp>
      <p:pic>
        <p:nvPicPr>
          <p:cNvPr id="229" name="Google Shape;22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8837" y="4306887"/>
            <a:ext cx="2298700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7237" y="6108700"/>
            <a:ext cx="2525712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Bresenham Line Algorithm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 txBox="1">
            <a:spLocks noGrp="1"/>
          </p:cNvSpPr>
          <p:nvPr>
            <p:ph type="body" idx="1"/>
          </p:nvPr>
        </p:nvSpPr>
        <p:spPr>
          <a:xfrm>
            <a:off x="457200" y="3246437"/>
            <a:ext cx="8229600" cy="285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n-US" sz="2100" b="1" i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Attention! </a:t>
            </a:r>
            <a:r>
              <a:rPr lang="en-US" sz="2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algorithm and derivation above assumes slopes are less than 1. for other slopes we need to adjust the algorithm slightly.</a:t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457200" y="1376362"/>
            <a:ext cx="8229600" cy="18446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Otherwise, the next point to plot is (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y</a:t>
            </a:r>
            <a:r>
              <a:rPr lang="en-US" sz="26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and:</a:t>
            </a:r>
            <a:endParaRPr/>
          </a:p>
          <a:p>
            <a:pPr marL="609600" marR="0" lvl="0" indent="-609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609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 startAt="5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step 4 (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1) times</a:t>
            </a:r>
            <a:endParaRPr/>
          </a:p>
        </p:txBody>
      </p:sp>
      <p:pic>
        <p:nvPicPr>
          <p:cNvPr id="241" name="Google Shape;24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8287" y="1895475"/>
            <a:ext cx="3497262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244" name="Google Shape;244;p11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The Bresenham Line Algorithm (cont..)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b4883548c_0_0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251" name="Google Shape;251;g3cb4883548c_0_0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pic>
        <p:nvPicPr>
          <p:cNvPr id="252" name="Google Shape;252;g3cb4883548c_0_0" title="octant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425" y="1100700"/>
            <a:ext cx="5004228" cy="506665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cb4883548c_0_0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The Bresenham Line Algorithm (cont..)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g3cb4883548c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b4883548c_0_208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260" name="Google Shape;260;g3cb4883548c_0_208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pic>
        <p:nvPicPr>
          <p:cNvPr id="261" name="Google Shape;261;g3cb4883548c_0_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50" y="1182900"/>
            <a:ext cx="8196800" cy="44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cb4883548c_0_208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The Bresenham Line Algorithm (cont..)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g3cb4883548c_0_2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have a go at this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plot the line from (20, 10) to (30, 18)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off calculate all of the constants:</a:t>
            </a:r>
            <a:endParaRPr/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10</a:t>
            </a:r>
            <a:endParaRPr/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8</a:t>
            </a:r>
            <a:endParaRPr sz="24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16</a:t>
            </a:r>
            <a:endParaRPr sz="24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-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2Δ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-4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initial decision parameter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p0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2Δ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Δ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6</a:t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271" name="Google Shape;271;p12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13"/>
          <p:cNvGrpSpPr/>
          <p:nvPr/>
        </p:nvGrpSpPr>
        <p:grpSpPr>
          <a:xfrm>
            <a:off x="133350" y="1406525"/>
            <a:ext cx="6285706" cy="5278437"/>
            <a:chOff x="84" y="886"/>
            <a:chExt cx="3960" cy="3325"/>
          </a:xfrm>
        </p:grpSpPr>
        <p:grpSp>
          <p:nvGrpSpPr>
            <p:cNvPr id="278" name="Google Shape;278;p13"/>
            <p:cNvGrpSpPr/>
            <p:nvPr/>
          </p:nvGrpSpPr>
          <p:grpSpPr>
            <a:xfrm>
              <a:off x="556" y="886"/>
              <a:ext cx="3211" cy="3090"/>
              <a:chOff x="2066" y="90"/>
              <a:chExt cx="3118" cy="3644"/>
            </a:xfrm>
          </p:grpSpPr>
          <p:cxnSp>
            <p:nvCxnSpPr>
              <p:cNvPr id="279" name="Google Shape;279;p13"/>
              <p:cNvCxnSpPr/>
              <p:nvPr/>
            </p:nvCxnSpPr>
            <p:spPr>
              <a:xfrm rot="10800000">
                <a:off x="2376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0" name="Google Shape;280;p13"/>
              <p:cNvCxnSpPr/>
              <p:nvPr/>
            </p:nvCxnSpPr>
            <p:spPr>
              <a:xfrm rot="10800000">
                <a:off x="2690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1" name="Google Shape;281;p13"/>
              <p:cNvCxnSpPr/>
              <p:nvPr/>
            </p:nvCxnSpPr>
            <p:spPr>
              <a:xfrm rot="10800000">
                <a:off x="3016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13"/>
              <p:cNvCxnSpPr/>
              <p:nvPr/>
            </p:nvCxnSpPr>
            <p:spPr>
              <a:xfrm rot="10800000">
                <a:off x="3317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13"/>
              <p:cNvCxnSpPr/>
              <p:nvPr/>
            </p:nvCxnSpPr>
            <p:spPr>
              <a:xfrm rot="10800000">
                <a:off x="3644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4" name="Google Shape;284;p13"/>
              <p:cNvCxnSpPr/>
              <p:nvPr/>
            </p:nvCxnSpPr>
            <p:spPr>
              <a:xfrm rot="10800000">
                <a:off x="3957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5" name="Google Shape;285;p13"/>
              <p:cNvCxnSpPr/>
              <p:nvPr/>
            </p:nvCxnSpPr>
            <p:spPr>
              <a:xfrm rot="10800000">
                <a:off x="4271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13"/>
              <p:cNvCxnSpPr/>
              <p:nvPr/>
            </p:nvCxnSpPr>
            <p:spPr>
              <a:xfrm rot="10800000">
                <a:off x="4572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13"/>
              <p:cNvCxnSpPr/>
              <p:nvPr/>
            </p:nvCxnSpPr>
            <p:spPr>
              <a:xfrm rot="10800000">
                <a:off x="2066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8" name="Google Shape;288;p13"/>
              <p:cNvCxnSpPr/>
              <p:nvPr/>
            </p:nvCxnSpPr>
            <p:spPr>
              <a:xfrm rot="10800000">
                <a:off x="4879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13"/>
              <p:cNvCxnSpPr/>
              <p:nvPr/>
            </p:nvCxnSpPr>
            <p:spPr>
              <a:xfrm rot="10800000">
                <a:off x="5184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cxnSp>
          <p:nvCxnSpPr>
            <p:cNvPr id="290" name="Google Shape;290;p13"/>
            <p:cNvCxnSpPr/>
            <p:nvPr/>
          </p:nvCxnSpPr>
          <p:spPr>
            <a:xfrm rot="10800000">
              <a:off x="2182" y="-709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91" name="Google Shape;291;p13"/>
            <p:cNvCxnSpPr/>
            <p:nvPr/>
          </p:nvCxnSpPr>
          <p:spPr>
            <a:xfrm rot="10800000">
              <a:off x="2182" y="-388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92" name="Google Shape;292;p13"/>
            <p:cNvCxnSpPr/>
            <p:nvPr/>
          </p:nvCxnSpPr>
          <p:spPr>
            <a:xfrm rot="10800000">
              <a:off x="2182" y="-64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93" name="Google Shape;293;p13"/>
            <p:cNvCxnSpPr/>
            <p:nvPr/>
          </p:nvCxnSpPr>
          <p:spPr>
            <a:xfrm rot="10800000">
              <a:off x="2182" y="257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94" name="Google Shape;294;p13"/>
            <p:cNvCxnSpPr/>
            <p:nvPr/>
          </p:nvCxnSpPr>
          <p:spPr>
            <a:xfrm rot="10800000">
              <a:off x="2182" y="581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95" name="Google Shape;295;p13"/>
            <p:cNvCxnSpPr/>
            <p:nvPr/>
          </p:nvCxnSpPr>
          <p:spPr>
            <a:xfrm rot="10800000">
              <a:off x="2182" y="901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96" name="Google Shape;296;p13"/>
            <p:cNvSpPr/>
            <p:nvPr/>
          </p:nvSpPr>
          <p:spPr>
            <a:xfrm>
              <a:off x="1063" y="1982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399" y="1982"/>
              <a:ext cx="271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001" y="1975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740" y="1981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1709" y="1982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2045" y="1981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2369" y="1981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2692" y="1981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1065" y="1663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1400" y="1663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3003" y="1654"/>
              <a:ext cx="269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741" y="166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1710" y="1663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2047" y="166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2369" y="1661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2693" y="166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1063" y="134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1399" y="1343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3001" y="1334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740" y="134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1709" y="134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2045" y="134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2369" y="134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2692" y="134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1065" y="1022"/>
              <a:ext cx="269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1400" y="1022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3003" y="1013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741" y="1020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1710" y="1022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2047" y="1020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2369" y="1020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2693" y="1020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1063" y="263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1399" y="2632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3001" y="2623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740" y="263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1709" y="263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2045" y="263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2369" y="263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2692" y="263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3"/>
            <p:cNvSpPr/>
            <p:nvPr/>
          </p:nvSpPr>
          <p:spPr>
            <a:xfrm>
              <a:off x="1063" y="231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3"/>
            <p:cNvSpPr/>
            <p:nvPr/>
          </p:nvSpPr>
          <p:spPr>
            <a:xfrm>
              <a:off x="1399" y="2312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3"/>
            <p:cNvSpPr/>
            <p:nvPr/>
          </p:nvSpPr>
          <p:spPr>
            <a:xfrm>
              <a:off x="3001" y="2303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3"/>
            <p:cNvSpPr/>
            <p:nvPr/>
          </p:nvSpPr>
          <p:spPr>
            <a:xfrm>
              <a:off x="740" y="2311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3"/>
            <p:cNvSpPr/>
            <p:nvPr/>
          </p:nvSpPr>
          <p:spPr>
            <a:xfrm>
              <a:off x="1709" y="231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2045" y="2311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2369" y="2311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2692" y="2311"/>
              <a:ext cx="269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3"/>
            <p:cNvSpPr/>
            <p:nvPr/>
          </p:nvSpPr>
          <p:spPr>
            <a:xfrm>
              <a:off x="421" y="1973"/>
              <a:ext cx="269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3"/>
            <p:cNvSpPr/>
            <p:nvPr/>
          </p:nvSpPr>
          <p:spPr>
            <a:xfrm>
              <a:off x="422" y="165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421" y="1331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422" y="1011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3"/>
            <p:cNvSpPr/>
            <p:nvPr/>
          </p:nvSpPr>
          <p:spPr>
            <a:xfrm>
              <a:off x="421" y="262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3"/>
            <p:cNvSpPr/>
            <p:nvPr/>
          </p:nvSpPr>
          <p:spPr>
            <a:xfrm>
              <a:off x="421" y="230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3318" y="1983"/>
              <a:ext cx="269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3319" y="1664"/>
              <a:ext cx="268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3318" y="1343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3319" y="1023"/>
              <a:ext cx="268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3318" y="2634"/>
              <a:ext cx="269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3318" y="2313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3631" y="1990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3632" y="1669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3631" y="1348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3632" y="1028"/>
              <a:ext cx="270" cy="270"/>
            </a:xfrm>
            <a:prstGeom prst="ellipse">
              <a:avLst/>
            </a:prstGeom>
            <a:solidFill>
              <a:srgbClr val="000080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3631" y="2639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3631" y="2318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2" name="Google Shape;362;p13"/>
            <p:cNvCxnSpPr/>
            <p:nvPr/>
          </p:nvCxnSpPr>
          <p:spPr>
            <a:xfrm rot="10800000">
              <a:off x="2172" y="1228"/>
              <a:ext cx="0" cy="372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63" name="Google Shape;363;p13"/>
            <p:cNvCxnSpPr/>
            <p:nvPr/>
          </p:nvCxnSpPr>
          <p:spPr>
            <a:xfrm rot="10800000">
              <a:off x="2172" y="1553"/>
              <a:ext cx="0" cy="372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64" name="Google Shape;364;p13"/>
            <p:cNvCxnSpPr/>
            <p:nvPr/>
          </p:nvCxnSpPr>
          <p:spPr>
            <a:xfrm rot="10800000">
              <a:off x="2172" y="1872"/>
              <a:ext cx="0" cy="372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65" name="Google Shape;365;p13"/>
            <p:cNvSpPr/>
            <p:nvPr/>
          </p:nvSpPr>
          <p:spPr>
            <a:xfrm>
              <a:off x="1063" y="2954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1399" y="2954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3001" y="2946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740" y="2951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1709" y="2954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2045" y="2951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2369" y="2951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692" y="2951"/>
              <a:ext cx="269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1063" y="360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1399" y="3603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3001" y="3594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740" y="360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1709" y="360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2045" y="360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2369" y="360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2692" y="360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1063" y="328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1399" y="3283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3001" y="3274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740" y="328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1709" y="328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2045" y="328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2369" y="328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2692" y="328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421" y="2943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421" y="3591"/>
              <a:ext cx="269" cy="271"/>
            </a:xfrm>
            <a:prstGeom prst="ellipse">
              <a:avLst/>
            </a:prstGeom>
            <a:solidFill>
              <a:srgbClr val="000080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421" y="3271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3318" y="2955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3318" y="3604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3318" y="3283"/>
              <a:ext cx="269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3631" y="2960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3631" y="3609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3631" y="3288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3"/>
            <p:cNvSpPr txBox="1"/>
            <p:nvPr/>
          </p:nvSpPr>
          <p:spPr>
            <a:xfrm>
              <a:off x="84" y="1356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endParaRPr/>
            </a:p>
          </p:txBody>
        </p:sp>
        <p:sp>
          <p:nvSpPr>
            <p:cNvPr id="399" name="Google Shape;399;p13"/>
            <p:cNvSpPr txBox="1"/>
            <p:nvPr/>
          </p:nvSpPr>
          <p:spPr>
            <a:xfrm>
              <a:off x="84" y="1679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400" name="Google Shape;400;p13"/>
            <p:cNvSpPr txBox="1"/>
            <p:nvPr/>
          </p:nvSpPr>
          <p:spPr>
            <a:xfrm>
              <a:off x="84" y="2002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401" name="Google Shape;401;p13"/>
            <p:cNvSpPr txBox="1"/>
            <p:nvPr/>
          </p:nvSpPr>
          <p:spPr>
            <a:xfrm>
              <a:off x="84" y="2324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/>
            </a:p>
          </p:txBody>
        </p:sp>
        <p:sp>
          <p:nvSpPr>
            <p:cNvPr id="402" name="Google Shape;402;p13"/>
            <p:cNvSpPr txBox="1"/>
            <p:nvPr/>
          </p:nvSpPr>
          <p:spPr>
            <a:xfrm>
              <a:off x="84" y="2647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/>
            </a:p>
          </p:txBody>
        </p:sp>
        <p:sp>
          <p:nvSpPr>
            <p:cNvPr id="403" name="Google Shape;403;p13"/>
            <p:cNvSpPr txBox="1"/>
            <p:nvPr/>
          </p:nvSpPr>
          <p:spPr>
            <a:xfrm>
              <a:off x="84" y="2968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  <p:sp>
          <p:nvSpPr>
            <p:cNvPr id="404" name="Google Shape;404;p13"/>
            <p:cNvSpPr txBox="1"/>
            <p:nvPr/>
          </p:nvSpPr>
          <p:spPr>
            <a:xfrm>
              <a:off x="84" y="3292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405" name="Google Shape;405;p13"/>
            <p:cNvSpPr txBox="1"/>
            <p:nvPr/>
          </p:nvSpPr>
          <p:spPr>
            <a:xfrm>
              <a:off x="84" y="3615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406" name="Google Shape;406;p13"/>
            <p:cNvSpPr txBox="1"/>
            <p:nvPr/>
          </p:nvSpPr>
          <p:spPr>
            <a:xfrm>
              <a:off x="84" y="1034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endParaRPr/>
            </a:p>
          </p:txBody>
        </p:sp>
        <p:sp>
          <p:nvSpPr>
            <p:cNvPr id="407" name="Google Shape;407;p13"/>
            <p:cNvSpPr txBox="1"/>
            <p:nvPr/>
          </p:nvSpPr>
          <p:spPr>
            <a:xfrm>
              <a:off x="3308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29</a:t>
              </a:r>
              <a:endParaRPr/>
            </a:p>
          </p:txBody>
        </p:sp>
        <p:sp>
          <p:nvSpPr>
            <p:cNvPr id="408" name="Google Shape;408;p13"/>
            <p:cNvSpPr txBox="1"/>
            <p:nvPr/>
          </p:nvSpPr>
          <p:spPr>
            <a:xfrm>
              <a:off x="2684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  <a:endParaRPr/>
            </a:p>
          </p:txBody>
        </p:sp>
        <p:sp>
          <p:nvSpPr>
            <p:cNvPr id="409" name="Google Shape;409;p13"/>
            <p:cNvSpPr txBox="1"/>
            <p:nvPr/>
          </p:nvSpPr>
          <p:spPr>
            <a:xfrm>
              <a:off x="2360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26</a:t>
              </a:r>
              <a:endParaRPr/>
            </a:p>
          </p:txBody>
        </p:sp>
        <p:sp>
          <p:nvSpPr>
            <p:cNvPr id="410" name="Google Shape;410;p13"/>
            <p:cNvSpPr txBox="1"/>
            <p:nvPr/>
          </p:nvSpPr>
          <p:spPr>
            <a:xfrm>
              <a:off x="2036" y="3980"/>
              <a:ext cx="277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/>
            </a:p>
          </p:txBody>
        </p:sp>
        <p:sp>
          <p:nvSpPr>
            <p:cNvPr id="411" name="Google Shape;411;p13"/>
            <p:cNvSpPr txBox="1"/>
            <p:nvPr/>
          </p:nvSpPr>
          <p:spPr>
            <a:xfrm>
              <a:off x="1697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/>
            </a:p>
          </p:txBody>
        </p:sp>
        <p:sp>
          <p:nvSpPr>
            <p:cNvPr id="412" name="Google Shape;412;p13"/>
            <p:cNvSpPr txBox="1"/>
            <p:nvPr/>
          </p:nvSpPr>
          <p:spPr>
            <a:xfrm>
              <a:off x="1397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23</a:t>
              </a:r>
              <a:endParaRPr/>
            </a:p>
          </p:txBody>
        </p:sp>
        <p:sp>
          <p:nvSpPr>
            <p:cNvPr id="413" name="Google Shape;413;p13"/>
            <p:cNvSpPr txBox="1"/>
            <p:nvPr/>
          </p:nvSpPr>
          <p:spPr>
            <a:xfrm>
              <a:off x="1058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/>
            </a:p>
          </p:txBody>
        </p:sp>
        <p:sp>
          <p:nvSpPr>
            <p:cNvPr id="414" name="Google Shape;414;p13"/>
            <p:cNvSpPr txBox="1"/>
            <p:nvPr/>
          </p:nvSpPr>
          <p:spPr>
            <a:xfrm>
              <a:off x="725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  <a:endParaRPr/>
            </a:p>
          </p:txBody>
        </p:sp>
        <p:sp>
          <p:nvSpPr>
            <p:cNvPr id="415" name="Google Shape;415;p13"/>
            <p:cNvSpPr txBox="1"/>
            <p:nvPr/>
          </p:nvSpPr>
          <p:spPr>
            <a:xfrm>
              <a:off x="409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/>
            </a:p>
          </p:txBody>
        </p:sp>
        <p:sp>
          <p:nvSpPr>
            <p:cNvPr id="416" name="Google Shape;416;p13"/>
            <p:cNvSpPr txBox="1"/>
            <p:nvPr/>
          </p:nvSpPr>
          <p:spPr>
            <a:xfrm>
              <a:off x="2991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28</a:t>
              </a:r>
              <a:endParaRPr/>
            </a:p>
          </p:txBody>
        </p:sp>
        <p:sp>
          <p:nvSpPr>
            <p:cNvPr id="417" name="Google Shape;417;p13"/>
            <p:cNvSpPr txBox="1"/>
            <p:nvPr/>
          </p:nvSpPr>
          <p:spPr>
            <a:xfrm>
              <a:off x="3621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/>
            </a:p>
          </p:txBody>
        </p:sp>
        <p:cxnSp>
          <p:nvCxnSpPr>
            <p:cNvPr id="418" name="Google Shape;418;p13"/>
            <p:cNvCxnSpPr/>
            <p:nvPr/>
          </p:nvCxnSpPr>
          <p:spPr>
            <a:xfrm rot="10800000" flipH="1">
              <a:off x="553" y="1149"/>
              <a:ext cx="3218" cy="2587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aphicFrame>
        <p:nvGraphicFramePr>
          <p:cNvPr id="419" name="Google Shape;419;p13"/>
          <p:cNvGraphicFramePr/>
          <p:nvPr/>
        </p:nvGraphicFramePr>
        <p:xfrm>
          <a:off x="6569075" y="133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{B13B720E-353F-45ED-B3D4-7714DD3871CA}</a:tableStyleId>
              </a:tblPr>
              <a:tblGrid>
                <a:gridCol w="4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8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(x</a:t>
                      </a:r>
                      <a:r>
                        <a:rPr lang="en-US" sz="18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k+1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,y</a:t>
                      </a:r>
                      <a:r>
                        <a:rPr lang="en-US" sz="18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k+1</a:t>
                      </a: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p0 =6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 =2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p2= -2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p3=14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p4=10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 = 6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 = 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p7= -2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p8=14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p9=10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P10=6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(20,10)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(21,11)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(22,12)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(23,12)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(24,13)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(25,14)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(26,15)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(27,16)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(28,16)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(29,17)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99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(30,18)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0" name="Google Shape;420;p13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421" name="Google Shape;421;p1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  <p:sp>
        <p:nvSpPr>
          <p:cNvPr id="422" name="Google Shape;422;p13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2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through the steps of the Bresenham line drawing algorithm for a line going from (21,12) to (29,16)</a:t>
            </a:r>
            <a:endParaRPr/>
          </a:p>
        </p:txBody>
      </p:sp>
      <p:sp>
        <p:nvSpPr>
          <p:cNvPr id="429" name="Google Shape;429;p14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430" name="Google Shape;430;p1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  <p:sp>
        <p:nvSpPr>
          <p:cNvPr id="431" name="Google Shape;431;p14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15"/>
          <p:cNvGrpSpPr/>
          <p:nvPr/>
        </p:nvGrpSpPr>
        <p:grpSpPr>
          <a:xfrm>
            <a:off x="133350" y="1406525"/>
            <a:ext cx="6285706" cy="5278437"/>
            <a:chOff x="84" y="886"/>
            <a:chExt cx="3960" cy="3325"/>
          </a:xfrm>
        </p:grpSpPr>
        <p:grpSp>
          <p:nvGrpSpPr>
            <p:cNvPr id="438" name="Google Shape;438;p15"/>
            <p:cNvGrpSpPr/>
            <p:nvPr/>
          </p:nvGrpSpPr>
          <p:grpSpPr>
            <a:xfrm>
              <a:off x="556" y="886"/>
              <a:ext cx="3211" cy="3090"/>
              <a:chOff x="2066" y="90"/>
              <a:chExt cx="3118" cy="3644"/>
            </a:xfrm>
          </p:grpSpPr>
          <p:cxnSp>
            <p:nvCxnSpPr>
              <p:cNvPr id="439" name="Google Shape;439;p15"/>
              <p:cNvCxnSpPr/>
              <p:nvPr/>
            </p:nvCxnSpPr>
            <p:spPr>
              <a:xfrm rot="10800000">
                <a:off x="2376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0" name="Google Shape;440;p15"/>
              <p:cNvCxnSpPr/>
              <p:nvPr/>
            </p:nvCxnSpPr>
            <p:spPr>
              <a:xfrm rot="10800000">
                <a:off x="2690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1" name="Google Shape;441;p15"/>
              <p:cNvCxnSpPr/>
              <p:nvPr/>
            </p:nvCxnSpPr>
            <p:spPr>
              <a:xfrm rot="10800000">
                <a:off x="3016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15"/>
              <p:cNvCxnSpPr/>
              <p:nvPr/>
            </p:nvCxnSpPr>
            <p:spPr>
              <a:xfrm rot="10800000">
                <a:off x="3317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443;p15"/>
              <p:cNvCxnSpPr/>
              <p:nvPr/>
            </p:nvCxnSpPr>
            <p:spPr>
              <a:xfrm rot="10800000">
                <a:off x="3644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4" name="Google Shape;444;p15"/>
              <p:cNvCxnSpPr/>
              <p:nvPr/>
            </p:nvCxnSpPr>
            <p:spPr>
              <a:xfrm rot="10800000">
                <a:off x="3957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5" name="Google Shape;445;p15"/>
              <p:cNvCxnSpPr/>
              <p:nvPr/>
            </p:nvCxnSpPr>
            <p:spPr>
              <a:xfrm rot="10800000">
                <a:off x="4271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6" name="Google Shape;446;p15"/>
              <p:cNvCxnSpPr/>
              <p:nvPr/>
            </p:nvCxnSpPr>
            <p:spPr>
              <a:xfrm rot="10800000">
                <a:off x="4572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15"/>
              <p:cNvCxnSpPr/>
              <p:nvPr/>
            </p:nvCxnSpPr>
            <p:spPr>
              <a:xfrm rot="10800000">
                <a:off x="2066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15"/>
              <p:cNvCxnSpPr/>
              <p:nvPr/>
            </p:nvCxnSpPr>
            <p:spPr>
              <a:xfrm rot="10800000">
                <a:off x="4879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49" name="Google Shape;449;p15"/>
              <p:cNvCxnSpPr/>
              <p:nvPr/>
            </p:nvCxnSpPr>
            <p:spPr>
              <a:xfrm rot="10800000">
                <a:off x="5184" y="90"/>
                <a:ext cx="0" cy="3644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cxnSp>
          <p:nvCxnSpPr>
            <p:cNvPr id="450" name="Google Shape;450;p15"/>
            <p:cNvCxnSpPr/>
            <p:nvPr/>
          </p:nvCxnSpPr>
          <p:spPr>
            <a:xfrm rot="10800000">
              <a:off x="2182" y="-709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51" name="Google Shape;451;p15"/>
            <p:cNvCxnSpPr/>
            <p:nvPr/>
          </p:nvCxnSpPr>
          <p:spPr>
            <a:xfrm rot="10800000">
              <a:off x="2182" y="-388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52" name="Google Shape;452;p15"/>
            <p:cNvCxnSpPr/>
            <p:nvPr/>
          </p:nvCxnSpPr>
          <p:spPr>
            <a:xfrm rot="10800000">
              <a:off x="2182" y="-64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53" name="Google Shape;453;p15"/>
            <p:cNvCxnSpPr/>
            <p:nvPr/>
          </p:nvCxnSpPr>
          <p:spPr>
            <a:xfrm rot="10800000">
              <a:off x="2182" y="257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54" name="Google Shape;454;p15"/>
            <p:cNvCxnSpPr/>
            <p:nvPr/>
          </p:nvCxnSpPr>
          <p:spPr>
            <a:xfrm rot="10800000">
              <a:off x="2182" y="581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55" name="Google Shape;455;p15"/>
            <p:cNvCxnSpPr/>
            <p:nvPr/>
          </p:nvCxnSpPr>
          <p:spPr>
            <a:xfrm rot="10800000">
              <a:off x="2182" y="901"/>
              <a:ext cx="0" cy="3723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456" name="Google Shape;456;p15"/>
            <p:cNvSpPr/>
            <p:nvPr/>
          </p:nvSpPr>
          <p:spPr>
            <a:xfrm>
              <a:off x="1063" y="1982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1399" y="1982"/>
              <a:ext cx="271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3001" y="1975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740" y="1981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1709" y="1982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2045" y="1981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2369" y="1981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2692" y="1981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1065" y="1663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5"/>
            <p:cNvSpPr/>
            <p:nvPr/>
          </p:nvSpPr>
          <p:spPr>
            <a:xfrm>
              <a:off x="1400" y="1663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3003" y="1654"/>
              <a:ext cx="269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741" y="166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1710" y="1663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2047" y="166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2369" y="1661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2693" y="166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1063" y="134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1399" y="1343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3001" y="1334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740" y="134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1709" y="134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2045" y="134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2369" y="134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2692" y="134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1065" y="1022"/>
              <a:ext cx="269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1400" y="1022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3003" y="1013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741" y="1020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1710" y="1022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2047" y="1020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2369" y="1020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2693" y="1020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1063" y="263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1399" y="2632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3001" y="2623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740" y="263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1709" y="263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2045" y="263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2369" y="263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2692" y="263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1063" y="231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1399" y="2312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3001" y="2303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740" y="2311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1709" y="231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2045" y="2311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2369" y="2311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2692" y="2311"/>
              <a:ext cx="269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421" y="1973"/>
              <a:ext cx="269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422" y="1652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421" y="1331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422" y="1011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421" y="262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421" y="230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3318" y="1983"/>
              <a:ext cx="269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3319" y="1664"/>
              <a:ext cx="268" cy="269"/>
            </a:xfrm>
            <a:prstGeom prst="ellipse">
              <a:avLst/>
            </a:prstGeom>
            <a:solidFill>
              <a:srgbClr val="000080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3318" y="1343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3319" y="1023"/>
              <a:ext cx="268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3318" y="2634"/>
              <a:ext cx="269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3318" y="2313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3631" y="1990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3632" y="1669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3631" y="1348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3632" y="1028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3631" y="2639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3631" y="2318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2" name="Google Shape;522;p15"/>
            <p:cNvCxnSpPr/>
            <p:nvPr/>
          </p:nvCxnSpPr>
          <p:spPr>
            <a:xfrm rot="10800000">
              <a:off x="2172" y="1228"/>
              <a:ext cx="0" cy="372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23" name="Google Shape;523;p15"/>
            <p:cNvCxnSpPr/>
            <p:nvPr/>
          </p:nvCxnSpPr>
          <p:spPr>
            <a:xfrm rot="10800000">
              <a:off x="2172" y="1553"/>
              <a:ext cx="0" cy="372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24" name="Google Shape;524;p15"/>
            <p:cNvCxnSpPr/>
            <p:nvPr/>
          </p:nvCxnSpPr>
          <p:spPr>
            <a:xfrm rot="10800000">
              <a:off x="2172" y="1872"/>
              <a:ext cx="0" cy="3722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525" name="Google Shape;525;p15"/>
            <p:cNvSpPr/>
            <p:nvPr/>
          </p:nvSpPr>
          <p:spPr>
            <a:xfrm>
              <a:off x="1063" y="2954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1399" y="2954"/>
              <a:ext cx="271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3001" y="2946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740" y="2951"/>
              <a:ext cx="270" cy="271"/>
            </a:xfrm>
            <a:prstGeom prst="ellipse">
              <a:avLst/>
            </a:prstGeom>
            <a:solidFill>
              <a:srgbClr val="000080"/>
            </a:solidFill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5"/>
            <p:cNvSpPr/>
            <p:nvPr/>
          </p:nvSpPr>
          <p:spPr>
            <a:xfrm>
              <a:off x="1709" y="2954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2045" y="2951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2369" y="2951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2692" y="2951"/>
              <a:ext cx="269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1063" y="360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1399" y="3603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3001" y="3594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740" y="360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1709" y="360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2045" y="360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5"/>
            <p:cNvSpPr/>
            <p:nvPr/>
          </p:nvSpPr>
          <p:spPr>
            <a:xfrm>
              <a:off x="2369" y="360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5"/>
            <p:cNvSpPr/>
            <p:nvPr/>
          </p:nvSpPr>
          <p:spPr>
            <a:xfrm>
              <a:off x="2692" y="360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1063" y="328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1399" y="3283"/>
              <a:ext cx="271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3001" y="3274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740" y="328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1709" y="3283"/>
              <a:ext cx="270" cy="268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2045" y="328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2369" y="3281"/>
              <a:ext cx="270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2692" y="3281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421" y="2943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421" y="3591"/>
              <a:ext cx="269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421" y="3271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3318" y="2955"/>
              <a:ext cx="269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3318" y="3604"/>
              <a:ext cx="269" cy="269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3318" y="3283"/>
              <a:ext cx="269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3631" y="2960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3631" y="3609"/>
              <a:ext cx="270" cy="27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3631" y="3288"/>
              <a:ext cx="270" cy="271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5"/>
            <p:cNvSpPr txBox="1"/>
            <p:nvPr/>
          </p:nvSpPr>
          <p:spPr>
            <a:xfrm>
              <a:off x="84" y="1356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endParaRPr/>
            </a:p>
          </p:txBody>
        </p:sp>
        <p:sp>
          <p:nvSpPr>
            <p:cNvPr id="559" name="Google Shape;559;p15"/>
            <p:cNvSpPr txBox="1"/>
            <p:nvPr/>
          </p:nvSpPr>
          <p:spPr>
            <a:xfrm>
              <a:off x="84" y="1679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560" name="Google Shape;560;p15"/>
            <p:cNvSpPr txBox="1"/>
            <p:nvPr/>
          </p:nvSpPr>
          <p:spPr>
            <a:xfrm>
              <a:off x="84" y="2002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561" name="Google Shape;561;p15"/>
            <p:cNvSpPr txBox="1"/>
            <p:nvPr/>
          </p:nvSpPr>
          <p:spPr>
            <a:xfrm>
              <a:off x="84" y="2324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/>
            </a:p>
          </p:txBody>
        </p:sp>
        <p:sp>
          <p:nvSpPr>
            <p:cNvPr id="562" name="Google Shape;562;p15"/>
            <p:cNvSpPr txBox="1"/>
            <p:nvPr/>
          </p:nvSpPr>
          <p:spPr>
            <a:xfrm>
              <a:off x="84" y="2647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/>
            </a:p>
          </p:txBody>
        </p:sp>
        <p:sp>
          <p:nvSpPr>
            <p:cNvPr id="563" name="Google Shape;563;p15"/>
            <p:cNvSpPr txBox="1"/>
            <p:nvPr/>
          </p:nvSpPr>
          <p:spPr>
            <a:xfrm>
              <a:off x="84" y="2968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  <p:sp>
          <p:nvSpPr>
            <p:cNvPr id="564" name="Google Shape;564;p15"/>
            <p:cNvSpPr txBox="1"/>
            <p:nvPr/>
          </p:nvSpPr>
          <p:spPr>
            <a:xfrm>
              <a:off x="84" y="3292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sp>
          <p:nvSpPr>
            <p:cNvPr id="565" name="Google Shape;565;p15"/>
            <p:cNvSpPr txBox="1"/>
            <p:nvPr/>
          </p:nvSpPr>
          <p:spPr>
            <a:xfrm>
              <a:off x="84" y="3615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566" name="Google Shape;566;p15"/>
            <p:cNvSpPr txBox="1"/>
            <p:nvPr/>
          </p:nvSpPr>
          <p:spPr>
            <a:xfrm>
              <a:off x="84" y="1034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endParaRPr/>
            </a:p>
          </p:txBody>
        </p:sp>
        <p:sp>
          <p:nvSpPr>
            <p:cNvPr id="567" name="Google Shape;567;p15"/>
            <p:cNvSpPr txBox="1"/>
            <p:nvPr/>
          </p:nvSpPr>
          <p:spPr>
            <a:xfrm>
              <a:off x="3308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29</a:t>
              </a:r>
              <a:endParaRPr/>
            </a:p>
          </p:txBody>
        </p:sp>
        <p:sp>
          <p:nvSpPr>
            <p:cNvPr id="568" name="Google Shape;568;p15"/>
            <p:cNvSpPr txBox="1"/>
            <p:nvPr/>
          </p:nvSpPr>
          <p:spPr>
            <a:xfrm>
              <a:off x="2684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27</a:t>
              </a:r>
              <a:endParaRPr/>
            </a:p>
          </p:txBody>
        </p:sp>
        <p:sp>
          <p:nvSpPr>
            <p:cNvPr id="569" name="Google Shape;569;p15"/>
            <p:cNvSpPr txBox="1"/>
            <p:nvPr/>
          </p:nvSpPr>
          <p:spPr>
            <a:xfrm>
              <a:off x="2360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26</a:t>
              </a:r>
              <a:endParaRPr/>
            </a:p>
          </p:txBody>
        </p:sp>
        <p:sp>
          <p:nvSpPr>
            <p:cNvPr id="570" name="Google Shape;570;p15"/>
            <p:cNvSpPr txBox="1"/>
            <p:nvPr/>
          </p:nvSpPr>
          <p:spPr>
            <a:xfrm>
              <a:off x="2036" y="3980"/>
              <a:ext cx="277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/>
            </a:p>
          </p:txBody>
        </p:sp>
        <p:sp>
          <p:nvSpPr>
            <p:cNvPr id="571" name="Google Shape;571;p15"/>
            <p:cNvSpPr txBox="1"/>
            <p:nvPr/>
          </p:nvSpPr>
          <p:spPr>
            <a:xfrm>
              <a:off x="1697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/>
            </a:p>
          </p:txBody>
        </p:sp>
        <p:sp>
          <p:nvSpPr>
            <p:cNvPr id="572" name="Google Shape;572;p15"/>
            <p:cNvSpPr txBox="1"/>
            <p:nvPr/>
          </p:nvSpPr>
          <p:spPr>
            <a:xfrm>
              <a:off x="1397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23</a:t>
              </a:r>
              <a:endParaRPr/>
            </a:p>
          </p:txBody>
        </p:sp>
        <p:sp>
          <p:nvSpPr>
            <p:cNvPr id="573" name="Google Shape;573;p15"/>
            <p:cNvSpPr txBox="1"/>
            <p:nvPr/>
          </p:nvSpPr>
          <p:spPr>
            <a:xfrm>
              <a:off x="1058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</a:t>
              </a:r>
              <a:endParaRPr/>
            </a:p>
          </p:txBody>
        </p:sp>
        <p:sp>
          <p:nvSpPr>
            <p:cNvPr id="574" name="Google Shape;574;p15"/>
            <p:cNvSpPr txBox="1"/>
            <p:nvPr/>
          </p:nvSpPr>
          <p:spPr>
            <a:xfrm>
              <a:off x="725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21</a:t>
              </a:r>
              <a:endParaRPr/>
            </a:p>
          </p:txBody>
        </p:sp>
        <p:sp>
          <p:nvSpPr>
            <p:cNvPr id="575" name="Google Shape;575;p15"/>
            <p:cNvSpPr txBox="1"/>
            <p:nvPr/>
          </p:nvSpPr>
          <p:spPr>
            <a:xfrm>
              <a:off x="409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/>
            </a:p>
          </p:txBody>
        </p:sp>
        <p:sp>
          <p:nvSpPr>
            <p:cNvPr id="576" name="Google Shape;576;p15"/>
            <p:cNvSpPr txBox="1"/>
            <p:nvPr/>
          </p:nvSpPr>
          <p:spPr>
            <a:xfrm>
              <a:off x="2991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28</a:t>
              </a:r>
              <a:endParaRPr/>
            </a:p>
          </p:txBody>
        </p:sp>
        <p:sp>
          <p:nvSpPr>
            <p:cNvPr id="577" name="Google Shape;577;p15"/>
            <p:cNvSpPr txBox="1"/>
            <p:nvPr/>
          </p:nvSpPr>
          <p:spPr>
            <a:xfrm>
              <a:off x="3621" y="3980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/>
            </a:p>
          </p:txBody>
        </p:sp>
        <p:cxnSp>
          <p:nvCxnSpPr>
            <p:cNvPr id="578" name="Google Shape;578;p15"/>
            <p:cNvCxnSpPr/>
            <p:nvPr/>
          </p:nvCxnSpPr>
          <p:spPr>
            <a:xfrm rot="10800000" flipH="1">
              <a:off x="881" y="1792"/>
              <a:ext cx="2568" cy="1285"/>
            </a:xfrm>
            <a:prstGeom prst="straightConnector1">
              <a:avLst/>
            </a:prstGeom>
            <a:noFill/>
            <a:ln w="50800" cap="flat" cmpd="sng">
              <a:solidFill>
                <a:srgbClr val="FF66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aphicFrame>
        <p:nvGraphicFramePr>
          <p:cNvPr id="579" name="Google Shape;579;p15"/>
          <p:cNvGraphicFramePr/>
          <p:nvPr/>
        </p:nvGraphicFramePr>
        <p:xfrm>
          <a:off x="6569075" y="133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{B13B720E-353F-45ED-B3D4-7714DD3871CA}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24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(x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k+1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,y</a:t>
                      </a:r>
                      <a:r>
                        <a:rPr lang="en-US" sz="2000" b="0" i="0" u="none" strike="noStrike" cap="none" baseline="-250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k+1</a:t>
                      </a: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p0 = 0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 = -8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 = 0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 = -8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 = 0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 = -8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 = 0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 = -8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p8 = 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(21,12)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(22,13)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(23,13)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(24,14)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(25,14)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(26,15)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(27,15)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(28,16)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(29,16)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80" name="Google Shape;580;p15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581" name="Google Shape;581;p1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  <p:sp>
        <p:nvSpPr>
          <p:cNvPr id="582" name="Google Shape;582;p15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3" name="Google Shape;58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e92da07caf_0_3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through the steps of the Bresenham line drawing algorithm for a line going from (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4,8</a:t>
            </a:r>
            <a:r>
              <a:rPr lang="en-US" sz="2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(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n-US" sz="2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lang="en-US" sz="21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1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through the steps of the Bresenham line drawing algorithm for a line going from (8,7) to (3,13)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e92da07caf_0_36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590" name="Google Shape;590;g3e92da07caf_0_36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591" name="Google Shape;591;g3e92da07caf_0_36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400">
                <a:latin typeface="Calibri"/>
                <a:ea typeface="Calibri"/>
                <a:cs typeface="Calibri"/>
                <a:sym typeface="Calibri"/>
              </a:rPr>
              <a:t>Home work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2" name="Google Shape;592;g3e92da07caf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6"/>
          <p:cNvSpPr txBox="1">
            <a:spLocks noGrp="1"/>
          </p:cNvSpPr>
          <p:nvPr>
            <p:ph type="body" idx="1"/>
          </p:nvPr>
        </p:nvSpPr>
        <p:spPr>
          <a:xfrm>
            <a:off x="457200" y="1333500"/>
            <a:ext cx="8229600" cy="530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Bresenham line algorithm has the following advantages:</a:t>
            </a:r>
            <a:endParaRPr/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fast incremental algorithm</a:t>
            </a:r>
            <a:endParaRPr/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only integer calculations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Comparing this to the DDA algorithm, DDA has the following problems:</a:t>
            </a:r>
            <a:endParaRPr/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Accumulation of round-off errors can make the pixelated line drift away from what was intended</a:t>
            </a:r>
            <a:endParaRPr/>
          </a:p>
          <a:p>
            <a:pPr marL="514350" marR="0" lvl="1" indent="-171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rounding operations and floating point arithmetic involved are time consuming</a:t>
            </a:r>
            <a:endParaRPr/>
          </a:p>
          <a:p>
            <a:pPr marL="171450" marR="0" lvl="0" indent="-19050" algn="l" rtl="0">
              <a:lnSpc>
                <a:spcPct val="90000"/>
              </a:lnSpc>
              <a:spcBef>
                <a:spcPts val="75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600" name="Google Shape;600;p1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601" name="Google Shape;601;p16"/>
          <p:cNvSpPr txBox="1">
            <a:spLocks noGrp="1"/>
          </p:cNvSpPr>
          <p:nvPr>
            <p:ph type="title"/>
          </p:nvPr>
        </p:nvSpPr>
        <p:spPr>
          <a:xfrm>
            <a:off x="175500" y="151200"/>
            <a:ext cx="81135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Bresenham Line Algorithm Summary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0200" y="151200"/>
            <a:ext cx="1371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7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3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609" name="Google Shape;609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71637" y="1295400"/>
            <a:ext cx="5800725" cy="4351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7200" y="22225"/>
            <a:ext cx="1371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7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/>
          </a:p>
        </p:txBody>
      </p:sp>
      <p:sp>
        <p:nvSpPr>
          <p:cNvPr id="612" name="Google Shape;612;p17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1183</Words>
  <Application>Microsoft Office PowerPoint</Application>
  <PresentationFormat>On-screen Show (4:3)</PresentationFormat>
  <Paragraphs>271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Simple Light</vt:lpstr>
      <vt:lpstr> Computer Graphics Bresenham Line drawing Algorithm Lecture-4 </vt:lpstr>
      <vt:lpstr>    The Bresenham Line Algorithm</vt:lpstr>
      <vt:lpstr>    The Big Idea</vt:lpstr>
      <vt:lpstr>     Deriving The Bresenham Line Algorithm  </vt:lpstr>
      <vt:lpstr>     Deriving The Bresenham Line Algorithm </vt:lpstr>
      <vt:lpstr>     Deriving The Bresenham Line Algorithm </vt:lpstr>
      <vt:lpstr>     Deriving The Bresenham Line Algorithm </vt:lpstr>
      <vt:lpstr>     Deriving The Bresenham Line Algorithm </vt:lpstr>
      <vt:lpstr>     Deriving The Bresenham Line Algorithm </vt:lpstr>
      <vt:lpstr>     Bresenham Line Algorithm </vt:lpstr>
      <vt:lpstr> The Bresenham Line Algorithm (cont..) </vt:lpstr>
      <vt:lpstr> The Bresenham Line Algorithm (cont..) </vt:lpstr>
      <vt:lpstr> The Bresenham Line Algorithm (cont..) </vt:lpstr>
      <vt:lpstr> Example </vt:lpstr>
      <vt:lpstr> Example </vt:lpstr>
      <vt:lpstr> Example </vt:lpstr>
      <vt:lpstr> Example </vt:lpstr>
      <vt:lpstr> Home work </vt:lpstr>
      <vt:lpstr>           Bresenham Line Algorithm Summary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Brian Mac Namee</dc:creator>
  <cp:lastModifiedBy>DIU</cp:lastModifiedBy>
  <cp:revision>1</cp:revision>
  <dcterms:created xsi:type="dcterms:W3CDTF">2006-08-22T08:27:31Z</dcterms:created>
  <dcterms:modified xsi:type="dcterms:W3CDTF">2026-06-14T02:41:48Z</dcterms:modified>
</cp:coreProperties>
</file>