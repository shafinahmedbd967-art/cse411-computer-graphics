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6858000" type="screen4x3"/>
  <p:notesSz cx="9296400" cy="7010400"/>
  <p:embeddedFontLst>
    <p:embeddedFont>
      <p:font typeface="Lucida Sans" panose="020B0602040502020204" pitchFamily="34" charset="0"/>
      <p:italic r:id="rId21"/>
    </p:embeddedFont>
    <p:embeddedFont>
      <p:font typeface="Tahoma" panose="020B0604030504040204" pitchFamily="34" charset="0"/>
      <p:regular r:id="rId22"/>
      <p:bold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339">
          <p15:clr>
            <a:srgbClr val="000000"/>
          </p15:clr>
        </p15:guide>
        <p15:guide id="2" pos="2879">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hMfTHWIgAZiXOYwlxEVHXhzUA6D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1656" y="96"/>
      </p:cViewPr>
      <p:guideLst>
        <p:guide orient="horz" pos="3339"/>
        <p:guide pos="287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4029075" cy="350837"/>
          </a:xfrm>
          <a:prstGeom prst="rect">
            <a:avLst/>
          </a:prstGeom>
          <a:noFill/>
          <a:ln>
            <a:noFill/>
          </a:ln>
        </p:spPr>
        <p:txBody>
          <a:bodyPr spcFirstLastPara="1" wrap="square" lIns="93175" tIns="46575" rIns="93175" bIns="46575"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265737" y="0"/>
            <a:ext cx="4029075" cy="350837"/>
          </a:xfrm>
          <a:prstGeom prst="rect">
            <a:avLst/>
          </a:prstGeom>
          <a:noFill/>
          <a:ln>
            <a:noFill/>
          </a:ln>
        </p:spPr>
        <p:txBody>
          <a:bodyPr spcFirstLastPara="1" wrap="square" lIns="93175" tIns="46575" rIns="93175" bIns="46575"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30275" y="3330575"/>
            <a:ext cx="7435850" cy="3154362"/>
          </a:xfrm>
          <a:prstGeom prst="rect">
            <a:avLst/>
          </a:prstGeom>
          <a:noFill/>
          <a:ln>
            <a:noFill/>
          </a:ln>
        </p:spPr>
        <p:txBody>
          <a:bodyPr spcFirstLastPara="1" wrap="square" lIns="93175" tIns="46575" rIns="93175" bIns="4657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6657975"/>
            <a:ext cx="4029075" cy="350837"/>
          </a:xfrm>
          <a:prstGeom prst="rect">
            <a:avLst/>
          </a:prstGeom>
          <a:noFill/>
          <a:ln>
            <a:noFill/>
          </a:ln>
        </p:spPr>
        <p:txBody>
          <a:bodyPr spcFirstLastPara="1" wrap="square" lIns="93175" tIns="46575" rIns="93175" bIns="46575"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265737" y="6657975"/>
            <a:ext cx="4029075" cy="350837"/>
          </a:xfrm>
          <a:prstGeom prst="rect">
            <a:avLst/>
          </a:prstGeom>
          <a:noFill/>
          <a:ln>
            <a:noFill/>
          </a:ln>
        </p:spPr>
        <p:txBody>
          <a:bodyPr spcFirstLastPara="1" wrap="square" lIns="93175" tIns="46575" rIns="93175" bIns="46575"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86" name="Google Shape;86;p1:notes"/>
          <p:cNvSpPr txBox="1">
            <a:spLocks noGrp="1"/>
          </p:cNvSpPr>
          <p:nvPr>
            <p:ph type="body" idx="1"/>
          </p:nvPr>
        </p:nvSpPr>
        <p:spPr>
          <a:xfrm>
            <a:off x="930275" y="3330575"/>
            <a:ext cx="7435850" cy="3154362"/>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txBox="1"/>
          <p:nvPr/>
        </p:nvSpPr>
        <p:spPr>
          <a:xfrm>
            <a:off x="5265737" y="6657975"/>
            <a:ext cx="4029075" cy="350837"/>
          </a:xfrm>
          <a:prstGeom prst="rect">
            <a:avLst/>
          </a:prstGeom>
          <a:noFill/>
          <a:ln>
            <a:noFill/>
          </a:ln>
        </p:spPr>
        <p:txBody>
          <a:bodyPr spcFirstLastPara="1" wrap="square" lIns="93175" tIns="46575" rIns="93175" bIns="46575"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930275" y="3330575"/>
            <a:ext cx="7435850" cy="3154362"/>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97" name="Google Shape;97;p2: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bb5fbf5691_0_28: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106" name="Google Shape;106;g3bb5fbf5691_0_28: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bb5fbf5691_0_52: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116" name="Google Shape;116;g3bb5fbf5691_0_52: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bb5fbf5691_0_39: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151" name="Google Shape;151;g3bb5fbf5691_0_39: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bb5fbf5691_0_101: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161" name="Google Shape;161;g3bb5fbf5691_0_101: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bb5fbf5691_0_121: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173" name="Google Shape;173;g3bb5fbf5691_0_121: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bb5fbf5691_0_190: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bb5fbf5691_0_190: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bc93f8e738_0_80: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190" name="Google Shape;190;g3bc93f8e738_0_80: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bc93f8e738_0_146: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200" name="Google Shape;200;g3bc93f8e738_0_146: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bb5fbf5691_0_158: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210" name="Google Shape;210;g3bb5fbf5691_0_158: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bb5fbf5691_0_233: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240" name="Google Shape;240;g3bb5fbf5691_0_233: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bbe9322812_0_20: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290" name="Google Shape;290;g3bbe9322812_0_20: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3bd06ed8d76_0_165:notes"/>
          <p:cNvSpPr txBox="1">
            <a:spLocks noGrp="1"/>
          </p:cNvSpPr>
          <p:nvPr>
            <p:ph type="body" idx="1"/>
          </p:nvPr>
        </p:nvSpPr>
        <p:spPr>
          <a:xfrm>
            <a:off x="929625" y="3329925"/>
            <a:ext cx="7437000" cy="315480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00" name="Google Shape;300;g3bd06ed8d76_0_165:notes"/>
          <p:cNvSpPr>
            <a:spLocks noGrp="1" noRot="1" noChangeAspect="1"/>
          </p:cNvSpPr>
          <p:nvPr>
            <p:ph type="sldImg" idx="2"/>
          </p:nvPr>
        </p:nvSpPr>
        <p:spPr>
          <a:xfrm>
            <a:off x="1549700" y="525775"/>
            <a:ext cx="61980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bc93f8e738_0_202: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309" name="Google Shape;309;g3bc93f8e738_0_202: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bc93f8e738_0_173: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318" name="Google Shape;318;g3bc93f8e738_0_173: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3bb5fbf5691_0_224:notes"/>
          <p:cNvSpPr txBox="1">
            <a:spLocks noGrp="1"/>
          </p:cNvSpPr>
          <p:nvPr>
            <p:ph type="body" idx="1"/>
          </p:nvPr>
        </p:nvSpPr>
        <p:spPr>
          <a:xfrm>
            <a:off x="930275" y="3330575"/>
            <a:ext cx="7435800" cy="3154500"/>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330" name="Google Shape;330;g3bb5fbf5691_0_224: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17:notes"/>
          <p:cNvSpPr>
            <a:spLocks noGrp="1" noRot="1" noChangeAspect="1"/>
          </p:cNvSpPr>
          <p:nvPr>
            <p:ph type="sldImg" idx="2"/>
          </p:nvPr>
        </p:nvSpPr>
        <p:spPr>
          <a:xfrm>
            <a:off x="2895600" y="525462"/>
            <a:ext cx="3505200" cy="26289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0" name="Google Shape;340;p17:notes"/>
          <p:cNvSpPr txBox="1">
            <a:spLocks noGrp="1"/>
          </p:cNvSpPr>
          <p:nvPr>
            <p:ph type="body" idx="1"/>
          </p:nvPr>
        </p:nvSpPr>
        <p:spPr>
          <a:xfrm>
            <a:off x="930275" y="3330575"/>
            <a:ext cx="7435850" cy="3154362"/>
          </a:xfrm>
          <a:prstGeom prst="rect">
            <a:avLst/>
          </a:prstGeom>
          <a:noFill/>
          <a:ln>
            <a:noFill/>
          </a:ln>
        </p:spPr>
        <p:txBody>
          <a:bodyPr spcFirstLastPara="1" wrap="square" lIns="93175" tIns="46575" rIns="93175" bIns="46575" anchor="t" anchorCtr="0">
            <a:noAutofit/>
          </a:bodyPr>
          <a:lstStyle/>
          <a:p>
            <a:pPr marL="0" lvl="0" indent="0" algn="l" rtl="0">
              <a:lnSpc>
                <a:spcPct val="100000"/>
              </a:lnSpc>
              <a:spcBef>
                <a:spcPts val="0"/>
              </a:spcBef>
              <a:spcAft>
                <a:spcPts val="0"/>
              </a:spcAft>
              <a:buSzPts val="1400"/>
              <a:buNone/>
            </a:pPr>
            <a:endParaRPr/>
          </a:p>
        </p:txBody>
      </p:sp>
      <p:sp>
        <p:nvSpPr>
          <p:cNvPr id="341" name="Google Shape;341;p17:notes"/>
          <p:cNvSpPr txBox="1"/>
          <p:nvPr/>
        </p:nvSpPr>
        <p:spPr>
          <a:xfrm>
            <a:off x="5265737" y="6657975"/>
            <a:ext cx="4029075" cy="350837"/>
          </a:xfrm>
          <a:prstGeom prst="rect">
            <a:avLst/>
          </a:prstGeom>
          <a:noFill/>
          <a:ln>
            <a:noFill/>
          </a:ln>
        </p:spPr>
        <p:txBody>
          <a:bodyPr spcFirstLastPara="1" wrap="square" lIns="93175" tIns="46575" rIns="93175" bIns="46575"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18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9"/>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18" name="Google Shape;18;p19"/>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9"/>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9"/>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0"/>
          <p:cNvSpPr txBox="1">
            <a:spLocks noGrp="1"/>
          </p:cNvSpPr>
          <p:nvPr>
            <p:ph type="body" idx="1"/>
          </p:nvPr>
        </p:nvSpPr>
        <p:spPr>
          <a:xfrm>
            <a:off x="628650" y="1825625"/>
            <a:ext cx="7886700" cy="435133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4" name="Google Shape;24;p20"/>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0"/>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7"/>
        <p:cNvGrpSpPr/>
        <p:nvPr/>
      </p:nvGrpSpPr>
      <p:grpSpPr>
        <a:xfrm>
          <a:off x="0" y="0"/>
          <a:ext cx="0" cy="0"/>
          <a:chOff x="0" y="0"/>
          <a:chExt cx="0" cy="0"/>
        </a:xfrm>
      </p:grpSpPr>
      <p:sp>
        <p:nvSpPr>
          <p:cNvPr id="28" name="Google Shape;28;p21"/>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1"/>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2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1"/>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
        <p:cNvGrpSpPr/>
        <p:nvPr/>
      </p:nvGrpSpPr>
      <p:grpSpPr>
        <a:xfrm>
          <a:off x="0" y="0"/>
          <a:ext cx="0" cy="0"/>
          <a:chOff x="0" y="0"/>
          <a:chExt cx="0" cy="0"/>
        </a:xfrm>
      </p:grpSpPr>
      <p:sp>
        <p:nvSpPr>
          <p:cNvPr id="34" name="Google Shape;34;p22"/>
          <p:cNvSpPr txBox="1">
            <a:spLocks noGrp="1"/>
          </p:cNvSpPr>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2"/>
          <p:cNvSpPr txBox="1">
            <a:spLocks noGrp="1"/>
          </p:cNvSpPr>
          <p:nvPr>
            <p:ph type="body" idx="1"/>
          </p:nvPr>
        </p:nvSpPr>
        <p:spPr>
          <a:xfrm rot="5400000">
            <a:off x="2396332" y="57943"/>
            <a:ext cx="4351337"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6" name="Google Shape;36;p22"/>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2"/>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2"/>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9"/>
        <p:cNvGrpSpPr/>
        <p:nvPr/>
      </p:nvGrpSpPr>
      <p:grpSpPr>
        <a:xfrm>
          <a:off x="0" y="0"/>
          <a:ext cx="0" cy="0"/>
          <a:chOff x="0" y="0"/>
          <a:chExt cx="0" cy="0"/>
        </a:xfrm>
      </p:grpSpPr>
      <p:sp>
        <p:nvSpPr>
          <p:cNvPr id="40" name="Google Shape;40;p23"/>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3"/>
          <p:cNvSpPr>
            <a:spLocks noGrp="1"/>
          </p:cNvSpPr>
          <p:nvPr>
            <p:ph type="pic" idx="2"/>
          </p:nvPr>
        </p:nvSpPr>
        <p:spPr>
          <a:xfrm>
            <a:off x="3887391" y="987426"/>
            <a:ext cx="4629150" cy="4873625"/>
          </a:xfrm>
          <a:prstGeom prst="rect">
            <a:avLst/>
          </a:prstGeom>
          <a:noFill/>
          <a:ln>
            <a:noFill/>
          </a:ln>
        </p:spPr>
      </p:sp>
      <p:sp>
        <p:nvSpPr>
          <p:cNvPr id="42" name="Google Shape;42;p23"/>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43" name="Google Shape;43;p23"/>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23"/>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3"/>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6"/>
        <p:cNvGrpSpPr/>
        <p:nvPr/>
      </p:nvGrpSpPr>
      <p:grpSpPr>
        <a:xfrm>
          <a:off x="0" y="0"/>
          <a:ext cx="0" cy="0"/>
          <a:chOff x="0" y="0"/>
          <a:chExt cx="0" cy="0"/>
        </a:xfrm>
      </p:grpSpPr>
      <p:sp>
        <p:nvSpPr>
          <p:cNvPr id="47" name="Google Shape;47;p24"/>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4"/>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49" name="Google Shape;49;p24"/>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50" name="Google Shape;50;p24"/>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4"/>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4"/>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5"/>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5"/>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5"/>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
        <p:cNvGrpSpPr/>
        <p:nvPr/>
      </p:nvGrpSpPr>
      <p:grpSpPr>
        <a:xfrm>
          <a:off x="0" y="0"/>
          <a:ext cx="0" cy="0"/>
          <a:chOff x="0" y="0"/>
          <a:chExt cx="0" cy="0"/>
        </a:xfrm>
      </p:grpSpPr>
      <p:sp>
        <p:nvSpPr>
          <p:cNvPr id="58" name="Google Shape;58;p26"/>
          <p:cNvSpPr txBox="1">
            <a:spLocks noGrp="1"/>
          </p:cNvSpPr>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6"/>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6"/>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6"/>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2"/>
        <p:cNvGrpSpPr/>
        <p:nvPr/>
      </p:nvGrpSpPr>
      <p:grpSpPr>
        <a:xfrm>
          <a:off x="0" y="0"/>
          <a:ext cx="0" cy="0"/>
          <a:chOff x="0" y="0"/>
          <a:chExt cx="0" cy="0"/>
        </a:xfrm>
      </p:grpSpPr>
      <p:sp>
        <p:nvSpPr>
          <p:cNvPr id="63" name="Google Shape;63;p27"/>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7"/>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65" name="Google Shape;65;p27"/>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6" name="Google Shape;66;p27"/>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67" name="Google Shape;67;p27"/>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8" name="Google Shape;68;p27"/>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7"/>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7"/>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1"/>
        <p:cNvGrpSpPr/>
        <p:nvPr/>
      </p:nvGrpSpPr>
      <p:grpSpPr>
        <a:xfrm>
          <a:off x="0" y="0"/>
          <a:ext cx="0" cy="0"/>
          <a:chOff x="0" y="0"/>
          <a:chExt cx="0" cy="0"/>
        </a:xfrm>
      </p:grpSpPr>
      <p:sp>
        <p:nvSpPr>
          <p:cNvPr id="72" name="Google Shape;72;p28"/>
          <p:cNvSpPr txBox="1">
            <a:spLocks noGrp="1"/>
          </p:cNvSpPr>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8"/>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4" name="Google Shape;74;p28"/>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5" name="Google Shape;75;p28"/>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8"/>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8"/>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8"/>
        <p:cNvGrpSpPr/>
        <p:nvPr/>
      </p:nvGrpSpPr>
      <p:grpSpPr>
        <a:xfrm>
          <a:off x="0" y="0"/>
          <a:ext cx="0" cy="0"/>
          <a:chOff x="0" y="0"/>
          <a:chExt cx="0" cy="0"/>
        </a:xfrm>
      </p:grpSpPr>
      <p:sp>
        <p:nvSpPr>
          <p:cNvPr id="79" name="Google Shape;79;p29"/>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9"/>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81" name="Google Shape;81;p29"/>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9"/>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9"/>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8"/>
          <p:cNvSpPr txBox="1">
            <a:spLocks noGrp="1"/>
          </p:cNvSpPr>
          <p:nvPr>
            <p:ph type="body" idx="1"/>
          </p:nvPr>
        </p:nvSpPr>
        <p:spPr>
          <a:xfrm>
            <a:off x="628650" y="1825625"/>
            <a:ext cx="7886700" cy="4351337"/>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8"/>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8"/>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900"/>
              <a:buFont typeface="Arial"/>
              <a:buNone/>
              <a:defRPr sz="900" b="0" i="0" u="none" strike="noStrike" cap="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gif"/></Relationships>
</file>

<file path=ppt/slides/_rels/slide14.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9.gif"/></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txBox="1">
            <a:spLocks noGrp="1"/>
          </p:cNvSpPr>
          <p:nvPr>
            <p:ph type="ctrTitle"/>
          </p:nvPr>
        </p:nvSpPr>
        <p:spPr>
          <a:xfrm>
            <a:off x="1055800" y="730200"/>
            <a:ext cx="6838500" cy="180960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100000"/>
              </a:lnSpc>
              <a:spcBef>
                <a:spcPts val="0"/>
              </a:spcBef>
              <a:spcAft>
                <a:spcPts val="0"/>
              </a:spcAft>
              <a:buClr>
                <a:schemeClr val="dk1"/>
              </a:buClr>
              <a:buSzPct val="100000"/>
              <a:buFont typeface="Calibri"/>
              <a:buNone/>
            </a:pPr>
            <a:br>
              <a:rPr lang="en-US" sz="4100" b="0" i="0" u="none">
                <a:solidFill>
                  <a:schemeClr val="dk1"/>
                </a:solidFill>
                <a:latin typeface="Calibri"/>
                <a:ea typeface="Calibri"/>
                <a:cs typeface="Calibri"/>
                <a:sym typeface="Calibri"/>
              </a:rPr>
            </a:br>
            <a:r>
              <a:rPr lang="en-US" sz="3600" b="1" i="0" u="none">
                <a:solidFill>
                  <a:schemeClr val="dk1"/>
                </a:solidFill>
                <a:latin typeface="Calibri"/>
                <a:ea typeface="Calibri"/>
                <a:cs typeface="Calibri"/>
                <a:sym typeface="Calibri"/>
              </a:rPr>
              <a:t>Computer Graphics</a:t>
            </a:r>
            <a:br>
              <a:rPr lang="en-US" sz="3600" b="1" i="0" u="none">
                <a:solidFill>
                  <a:schemeClr val="dk1"/>
                </a:solidFill>
                <a:latin typeface="Calibri"/>
                <a:ea typeface="Calibri"/>
                <a:cs typeface="Calibri"/>
                <a:sym typeface="Calibri"/>
              </a:rPr>
            </a:br>
            <a:r>
              <a:rPr lang="en-US" sz="3266" b="1">
                <a:solidFill>
                  <a:srgbClr val="0B5394"/>
                </a:solidFill>
              </a:rPr>
              <a:t>Anti-aliasing</a:t>
            </a:r>
            <a:endParaRPr sz="3266" b="1">
              <a:solidFill>
                <a:srgbClr val="0B5394"/>
              </a:solidFill>
            </a:endParaRPr>
          </a:p>
          <a:p>
            <a:pPr marL="0" lvl="0" indent="0" algn="ctr" rtl="0">
              <a:lnSpc>
                <a:spcPct val="90000"/>
              </a:lnSpc>
              <a:spcBef>
                <a:spcPts val="0"/>
              </a:spcBef>
              <a:spcAft>
                <a:spcPts val="0"/>
              </a:spcAft>
              <a:buClr>
                <a:schemeClr val="dk1"/>
              </a:buClr>
              <a:buSzPct val="136666"/>
              <a:buFont typeface="Calibri"/>
              <a:buNone/>
            </a:pPr>
            <a:r>
              <a:rPr lang="en-US" sz="3000" b="1">
                <a:solidFill>
                  <a:srgbClr val="85200C"/>
                </a:solidFill>
              </a:rPr>
              <a:t>Lecture 8</a:t>
            </a:r>
            <a:endParaRPr>
              <a:solidFill>
                <a:srgbClr val="85200C"/>
              </a:solidFill>
            </a:endParaRPr>
          </a:p>
        </p:txBody>
      </p:sp>
      <p:sp>
        <p:nvSpPr>
          <p:cNvPr id="90" name="Google Shape;90;p1"/>
          <p:cNvSpPr txBox="1">
            <a:spLocks noGrp="1"/>
          </p:cNvSpPr>
          <p:nvPr>
            <p:ph type="subTitle" idx="1"/>
          </p:nvPr>
        </p:nvSpPr>
        <p:spPr>
          <a:xfrm>
            <a:off x="263800" y="4964425"/>
            <a:ext cx="8422500" cy="15066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1800"/>
              <a:buNone/>
            </a:pPr>
            <a:endParaRPr sz="1800" b="0" i="0" u="none" dirty="0">
              <a:solidFill>
                <a:schemeClr val="dk1"/>
              </a:solidFill>
              <a:latin typeface="Calibri"/>
              <a:ea typeface="Calibri"/>
              <a:cs typeface="Calibri"/>
              <a:sym typeface="Calibri"/>
            </a:endParaRPr>
          </a:p>
          <a:p>
            <a:pPr marL="0" lvl="0" indent="0" algn="ctr" rtl="0">
              <a:lnSpc>
                <a:spcPct val="90000"/>
              </a:lnSpc>
              <a:spcBef>
                <a:spcPts val="700"/>
              </a:spcBef>
              <a:spcAft>
                <a:spcPts val="0"/>
              </a:spcAft>
              <a:buClr>
                <a:schemeClr val="dk1"/>
              </a:buClr>
              <a:buSzPts val="1800"/>
              <a:buNone/>
            </a:pPr>
            <a:r>
              <a:rPr lang="en-US" b="1" dirty="0" err="1">
                <a:solidFill>
                  <a:srgbClr val="980000"/>
                </a:solidFill>
              </a:rPr>
              <a:t>Nazmun</a:t>
            </a:r>
            <a:r>
              <a:rPr lang="en-US" b="1" dirty="0">
                <a:solidFill>
                  <a:srgbClr val="980000"/>
                </a:solidFill>
              </a:rPr>
              <a:t> Nessa Moon</a:t>
            </a:r>
            <a:endParaRPr b="1" dirty="0">
              <a:solidFill>
                <a:srgbClr val="980000"/>
              </a:solidFill>
            </a:endParaRPr>
          </a:p>
          <a:p>
            <a:pPr marL="0" lvl="0" indent="0" algn="ctr" rtl="0">
              <a:lnSpc>
                <a:spcPct val="90000"/>
              </a:lnSpc>
              <a:spcBef>
                <a:spcPts val="700"/>
              </a:spcBef>
              <a:spcAft>
                <a:spcPts val="0"/>
              </a:spcAft>
              <a:buClr>
                <a:schemeClr val="dk1"/>
              </a:buClr>
              <a:buSzPts val="1800"/>
              <a:buNone/>
            </a:pPr>
            <a:r>
              <a:rPr lang="en-US" b="1" dirty="0">
                <a:solidFill>
                  <a:srgbClr val="0B5394"/>
                </a:solidFill>
              </a:rPr>
              <a:t>Associate Professor</a:t>
            </a:r>
            <a:br>
              <a:rPr lang="en-US" sz="1800" b="1" i="0" u="none" dirty="0">
                <a:solidFill>
                  <a:srgbClr val="0B5394"/>
                </a:solidFill>
              </a:rPr>
            </a:br>
            <a:r>
              <a:rPr lang="en-US" sz="1800" b="1" i="0" u="none" dirty="0">
                <a:solidFill>
                  <a:srgbClr val="1C4587"/>
                </a:solidFill>
              </a:rPr>
              <a:t>Department of Computer Science and Engineering</a:t>
            </a:r>
            <a:br>
              <a:rPr lang="en-US" sz="1800" b="1" i="0" u="none" dirty="0">
                <a:solidFill>
                  <a:srgbClr val="1C4587"/>
                </a:solidFill>
              </a:rPr>
            </a:br>
            <a:r>
              <a:rPr lang="en-US" sz="1800" b="1" i="0" u="none" dirty="0">
                <a:solidFill>
                  <a:srgbClr val="1C4587"/>
                </a:solidFill>
              </a:rPr>
              <a:t>Daffodil International University, DIU</a:t>
            </a:r>
            <a:endParaRPr b="1" dirty="0">
              <a:solidFill>
                <a:srgbClr val="1C4587"/>
              </a:solidFill>
            </a:endParaRPr>
          </a:p>
        </p:txBody>
      </p:sp>
      <p:sp>
        <p:nvSpPr>
          <p:cNvPr id="91" name="Google Shape;91;p1" descr="Diu Logo PNG Images - CleanPNG"/>
          <p:cNvSpPr txBox="1"/>
          <p:nvPr/>
        </p:nvSpPr>
        <p:spPr>
          <a:xfrm>
            <a:off x="155575" y="-144462"/>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92" name="Google Shape;92;p1"/>
          <p:cNvPicPr preferRelativeResize="0"/>
          <p:nvPr/>
        </p:nvPicPr>
        <p:blipFill rotWithShape="1">
          <a:blip r:embed="rId3">
            <a:alphaModFix/>
          </a:blip>
          <a:srcRect/>
          <a:stretch/>
        </p:blipFill>
        <p:spPr>
          <a:xfrm>
            <a:off x="3789250" y="160350"/>
            <a:ext cx="1371600" cy="685800"/>
          </a:xfrm>
          <a:prstGeom prst="rect">
            <a:avLst/>
          </a:prstGeom>
          <a:noFill/>
          <a:ln>
            <a:noFill/>
          </a:ln>
        </p:spPr>
      </p:pic>
      <p:sp>
        <p:nvSpPr>
          <p:cNvPr id="93" name="Google Shape;93;p1"/>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1</a:t>
            </a:fld>
            <a:endParaRPr sz="1400" b="0" i="0" u="none" strike="noStrike" cap="none">
              <a:solidFill>
                <a:srgbClr val="000000"/>
              </a:solidFill>
              <a:latin typeface="Arial"/>
              <a:ea typeface="Arial"/>
              <a:cs typeface="Arial"/>
              <a:sym typeface="Arial"/>
            </a:endParaRPr>
          </a:p>
        </p:txBody>
      </p:sp>
      <p:pic>
        <p:nvPicPr>
          <p:cNvPr id="94" name="Google Shape;94;p1"/>
          <p:cNvPicPr preferRelativeResize="0"/>
          <p:nvPr/>
        </p:nvPicPr>
        <p:blipFill rotWithShape="1">
          <a:blip r:embed="rId4">
            <a:alphaModFix/>
          </a:blip>
          <a:srcRect t="19611" b="24752"/>
          <a:stretch/>
        </p:blipFill>
        <p:spPr>
          <a:xfrm>
            <a:off x="2737975" y="2834025"/>
            <a:ext cx="3608351" cy="2007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98"/>
        <p:cNvGrpSpPr/>
        <p:nvPr/>
      </p:nvGrpSpPr>
      <p:grpSpPr>
        <a:xfrm>
          <a:off x="0" y="0"/>
          <a:ext cx="0" cy="0"/>
          <a:chOff x="0" y="0"/>
          <a:chExt cx="0" cy="0"/>
        </a:xfrm>
      </p:grpSpPr>
      <p:sp>
        <p:nvSpPr>
          <p:cNvPr id="99" name="Google Shape;99;p2"/>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1" i="0" u="none" strike="noStrike" cap="none">
                <a:solidFill>
                  <a:srgbClr val="0B5394"/>
                </a:solidFill>
                <a:latin typeface="Arial"/>
                <a:ea typeface="Arial"/>
                <a:cs typeface="Arial"/>
                <a:sym typeface="Arial"/>
              </a:rPr>
              <a:t>Department of CSE, Daffodil International University</a:t>
            </a:r>
            <a:endParaRPr sz="1400" b="1" i="0" u="none" strike="noStrike" cap="none">
              <a:solidFill>
                <a:srgbClr val="0B5394"/>
              </a:solidFill>
              <a:latin typeface="Arial"/>
              <a:ea typeface="Arial"/>
              <a:cs typeface="Arial"/>
              <a:sym typeface="Arial"/>
            </a:endParaRPr>
          </a:p>
        </p:txBody>
      </p:sp>
      <p:sp>
        <p:nvSpPr>
          <p:cNvPr id="100" name="Google Shape;100;p2"/>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2</a:t>
            </a:fld>
            <a:endParaRPr sz="1400" b="0" i="0" u="none" strike="noStrike" cap="none">
              <a:solidFill>
                <a:srgbClr val="000000"/>
              </a:solidFill>
              <a:latin typeface="Arial"/>
              <a:ea typeface="Arial"/>
              <a:cs typeface="Arial"/>
              <a:sym typeface="Arial"/>
            </a:endParaRPr>
          </a:p>
        </p:txBody>
      </p:sp>
      <p:pic>
        <p:nvPicPr>
          <p:cNvPr id="101" name="Google Shape;101;p2"/>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411"/>
              </a:srgbClr>
            </a:outerShdw>
          </a:effectLst>
        </p:spPr>
      </p:pic>
      <p:sp>
        <p:nvSpPr>
          <p:cNvPr id="102" name="Google Shape;102;p2"/>
          <p:cNvSpPr txBox="1"/>
          <p:nvPr/>
        </p:nvSpPr>
        <p:spPr>
          <a:xfrm>
            <a:off x="363825" y="168125"/>
            <a:ext cx="7789500" cy="8004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4400"/>
              <a:buFont typeface="Calibri"/>
              <a:buNone/>
            </a:pPr>
            <a:r>
              <a:rPr lang="en-US" sz="4000">
                <a:solidFill>
                  <a:schemeClr val="lt1"/>
                </a:solidFill>
                <a:latin typeface="Calibri"/>
                <a:ea typeface="Calibri"/>
                <a:cs typeface="Calibri"/>
                <a:sym typeface="Calibri"/>
              </a:rPr>
              <a:t>What Does Sampling Mean?</a:t>
            </a:r>
            <a:endParaRPr sz="4000">
              <a:solidFill>
                <a:schemeClr val="lt1"/>
              </a:solidFill>
              <a:latin typeface="Calibri"/>
              <a:ea typeface="Calibri"/>
              <a:cs typeface="Calibri"/>
              <a:sym typeface="Calibri"/>
            </a:endParaRPr>
          </a:p>
        </p:txBody>
      </p:sp>
      <p:sp>
        <p:nvSpPr>
          <p:cNvPr id="103" name="Google Shape;103;p2"/>
          <p:cNvSpPr txBox="1"/>
          <p:nvPr/>
        </p:nvSpPr>
        <p:spPr>
          <a:xfrm>
            <a:off x="270625" y="1128675"/>
            <a:ext cx="8604000" cy="3904500"/>
          </a:xfrm>
          <a:prstGeom prst="rect">
            <a:avLst/>
          </a:prstGeom>
          <a:noFill/>
          <a:ln>
            <a:noFill/>
          </a:ln>
        </p:spPr>
        <p:txBody>
          <a:bodyPr spcFirstLastPara="1" wrap="square" lIns="91425" tIns="91425" rIns="91425" bIns="91425" anchor="t" anchorCtr="0">
            <a:spAutoFit/>
          </a:bodyPr>
          <a:lstStyle/>
          <a:p>
            <a:pPr marL="457200" marR="0" lvl="0" indent="-355600" algn="just" rtl="0">
              <a:lnSpc>
                <a:spcPct val="100000"/>
              </a:lnSpc>
              <a:spcBef>
                <a:spcPts val="1000"/>
              </a:spcBef>
              <a:spcAft>
                <a:spcPts val="0"/>
              </a:spcAft>
              <a:buClr>
                <a:srgbClr val="0B5394"/>
              </a:buClr>
              <a:buSzPts val="2000"/>
              <a:buFont typeface="Times New Roman"/>
              <a:buChar char="■"/>
            </a:pPr>
            <a:r>
              <a:rPr lang="en-US" sz="2000">
                <a:latin typeface="Times New Roman"/>
                <a:ea typeface="Times New Roman"/>
                <a:cs typeface="Times New Roman"/>
                <a:sym typeface="Times New Roman"/>
              </a:rPr>
              <a:t>Most things in the real world are continuous.</a:t>
            </a:r>
            <a:endParaRPr sz="2000">
              <a:latin typeface="Times New Roman"/>
              <a:ea typeface="Times New Roman"/>
              <a:cs typeface="Times New Roman"/>
              <a:sym typeface="Times New Roman"/>
            </a:endParaRPr>
          </a:p>
          <a:p>
            <a:pPr marL="457200" marR="0" lvl="0" indent="-355600" algn="just" rtl="0">
              <a:lnSpc>
                <a:spcPct val="100000"/>
              </a:lnSpc>
              <a:spcBef>
                <a:spcPts val="1000"/>
              </a:spcBef>
              <a:spcAft>
                <a:spcPts val="0"/>
              </a:spcAft>
              <a:buClr>
                <a:srgbClr val="0B5394"/>
              </a:buClr>
              <a:buSzPts val="2000"/>
              <a:buFont typeface="Times New Roman"/>
              <a:buChar char="■"/>
            </a:pPr>
            <a:r>
              <a:rPr lang="en-US" sz="2000">
                <a:latin typeface="Times New Roman"/>
                <a:ea typeface="Times New Roman"/>
                <a:cs typeface="Times New Roman"/>
                <a:sym typeface="Times New Roman"/>
              </a:rPr>
              <a:t>Everything in a computer is discrete.</a:t>
            </a:r>
            <a:endParaRPr sz="2000">
              <a:latin typeface="Times New Roman"/>
              <a:ea typeface="Times New Roman"/>
              <a:cs typeface="Times New Roman"/>
              <a:sym typeface="Times New Roman"/>
            </a:endParaRPr>
          </a:p>
          <a:p>
            <a:pPr marL="457200" marR="0" lvl="0" indent="-355600" algn="just" rtl="0">
              <a:lnSpc>
                <a:spcPct val="100000"/>
              </a:lnSpc>
              <a:spcBef>
                <a:spcPts val="1000"/>
              </a:spcBef>
              <a:spcAft>
                <a:spcPts val="0"/>
              </a:spcAft>
              <a:buClr>
                <a:srgbClr val="0B5394"/>
              </a:buClr>
              <a:buSzPts val="2000"/>
              <a:buFont typeface="Times New Roman"/>
              <a:buChar char="■"/>
            </a:pPr>
            <a:r>
              <a:rPr lang="en-US" sz="2000">
                <a:latin typeface="Times New Roman"/>
                <a:ea typeface="Times New Roman"/>
                <a:cs typeface="Times New Roman"/>
                <a:sym typeface="Times New Roman"/>
              </a:rPr>
              <a:t>The process of mapping a continuous function to a discrete one is called sampling.</a:t>
            </a:r>
            <a:endParaRPr sz="2000">
              <a:latin typeface="Times New Roman"/>
              <a:ea typeface="Times New Roman"/>
              <a:cs typeface="Times New Roman"/>
              <a:sym typeface="Times New Roman"/>
            </a:endParaRPr>
          </a:p>
          <a:p>
            <a:pPr marL="457200" marR="0" lvl="0" indent="-355600" algn="just" rtl="0">
              <a:lnSpc>
                <a:spcPct val="100000"/>
              </a:lnSpc>
              <a:spcBef>
                <a:spcPts val="1000"/>
              </a:spcBef>
              <a:spcAft>
                <a:spcPts val="0"/>
              </a:spcAft>
              <a:buClr>
                <a:srgbClr val="0B5394"/>
              </a:buClr>
              <a:buSzPts val="2000"/>
              <a:buFont typeface="Times New Roman"/>
              <a:buChar char="■"/>
            </a:pPr>
            <a:r>
              <a:rPr lang="en-US" sz="2000">
                <a:latin typeface="Times New Roman"/>
                <a:ea typeface="Times New Roman"/>
                <a:cs typeface="Times New Roman"/>
                <a:sym typeface="Times New Roman"/>
              </a:rPr>
              <a:t>The process of mapping a discrete function to a continuous one is called reconstruction.</a:t>
            </a:r>
            <a:endParaRPr sz="2000">
              <a:latin typeface="Times New Roman"/>
              <a:ea typeface="Times New Roman"/>
              <a:cs typeface="Times New Roman"/>
              <a:sym typeface="Times New Roman"/>
            </a:endParaRPr>
          </a:p>
          <a:p>
            <a:pPr marL="457200" marR="0" lvl="0" indent="-355600" algn="just" rtl="0">
              <a:lnSpc>
                <a:spcPct val="100000"/>
              </a:lnSpc>
              <a:spcBef>
                <a:spcPts val="1000"/>
              </a:spcBef>
              <a:spcAft>
                <a:spcPts val="0"/>
              </a:spcAft>
              <a:buClr>
                <a:srgbClr val="0B5394"/>
              </a:buClr>
              <a:buSzPts val="2000"/>
              <a:buFont typeface="Times New Roman"/>
              <a:buChar char="■"/>
            </a:pPr>
            <a:r>
              <a:rPr lang="en-US" sz="2000">
                <a:latin typeface="Times New Roman"/>
                <a:ea typeface="Times New Roman"/>
                <a:cs typeface="Times New Roman"/>
                <a:sym typeface="Times New Roman"/>
              </a:rPr>
              <a:t> The process of mapping a continuous variable to a discrete one is called discretization.</a:t>
            </a:r>
            <a:endParaRPr sz="2000">
              <a:latin typeface="Times New Roman"/>
              <a:ea typeface="Times New Roman"/>
              <a:cs typeface="Times New Roman"/>
              <a:sym typeface="Times New Roman"/>
            </a:endParaRPr>
          </a:p>
          <a:p>
            <a:pPr marL="457200" marR="0" lvl="0" indent="-355600" algn="just" rtl="0">
              <a:lnSpc>
                <a:spcPct val="100000"/>
              </a:lnSpc>
              <a:spcBef>
                <a:spcPts val="1000"/>
              </a:spcBef>
              <a:spcAft>
                <a:spcPts val="0"/>
              </a:spcAft>
              <a:buClr>
                <a:srgbClr val="0B5394"/>
              </a:buClr>
              <a:buSzPts val="2000"/>
              <a:buFont typeface="Times New Roman"/>
              <a:buChar char="■"/>
            </a:pPr>
            <a:r>
              <a:rPr lang="en-US" sz="2000">
                <a:latin typeface="Times New Roman"/>
                <a:ea typeface="Times New Roman"/>
                <a:cs typeface="Times New Roman"/>
                <a:sym typeface="Times New Roman"/>
              </a:rPr>
              <a:t> Rendering an image requires sampling and discretization.</a:t>
            </a:r>
            <a:endParaRPr sz="200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107"/>
        <p:cNvGrpSpPr/>
        <p:nvPr/>
      </p:nvGrpSpPr>
      <p:grpSpPr>
        <a:xfrm>
          <a:off x="0" y="0"/>
          <a:ext cx="0" cy="0"/>
          <a:chOff x="0" y="0"/>
          <a:chExt cx="0" cy="0"/>
        </a:xfrm>
      </p:grpSpPr>
      <p:sp>
        <p:nvSpPr>
          <p:cNvPr id="108" name="Google Shape;108;g3bb5fbf5691_0_28"/>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1" i="0" u="none" strike="noStrike" cap="none">
                <a:solidFill>
                  <a:srgbClr val="898989"/>
                </a:solidFill>
                <a:latin typeface="Arial"/>
                <a:ea typeface="Arial"/>
                <a:cs typeface="Arial"/>
                <a:sym typeface="Arial"/>
              </a:rPr>
              <a:t>Department of CSE, Daffodil International University</a:t>
            </a:r>
            <a:endParaRPr sz="1400" b="1" i="0" u="none" strike="noStrike" cap="none">
              <a:solidFill>
                <a:srgbClr val="000000"/>
              </a:solidFill>
              <a:latin typeface="Arial"/>
              <a:ea typeface="Arial"/>
              <a:cs typeface="Arial"/>
              <a:sym typeface="Arial"/>
            </a:endParaRPr>
          </a:p>
        </p:txBody>
      </p:sp>
      <p:sp>
        <p:nvSpPr>
          <p:cNvPr id="109" name="Google Shape;109;g3bb5fbf5691_0_28"/>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
        <p:nvSpPr>
          <p:cNvPr id="110" name="Google Shape;110;g3bb5fbf5691_0_28"/>
          <p:cNvSpPr txBox="1"/>
          <p:nvPr/>
        </p:nvSpPr>
        <p:spPr>
          <a:xfrm>
            <a:off x="363825" y="168125"/>
            <a:ext cx="7789500" cy="7695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What Does Aliasing Mean?</a:t>
            </a:r>
            <a:endParaRPr sz="3800">
              <a:solidFill>
                <a:schemeClr val="lt1"/>
              </a:solidFill>
              <a:latin typeface="Calibri"/>
              <a:ea typeface="Calibri"/>
              <a:cs typeface="Calibri"/>
              <a:sym typeface="Calibri"/>
            </a:endParaRPr>
          </a:p>
        </p:txBody>
      </p:sp>
      <p:pic>
        <p:nvPicPr>
          <p:cNvPr id="111" name="Google Shape;111;g3bb5fbf5691_0_28"/>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411"/>
              </a:srgbClr>
            </a:outerShdw>
          </a:effectLst>
        </p:spPr>
      </p:pic>
      <p:sp>
        <p:nvSpPr>
          <p:cNvPr id="112" name="Google Shape;112;g3bb5fbf5691_0_28"/>
          <p:cNvSpPr txBox="1"/>
          <p:nvPr/>
        </p:nvSpPr>
        <p:spPr>
          <a:xfrm>
            <a:off x="363825" y="1126350"/>
            <a:ext cx="8492400" cy="2893800"/>
          </a:xfrm>
          <a:prstGeom prst="rect">
            <a:avLst/>
          </a:prstGeom>
          <a:noFill/>
          <a:ln>
            <a:noFill/>
          </a:ln>
        </p:spPr>
        <p:txBody>
          <a:bodyPr spcFirstLastPara="1" wrap="square" lIns="91425" tIns="91425" rIns="91425" bIns="91425" anchor="t" anchorCtr="0">
            <a:spAutoFit/>
          </a:bodyPr>
          <a:lstStyle/>
          <a:p>
            <a:pPr marL="457200" lvl="0" indent="-342900" algn="just" rtl="0">
              <a:spcBef>
                <a:spcPts val="0"/>
              </a:spcBef>
              <a:spcAft>
                <a:spcPts val="0"/>
              </a:spcAft>
              <a:buClr>
                <a:srgbClr val="0B5394"/>
              </a:buClr>
              <a:buSzPts val="1800"/>
              <a:buFont typeface="Times New Roman"/>
              <a:buChar char="■"/>
            </a:pPr>
            <a:r>
              <a:rPr lang="en-US" sz="1800">
                <a:latin typeface="Times New Roman"/>
                <a:ea typeface="Times New Roman"/>
                <a:cs typeface="Times New Roman"/>
                <a:sym typeface="Times New Roman"/>
              </a:rPr>
              <a:t>Digital sampling of any signal, whether sound, digital photographs, or other, can result in apparent signals at frequencies well below anything present in the original. </a:t>
            </a:r>
            <a:endParaRPr sz="1800">
              <a:latin typeface="Times New Roman"/>
              <a:ea typeface="Times New Roman"/>
              <a:cs typeface="Times New Roman"/>
              <a:sym typeface="Times New Roman"/>
            </a:endParaRPr>
          </a:p>
          <a:p>
            <a:pPr marL="457200" lvl="0" indent="-342900" algn="just" rtl="0">
              <a:spcBef>
                <a:spcPts val="0"/>
              </a:spcBef>
              <a:spcAft>
                <a:spcPts val="0"/>
              </a:spcAft>
              <a:buClr>
                <a:srgbClr val="0B5394"/>
              </a:buClr>
              <a:buSzPts val="1800"/>
              <a:buFont typeface="Times New Roman"/>
              <a:buChar char="■"/>
            </a:pPr>
            <a:r>
              <a:rPr lang="en-US" sz="1800">
                <a:latin typeface="Times New Roman"/>
                <a:ea typeface="Times New Roman"/>
                <a:cs typeface="Times New Roman"/>
                <a:sym typeface="Times New Roman"/>
              </a:rPr>
              <a:t>Aliasing occurs when a signal is sampled at less than twice the highest frequency present in the signal. </a:t>
            </a:r>
            <a:endParaRPr sz="1800">
              <a:latin typeface="Times New Roman"/>
              <a:ea typeface="Times New Roman"/>
              <a:cs typeface="Times New Roman"/>
              <a:sym typeface="Times New Roman"/>
            </a:endParaRPr>
          </a:p>
          <a:p>
            <a:pPr marL="457200" lvl="0" indent="-342900" algn="just" rtl="0">
              <a:spcBef>
                <a:spcPts val="0"/>
              </a:spcBef>
              <a:spcAft>
                <a:spcPts val="0"/>
              </a:spcAft>
              <a:buClr>
                <a:srgbClr val="0B5394"/>
              </a:buClr>
              <a:buSzPts val="1800"/>
              <a:buFont typeface="Times New Roman"/>
              <a:buChar char="■"/>
            </a:pPr>
            <a:r>
              <a:rPr lang="en-US" sz="1800">
                <a:latin typeface="Times New Roman"/>
                <a:ea typeface="Times New Roman"/>
                <a:cs typeface="Times New Roman"/>
                <a:sym typeface="Times New Roman"/>
              </a:rPr>
              <a:t>In images, the repetition is in space rather than signals sampled in time for digital audio. If the image data is not properly processed during sampling or reconstruction, the reconstructed image will differ from the original image, and an alias will be seen.</a:t>
            </a:r>
            <a:endParaRPr sz="1800">
              <a:latin typeface="Times New Roman"/>
              <a:ea typeface="Times New Roman"/>
              <a:cs typeface="Times New Roman"/>
              <a:sym typeface="Times New Roman"/>
            </a:endParaRPr>
          </a:p>
          <a:p>
            <a:pPr marL="457200" lvl="0" indent="-342900" algn="just" rtl="0">
              <a:spcBef>
                <a:spcPts val="0"/>
              </a:spcBef>
              <a:spcAft>
                <a:spcPts val="0"/>
              </a:spcAft>
              <a:buClr>
                <a:srgbClr val="0B5394"/>
              </a:buClr>
              <a:buSzPts val="1800"/>
              <a:buFont typeface="Times New Roman"/>
              <a:buChar char="■"/>
            </a:pPr>
            <a:r>
              <a:rPr lang="en-US" sz="1800">
                <a:solidFill>
                  <a:schemeClr val="dk1"/>
                </a:solidFill>
                <a:latin typeface="Times New Roman"/>
                <a:ea typeface="Times New Roman"/>
                <a:cs typeface="Times New Roman"/>
                <a:sym typeface="Times New Roman"/>
              </a:rPr>
              <a:t>An example of spatial aliasing is the moiré pattern one can observe in a poorly pixelized image. </a:t>
            </a:r>
            <a:endParaRPr sz="1800">
              <a:latin typeface="Times New Roman"/>
              <a:ea typeface="Times New Roman"/>
              <a:cs typeface="Times New Roman"/>
              <a:sym typeface="Times New Roman"/>
            </a:endParaRPr>
          </a:p>
          <a:p>
            <a:pPr marL="0" lvl="0" indent="0" algn="just" rtl="0">
              <a:spcBef>
                <a:spcPts val="0"/>
              </a:spcBef>
              <a:spcAft>
                <a:spcPts val="0"/>
              </a:spcAft>
              <a:buNone/>
            </a:pPr>
            <a:endParaRPr/>
          </a:p>
        </p:txBody>
      </p:sp>
      <p:pic>
        <p:nvPicPr>
          <p:cNvPr id="113" name="Google Shape;113;g3bb5fbf5691_0_28"/>
          <p:cNvPicPr preferRelativeResize="0"/>
          <p:nvPr/>
        </p:nvPicPr>
        <p:blipFill rotWithShape="1">
          <a:blip r:embed="rId4">
            <a:alphaModFix/>
          </a:blip>
          <a:srcRect/>
          <a:stretch/>
        </p:blipFill>
        <p:spPr>
          <a:xfrm>
            <a:off x="3088375" y="3777850"/>
            <a:ext cx="3518726" cy="20758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117"/>
        <p:cNvGrpSpPr/>
        <p:nvPr/>
      </p:nvGrpSpPr>
      <p:grpSpPr>
        <a:xfrm>
          <a:off x="0" y="0"/>
          <a:ext cx="0" cy="0"/>
          <a:chOff x="0" y="0"/>
          <a:chExt cx="0" cy="0"/>
        </a:xfrm>
      </p:grpSpPr>
      <p:sp>
        <p:nvSpPr>
          <p:cNvPr id="118" name="Google Shape;118;g3bb5fbf5691_0_52"/>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119" name="Google Shape;119;g3bb5fbf5691_0_52"/>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
        <p:nvSpPr>
          <p:cNvPr id="120" name="Google Shape;120;g3bb5fbf5691_0_52"/>
          <p:cNvSpPr txBox="1"/>
          <p:nvPr/>
        </p:nvSpPr>
        <p:spPr>
          <a:xfrm>
            <a:off x="363825" y="168125"/>
            <a:ext cx="7789500" cy="7695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Line Segments</a:t>
            </a:r>
            <a:endParaRPr sz="3800">
              <a:solidFill>
                <a:schemeClr val="lt1"/>
              </a:solidFill>
              <a:latin typeface="Calibri"/>
              <a:ea typeface="Calibri"/>
              <a:cs typeface="Calibri"/>
              <a:sym typeface="Calibri"/>
            </a:endParaRPr>
          </a:p>
        </p:txBody>
      </p:sp>
      <p:pic>
        <p:nvPicPr>
          <p:cNvPr id="121" name="Google Shape;121;g3bb5fbf5691_0_52"/>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411"/>
              </a:srgbClr>
            </a:outerShdw>
          </a:effectLst>
        </p:spPr>
      </p:pic>
      <p:sp>
        <p:nvSpPr>
          <p:cNvPr id="122" name="Google Shape;122;g3bb5fbf5691_0_52"/>
          <p:cNvSpPr txBox="1"/>
          <p:nvPr/>
        </p:nvSpPr>
        <p:spPr>
          <a:xfrm>
            <a:off x="181675" y="1023775"/>
            <a:ext cx="8333700" cy="1672500"/>
          </a:xfrm>
          <a:prstGeom prst="rect">
            <a:avLst/>
          </a:prstGeom>
          <a:noFill/>
          <a:ln>
            <a:noFill/>
          </a:ln>
        </p:spPr>
        <p:txBody>
          <a:bodyPr spcFirstLastPara="1" wrap="square" lIns="91425" tIns="91425" rIns="91425" bIns="91425" anchor="t" anchorCtr="0">
            <a:spAutoFit/>
          </a:bodyPr>
          <a:lstStyle/>
          <a:p>
            <a:pPr marL="457200" marR="0" lvl="0" indent="-355600" algn="just" rtl="0">
              <a:lnSpc>
                <a:spcPct val="100000"/>
              </a:lnSpc>
              <a:spcBef>
                <a:spcPts val="1000"/>
              </a:spcBef>
              <a:spcAft>
                <a:spcPts val="0"/>
              </a:spcAft>
              <a:buClr>
                <a:srgbClr val="0B5394"/>
              </a:buClr>
              <a:buSzPts val="2000"/>
              <a:buFont typeface="Times New Roman"/>
              <a:buChar char="■"/>
            </a:pPr>
            <a:r>
              <a:rPr lang="en-US" sz="2000">
                <a:solidFill>
                  <a:srgbClr val="434343"/>
                </a:solidFill>
                <a:latin typeface="Times New Roman"/>
                <a:ea typeface="Times New Roman"/>
                <a:cs typeface="Times New Roman"/>
                <a:sym typeface="Times New Roman"/>
              </a:rPr>
              <a:t>If we tried to sample a line segment so it would map to a 2D raster display.</a:t>
            </a:r>
            <a:endParaRPr sz="2000">
              <a:solidFill>
                <a:srgbClr val="434343"/>
              </a:solidFill>
              <a:latin typeface="Times New Roman"/>
              <a:ea typeface="Times New Roman"/>
              <a:cs typeface="Times New Roman"/>
              <a:sym typeface="Times New Roman"/>
            </a:endParaRPr>
          </a:p>
          <a:p>
            <a:pPr marL="457200" marR="0" lvl="0" indent="-355600" algn="just" rtl="0">
              <a:lnSpc>
                <a:spcPct val="100000"/>
              </a:lnSpc>
              <a:spcBef>
                <a:spcPts val="1000"/>
              </a:spcBef>
              <a:spcAft>
                <a:spcPts val="0"/>
              </a:spcAft>
              <a:buClr>
                <a:srgbClr val="0B5394"/>
              </a:buClr>
              <a:buSzPts val="2000"/>
              <a:buFont typeface="Times New Roman"/>
              <a:buChar char="■"/>
            </a:pPr>
            <a:r>
              <a:rPr lang="en-US" sz="2000">
                <a:solidFill>
                  <a:srgbClr val="434343"/>
                </a:solidFill>
                <a:latin typeface="Times New Roman"/>
                <a:ea typeface="Times New Roman"/>
                <a:cs typeface="Times New Roman"/>
                <a:sym typeface="Times New Roman"/>
              </a:rPr>
              <a:t>We would see stair steps, or jaggies Since we “quantized” the pixel values to 0 or 1</a:t>
            </a:r>
            <a:endParaRPr sz="2000">
              <a:solidFill>
                <a:srgbClr val="434343"/>
              </a:solidFill>
              <a:latin typeface="Times New Roman"/>
              <a:ea typeface="Times New Roman"/>
              <a:cs typeface="Times New Roman"/>
              <a:sym typeface="Times New Roman"/>
            </a:endParaRPr>
          </a:p>
          <a:p>
            <a:pPr marL="457200" marR="0" lvl="0" indent="0" algn="just" rtl="0">
              <a:lnSpc>
                <a:spcPct val="100000"/>
              </a:lnSpc>
              <a:spcBef>
                <a:spcPts val="1000"/>
              </a:spcBef>
              <a:spcAft>
                <a:spcPts val="0"/>
              </a:spcAft>
              <a:buNone/>
            </a:pPr>
            <a:r>
              <a:rPr lang="en-US" sz="2000" b="0" i="0" u="none" strike="noStrike" cap="none">
                <a:solidFill>
                  <a:srgbClr val="434343"/>
                </a:solidFill>
                <a:latin typeface="Times New Roman"/>
                <a:ea typeface="Times New Roman"/>
                <a:cs typeface="Times New Roman"/>
                <a:sym typeface="Times New Roman"/>
              </a:rPr>
              <a:t>    </a:t>
            </a:r>
            <a:endParaRPr sz="2000" b="0" i="0" u="none" strike="noStrike" cap="none">
              <a:solidFill>
                <a:srgbClr val="434343"/>
              </a:solidFill>
              <a:latin typeface="Times New Roman"/>
              <a:ea typeface="Times New Roman"/>
              <a:cs typeface="Times New Roman"/>
              <a:sym typeface="Times New Roman"/>
            </a:endParaRPr>
          </a:p>
        </p:txBody>
      </p:sp>
      <p:sp>
        <p:nvSpPr>
          <p:cNvPr id="123" name="Google Shape;123;g3bb5fbf5691_0_52"/>
          <p:cNvSpPr txBox="1"/>
          <p:nvPr/>
        </p:nvSpPr>
        <p:spPr>
          <a:xfrm>
            <a:off x="325600" y="5042013"/>
            <a:ext cx="59976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Tahoma"/>
              <a:buNone/>
            </a:pPr>
            <a:r>
              <a:rPr lang="en-US" sz="1600" b="0" i="0" u="none" strike="noStrike" cap="none">
                <a:solidFill>
                  <a:srgbClr val="000000"/>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p:txBody>
      </p:sp>
      <p:sp>
        <p:nvSpPr>
          <p:cNvPr id="124" name="Google Shape;124;g3bb5fbf5691_0_52"/>
          <p:cNvSpPr/>
          <p:nvPr/>
        </p:nvSpPr>
        <p:spPr>
          <a:xfrm>
            <a:off x="266695" y="3559030"/>
            <a:ext cx="8564100" cy="2094900"/>
          </a:xfrm>
          <a:prstGeom prst="rect">
            <a:avLst/>
          </a:prstGeom>
          <a:noFill/>
          <a:ln w="9525" cap="flat"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5" name="Google Shape;125;g3bb5fbf5691_0_52"/>
          <p:cNvCxnSpPr/>
          <p:nvPr/>
        </p:nvCxnSpPr>
        <p:spPr>
          <a:xfrm rot="10800000" flipH="1">
            <a:off x="505375" y="3939070"/>
            <a:ext cx="7998600" cy="1385400"/>
          </a:xfrm>
          <a:prstGeom prst="straightConnector1">
            <a:avLst/>
          </a:prstGeom>
          <a:noFill/>
          <a:ln w="38150" cap="flat" cmpd="sng">
            <a:solidFill>
              <a:srgbClr val="4F81BD"/>
            </a:solidFill>
            <a:prstDash val="solid"/>
            <a:round/>
            <a:headEnd type="none" w="sm" len="sm"/>
            <a:tailEnd type="none" w="sm" len="sm"/>
          </a:ln>
        </p:spPr>
      </p:cxnSp>
      <p:cxnSp>
        <p:nvCxnSpPr>
          <p:cNvPr id="126" name="Google Shape;126;g3bb5fbf5691_0_52"/>
          <p:cNvCxnSpPr/>
          <p:nvPr/>
        </p:nvCxnSpPr>
        <p:spPr>
          <a:xfrm flipH="1">
            <a:off x="4609075" y="3415750"/>
            <a:ext cx="47100" cy="71700"/>
          </a:xfrm>
          <a:prstGeom prst="straightConnector1">
            <a:avLst/>
          </a:prstGeom>
          <a:noFill/>
          <a:ln w="9525" cap="flat" cmpd="sng">
            <a:solidFill>
              <a:srgbClr val="EEECE1"/>
            </a:solidFill>
            <a:prstDash val="solid"/>
            <a:round/>
            <a:headEnd type="none" w="sm" len="sm"/>
            <a:tailEnd type="none" w="sm" len="sm"/>
          </a:ln>
        </p:spPr>
      </p:cxnSp>
      <p:cxnSp>
        <p:nvCxnSpPr>
          <p:cNvPr id="127" name="Google Shape;127;g3bb5fbf5691_0_52"/>
          <p:cNvCxnSpPr/>
          <p:nvPr/>
        </p:nvCxnSpPr>
        <p:spPr>
          <a:xfrm rot="10800000" flipH="1">
            <a:off x="4533415" y="3443890"/>
            <a:ext cx="75600" cy="43500"/>
          </a:xfrm>
          <a:prstGeom prst="straightConnector1">
            <a:avLst/>
          </a:prstGeom>
          <a:noFill/>
          <a:ln w="9525" cap="flat" cmpd="sng">
            <a:solidFill>
              <a:srgbClr val="EEECE1"/>
            </a:solidFill>
            <a:prstDash val="solid"/>
            <a:round/>
            <a:headEnd type="none" w="sm" len="sm"/>
            <a:tailEnd type="none" w="sm" len="sm"/>
          </a:ln>
        </p:spPr>
      </p:cxnSp>
      <p:cxnSp>
        <p:nvCxnSpPr>
          <p:cNvPr id="128" name="Google Shape;128;g3bb5fbf5691_0_52"/>
          <p:cNvCxnSpPr/>
          <p:nvPr/>
        </p:nvCxnSpPr>
        <p:spPr>
          <a:xfrm>
            <a:off x="274615" y="2813110"/>
            <a:ext cx="8602500" cy="0"/>
          </a:xfrm>
          <a:prstGeom prst="straightConnector1">
            <a:avLst/>
          </a:prstGeom>
          <a:noFill/>
          <a:ln w="9525" cap="flat" cmpd="sng">
            <a:solidFill>
              <a:srgbClr val="EEECE1"/>
            </a:solidFill>
            <a:prstDash val="solid"/>
            <a:round/>
            <a:headEnd type="none" w="sm" len="sm"/>
            <a:tailEnd type="none" w="sm" len="sm"/>
          </a:ln>
        </p:spPr>
      </p:cxnSp>
      <p:cxnSp>
        <p:nvCxnSpPr>
          <p:cNvPr id="129" name="Google Shape;129;g3bb5fbf5691_0_52"/>
          <p:cNvCxnSpPr/>
          <p:nvPr/>
        </p:nvCxnSpPr>
        <p:spPr>
          <a:xfrm rot="10800000" flipH="1">
            <a:off x="8112895" y="2956390"/>
            <a:ext cx="764400" cy="43200"/>
          </a:xfrm>
          <a:prstGeom prst="straightConnector1">
            <a:avLst/>
          </a:prstGeom>
          <a:noFill/>
          <a:ln w="9525" cap="flat" cmpd="sng">
            <a:solidFill>
              <a:srgbClr val="EEECE1"/>
            </a:solidFill>
            <a:prstDash val="solid"/>
            <a:round/>
            <a:headEnd type="none" w="sm" len="sm"/>
            <a:tailEnd type="none" w="sm" len="sm"/>
          </a:ln>
        </p:spPr>
      </p:cxnSp>
      <p:cxnSp>
        <p:nvCxnSpPr>
          <p:cNvPr id="130" name="Google Shape;130;g3bb5fbf5691_0_52"/>
          <p:cNvCxnSpPr/>
          <p:nvPr/>
        </p:nvCxnSpPr>
        <p:spPr>
          <a:xfrm>
            <a:off x="274615" y="3099670"/>
            <a:ext cx="8602500" cy="0"/>
          </a:xfrm>
          <a:prstGeom prst="straightConnector1">
            <a:avLst/>
          </a:prstGeom>
          <a:noFill/>
          <a:ln w="9525" cap="flat" cmpd="sng">
            <a:solidFill>
              <a:srgbClr val="EEECE1"/>
            </a:solidFill>
            <a:prstDash val="solid"/>
            <a:round/>
            <a:headEnd type="none" w="sm" len="sm"/>
            <a:tailEnd type="none" w="sm" len="sm"/>
          </a:ln>
        </p:spPr>
      </p:cxnSp>
      <p:cxnSp>
        <p:nvCxnSpPr>
          <p:cNvPr id="131" name="Google Shape;131;g3bb5fbf5691_0_52"/>
          <p:cNvCxnSpPr/>
          <p:nvPr/>
        </p:nvCxnSpPr>
        <p:spPr>
          <a:xfrm>
            <a:off x="274615" y="3242590"/>
            <a:ext cx="8602500" cy="0"/>
          </a:xfrm>
          <a:prstGeom prst="straightConnector1">
            <a:avLst/>
          </a:prstGeom>
          <a:noFill/>
          <a:ln w="9525" cap="flat" cmpd="sng">
            <a:solidFill>
              <a:srgbClr val="EEECE1"/>
            </a:solidFill>
            <a:prstDash val="solid"/>
            <a:round/>
            <a:headEnd type="none" w="sm" len="sm"/>
            <a:tailEnd type="none" w="sm" len="sm"/>
          </a:ln>
        </p:spPr>
      </p:cxnSp>
      <p:cxnSp>
        <p:nvCxnSpPr>
          <p:cNvPr id="132" name="Google Shape;132;g3bb5fbf5691_0_52"/>
          <p:cNvCxnSpPr/>
          <p:nvPr/>
        </p:nvCxnSpPr>
        <p:spPr>
          <a:xfrm>
            <a:off x="274615" y="3385870"/>
            <a:ext cx="8602500" cy="0"/>
          </a:xfrm>
          <a:prstGeom prst="straightConnector1">
            <a:avLst/>
          </a:prstGeom>
          <a:noFill/>
          <a:ln w="9525" cap="flat" cmpd="sng">
            <a:solidFill>
              <a:srgbClr val="EEECE1"/>
            </a:solidFill>
            <a:prstDash val="solid"/>
            <a:round/>
            <a:headEnd type="none" w="sm" len="sm"/>
            <a:tailEnd type="none" w="sm" len="sm"/>
          </a:ln>
        </p:spPr>
      </p:cxnSp>
      <p:cxnSp>
        <p:nvCxnSpPr>
          <p:cNvPr id="133" name="Google Shape;133;g3bb5fbf5691_0_52"/>
          <p:cNvCxnSpPr/>
          <p:nvPr/>
        </p:nvCxnSpPr>
        <p:spPr>
          <a:xfrm>
            <a:off x="274615" y="3529150"/>
            <a:ext cx="8602500" cy="0"/>
          </a:xfrm>
          <a:prstGeom prst="straightConnector1">
            <a:avLst/>
          </a:prstGeom>
          <a:noFill/>
          <a:ln w="9525" cap="flat" cmpd="sng">
            <a:solidFill>
              <a:srgbClr val="EEECE1"/>
            </a:solidFill>
            <a:prstDash val="solid"/>
            <a:round/>
            <a:headEnd type="none" w="sm" len="sm"/>
            <a:tailEnd type="none" w="sm" len="sm"/>
          </a:ln>
        </p:spPr>
      </p:cxnSp>
      <p:cxnSp>
        <p:nvCxnSpPr>
          <p:cNvPr id="134" name="Google Shape;134;g3bb5fbf5691_0_52"/>
          <p:cNvCxnSpPr/>
          <p:nvPr/>
        </p:nvCxnSpPr>
        <p:spPr>
          <a:xfrm>
            <a:off x="274615" y="3672070"/>
            <a:ext cx="8602500" cy="0"/>
          </a:xfrm>
          <a:prstGeom prst="straightConnector1">
            <a:avLst/>
          </a:prstGeom>
          <a:noFill/>
          <a:ln w="9525" cap="flat" cmpd="sng">
            <a:solidFill>
              <a:srgbClr val="EEECE1"/>
            </a:solidFill>
            <a:prstDash val="solid"/>
            <a:round/>
            <a:headEnd type="none" w="sm" len="sm"/>
            <a:tailEnd type="none" w="sm" len="sm"/>
          </a:ln>
        </p:spPr>
      </p:cxnSp>
      <p:cxnSp>
        <p:nvCxnSpPr>
          <p:cNvPr id="135" name="Google Shape;135;g3bb5fbf5691_0_52"/>
          <p:cNvCxnSpPr/>
          <p:nvPr/>
        </p:nvCxnSpPr>
        <p:spPr>
          <a:xfrm>
            <a:off x="274615" y="3815350"/>
            <a:ext cx="8602500" cy="0"/>
          </a:xfrm>
          <a:prstGeom prst="straightConnector1">
            <a:avLst/>
          </a:prstGeom>
          <a:noFill/>
          <a:ln w="9525" cap="flat" cmpd="sng">
            <a:solidFill>
              <a:srgbClr val="EEECE1"/>
            </a:solidFill>
            <a:prstDash val="solid"/>
            <a:round/>
            <a:headEnd type="none" w="sm" len="sm"/>
            <a:tailEnd type="none" w="sm" len="sm"/>
          </a:ln>
        </p:spPr>
      </p:cxnSp>
      <p:sp>
        <p:nvSpPr>
          <p:cNvPr id="136" name="Google Shape;136;g3bb5fbf5691_0_52"/>
          <p:cNvSpPr/>
          <p:nvPr/>
        </p:nvSpPr>
        <p:spPr>
          <a:xfrm>
            <a:off x="7791415" y="3818590"/>
            <a:ext cx="1005900" cy="211200"/>
          </a:xfrm>
          <a:prstGeom prst="rect">
            <a:avLst/>
          </a:prstGeom>
          <a:solidFill>
            <a:srgbClr val="4F8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g3bb5fbf5691_0_52"/>
          <p:cNvSpPr/>
          <p:nvPr/>
        </p:nvSpPr>
        <p:spPr>
          <a:xfrm>
            <a:off x="4597135" y="4279390"/>
            <a:ext cx="1001400" cy="211200"/>
          </a:xfrm>
          <a:prstGeom prst="rect">
            <a:avLst/>
          </a:prstGeom>
          <a:solidFill>
            <a:srgbClr val="4F8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g3bb5fbf5691_0_52"/>
          <p:cNvSpPr/>
          <p:nvPr/>
        </p:nvSpPr>
        <p:spPr>
          <a:xfrm>
            <a:off x="4605415" y="4528510"/>
            <a:ext cx="1001400" cy="211200"/>
          </a:xfrm>
          <a:prstGeom prst="rect">
            <a:avLst/>
          </a:prstGeom>
          <a:solidFill>
            <a:srgbClr val="4F8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g3bb5fbf5691_0_52"/>
          <p:cNvSpPr/>
          <p:nvPr/>
        </p:nvSpPr>
        <p:spPr>
          <a:xfrm>
            <a:off x="3490135" y="4519510"/>
            <a:ext cx="1005900" cy="211200"/>
          </a:xfrm>
          <a:prstGeom prst="rect">
            <a:avLst/>
          </a:prstGeom>
          <a:solidFill>
            <a:srgbClr val="4F8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g3bb5fbf5691_0_52"/>
          <p:cNvSpPr/>
          <p:nvPr/>
        </p:nvSpPr>
        <p:spPr>
          <a:xfrm>
            <a:off x="3502735" y="4744510"/>
            <a:ext cx="1001400" cy="211200"/>
          </a:xfrm>
          <a:prstGeom prst="rect">
            <a:avLst/>
          </a:prstGeom>
          <a:solidFill>
            <a:srgbClr val="4F8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g3bb5fbf5691_0_52"/>
          <p:cNvSpPr/>
          <p:nvPr/>
        </p:nvSpPr>
        <p:spPr>
          <a:xfrm>
            <a:off x="2463415" y="4745950"/>
            <a:ext cx="1005900" cy="211200"/>
          </a:xfrm>
          <a:prstGeom prst="rect">
            <a:avLst/>
          </a:prstGeom>
          <a:solidFill>
            <a:srgbClr val="4F8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g3bb5fbf5691_0_52"/>
          <p:cNvSpPr/>
          <p:nvPr/>
        </p:nvSpPr>
        <p:spPr>
          <a:xfrm>
            <a:off x="2505175" y="4983190"/>
            <a:ext cx="1005900" cy="211200"/>
          </a:xfrm>
          <a:prstGeom prst="rect">
            <a:avLst/>
          </a:prstGeom>
          <a:solidFill>
            <a:srgbClr val="4F8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g3bb5fbf5691_0_52"/>
          <p:cNvSpPr/>
          <p:nvPr/>
        </p:nvSpPr>
        <p:spPr>
          <a:xfrm>
            <a:off x="312775" y="4984630"/>
            <a:ext cx="1005900" cy="211200"/>
          </a:xfrm>
          <a:prstGeom prst="rect">
            <a:avLst/>
          </a:prstGeom>
          <a:solidFill>
            <a:srgbClr val="4F8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g3bb5fbf5691_0_52"/>
          <p:cNvSpPr/>
          <p:nvPr/>
        </p:nvSpPr>
        <p:spPr>
          <a:xfrm>
            <a:off x="1398535" y="4987510"/>
            <a:ext cx="1005900" cy="211200"/>
          </a:xfrm>
          <a:prstGeom prst="rect">
            <a:avLst/>
          </a:prstGeom>
          <a:solidFill>
            <a:srgbClr val="4F8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g3bb5fbf5691_0_52"/>
          <p:cNvSpPr/>
          <p:nvPr/>
        </p:nvSpPr>
        <p:spPr>
          <a:xfrm>
            <a:off x="291895" y="5224750"/>
            <a:ext cx="1001400" cy="211200"/>
          </a:xfrm>
          <a:prstGeom prst="rect">
            <a:avLst/>
          </a:prstGeom>
          <a:solidFill>
            <a:srgbClr val="4F8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g3bb5fbf5691_0_52"/>
          <p:cNvSpPr/>
          <p:nvPr/>
        </p:nvSpPr>
        <p:spPr>
          <a:xfrm>
            <a:off x="6793855" y="4055470"/>
            <a:ext cx="1001400" cy="211200"/>
          </a:xfrm>
          <a:prstGeom prst="rect">
            <a:avLst/>
          </a:prstGeom>
          <a:solidFill>
            <a:srgbClr val="4F8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g3bb5fbf5691_0_52"/>
          <p:cNvSpPr/>
          <p:nvPr/>
        </p:nvSpPr>
        <p:spPr>
          <a:xfrm>
            <a:off x="5645095" y="4282270"/>
            <a:ext cx="1005900" cy="211200"/>
          </a:xfrm>
          <a:prstGeom prst="rect">
            <a:avLst/>
          </a:prstGeom>
          <a:solidFill>
            <a:srgbClr val="4F8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g3bb5fbf5691_0_52"/>
          <p:cNvSpPr/>
          <p:nvPr/>
        </p:nvSpPr>
        <p:spPr>
          <a:xfrm>
            <a:off x="5712055" y="4067350"/>
            <a:ext cx="1005900" cy="211200"/>
          </a:xfrm>
          <a:prstGeom prst="rect">
            <a:avLst/>
          </a:prstGeom>
          <a:solidFill>
            <a:srgbClr val="4F81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152"/>
        <p:cNvGrpSpPr/>
        <p:nvPr/>
      </p:nvGrpSpPr>
      <p:grpSpPr>
        <a:xfrm>
          <a:off x="0" y="0"/>
          <a:ext cx="0" cy="0"/>
          <a:chOff x="0" y="0"/>
          <a:chExt cx="0" cy="0"/>
        </a:xfrm>
      </p:grpSpPr>
      <p:sp>
        <p:nvSpPr>
          <p:cNvPr id="153" name="Google Shape;153;g3bb5fbf5691_0_39"/>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154" name="Google Shape;154;g3bb5fbf5691_0_39"/>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
        <p:nvSpPr>
          <p:cNvPr id="155" name="Google Shape;155;g3bb5fbf5691_0_39"/>
          <p:cNvSpPr txBox="1"/>
          <p:nvPr/>
        </p:nvSpPr>
        <p:spPr>
          <a:xfrm>
            <a:off x="363825" y="168125"/>
            <a:ext cx="7789500" cy="7695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Anti-aliasing: Definition</a:t>
            </a:r>
            <a:endParaRPr sz="3800">
              <a:solidFill>
                <a:schemeClr val="lt1"/>
              </a:solidFill>
              <a:latin typeface="Calibri"/>
              <a:ea typeface="Calibri"/>
              <a:cs typeface="Calibri"/>
              <a:sym typeface="Calibri"/>
            </a:endParaRPr>
          </a:p>
        </p:txBody>
      </p:sp>
      <p:pic>
        <p:nvPicPr>
          <p:cNvPr id="156" name="Google Shape;156;g3bb5fbf5691_0_39"/>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411"/>
              </a:srgbClr>
            </a:outerShdw>
          </a:effectLst>
        </p:spPr>
      </p:pic>
      <p:sp>
        <p:nvSpPr>
          <p:cNvPr id="157" name="Google Shape;157;g3bb5fbf5691_0_39"/>
          <p:cNvSpPr txBox="1"/>
          <p:nvPr/>
        </p:nvSpPr>
        <p:spPr>
          <a:xfrm>
            <a:off x="219675" y="1271700"/>
            <a:ext cx="3886200" cy="1046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900"/>
              <a:buFont typeface="Arial"/>
              <a:buNone/>
            </a:pPr>
            <a:endParaRPr sz="19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900"/>
              <a:buFont typeface="Arial"/>
              <a:buNone/>
            </a:pPr>
            <a:r>
              <a:rPr lang="en-US" sz="1900" b="0" i="0" u="none" strike="noStrike" cap="none">
                <a:solidFill>
                  <a:schemeClr val="dk1"/>
                </a:solidFill>
                <a:latin typeface="Times New Roman"/>
                <a:ea typeface="Times New Roman"/>
                <a:cs typeface="Times New Roman"/>
                <a:sym typeface="Times New Roman"/>
              </a:rPr>
              <a:t> </a:t>
            </a:r>
            <a:endParaRPr sz="19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58" name="Google Shape;158;g3bb5fbf5691_0_39"/>
          <p:cNvSpPr txBox="1"/>
          <p:nvPr/>
        </p:nvSpPr>
        <p:spPr>
          <a:xfrm>
            <a:off x="445100" y="1071850"/>
            <a:ext cx="8284200" cy="2339700"/>
          </a:xfrm>
          <a:prstGeom prst="rect">
            <a:avLst/>
          </a:prstGeom>
          <a:noFill/>
          <a:ln>
            <a:noFill/>
          </a:ln>
        </p:spPr>
        <p:txBody>
          <a:bodyPr spcFirstLastPara="1" wrap="square" lIns="91425" tIns="91425" rIns="91425" bIns="91425" anchor="t" anchorCtr="0">
            <a:spAutoFit/>
          </a:bodyPr>
          <a:lstStyle/>
          <a:p>
            <a:pPr marL="457200" lvl="0" indent="-355600" algn="just" rtl="0">
              <a:spcBef>
                <a:spcPts val="0"/>
              </a:spcBef>
              <a:spcAft>
                <a:spcPts val="0"/>
              </a:spcAft>
              <a:buClr>
                <a:srgbClr val="0B5394"/>
              </a:buClr>
              <a:buSzPts val="2000"/>
              <a:buFont typeface="Times New Roman"/>
              <a:buChar char="■"/>
            </a:pPr>
            <a:r>
              <a:rPr lang="en-US" sz="2000">
                <a:latin typeface="Times New Roman"/>
                <a:ea typeface="Times New Roman"/>
                <a:cs typeface="Times New Roman"/>
                <a:sym typeface="Times New Roman"/>
              </a:rPr>
              <a:t>Anti-aliasing is a technique used in digital imaging to reduce the visual defects that occur when high-resolution images are presented on lower-resolution output devices like the monitor or printer. </a:t>
            </a:r>
            <a:endParaRPr sz="2000">
              <a:latin typeface="Times New Roman"/>
              <a:ea typeface="Times New Roman"/>
              <a:cs typeface="Times New Roman"/>
              <a:sym typeface="Times New Roman"/>
            </a:endParaRPr>
          </a:p>
          <a:p>
            <a:pPr marL="457200" lvl="0" indent="-355600" algn="just" rtl="0">
              <a:spcBef>
                <a:spcPts val="0"/>
              </a:spcBef>
              <a:spcAft>
                <a:spcPts val="0"/>
              </a:spcAft>
              <a:buClr>
                <a:srgbClr val="0B5394"/>
              </a:buClr>
              <a:buSzPts val="2000"/>
              <a:buFont typeface="Times New Roman"/>
              <a:buChar char="■"/>
            </a:pPr>
            <a:r>
              <a:rPr lang="en-US" sz="2000">
                <a:latin typeface="Times New Roman"/>
                <a:ea typeface="Times New Roman"/>
                <a:cs typeface="Times New Roman"/>
                <a:sym typeface="Times New Roman"/>
              </a:rPr>
              <a:t>Aliasing manifests itself as jagged or stair-stepped lines (Also known as jaggies) on edges and objects that should otherwise be smooth.</a:t>
            </a:r>
            <a:endParaRPr sz="2000">
              <a:latin typeface="Times New Roman"/>
              <a:ea typeface="Times New Roman"/>
              <a:cs typeface="Times New Roman"/>
              <a:sym typeface="Times New Roman"/>
            </a:endParaRPr>
          </a:p>
          <a:p>
            <a:pPr marL="457200" lvl="0" indent="-355600" algn="just" rtl="0">
              <a:spcBef>
                <a:spcPts val="0"/>
              </a:spcBef>
              <a:spcAft>
                <a:spcPts val="0"/>
              </a:spcAft>
              <a:buClr>
                <a:srgbClr val="0B5394"/>
              </a:buClr>
              <a:buSzPts val="2000"/>
              <a:buFont typeface="Times New Roman"/>
              <a:buChar char="■"/>
            </a:pPr>
            <a:r>
              <a:rPr lang="en-US" sz="2000">
                <a:latin typeface="Times New Roman"/>
                <a:ea typeface="Times New Roman"/>
                <a:cs typeface="Times New Roman"/>
                <a:sym typeface="Times New Roman"/>
              </a:rPr>
              <a:t> With sound, aliases are removed by eliminating frequencies above half the sampling frequencies.</a:t>
            </a:r>
            <a:endParaRPr sz="20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162"/>
        <p:cNvGrpSpPr/>
        <p:nvPr/>
      </p:nvGrpSpPr>
      <p:grpSpPr>
        <a:xfrm>
          <a:off x="0" y="0"/>
          <a:ext cx="0" cy="0"/>
          <a:chOff x="0" y="0"/>
          <a:chExt cx="0" cy="0"/>
        </a:xfrm>
      </p:grpSpPr>
      <p:sp>
        <p:nvSpPr>
          <p:cNvPr id="163" name="Google Shape;163;g3bb5fbf5691_0_101"/>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164" name="Google Shape;164;g3bb5fbf5691_0_101"/>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
        <p:nvSpPr>
          <p:cNvPr id="165" name="Google Shape;165;g3bb5fbf5691_0_101"/>
          <p:cNvSpPr txBox="1"/>
          <p:nvPr/>
        </p:nvSpPr>
        <p:spPr>
          <a:xfrm>
            <a:off x="363825" y="168125"/>
            <a:ext cx="7789500" cy="7080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400"/>
              <a:buFont typeface="Arial"/>
              <a:buNone/>
            </a:pPr>
            <a:r>
              <a:rPr lang="en-US" sz="3400">
                <a:solidFill>
                  <a:schemeClr val="lt1"/>
                </a:solidFill>
                <a:latin typeface="Calibri"/>
                <a:ea typeface="Calibri"/>
                <a:cs typeface="Calibri"/>
                <a:sym typeface="Calibri"/>
              </a:rPr>
              <a:t>Before and After of Anti-Aliasing</a:t>
            </a:r>
            <a:endParaRPr sz="3400" b="0" i="0" u="none" strike="noStrike" cap="none">
              <a:solidFill>
                <a:schemeClr val="lt1"/>
              </a:solidFill>
              <a:latin typeface="Calibri"/>
              <a:ea typeface="Calibri"/>
              <a:cs typeface="Calibri"/>
              <a:sym typeface="Calibri"/>
            </a:endParaRPr>
          </a:p>
        </p:txBody>
      </p:sp>
      <p:pic>
        <p:nvPicPr>
          <p:cNvPr id="166" name="Google Shape;166;g3bb5fbf5691_0_101"/>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411"/>
              </a:srgbClr>
            </a:outerShdw>
          </a:effectLst>
        </p:spPr>
      </p:pic>
      <p:pic>
        <p:nvPicPr>
          <p:cNvPr id="167" name="Google Shape;167;g3bb5fbf5691_0_101"/>
          <p:cNvPicPr preferRelativeResize="0"/>
          <p:nvPr/>
        </p:nvPicPr>
        <p:blipFill rotWithShape="1">
          <a:blip r:embed="rId4">
            <a:alphaModFix/>
          </a:blip>
          <a:srcRect/>
          <a:stretch/>
        </p:blipFill>
        <p:spPr>
          <a:xfrm>
            <a:off x="304920" y="1676520"/>
            <a:ext cx="4114440" cy="3809520"/>
          </a:xfrm>
          <a:prstGeom prst="rect">
            <a:avLst/>
          </a:prstGeom>
          <a:noFill/>
          <a:ln>
            <a:noFill/>
          </a:ln>
        </p:spPr>
      </p:pic>
      <p:pic>
        <p:nvPicPr>
          <p:cNvPr id="168" name="Google Shape;168;g3bb5fbf5691_0_101"/>
          <p:cNvPicPr preferRelativeResize="0"/>
          <p:nvPr/>
        </p:nvPicPr>
        <p:blipFill rotWithShape="1">
          <a:blip r:embed="rId5">
            <a:alphaModFix/>
          </a:blip>
          <a:srcRect/>
          <a:stretch/>
        </p:blipFill>
        <p:spPr>
          <a:xfrm>
            <a:off x="4724280" y="1676520"/>
            <a:ext cx="4114440" cy="3809520"/>
          </a:xfrm>
          <a:prstGeom prst="rect">
            <a:avLst/>
          </a:prstGeom>
          <a:noFill/>
          <a:ln>
            <a:noFill/>
          </a:ln>
        </p:spPr>
      </p:pic>
      <p:sp>
        <p:nvSpPr>
          <p:cNvPr id="169" name="Google Shape;169;g3bb5fbf5691_0_101"/>
          <p:cNvSpPr/>
          <p:nvPr/>
        </p:nvSpPr>
        <p:spPr>
          <a:xfrm>
            <a:off x="726675" y="5556925"/>
            <a:ext cx="3433500" cy="916200"/>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None/>
            </a:pPr>
            <a:r>
              <a:rPr lang="en-US" sz="1800" b="1" i="0" u="none" strike="noStrike" cap="none">
                <a:solidFill>
                  <a:srgbClr val="980000"/>
                </a:solidFill>
                <a:latin typeface="Calibri"/>
                <a:ea typeface="Calibri"/>
                <a:cs typeface="Calibri"/>
                <a:sym typeface="Calibri"/>
              </a:rPr>
              <a:t>Aliased polygons</a:t>
            </a:r>
            <a:r>
              <a:rPr lang="en-US" b="1">
                <a:solidFill>
                  <a:srgbClr val="980000"/>
                </a:solidFill>
              </a:rPr>
              <a:t> </a:t>
            </a:r>
            <a:r>
              <a:rPr lang="en-US" sz="1800" b="1" i="0" u="none" strike="noStrike" cap="none">
                <a:solidFill>
                  <a:srgbClr val="980000"/>
                </a:solidFill>
                <a:latin typeface="Calibri"/>
                <a:ea typeface="Calibri"/>
                <a:cs typeface="Calibri"/>
                <a:sym typeface="Calibri"/>
              </a:rPr>
              <a:t>(jagged </a:t>
            </a:r>
            <a:r>
              <a:rPr lang="en-US" sz="1800" b="1">
                <a:solidFill>
                  <a:srgbClr val="980000"/>
                </a:solidFill>
                <a:latin typeface="Calibri"/>
                <a:ea typeface="Calibri"/>
                <a:cs typeface="Calibri"/>
                <a:sym typeface="Calibri"/>
              </a:rPr>
              <a:t>edges) </a:t>
            </a:r>
            <a:endParaRPr b="1">
              <a:solidFill>
                <a:srgbClr val="980000"/>
              </a:solidFill>
            </a:endParaRPr>
          </a:p>
        </p:txBody>
      </p:sp>
      <p:sp>
        <p:nvSpPr>
          <p:cNvPr id="170" name="Google Shape;170;g3bb5fbf5691_0_101"/>
          <p:cNvSpPr/>
          <p:nvPr/>
        </p:nvSpPr>
        <p:spPr>
          <a:xfrm>
            <a:off x="4812725" y="5599900"/>
            <a:ext cx="4026000" cy="642600"/>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None/>
            </a:pPr>
            <a:r>
              <a:rPr lang="en-US" sz="1800" b="1" i="0" u="none" strike="noStrike" cap="none">
                <a:solidFill>
                  <a:srgbClr val="980000"/>
                </a:solidFill>
                <a:latin typeface="Calibri"/>
                <a:ea typeface="Calibri"/>
                <a:cs typeface="Calibri"/>
                <a:sym typeface="Calibri"/>
              </a:rPr>
              <a:t>Anti-aliased polygons</a:t>
            </a:r>
            <a:r>
              <a:rPr lang="en-US" b="1">
                <a:solidFill>
                  <a:srgbClr val="980000"/>
                </a:solidFill>
              </a:rPr>
              <a:t> </a:t>
            </a:r>
            <a:r>
              <a:rPr lang="en-US" sz="1800" b="1" i="0" u="none" strike="noStrike" cap="none">
                <a:solidFill>
                  <a:srgbClr val="980000"/>
                </a:solidFill>
                <a:latin typeface="Calibri"/>
                <a:ea typeface="Calibri"/>
                <a:cs typeface="Calibri"/>
                <a:sym typeface="Calibri"/>
              </a:rPr>
              <a:t>(smoothed edges)</a:t>
            </a:r>
            <a:endParaRPr b="1">
              <a:solidFill>
                <a:srgbClr val="98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174"/>
        <p:cNvGrpSpPr/>
        <p:nvPr/>
      </p:nvGrpSpPr>
      <p:grpSpPr>
        <a:xfrm>
          <a:off x="0" y="0"/>
          <a:ext cx="0" cy="0"/>
          <a:chOff x="0" y="0"/>
          <a:chExt cx="0" cy="0"/>
        </a:xfrm>
      </p:grpSpPr>
      <p:sp>
        <p:nvSpPr>
          <p:cNvPr id="175" name="Google Shape;175;g3bb5fbf5691_0_121"/>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
        <p:nvSpPr>
          <p:cNvPr id="176" name="Google Shape;176;g3bb5fbf5691_0_121"/>
          <p:cNvSpPr txBox="1"/>
          <p:nvPr/>
        </p:nvSpPr>
        <p:spPr>
          <a:xfrm>
            <a:off x="363825" y="168125"/>
            <a:ext cx="7789500" cy="7695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What Does Anti-aliasing Do?</a:t>
            </a:r>
            <a:endParaRPr sz="3800">
              <a:solidFill>
                <a:schemeClr val="lt1"/>
              </a:solidFill>
              <a:latin typeface="Calibri"/>
              <a:ea typeface="Calibri"/>
              <a:cs typeface="Calibri"/>
              <a:sym typeface="Calibri"/>
            </a:endParaRPr>
          </a:p>
        </p:txBody>
      </p:sp>
      <p:pic>
        <p:nvPicPr>
          <p:cNvPr id="177" name="Google Shape;177;g3bb5fbf5691_0_121"/>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411"/>
              </a:srgbClr>
            </a:outerShdw>
          </a:effectLst>
        </p:spPr>
      </p:pic>
      <p:sp>
        <p:nvSpPr>
          <p:cNvPr id="178" name="Google Shape;178;g3bb5fbf5691_0_121"/>
          <p:cNvSpPr txBox="1"/>
          <p:nvPr/>
        </p:nvSpPr>
        <p:spPr>
          <a:xfrm>
            <a:off x="118250" y="1136975"/>
            <a:ext cx="8722500" cy="2596200"/>
          </a:xfrm>
          <a:prstGeom prst="rect">
            <a:avLst/>
          </a:prstGeom>
          <a:noFill/>
          <a:ln>
            <a:noFill/>
          </a:ln>
        </p:spPr>
        <p:txBody>
          <a:bodyPr spcFirstLastPara="1" wrap="square" lIns="91425" tIns="91425" rIns="91425" bIns="91425" anchor="t" anchorCtr="0">
            <a:spAutoFit/>
          </a:bodyPr>
          <a:lstStyle/>
          <a:p>
            <a:pPr marL="457200" marR="0" lvl="0" indent="-355600" algn="just" rtl="0">
              <a:lnSpc>
                <a:spcPct val="100000"/>
              </a:lnSpc>
              <a:spcBef>
                <a:spcPts val="1000"/>
              </a:spcBef>
              <a:spcAft>
                <a:spcPts val="0"/>
              </a:spcAft>
              <a:buClr>
                <a:srgbClr val="0B5394"/>
              </a:buClr>
              <a:buSzPts val="2000"/>
              <a:buFont typeface="Times New Roman"/>
              <a:buChar char="■"/>
            </a:pPr>
            <a:r>
              <a:rPr lang="en-US" sz="2000">
                <a:solidFill>
                  <a:srgbClr val="434343"/>
                </a:solidFill>
                <a:latin typeface="Times New Roman"/>
                <a:ea typeface="Times New Roman"/>
                <a:cs typeface="Times New Roman"/>
                <a:sym typeface="Times New Roman"/>
              </a:rPr>
              <a:t>Anti-aliasing makes these curved or slanting lines smooth again by adding a slight discoloration to the edges of the line or object, causing the jagged edges to blur and melt together. </a:t>
            </a:r>
            <a:endParaRPr sz="2000">
              <a:solidFill>
                <a:srgbClr val="434343"/>
              </a:solidFill>
              <a:latin typeface="Times New Roman"/>
              <a:ea typeface="Times New Roman"/>
              <a:cs typeface="Times New Roman"/>
              <a:sym typeface="Times New Roman"/>
            </a:endParaRPr>
          </a:p>
          <a:p>
            <a:pPr marL="457200" marR="0" lvl="0" indent="-355600" algn="just" rtl="0">
              <a:lnSpc>
                <a:spcPct val="100000"/>
              </a:lnSpc>
              <a:spcBef>
                <a:spcPts val="1000"/>
              </a:spcBef>
              <a:spcAft>
                <a:spcPts val="0"/>
              </a:spcAft>
              <a:buClr>
                <a:srgbClr val="0B5394"/>
              </a:buClr>
              <a:buSzPts val="2000"/>
              <a:buFont typeface="Times New Roman"/>
              <a:buChar char="■"/>
            </a:pPr>
            <a:r>
              <a:rPr lang="en-US" sz="2000">
                <a:solidFill>
                  <a:srgbClr val="434343"/>
                </a:solidFill>
                <a:latin typeface="Times New Roman"/>
                <a:ea typeface="Times New Roman"/>
                <a:cs typeface="Times New Roman"/>
                <a:sym typeface="Times New Roman"/>
              </a:rPr>
              <a:t>It also removes jagged edges by adding subtle color changes around the lines If the image is zoomed out a bit, the human eye can no longer notice the slight discoloration that antialiasing creates.</a:t>
            </a:r>
            <a:endParaRPr sz="2000" b="0" i="0" u="none" strike="noStrike" cap="none">
              <a:solidFill>
                <a:srgbClr val="434343"/>
              </a:solidFill>
              <a:latin typeface="Times New Roman"/>
              <a:ea typeface="Times New Roman"/>
              <a:cs typeface="Times New Roman"/>
              <a:sym typeface="Times New Roman"/>
            </a:endParaRPr>
          </a:p>
          <a:p>
            <a:pPr marL="457200" marR="0" lvl="0" indent="0" algn="just" rtl="0">
              <a:lnSpc>
                <a:spcPct val="100000"/>
              </a:lnSpc>
              <a:spcBef>
                <a:spcPts val="1000"/>
              </a:spcBef>
              <a:spcAft>
                <a:spcPts val="0"/>
              </a:spcAft>
              <a:buClr>
                <a:srgbClr val="000000"/>
              </a:buClr>
              <a:buSzPts val="2000"/>
              <a:buFont typeface="Arial"/>
              <a:buNone/>
            </a:pPr>
            <a:endParaRPr sz="2000" b="0" i="0" u="none" strike="noStrike" cap="none">
              <a:solidFill>
                <a:srgbClr val="434343"/>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182"/>
        <p:cNvGrpSpPr/>
        <p:nvPr/>
      </p:nvGrpSpPr>
      <p:grpSpPr>
        <a:xfrm>
          <a:off x="0" y="0"/>
          <a:ext cx="0" cy="0"/>
          <a:chOff x="0" y="0"/>
          <a:chExt cx="0" cy="0"/>
        </a:xfrm>
      </p:grpSpPr>
      <p:sp>
        <p:nvSpPr>
          <p:cNvPr id="183" name="Google Shape;183;g3bb5fbf5691_0_190"/>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184" name="Google Shape;184;g3bb5fbf5691_0_190"/>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
        <p:nvSpPr>
          <p:cNvPr id="185" name="Google Shape;185;g3bb5fbf5691_0_190"/>
          <p:cNvSpPr txBox="1"/>
          <p:nvPr/>
        </p:nvSpPr>
        <p:spPr>
          <a:xfrm>
            <a:off x="363825" y="168125"/>
            <a:ext cx="7789500" cy="7695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Do We really need anti-aliasing?</a:t>
            </a:r>
            <a:endParaRPr sz="3800" b="0" i="0" u="none" strike="noStrike" cap="none">
              <a:solidFill>
                <a:schemeClr val="lt1"/>
              </a:solidFill>
              <a:latin typeface="Calibri"/>
              <a:ea typeface="Calibri"/>
              <a:cs typeface="Calibri"/>
              <a:sym typeface="Calibri"/>
            </a:endParaRPr>
          </a:p>
        </p:txBody>
      </p:sp>
      <p:pic>
        <p:nvPicPr>
          <p:cNvPr id="186" name="Google Shape;186;g3bb5fbf5691_0_190"/>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411"/>
              </a:srgbClr>
            </a:outerShdw>
          </a:effectLst>
        </p:spPr>
      </p:pic>
      <p:sp>
        <p:nvSpPr>
          <p:cNvPr id="187" name="Google Shape;187;g3bb5fbf5691_0_190"/>
          <p:cNvSpPr txBox="1"/>
          <p:nvPr/>
        </p:nvSpPr>
        <p:spPr>
          <a:xfrm>
            <a:off x="215900" y="1143000"/>
            <a:ext cx="8445600" cy="3453000"/>
          </a:xfrm>
          <a:prstGeom prst="rect">
            <a:avLst/>
          </a:prstGeom>
          <a:noFill/>
          <a:ln>
            <a:noFill/>
          </a:ln>
        </p:spPr>
        <p:txBody>
          <a:bodyPr spcFirstLastPara="1" wrap="square" lIns="91425" tIns="91425" rIns="91425" bIns="91425" anchor="t" anchorCtr="0">
            <a:spAutoFit/>
          </a:bodyPr>
          <a:lstStyle/>
          <a:p>
            <a:pPr marL="457200" marR="0" lvl="0" indent="-349250" algn="just" rtl="0">
              <a:lnSpc>
                <a:spcPct val="100000"/>
              </a:lnSpc>
              <a:spcBef>
                <a:spcPts val="1000"/>
              </a:spcBef>
              <a:spcAft>
                <a:spcPts val="0"/>
              </a:spcAft>
              <a:buClr>
                <a:srgbClr val="0B5394"/>
              </a:buClr>
              <a:buSzPts val="1900"/>
              <a:buFont typeface="Times New Roman"/>
              <a:buChar char="■"/>
            </a:pPr>
            <a:r>
              <a:rPr lang="en-US" sz="1900">
                <a:latin typeface="Times New Roman"/>
                <a:ea typeface="Times New Roman"/>
                <a:cs typeface="Times New Roman"/>
                <a:sym typeface="Times New Roman"/>
              </a:rPr>
              <a:t>Jaggies appear when an output device does not have a high enough resolution to represent a smooth line correctly.  The pixels that make up the screen of the monitor are all shaped in rectangles or squares. Because lighting up only half of one of these square pixels is not possible.</a:t>
            </a:r>
            <a:endParaRPr sz="1900">
              <a:latin typeface="Times New Roman"/>
              <a:ea typeface="Times New Roman"/>
              <a:cs typeface="Times New Roman"/>
              <a:sym typeface="Times New Roman"/>
            </a:endParaRPr>
          </a:p>
          <a:p>
            <a:pPr marL="457200" marR="0" lvl="0" indent="-349250" algn="just" rtl="0">
              <a:lnSpc>
                <a:spcPct val="100000"/>
              </a:lnSpc>
              <a:spcBef>
                <a:spcPts val="1000"/>
              </a:spcBef>
              <a:spcAft>
                <a:spcPts val="0"/>
              </a:spcAft>
              <a:buClr>
                <a:srgbClr val="0B5394"/>
              </a:buClr>
              <a:buSzPts val="1900"/>
              <a:buFont typeface="Times New Roman"/>
              <a:buChar char="■"/>
            </a:pPr>
            <a:r>
              <a:rPr lang="en-US" sz="1900">
                <a:latin typeface="Times New Roman"/>
                <a:ea typeface="Times New Roman"/>
                <a:cs typeface="Times New Roman"/>
                <a:sym typeface="Times New Roman"/>
              </a:rPr>
              <a:t>The jagged line effect can be minimized by increasing the resolution of the monitor, making the pixels small enough that the human eye cannot distinguish them individually. This is not a good solution, however, because images are displayed based on their resolution. A single image pixel may take up many monitor pixels, making it impossible for a higher-resolution monitor to mask the jagged edges. This is where anti-aliasing is required.</a:t>
            </a:r>
            <a:endParaRPr sz="19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191"/>
        <p:cNvGrpSpPr/>
        <p:nvPr/>
      </p:nvGrpSpPr>
      <p:grpSpPr>
        <a:xfrm>
          <a:off x="0" y="0"/>
          <a:ext cx="0" cy="0"/>
          <a:chOff x="0" y="0"/>
          <a:chExt cx="0" cy="0"/>
        </a:xfrm>
      </p:grpSpPr>
      <p:sp>
        <p:nvSpPr>
          <p:cNvPr id="192" name="Google Shape;192;g3bc93f8e738_0_80"/>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193" name="Google Shape;193;g3bc93f8e738_0_80"/>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
        <p:nvSpPr>
          <p:cNvPr id="194" name="Google Shape;194;g3bc93f8e738_0_80"/>
          <p:cNvSpPr txBox="1"/>
          <p:nvPr/>
        </p:nvSpPr>
        <p:spPr>
          <a:xfrm>
            <a:off x="363825" y="168125"/>
            <a:ext cx="7789500" cy="7695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Anti-Aliasing Techniques</a:t>
            </a:r>
            <a:endParaRPr sz="3800">
              <a:solidFill>
                <a:schemeClr val="lt1"/>
              </a:solidFill>
              <a:latin typeface="Calibri"/>
              <a:ea typeface="Calibri"/>
              <a:cs typeface="Calibri"/>
              <a:sym typeface="Calibri"/>
            </a:endParaRPr>
          </a:p>
        </p:txBody>
      </p:sp>
      <p:pic>
        <p:nvPicPr>
          <p:cNvPr id="195" name="Google Shape;195;g3bc93f8e738_0_80"/>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411"/>
              </a:srgbClr>
            </a:outerShdw>
          </a:effectLst>
        </p:spPr>
      </p:pic>
      <p:sp>
        <p:nvSpPr>
          <p:cNvPr id="196" name="Google Shape;196;g3bc93f8e738_0_80"/>
          <p:cNvSpPr txBox="1"/>
          <p:nvPr/>
        </p:nvSpPr>
        <p:spPr>
          <a:xfrm>
            <a:off x="225000" y="1013713"/>
            <a:ext cx="8445600" cy="4311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p:txBody>
      </p:sp>
      <p:sp>
        <p:nvSpPr>
          <p:cNvPr id="197" name="Google Shape;197;g3bc93f8e738_0_80"/>
          <p:cNvSpPr txBox="1"/>
          <p:nvPr/>
        </p:nvSpPr>
        <p:spPr>
          <a:xfrm>
            <a:off x="363825" y="1389775"/>
            <a:ext cx="8306700" cy="3694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US" sz="1900">
                <a:latin typeface="Times New Roman"/>
                <a:ea typeface="Times New Roman"/>
                <a:cs typeface="Times New Roman"/>
                <a:sym typeface="Times New Roman"/>
              </a:rPr>
              <a:t>Anti-aliasing  techniques were developed to combat the effects of aliasing. There are three main classes of anti-aliasing algorithms :</a:t>
            </a:r>
            <a:endParaRPr sz="1900">
              <a:latin typeface="Times New Roman"/>
              <a:ea typeface="Times New Roman"/>
              <a:cs typeface="Times New Roman"/>
              <a:sym typeface="Times New Roman"/>
            </a:endParaRPr>
          </a:p>
          <a:p>
            <a:pPr marL="0" lvl="0" indent="0" algn="just" rtl="0">
              <a:spcBef>
                <a:spcPts val="0"/>
              </a:spcBef>
              <a:spcAft>
                <a:spcPts val="0"/>
              </a:spcAft>
              <a:buNone/>
            </a:pPr>
            <a:endParaRPr sz="1900">
              <a:latin typeface="Times New Roman"/>
              <a:ea typeface="Times New Roman"/>
              <a:cs typeface="Times New Roman"/>
              <a:sym typeface="Times New Roman"/>
            </a:endParaRPr>
          </a:p>
          <a:p>
            <a:pPr marL="0" lvl="0" indent="0" algn="just" rtl="0">
              <a:spcBef>
                <a:spcPts val="0"/>
              </a:spcBef>
              <a:spcAft>
                <a:spcPts val="0"/>
              </a:spcAft>
              <a:buNone/>
            </a:pPr>
            <a:r>
              <a:rPr lang="en-US" sz="1900">
                <a:latin typeface="Times New Roman"/>
                <a:ea typeface="Times New Roman"/>
                <a:cs typeface="Times New Roman"/>
                <a:sym typeface="Times New Roman"/>
              </a:rPr>
              <a:t>1. As the aliasing problem is due to low resolution, one easy solution is to increase the resolution. This increases the cost of image production.</a:t>
            </a:r>
            <a:endParaRPr sz="1900">
              <a:latin typeface="Times New Roman"/>
              <a:ea typeface="Times New Roman"/>
              <a:cs typeface="Times New Roman"/>
              <a:sym typeface="Times New Roman"/>
            </a:endParaRPr>
          </a:p>
          <a:p>
            <a:pPr marL="0" lvl="0" indent="0" algn="just" rtl="0">
              <a:spcBef>
                <a:spcPts val="0"/>
              </a:spcBef>
              <a:spcAft>
                <a:spcPts val="0"/>
              </a:spcAft>
              <a:buNone/>
            </a:pPr>
            <a:endParaRPr sz="1900">
              <a:latin typeface="Times New Roman"/>
              <a:ea typeface="Times New Roman"/>
              <a:cs typeface="Times New Roman"/>
              <a:sym typeface="Times New Roman"/>
            </a:endParaRPr>
          </a:p>
          <a:p>
            <a:pPr marL="0" lvl="0" indent="0" algn="just" rtl="0">
              <a:spcBef>
                <a:spcPts val="0"/>
              </a:spcBef>
              <a:spcAft>
                <a:spcPts val="0"/>
              </a:spcAft>
              <a:buNone/>
            </a:pPr>
            <a:r>
              <a:rPr lang="en-US" sz="1900">
                <a:latin typeface="Times New Roman"/>
                <a:ea typeface="Times New Roman"/>
                <a:cs typeface="Times New Roman"/>
                <a:sym typeface="Times New Roman"/>
              </a:rPr>
              <a:t>2. The image can be calculated by considering the intensities over a particular region. This is called area sampling. </a:t>
            </a:r>
            <a:endParaRPr sz="1900">
              <a:latin typeface="Times New Roman"/>
              <a:ea typeface="Times New Roman"/>
              <a:cs typeface="Times New Roman"/>
              <a:sym typeface="Times New Roman"/>
            </a:endParaRPr>
          </a:p>
          <a:p>
            <a:pPr marL="0" lvl="0" indent="0" algn="just" rtl="0">
              <a:spcBef>
                <a:spcPts val="0"/>
              </a:spcBef>
              <a:spcAft>
                <a:spcPts val="0"/>
              </a:spcAft>
              <a:buNone/>
            </a:pPr>
            <a:endParaRPr sz="1900">
              <a:latin typeface="Times New Roman"/>
              <a:ea typeface="Times New Roman"/>
              <a:cs typeface="Times New Roman"/>
              <a:sym typeface="Times New Roman"/>
            </a:endParaRPr>
          </a:p>
          <a:p>
            <a:pPr marL="0" lvl="0" indent="0" algn="just" rtl="0">
              <a:spcBef>
                <a:spcPts val="0"/>
              </a:spcBef>
              <a:spcAft>
                <a:spcPts val="0"/>
              </a:spcAft>
              <a:buNone/>
            </a:pPr>
            <a:r>
              <a:rPr lang="en-US" sz="1900">
                <a:latin typeface="Times New Roman"/>
                <a:ea typeface="Times New Roman"/>
                <a:cs typeface="Times New Roman"/>
                <a:sym typeface="Times New Roman"/>
              </a:rPr>
              <a:t> 3. The image is created at high resolution and then digitally filtered. This method is called supersampling or postfiltering and eliminates high frequencies, which are the source of aliases.</a:t>
            </a:r>
            <a:endParaRPr sz="19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201"/>
        <p:cNvGrpSpPr/>
        <p:nvPr/>
      </p:nvGrpSpPr>
      <p:grpSpPr>
        <a:xfrm>
          <a:off x="0" y="0"/>
          <a:ext cx="0" cy="0"/>
          <a:chOff x="0" y="0"/>
          <a:chExt cx="0" cy="0"/>
        </a:xfrm>
      </p:grpSpPr>
      <p:sp>
        <p:nvSpPr>
          <p:cNvPr id="202" name="Google Shape;202;g3bc93f8e738_0_146"/>
          <p:cNvSpPr txBox="1"/>
          <p:nvPr/>
        </p:nvSpPr>
        <p:spPr>
          <a:xfrm>
            <a:off x="2865450" y="6459375"/>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203" name="Google Shape;203;g3bc93f8e738_0_146"/>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
        <p:nvSpPr>
          <p:cNvPr id="204" name="Google Shape;204;g3bc93f8e738_0_146"/>
          <p:cNvSpPr txBox="1"/>
          <p:nvPr/>
        </p:nvSpPr>
        <p:spPr>
          <a:xfrm>
            <a:off x="363825" y="168125"/>
            <a:ext cx="7789500" cy="7695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1. Anti-Aliasing : Increasing Resolution</a:t>
            </a:r>
            <a:endParaRPr sz="3800">
              <a:solidFill>
                <a:schemeClr val="lt1"/>
              </a:solidFill>
              <a:latin typeface="Calibri"/>
              <a:ea typeface="Calibri"/>
              <a:cs typeface="Calibri"/>
              <a:sym typeface="Calibri"/>
            </a:endParaRPr>
          </a:p>
        </p:txBody>
      </p:sp>
      <p:pic>
        <p:nvPicPr>
          <p:cNvPr id="205" name="Google Shape;205;g3bc93f8e738_0_146"/>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411"/>
              </a:srgbClr>
            </a:outerShdw>
          </a:effectLst>
        </p:spPr>
      </p:pic>
      <p:sp>
        <p:nvSpPr>
          <p:cNvPr id="206" name="Google Shape;206;g3bc93f8e738_0_146"/>
          <p:cNvSpPr txBox="1"/>
          <p:nvPr/>
        </p:nvSpPr>
        <p:spPr>
          <a:xfrm>
            <a:off x="415750" y="1240788"/>
            <a:ext cx="8445600" cy="1585500"/>
          </a:xfrm>
          <a:prstGeom prst="rect">
            <a:avLst/>
          </a:prstGeom>
          <a:noFill/>
          <a:ln>
            <a:noFill/>
          </a:ln>
        </p:spPr>
        <p:txBody>
          <a:bodyPr spcFirstLastPara="1" wrap="square" lIns="91425" tIns="91425" rIns="91425" bIns="91425" anchor="t" anchorCtr="0">
            <a:spAutoFit/>
          </a:bodyPr>
          <a:lstStyle/>
          <a:p>
            <a:pPr marL="457200" marR="0" lvl="0" indent="-387350" algn="just" rtl="0">
              <a:lnSpc>
                <a:spcPct val="100000"/>
              </a:lnSpc>
              <a:spcBef>
                <a:spcPts val="0"/>
              </a:spcBef>
              <a:spcAft>
                <a:spcPts val="0"/>
              </a:spcAft>
              <a:buClr>
                <a:srgbClr val="0B5394"/>
              </a:buClr>
              <a:buSzPts val="2500"/>
              <a:buFont typeface="Times New Roman"/>
              <a:buChar char="■"/>
            </a:pPr>
            <a:r>
              <a:rPr lang="en-US" sz="2000">
                <a:latin typeface="Times New Roman"/>
                <a:ea typeface="Times New Roman"/>
                <a:cs typeface="Times New Roman"/>
                <a:sym typeface="Times New Roman"/>
              </a:rPr>
              <a:t>Doubling resolution in x and y</a:t>
            </a:r>
            <a:endParaRPr sz="2000">
              <a:latin typeface="Times New Roman"/>
              <a:ea typeface="Times New Roman"/>
              <a:cs typeface="Times New Roman"/>
              <a:sym typeface="Times New Roman"/>
            </a:endParaRPr>
          </a:p>
          <a:p>
            <a:pPr marL="457200" marR="0" lvl="0" indent="-387350" algn="just" rtl="0">
              <a:lnSpc>
                <a:spcPct val="100000"/>
              </a:lnSpc>
              <a:spcBef>
                <a:spcPts val="0"/>
              </a:spcBef>
              <a:spcAft>
                <a:spcPts val="0"/>
              </a:spcAft>
              <a:buClr>
                <a:srgbClr val="0B5394"/>
              </a:buClr>
              <a:buSzPts val="2500"/>
              <a:buFont typeface="Times New Roman"/>
              <a:buChar char="■"/>
            </a:pPr>
            <a:r>
              <a:rPr lang="en-US" sz="2000">
                <a:latin typeface="Times New Roman"/>
                <a:ea typeface="Times New Roman"/>
                <a:cs typeface="Times New Roman"/>
                <a:sym typeface="Times New Roman"/>
              </a:rPr>
              <a:t> This method only lessens the problem</a:t>
            </a:r>
            <a:endParaRPr sz="2000">
              <a:latin typeface="Times New Roman"/>
              <a:ea typeface="Times New Roman"/>
              <a:cs typeface="Times New Roman"/>
              <a:sym typeface="Times New Roman"/>
            </a:endParaRPr>
          </a:p>
          <a:p>
            <a:pPr marL="457200" marR="0" lvl="0" indent="-387350" algn="just" rtl="0">
              <a:lnSpc>
                <a:spcPct val="100000"/>
              </a:lnSpc>
              <a:spcBef>
                <a:spcPts val="0"/>
              </a:spcBef>
              <a:spcAft>
                <a:spcPts val="0"/>
              </a:spcAft>
              <a:buClr>
                <a:srgbClr val="0B5394"/>
              </a:buClr>
              <a:buSzPts val="2500"/>
              <a:buFont typeface="Times New Roman"/>
              <a:buChar char="■"/>
            </a:pPr>
            <a:r>
              <a:rPr lang="en-US" sz="2000">
                <a:latin typeface="Times New Roman"/>
                <a:ea typeface="Times New Roman"/>
                <a:cs typeface="Times New Roman"/>
                <a:sym typeface="Times New Roman"/>
              </a:rPr>
              <a:t>Costs 4 times memory, memory bandwidth and scan conversion time</a:t>
            </a:r>
            <a:endParaRPr sz="200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a:latin typeface="Times New Roman"/>
              <a:ea typeface="Times New Roman"/>
              <a:cs typeface="Times New Roman"/>
              <a:sym typeface="Times New Roman"/>
            </a:endParaRPr>
          </a:p>
        </p:txBody>
      </p:sp>
      <p:pic>
        <p:nvPicPr>
          <p:cNvPr id="207" name="Google Shape;207;g3bc93f8e738_0_146"/>
          <p:cNvPicPr preferRelativeResize="0"/>
          <p:nvPr/>
        </p:nvPicPr>
        <p:blipFill rotWithShape="1">
          <a:blip r:embed="rId4">
            <a:alphaModFix/>
          </a:blip>
          <a:srcRect/>
          <a:stretch/>
        </p:blipFill>
        <p:spPr>
          <a:xfrm>
            <a:off x="987300" y="2826300"/>
            <a:ext cx="6542550" cy="28599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211"/>
        <p:cNvGrpSpPr/>
        <p:nvPr/>
      </p:nvGrpSpPr>
      <p:grpSpPr>
        <a:xfrm>
          <a:off x="0" y="0"/>
          <a:ext cx="0" cy="0"/>
          <a:chOff x="0" y="0"/>
          <a:chExt cx="0" cy="0"/>
        </a:xfrm>
      </p:grpSpPr>
      <p:sp>
        <p:nvSpPr>
          <p:cNvPr id="212" name="Google Shape;212;g3bb5fbf5691_0_158"/>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213" name="Google Shape;213;g3bb5fbf5691_0_158"/>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
        <p:nvSpPr>
          <p:cNvPr id="214" name="Google Shape;214;g3bb5fbf5691_0_158"/>
          <p:cNvSpPr txBox="1"/>
          <p:nvPr/>
        </p:nvSpPr>
        <p:spPr>
          <a:xfrm>
            <a:off x="363825" y="168125"/>
            <a:ext cx="7789500" cy="7695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2. Anti-Aliasing : Area Sampling</a:t>
            </a:r>
            <a:endParaRPr sz="3800">
              <a:solidFill>
                <a:schemeClr val="lt1"/>
              </a:solidFill>
              <a:latin typeface="Calibri"/>
              <a:ea typeface="Calibri"/>
              <a:cs typeface="Calibri"/>
              <a:sym typeface="Calibri"/>
            </a:endParaRPr>
          </a:p>
        </p:txBody>
      </p:sp>
      <p:pic>
        <p:nvPicPr>
          <p:cNvPr id="215" name="Google Shape;215;g3bb5fbf5691_0_158"/>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411"/>
              </a:srgbClr>
            </a:outerShdw>
          </a:effectLst>
        </p:spPr>
      </p:pic>
      <p:sp>
        <p:nvSpPr>
          <p:cNvPr id="216" name="Google Shape;216;g3bb5fbf5691_0_158"/>
          <p:cNvSpPr txBox="1"/>
          <p:nvPr/>
        </p:nvSpPr>
        <p:spPr>
          <a:xfrm>
            <a:off x="308825" y="1280775"/>
            <a:ext cx="8320500" cy="2339700"/>
          </a:xfrm>
          <a:prstGeom prst="rect">
            <a:avLst/>
          </a:prstGeom>
          <a:noFill/>
          <a:ln>
            <a:noFill/>
          </a:ln>
        </p:spPr>
        <p:txBody>
          <a:bodyPr spcFirstLastPara="1" wrap="square" lIns="91425" tIns="91425" rIns="91425" bIns="91425" anchor="t" anchorCtr="0">
            <a:spAutoFit/>
          </a:bodyPr>
          <a:lstStyle/>
          <a:p>
            <a:pPr marL="457200" lvl="0" indent="-406400" algn="just" rtl="0">
              <a:spcBef>
                <a:spcPts val="0"/>
              </a:spcBef>
              <a:spcAft>
                <a:spcPts val="0"/>
              </a:spcAft>
              <a:buSzPts val="2800"/>
              <a:buFont typeface="Times New Roman"/>
              <a:buChar char="■"/>
            </a:pPr>
            <a:r>
              <a:rPr lang="en-US" sz="2000">
                <a:latin typeface="Times New Roman"/>
                <a:ea typeface="Times New Roman"/>
                <a:cs typeface="Times New Roman"/>
                <a:sym typeface="Times New Roman"/>
              </a:rPr>
              <a:t>Area sampling approaches sample primitives with a box rather than spikes.</a:t>
            </a:r>
            <a:endParaRPr sz="2000">
              <a:latin typeface="Times New Roman"/>
              <a:ea typeface="Times New Roman"/>
              <a:cs typeface="Times New Roman"/>
              <a:sym typeface="Times New Roman"/>
            </a:endParaRPr>
          </a:p>
          <a:p>
            <a:pPr marL="914400" lvl="1" indent="-406400" algn="just" rtl="0">
              <a:spcBef>
                <a:spcPts val="0"/>
              </a:spcBef>
              <a:spcAft>
                <a:spcPts val="0"/>
              </a:spcAft>
              <a:buSzPts val="2800"/>
              <a:buFont typeface="Times New Roman"/>
              <a:buChar char="○"/>
            </a:pPr>
            <a:r>
              <a:rPr lang="en-US" sz="2000">
                <a:latin typeface="Times New Roman"/>
                <a:ea typeface="Times New Roman"/>
                <a:cs typeface="Times New Roman"/>
                <a:sym typeface="Times New Roman"/>
              </a:rPr>
              <a:t> Requires primitives that have area (lines with 1 pixel width).</a:t>
            </a:r>
            <a:endParaRPr sz="2000">
              <a:latin typeface="Times New Roman"/>
              <a:ea typeface="Times New Roman"/>
              <a:cs typeface="Times New Roman"/>
              <a:sym typeface="Times New Roman"/>
            </a:endParaRPr>
          </a:p>
          <a:p>
            <a:pPr marL="914400" lvl="1" indent="-406400" algn="just" rtl="0">
              <a:spcBef>
                <a:spcPts val="0"/>
              </a:spcBef>
              <a:spcAft>
                <a:spcPts val="0"/>
              </a:spcAft>
              <a:buSzPts val="2800"/>
              <a:buFont typeface="Times New Roman"/>
              <a:buChar char="○"/>
            </a:pPr>
            <a:r>
              <a:rPr lang="en-US" sz="2000">
                <a:latin typeface="Times New Roman"/>
                <a:ea typeface="Times New Roman"/>
                <a:cs typeface="Times New Roman"/>
                <a:sym typeface="Times New Roman"/>
              </a:rPr>
              <a:t>Sometimes referred to as pre-filtering.</a:t>
            </a:r>
            <a:endParaRPr sz="2000">
              <a:latin typeface="Times New Roman"/>
              <a:ea typeface="Times New Roman"/>
              <a:cs typeface="Times New Roman"/>
              <a:sym typeface="Times New Roman"/>
            </a:endParaRPr>
          </a:p>
          <a:p>
            <a:pPr marL="914400" lvl="1" indent="-406400" algn="just" rtl="0">
              <a:spcBef>
                <a:spcPts val="0"/>
              </a:spcBef>
              <a:spcAft>
                <a:spcPts val="0"/>
              </a:spcAft>
              <a:buSzPts val="2800"/>
              <a:buFont typeface="Times New Roman"/>
              <a:buChar char="○"/>
            </a:pPr>
            <a:r>
              <a:rPr lang="en-US" sz="2000">
                <a:latin typeface="Times New Roman"/>
                <a:ea typeface="Times New Roman"/>
                <a:cs typeface="Times New Roman"/>
                <a:sym typeface="Times New Roman"/>
              </a:rPr>
              <a:t> Shade pixels according to the area covered by thickened line.</a:t>
            </a:r>
            <a:endParaRPr sz="2000">
              <a:latin typeface="Times New Roman"/>
              <a:ea typeface="Times New Roman"/>
              <a:cs typeface="Times New Roman"/>
              <a:sym typeface="Times New Roman"/>
            </a:endParaRPr>
          </a:p>
          <a:p>
            <a:pPr marL="914400" lvl="1" indent="-406400" algn="just" rtl="0">
              <a:spcBef>
                <a:spcPts val="0"/>
              </a:spcBef>
              <a:spcAft>
                <a:spcPts val="0"/>
              </a:spcAft>
              <a:buSzPts val="2800"/>
              <a:buFont typeface="Times New Roman"/>
              <a:buChar char="○"/>
            </a:pPr>
            <a:r>
              <a:rPr lang="en-US" sz="2000">
                <a:latin typeface="Times New Roman"/>
                <a:ea typeface="Times New Roman"/>
                <a:cs typeface="Times New Roman"/>
                <a:sym typeface="Times New Roman"/>
              </a:rPr>
              <a:t> This is unweighted area sampling.</a:t>
            </a:r>
            <a:endParaRPr sz="2000">
              <a:latin typeface="Times New Roman"/>
              <a:ea typeface="Times New Roman"/>
              <a:cs typeface="Times New Roman"/>
              <a:sym typeface="Times New Roman"/>
            </a:endParaRPr>
          </a:p>
        </p:txBody>
      </p:sp>
      <p:sp>
        <p:nvSpPr>
          <p:cNvPr id="217" name="Google Shape;217;g3bb5fbf5691_0_158"/>
          <p:cNvSpPr/>
          <p:nvPr/>
        </p:nvSpPr>
        <p:spPr>
          <a:xfrm>
            <a:off x="3200400" y="3962520"/>
            <a:ext cx="2882400" cy="2230200"/>
          </a:xfrm>
          <a:prstGeom prst="rect">
            <a:avLst/>
          </a:prstGeom>
          <a:noFill/>
          <a:ln w="9525" cap="flat"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8" name="Google Shape;218;g3bb5fbf5691_0_158"/>
          <p:cNvCxnSpPr/>
          <p:nvPr/>
        </p:nvCxnSpPr>
        <p:spPr>
          <a:xfrm>
            <a:off x="3203280" y="3930480"/>
            <a:ext cx="2895900" cy="0"/>
          </a:xfrm>
          <a:prstGeom prst="straightConnector1">
            <a:avLst/>
          </a:prstGeom>
          <a:noFill/>
          <a:ln w="9525" cap="flat" cmpd="sng">
            <a:solidFill>
              <a:srgbClr val="EEECE1"/>
            </a:solidFill>
            <a:prstDash val="solid"/>
            <a:round/>
            <a:headEnd type="none" w="sm" len="sm"/>
            <a:tailEnd type="none" w="sm" len="sm"/>
          </a:ln>
        </p:spPr>
      </p:cxnSp>
      <p:cxnSp>
        <p:nvCxnSpPr>
          <p:cNvPr id="219" name="Google Shape;219;g3bb5fbf5691_0_158"/>
          <p:cNvCxnSpPr/>
          <p:nvPr/>
        </p:nvCxnSpPr>
        <p:spPr>
          <a:xfrm>
            <a:off x="3203280" y="4082760"/>
            <a:ext cx="2895900" cy="0"/>
          </a:xfrm>
          <a:prstGeom prst="straightConnector1">
            <a:avLst/>
          </a:prstGeom>
          <a:noFill/>
          <a:ln w="9525" cap="flat" cmpd="sng">
            <a:solidFill>
              <a:srgbClr val="EEECE1"/>
            </a:solidFill>
            <a:prstDash val="solid"/>
            <a:round/>
            <a:headEnd type="none" w="sm" len="sm"/>
            <a:tailEnd type="none" w="sm" len="sm"/>
          </a:ln>
        </p:spPr>
      </p:cxnSp>
      <p:cxnSp>
        <p:nvCxnSpPr>
          <p:cNvPr id="220" name="Google Shape;220;g3bb5fbf5691_0_158"/>
          <p:cNvCxnSpPr/>
          <p:nvPr/>
        </p:nvCxnSpPr>
        <p:spPr>
          <a:xfrm>
            <a:off x="3203280" y="4235400"/>
            <a:ext cx="2895900" cy="0"/>
          </a:xfrm>
          <a:prstGeom prst="straightConnector1">
            <a:avLst/>
          </a:prstGeom>
          <a:noFill/>
          <a:ln w="9525" cap="flat" cmpd="sng">
            <a:solidFill>
              <a:srgbClr val="EEECE1"/>
            </a:solidFill>
            <a:prstDash val="solid"/>
            <a:round/>
            <a:headEnd type="none" w="sm" len="sm"/>
            <a:tailEnd type="none" w="sm" len="sm"/>
          </a:ln>
        </p:spPr>
      </p:cxnSp>
      <p:sp>
        <p:nvSpPr>
          <p:cNvPr id="221" name="Google Shape;221;g3bb5fbf5691_0_158"/>
          <p:cNvSpPr/>
          <p:nvPr/>
        </p:nvSpPr>
        <p:spPr>
          <a:xfrm>
            <a:off x="5732640" y="4238640"/>
            <a:ext cx="337800" cy="225000"/>
          </a:xfrm>
          <a:prstGeom prst="rect">
            <a:avLst/>
          </a:prstGeom>
          <a:solidFill>
            <a:srgbClr val="FFAF3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g3bb5fbf5691_0_158"/>
          <p:cNvSpPr/>
          <p:nvPr/>
        </p:nvSpPr>
        <p:spPr>
          <a:xfrm>
            <a:off x="4657680" y="4729320"/>
            <a:ext cx="337800" cy="225000"/>
          </a:xfrm>
          <a:prstGeom prst="rect">
            <a:avLst/>
          </a:prstGeom>
          <a:solidFill>
            <a:srgbClr val="FFCA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g3bb5fbf5691_0_158"/>
          <p:cNvSpPr/>
          <p:nvPr/>
        </p:nvSpPr>
        <p:spPr>
          <a:xfrm>
            <a:off x="4660920" y="4994280"/>
            <a:ext cx="337800" cy="225000"/>
          </a:xfrm>
          <a:prstGeom prst="rect">
            <a:avLst/>
          </a:prstGeom>
          <a:solidFill>
            <a:srgbClr val="FFD4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g3bb5fbf5691_0_158"/>
          <p:cNvSpPr/>
          <p:nvPr/>
        </p:nvSpPr>
        <p:spPr>
          <a:xfrm>
            <a:off x="4286160" y="4984920"/>
            <a:ext cx="337800" cy="225000"/>
          </a:xfrm>
          <a:prstGeom prst="rect">
            <a:avLst/>
          </a:prstGeom>
          <a:solidFill>
            <a:srgbClr val="FFC0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g3bb5fbf5691_0_158"/>
          <p:cNvSpPr/>
          <p:nvPr/>
        </p:nvSpPr>
        <p:spPr>
          <a:xfrm>
            <a:off x="4289400" y="5224320"/>
            <a:ext cx="337800" cy="225000"/>
          </a:xfrm>
          <a:prstGeom prst="rect">
            <a:avLst/>
          </a:prstGeom>
          <a:solidFill>
            <a:srgbClr val="FFCA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g3bb5fbf5691_0_158"/>
          <p:cNvSpPr/>
          <p:nvPr/>
        </p:nvSpPr>
        <p:spPr>
          <a:xfrm>
            <a:off x="3940200" y="5226120"/>
            <a:ext cx="337800" cy="225000"/>
          </a:xfrm>
          <a:prstGeom prst="rect">
            <a:avLst/>
          </a:prstGeom>
          <a:solidFill>
            <a:srgbClr val="FFB2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g3bb5fbf5691_0_158"/>
          <p:cNvSpPr/>
          <p:nvPr/>
        </p:nvSpPr>
        <p:spPr>
          <a:xfrm>
            <a:off x="3954600" y="5478480"/>
            <a:ext cx="337800" cy="225000"/>
          </a:xfrm>
          <a:prstGeom prst="rect">
            <a:avLst/>
          </a:prstGeom>
          <a:solidFill>
            <a:srgbClr val="FFD6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g3bb5fbf5691_0_158"/>
          <p:cNvSpPr/>
          <p:nvPr/>
        </p:nvSpPr>
        <p:spPr>
          <a:xfrm>
            <a:off x="3216240" y="5479920"/>
            <a:ext cx="337800" cy="225000"/>
          </a:xfrm>
          <a:prstGeom prst="rect">
            <a:avLst/>
          </a:prstGeom>
          <a:solidFill>
            <a:srgbClr val="FFCE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g3bb5fbf5691_0_158"/>
          <p:cNvSpPr/>
          <p:nvPr/>
        </p:nvSpPr>
        <p:spPr>
          <a:xfrm>
            <a:off x="3581280" y="5483160"/>
            <a:ext cx="337800" cy="225000"/>
          </a:xfrm>
          <a:prstGeom prst="rect">
            <a:avLst/>
          </a:prstGeom>
          <a:solidFill>
            <a:srgbClr val="FFA1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g3bb5fbf5691_0_158"/>
          <p:cNvSpPr/>
          <p:nvPr/>
        </p:nvSpPr>
        <p:spPr>
          <a:xfrm>
            <a:off x="3208320" y="5735520"/>
            <a:ext cx="337800" cy="225000"/>
          </a:xfrm>
          <a:prstGeom prst="rect">
            <a:avLst/>
          </a:prstGeom>
          <a:solidFill>
            <a:srgbClr val="FFC0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g3bb5fbf5691_0_158"/>
          <p:cNvSpPr/>
          <p:nvPr/>
        </p:nvSpPr>
        <p:spPr>
          <a:xfrm>
            <a:off x="5397480" y="4491000"/>
            <a:ext cx="337800" cy="225000"/>
          </a:xfrm>
          <a:prstGeom prst="rect">
            <a:avLst/>
          </a:prstGeom>
          <a:solidFill>
            <a:srgbClr val="FFAC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g3bb5fbf5691_0_158"/>
          <p:cNvSpPr/>
          <p:nvPr/>
        </p:nvSpPr>
        <p:spPr>
          <a:xfrm>
            <a:off x="5024520" y="4732200"/>
            <a:ext cx="337800" cy="225000"/>
          </a:xfrm>
          <a:prstGeom prst="rect">
            <a:avLst/>
          </a:prstGeom>
          <a:solidFill>
            <a:srgbClr val="FFB5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g3bb5fbf5691_0_158"/>
          <p:cNvSpPr/>
          <p:nvPr/>
        </p:nvSpPr>
        <p:spPr>
          <a:xfrm>
            <a:off x="5033880" y="4503600"/>
            <a:ext cx="337800" cy="225000"/>
          </a:xfrm>
          <a:prstGeom prst="rect">
            <a:avLst/>
          </a:prstGeom>
          <a:solidFill>
            <a:srgbClr val="FFE9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34" name="Google Shape;234;g3bb5fbf5691_0_158"/>
          <p:cNvCxnSpPr/>
          <p:nvPr/>
        </p:nvCxnSpPr>
        <p:spPr>
          <a:xfrm rot="10800000" flipH="1">
            <a:off x="3357360" y="4443240"/>
            <a:ext cx="2692500" cy="1474800"/>
          </a:xfrm>
          <a:prstGeom prst="straightConnector1">
            <a:avLst/>
          </a:prstGeom>
          <a:noFill/>
          <a:ln w="38150" cap="flat" cmpd="sng">
            <a:solidFill>
              <a:srgbClr val="0000FF"/>
            </a:solidFill>
            <a:prstDash val="solid"/>
            <a:round/>
            <a:headEnd type="none" w="sm" len="sm"/>
            <a:tailEnd type="none" w="sm" len="sm"/>
          </a:ln>
        </p:spPr>
      </p:cxnSp>
      <p:cxnSp>
        <p:nvCxnSpPr>
          <p:cNvPr id="235" name="Google Shape;235;g3bb5fbf5691_0_158"/>
          <p:cNvCxnSpPr/>
          <p:nvPr/>
        </p:nvCxnSpPr>
        <p:spPr>
          <a:xfrm rot="10800000" flipH="1">
            <a:off x="3268440" y="4240200"/>
            <a:ext cx="2692500" cy="1474800"/>
          </a:xfrm>
          <a:prstGeom prst="straightConnector1">
            <a:avLst/>
          </a:prstGeom>
          <a:noFill/>
          <a:ln w="38150" cap="flat" cmpd="sng">
            <a:solidFill>
              <a:srgbClr val="0000FF"/>
            </a:solidFill>
            <a:prstDash val="solid"/>
            <a:round/>
            <a:headEnd type="none" w="sm" len="sm"/>
            <a:tailEnd type="none" w="sm" len="sm"/>
          </a:ln>
        </p:spPr>
      </p:cxnSp>
      <p:cxnSp>
        <p:nvCxnSpPr>
          <p:cNvPr id="236" name="Google Shape;236;g3bb5fbf5691_0_158"/>
          <p:cNvCxnSpPr/>
          <p:nvPr/>
        </p:nvCxnSpPr>
        <p:spPr>
          <a:xfrm>
            <a:off x="3276360" y="5705280"/>
            <a:ext cx="87600" cy="200100"/>
          </a:xfrm>
          <a:prstGeom prst="straightConnector1">
            <a:avLst/>
          </a:prstGeom>
          <a:noFill/>
          <a:ln w="38150" cap="flat" cmpd="sng">
            <a:solidFill>
              <a:srgbClr val="0000FF"/>
            </a:solidFill>
            <a:prstDash val="solid"/>
            <a:round/>
            <a:headEnd type="none" w="sm" len="sm"/>
            <a:tailEnd type="none" w="sm" len="sm"/>
          </a:ln>
        </p:spPr>
      </p:cxnSp>
      <p:cxnSp>
        <p:nvCxnSpPr>
          <p:cNvPr id="237" name="Google Shape;237;g3bb5fbf5691_0_158"/>
          <p:cNvCxnSpPr/>
          <p:nvPr/>
        </p:nvCxnSpPr>
        <p:spPr>
          <a:xfrm>
            <a:off x="5946480" y="4238280"/>
            <a:ext cx="87600" cy="189000"/>
          </a:xfrm>
          <a:prstGeom prst="straightConnector1">
            <a:avLst/>
          </a:prstGeom>
          <a:noFill/>
          <a:ln w="38150" cap="flat" cmpd="sng">
            <a:solidFill>
              <a:srgbClr val="0000FF"/>
            </a:solidFill>
            <a:prstDash val="solid"/>
            <a:round/>
            <a:headEnd type="none" w="sm" len="sm"/>
            <a:tailEnd type="none" w="sm" len="sm"/>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241"/>
        <p:cNvGrpSpPr/>
        <p:nvPr/>
      </p:nvGrpSpPr>
      <p:grpSpPr>
        <a:xfrm>
          <a:off x="0" y="0"/>
          <a:ext cx="0" cy="0"/>
          <a:chOff x="0" y="0"/>
          <a:chExt cx="0" cy="0"/>
        </a:xfrm>
      </p:grpSpPr>
      <p:sp>
        <p:nvSpPr>
          <p:cNvPr id="242" name="Google Shape;242;g3bb5fbf5691_0_233"/>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243" name="Google Shape;243;g3bb5fbf5691_0_233"/>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12</a:t>
            </a:fld>
            <a:endParaRPr sz="1400" b="0" i="0" u="none" strike="noStrike" cap="none">
              <a:solidFill>
                <a:srgbClr val="000000"/>
              </a:solidFill>
              <a:latin typeface="Arial"/>
              <a:ea typeface="Arial"/>
              <a:cs typeface="Arial"/>
              <a:sym typeface="Arial"/>
            </a:endParaRPr>
          </a:p>
        </p:txBody>
      </p:sp>
      <p:sp>
        <p:nvSpPr>
          <p:cNvPr id="244" name="Google Shape;244;g3bb5fbf5691_0_233"/>
          <p:cNvSpPr txBox="1"/>
          <p:nvPr/>
        </p:nvSpPr>
        <p:spPr>
          <a:xfrm>
            <a:off x="363825" y="168125"/>
            <a:ext cx="7789500" cy="7695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Weighted Area Sampling</a:t>
            </a:r>
            <a:endParaRPr sz="3800">
              <a:solidFill>
                <a:schemeClr val="lt1"/>
              </a:solidFill>
              <a:latin typeface="Calibri"/>
              <a:ea typeface="Calibri"/>
              <a:cs typeface="Calibri"/>
              <a:sym typeface="Calibri"/>
            </a:endParaRPr>
          </a:p>
        </p:txBody>
      </p:sp>
      <p:pic>
        <p:nvPicPr>
          <p:cNvPr id="245" name="Google Shape;245;g3bb5fbf5691_0_233"/>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411"/>
              </a:srgbClr>
            </a:outerShdw>
          </a:effectLst>
        </p:spPr>
      </p:pic>
      <p:sp>
        <p:nvSpPr>
          <p:cNvPr id="246" name="Google Shape;246;g3bb5fbf5691_0_233"/>
          <p:cNvSpPr txBox="1"/>
          <p:nvPr/>
        </p:nvSpPr>
        <p:spPr>
          <a:xfrm>
            <a:off x="379725" y="1095898"/>
            <a:ext cx="8381400" cy="1301700"/>
          </a:xfrm>
          <a:prstGeom prst="rect">
            <a:avLst/>
          </a:prstGeom>
          <a:noFill/>
          <a:ln>
            <a:noFill/>
          </a:ln>
        </p:spPr>
        <p:txBody>
          <a:bodyPr spcFirstLastPara="1" wrap="square" lIns="91425" tIns="45700" rIns="91425" bIns="45700" anchor="t" anchorCtr="0">
            <a:noAutofit/>
          </a:bodyPr>
          <a:lstStyle/>
          <a:p>
            <a:pPr marL="457200" marR="0" lvl="0" indent="-355600" algn="l" rtl="0">
              <a:lnSpc>
                <a:spcPct val="115000"/>
              </a:lnSpc>
              <a:spcBef>
                <a:spcPts val="0"/>
              </a:spcBef>
              <a:spcAft>
                <a:spcPts val="0"/>
              </a:spcAft>
              <a:buClr>
                <a:srgbClr val="0B5394"/>
              </a:buClr>
              <a:buSzPts val="2000"/>
              <a:buFont typeface="Lucida Sans"/>
              <a:buChar char="■"/>
            </a:pPr>
            <a:r>
              <a:rPr lang="en-US" sz="2000" b="0" i="0" u="none" strike="noStrike" cap="none">
                <a:solidFill>
                  <a:srgbClr val="000000"/>
                </a:solidFill>
                <a:latin typeface="Lucida Sans"/>
                <a:ea typeface="Lucida Sans"/>
                <a:cs typeface="Lucida Sans"/>
                <a:sym typeface="Lucida Sans"/>
              </a:rPr>
              <a:t>Consider a line as having thickness.</a:t>
            </a:r>
            <a:endParaRPr/>
          </a:p>
          <a:p>
            <a:pPr marL="457200" marR="0" lvl="0" indent="-355600" algn="l" rtl="0">
              <a:lnSpc>
                <a:spcPct val="115000"/>
              </a:lnSpc>
              <a:spcBef>
                <a:spcPts val="0"/>
              </a:spcBef>
              <a:spcAft>
                <a:spcPts val="0"/>
              </a:spcAft>
              <a:buClr>
                <a:srgbClr val="0B5394"/>
              </a:buClr>
              <a:buSzPts val="2000"/>
              <a:buFont typeface="Lucida Sans"/>
              <a:buChar char="■"/>
            </a:pPr>
            <a:r>
              <a:rPr lang="en-US" sz="2000" b="0" i="0" u="none" strike="noStrike" cap="none">
                <a:solidFill>
                  <a:srgbClr val="000000"/>
                </a:solidFill>
                <a:latin typeface="Lucida Sans"/>
                <a:ea typeface="Lucida Sans"/>
                <a:cs typeface="Lucida Sans"/>
                <a:sym typeface="Lucida Sans"/>
              </a:rPr>
              <a:t>Consider pixels as little squares.</a:t>
            </a:r>
            <a:endParaRPr/>
          </a:p>
          <a:p>
            <a:pPr marL="457200" marR="0" lvl="0" indent="-355600" algn="l" rtl="0">
              <a:lnSpc>
                <a:spcPct val="115000"/>
              </a:lnSpc>
              <a:spcBef>
                <a:spcPts val="0"/>
              </a:spcBef>
              <a:spcAft>
                <a:spcPts val="0"/>
              </a:spcAft>
              <a:buClr>
                <a:srgbClr val="0B5394"/>
              </a:buClr>
              <a:buSzPts val="2000"/>
              <a:buFont typeface="Lucida Sans"/>
              <a:buChar char="■"/>
            </a:pPr>
            <a:r>
              <a:rPr lang="en-US" sz="2000" b="0" i="0" u="none" strike="noStrike" cap="none">
                <a:solidFill>
                  <a:srgbClr val="000000"/>
                </a:solidFill>
                <a:latin typeface="Lucida Sans"/>
                <a:ea typeface="Lucida Sans"/>
                <a:cs typeface="Lucida Sans"/>
                <a:sym typeface="Lucida Sans"/>
              </a:rPr>
              <a:t>Fill pixels according to the proportion of their square covered by the line.</a:t>
            </a:r>
            <a:endParaRPr/>
          </a:p>
          <a:p>
            <a:pPr marL="457200" marR="0" lvl="0" indent="-355600" algn="l" rtl="0">
              <a:lnSpc>
                <a:spcPct val="115000"/>
              </a:lnSpc>
              <a:spcBef>
                <a:spcPts val="0"/>
              </a:spcBef>
              <a:spcAft>
                <a:spcPts val="0"/>
              </a:spcAft>
              <a:buClr>
                <a:srgbClr val="0B5394"/>
              </a:buClr>
              <a:buSzPts val="2000"/>
              <a:buFont typeface="Lucida Sans"/>
              <a:buChar char="■"/>
            </a:pPr>
            <a:r>
              <a:rPr lang="en-US" sz="2000" b="0" i="0" u="none" strike="noStrike" cap="none">
                <a:solidFill>
                  <a:srgbClr val="000000"/>
                </a:solidFill>
                <a:latin typeface="Lucida Sans"/>
                <a:ea typeface="Lucida Sans"/>
                <a:cs typeface="Lucida Sans"/>
                <a:sym typeface="Lucida Sans"/>
              </a:rPr>
              <a:t>Other variations weigh the contribution according to where in the square the primitive falls.</a:t>
            </a:r>
            <a:endParaRPr/>
          </a:p>
          <a:p>
            <a:pPr marL="0" marR="0" lvl="0" indent="0" algn="ctr" rtl="0">
              <a:lnSpc>
                <a:spcPct val="100000"/>
              </a:lnSpc>
              <a:spcBef>
                <a:spcPts val="0"/>
              </a:spcBef>
              <a:spcAft>
                <a:spcPts val="0"/>
              </a:spcAft>
              <a:buNone/>
            </a:pPr>
            <a:endParaRPr sz="2000" b="0" i="0" u="none" strike="noStrike" cap="none">
              <a:solidFill>
                <a:srgbClr val="000000"/>
              </a:solidFill>
              <a:latin typeface="Lucida Sans"/>
              <a:ea typeface="Lucida Sans"/>
              <a:cs typeface="Lucida Sans"/>
              <a:sym typeface="Lucida Sans"/>
            </a:endParaRPr>
          </a:p>
        </p:txBody>
      </p:sp>
      <p:cxnSp>
        <p:nvCxnSpPr>
          <p:cNvPr id="247" name="Google Shape;247;g3bb5fbf5691_0_233"/>
          <p:cNvCxnSpPr/>
          <p:nvPr/>
        </p:nvCxnSpPr>
        <p:spPr>
          <a:xfrm>
            <a:off x="3047949" y="3421425"/>
            <a:ext cx="0" cy="2819400"/>
          </a:xfrm>
          <a:prstGeom prst="straightConnector1">
            <a:avLst/>
          </a:prstGeom>
          <a:noFill/>
          <a:ln w="8800" cap="flat" cmpd="sng">
            <a:solidFill>
              <a:srgbClr val="000000"/>
            </a:solidFill>
            <a:prstDash val="solid"/>
            <a:round/>
            <a:headEnd type="none" w="sm" len="sm"/>
            <a:tailEnd type="none" w="sm" len="sm"/>
          </a:ln>
        </p:spPr>
      </p:cxnSp>
      <p:cxnSp>
        <p:nvCxnSpPr>
          <p:cNvPr id="248" name="Google Shape;248;g3bb5fbf5691_0_233"/>
          <p:cNvCxnSpPr/>
          <p:nvPr/>
        </p:nvCxnSpPr>
        <p:spPr>
          <a:xfrm rot="10800000" flipH="1">
            <a:off x="3033875" y="3433700"/>
            <a:ext cx="2825100" cy="18000"/>
          </a:xfrm>
          <a:prstGeom prst="straightConnector1">
            <a:avLst/>
          </a:prstGeom>
          <a:noFill/>
          <a:ln w="9525" cap="flat" cmpd="sng">
            <a:solidFill>
              <a:srgbClr val="000000"/>
            </a:solidFill>
            <a:prstDash val="solid"/>
            <a:round/>
            <a:headEnd type="none" w="sm" len="sm"/>
            <a:tailEnd type="none" w="sm" len="sm"/>
          </a:ln>
        </p:spPr>
      </p:cxnSp>
      <p:cxnSp>
        <p:nvCxnSpPr>
          <p:cNvPr id="249" name="Google Shape;249;g3bb5fbf5691_0_233"/>
          <p:cNvCxnSpPr/>
          <p:nvPr/>
        </p:nvCxnSpPr>
        <p:spPr>
          <a:xfrm>
            <a:off x="3118550" y="3914626"/>
            <a:ext cx="2678700" cy="42300"/>
          </a:xfrm>
          <a:prstGeom prst="straightConnector1">
            <a:avLst/>
          </a:prstGeom>
          <a:noFill/>
          <a:ln w="8800" cap="flat" cmpd="sng">
            <a:solidFill>
              <a:srgbClr val="000000"/>
            </a:solidFill>
            <a:prstDash val="solid"/>
            <a:round/>
            <a:headEnd type="none" w="sm" len="sm"/>
            <a:tailEnd type="none" w="sm" len="sm"/>
          </a:ln>
        </p:spPr>
      </p:cxnSp>
      <p:cxnSp>
        <p:nvCxnSpPr>
          <p:cNvPr id="250" name="Google Shape;250;g3bb5fbf5691_0_233"/>
          <p:cNvCxnSpPr/>
          <p:nvPr/>
        </p:nvCxnSpPr>
        <p:spPr>
          <a:xfrm>
            <a:off x="2819630" y="6269360"/>
            <a:ext cx="3048000" cy="0"/>
          </a:xfrm>
          <a:prstGeom prst="straightConnector1">
            <a:avLst/>
          </a:prstGeom>
          <a:noFill/>
          <a:ln w="9525" cap="flat" cmpd="sng">
            <a:solidFill>
              <a:srgbClr val="000000"/>
            </a:solidFill>
            <a:prstDash val="solid"/>
            <a:round/>
            <a:headEnd type="none" w="sm" len="sm"/>
            <a:tailEnd type="none" w="sm" len="sm"/>
          </a:ln>
        </p:spPr>
      </p:cxnSp>
      <p:cxnSp>
        <p:nvCxnSpPr>
          <p:cNvPr id="251" name="Google Shape;251;g3bb5fbf5691_0_233"/>
          <p:cNvCxnSpPr/>
          <p:nvPr/>
        </p:nvCxnSpPr>
        <p:spPr>
          <a:xfrm>
            <a:off x="3047949" y="5676961"/>
            <a:ext cx="2819700" cy="0"/>
          </a:xfrm>
          <a:prstGeom prst="straightConnector1">
            <a:avLst/>
          </a:prstGeom>
          <a:noFill/>
          <a:ln w="8800" cap="flat" cmpd="sng">
            <a:solidFill>
              <a:srgbClr val="000000"/>
            </a:solidFill>
            <a:prstDash val="solid"/>
            <a:round/>
            <a:headEnd type="none" w="sm" len="sm"/>
            <a:tailEnd type="none" w="sm" len="sm"/>
          </a:ln>
        </p:spPr>
      </p:cxnSp>
      <p:cxnSp>
        <p:nvCxnSpPr>
          <p:cNvPr id="252" name="Google Shape;252;g3bb5fbf5691_0_233"/>
          <p:cNvCxnSpPr/>
          <p:nvPr/>
        </p:nvCxnSpPr>
        <p:spPr>
          <a:xfrm>
            <a:off x="3047949" y="5113161"/>
            <a:ext cx="2819700" cy="0"/>
          </a:xfrm>
          <a:prstGeom prst="straightConnector1">
            <a:avLst/>
          </a:prstGeom>
          <a:noFill/>
          <a:ln w="8800" cap="flat" cmpd="sng">
            <a:solidFill>
              <a:srgbClr val="000000"/>
            </a:solidFill>
            <a:prstDash val="solid"/>
            <a:round/>
            <a:headEnd type="none" w="sm" len="sm"/>
            <a:tailEnd type="none" w="sm" len="sm"/>
          </a:ln>
        </p:spPr>
      </p:cxnSp>
      <p:cxnSp>
        <p:nvCxnSpPr>
          <p:cNvPr id="253" name="Google Shape;253;g3bb5fbf5691_0_233"/>
          <p:cNvCxnSpPr/>
          <p:nvPr/>
        </p:nvCxnSpPr>
        <p:spPr>
          <a:xfrm>
            <a:off x="3047949" y="4549027"/>
            <a:ext cx="2819700" cy="0"/>
          </a:xfrm>
          <a:prstGeom prst="straightConnector1">
            <a:avLst/>
          </a:prstGeom>
          <a:noFill/>
          <a:ln w="8800" cap="flat" cmpd="sng">
            <a:solidFill>
              <a:srgbClr val="000000"/>
            </a:solidFill>
            <a:prstDash val="solid"/>
            <a:round/>
            <a:headEnd type="none" w="sm" len="sm"/>
            <a:tailEnd type="none" w="sm" len="sm"/>
          </a:ln>
        </p:spPr>
      </p:cxnSp>
      <p:cxnSp>
        <p:nvCxnSpPr>
          <p:cNvPr id="254" name="Google Shape;254;g3bb5fbf5691_0_233"/>
          <p:cNvCxnSpPr/>
          <p:nvPr/>
        </p:nvCxnSpPr>
        <p:spPr>
          <a:xfrm>
            <a:off x="5867624" y="3421425"/>
            <a:ext cx="0" cy="2819400"/>
          </a:xfrm>
          <a:prstGeom prst="straightConnector1">
            <a:avLst/>
          </a:prstGeom>
          <a:noFill/>
          <a:ln w="8800" cap="flat" cmpd="sng">
            <a:solidFill>
              <a:srgbClr val="000000"/>
            </a:solidFill>
            <a:prstDash val="solid"/>
            <a:round/>
            <a:headEnd type="none" w="sm" len="sm"/>
            <a:tailEnd type="none" w="sm" len="sm"/>
          </a:ln>
        </p:spPr>
      </p:cxnSp>
      <p:cxnSp>
        <p:nvCxnSpPr>
          <p:cNvPr id="255" name="Google Shape;255;g3bb5fbf5691_0_233"/>
          <p:cNvCxnSpPr/>
          <p:nvPr/>
        </p:nvCxnSpPr>
        <p:spPr>
          <a:xfrm>
            <a:off x="5162622" y="3421425"/>
            <a:ext cx="0" cy="2819400"/>
          </a:xfrm>
          <a:prstGeom prst="straightConnector1">
            <a:avLst/>
          </a:prstGeom>
          <a:noFill/>
          <a:ln w="8800" cap="flat" cmpd="sng">
            <a:solidFill>
              <a:srgbClr val="000000"/>
            </a:solidFill>
            <a:prstDash val="solid"/>
            <a:round/>
            <a:headEnd type="none" w="sm" len="sm"/>
            <a:tailEnd type="none" w="sm" len="sm"/>
          </a:ln>
        </p:spPr>
      </p:cxnSp>
      <p:cxnSp>
        <p:nvCxnSpPr>
          <p:cNvPr id="256" name="Google Shape;256;g3bb5fbf5691_0_233"/>
          <p:cNvCxnSpPr/>
          <p:nvPr/>
        </p:nvCxnSpPr>
        <p:spPr>
          <a:xfrm>
            <a:off x="4105286" y="3421425"/>
            <a:ext cx="0" cy="2819400"/>
          </a:xfrm>
          <a:prstGeom prst="straightConnector1">
            <a:avLst/>
          </a:prstGeom>
          <a:noFill/>
          <a:ln w="8800" cap="flat" cmpd="sng">
            <a:solidFill>
              <a:srgbClr val="000000"/>
            </a:solidFill>
            <a:prstDash val="solid"/>
            <a:round/>
            <a:headEnd type="none" w="sm" len="sm"/>
            <a:tailEnd type="none" w="sm" len="sm"/>
          </a:ln>
        </p:spPr>
      </p:cxnSp>
      <p:cxnSp>
        <p:nvCxnSpPr>
          <p:cNvPr id="257" name="Google Shape;257;g3bb5fbf5691_0_233"/>
          <p:cNvCxnSpPr/>
          <p:nvPr/>
        </p:nvCxnSpPr>
        <p:spPr>
          <a:xfrm>
            <a:off x="4598821" y="3421425"/>
            <a:ext cx="0" cy="2819400"/>
          </a:xfrm>
          <a:prstGeom prst="straightConnector1">
            <a:avLst/>
          </a:prstGeom>
          <a:noFill/>
          <a:ln w="8800" cap="flat" cmpd="sng">
            <a:solidFill>
              <a:srgbClr val="000000"/>
            </a:solidFill>
            <a:prstDash val="solid"/>
            <a:round/>
            <a:headEnd type="none" w="sm" len="sm"/>
            <a:tailEnd type="none" w="sm" len="sm"/>
          </a:ln>
        </p:spPr>
      </p:cxnSp>
      <p:cxnSp>
        <p:nvCxnSpPr>
          <p:cNvPr id="258" name="Google Shape;258;g3bb5fbf5691_0_233"/>
          <p:cNvCxnSpPr/>
          <p:nvPr/>
        </p:nvCxnSpPr>
        <p:spPr>
          <a:xfrm>
            <a:off x="3541484" y="3421425"/>
            <a:ext cx="0" cy="2819400"/>
          </a:xfrm>
          <a:prstGeom prst="straightConnector1">
            <a:avLst/>
          </a:prstGeom>
          <a:noFill/>
          <a:ln w="8800" cap="flat" cmpd="sng">
            <a:solidFill>
              <a:srgbClr val="000000"/>
            </a:solidFill>
            <a:prstDash val="solid"/>
            <a:round/>
            <a:headEnd type="none" w="sm" len="sm"/>
            <a:tailEnd type="none" w="sm" len="sm"/>
          </a:ln>
        </p:spPr>
      </p:cxnSp>
      <p:cxnSp>
        <p:nvCxnSpPr>
          <p:cNvPr id="259" name="Google Shape;259;g3bb5fbf5691_0_233"/>
          <p:cNvCxnSpPr/>
          <p:nvPr/>
        </p:nvCxnSpPr>
        <p:spPr>
          <a:xfrm>
            <a:off x="3330017" y="5465495"/>
            <a:ext cx="423000" cy="423000"/>
          </a:xfrm>
          <a:prstGeom prst="straightConnector1">
            <a:avLst/>
          </a:prstGeom>
          <a:noFill/>
          <a:ln w="26300" cap="flat" cmpd="sng">
            <a:solidFill>
              <a:srgbClr val="000000"/>
            </a:solidFill>
            <a:prstDash val="solid"/>
            <a:round/>
            <a:headEnd type="none" w="sm" len="sm"/>
            <a:tailEnd type="none" w="sm" len="sm"/>
          </a:ln>
        </p:spPr>
      </p:cxnSp>
      <p:cxnSp>
        <p:nvCxnSpPr>
          <p:cNvPr id="260" name="Google Shape;260;g3bb5fbf5691_0_233"/>
          <p:cNvCxnSpPr/>
          <p:nvPr/>
        </p:nvCxnSpPr>
        <p:spPr>
          <a:xfrm rot="10800000" flipH="1">
            <a:off x="3330017" y="3773795"/>
            <a:ext cx="1691700" cy="1691700"/>
          </a:xfrm>
          <a:prstGeom prst="straightConnector1">
            <a:avLst/>
          </a:prstGeom>
          <a:noFill/>
          <a:ln w="26300" cap="flat" cmpd="sng">
            <a:solidFill>
              <a:srgbClr val="000000"/>
            </a:solidFill>
            <a:prstDash val="solid"/>
            <a:round/>
            <a:headEnd type="none" w="sm" len="sm"/>
            <a:tailEnd type="none" w="sm" len="sm"/>
          </a:ln>
        </p:spPr>
      </p:cxnSp>
      <p:cxnSp>
        <p:nvCxnSpPr>
          <p:cNvPr id="261" name="Google Shape;261;g3bb5fbf5691_0_233"/>
          <p:cNvCxnSpPr/>
          <p:nvPr/>
        </p:nvCxnSpPr>
        <p:spPr>
          <a:xfrm>
            <a:off x="5021755" y="3773759"/>
            <a:ext cx="423000" cy="423000"/>
          </a:xfrm>
          <a:prstGeom prst="straightConnector1">
            <a:avLst/>
          </a:prstGeom>
          <a:noFill/>
          <a:ln w="26300" cap="flat" cmpd="sng">
            <a:solidFill>
              <a:srgbClr val="000000"/>
            </a:solidFill>
            <a:prstDash val="solid"/>
            <a:round/>
            <a:headEnd type="none" w="sm" len="sm"/>
            <a:tailEnd type="none" w="sm" len="sm"/>
          </a:ln>
        </p:spPr>
      </p:cxnSp>
      <p:cxnSp>
        <p:nvCxnSpPr>
          <p:cNvPr id="262" name="Google Shape;262;g3bb5fbf5691_0_233"/>
          <p:cNvCxnSpPr/>
          <p:nvPr/>
        </p:nvCxnSpPr>
        <p:spPr>
          <a:xfrm rot="10800000" flipH="1">
            <a:off x="3752951" y="4196728"/>
            <a:ext cx="1691700" cy="1691700"/>
          </a:xfrm>
          <a:prstGeom prst="straightConnector1">
            <a:avLst/>
          </a:prstGeom>
          <a:noFill/>
          <a:ln w="26300" cap="flat" cmpd="sng">
            <a:solidFill>
              <a:srgbClr val="000000"/>
            </a:solidFill>
            <a:prstDash val="solid"/>
            <a:round/>
            <a:headEnd type="none" w="sm" len="sm"/>
            <a:tailEnd type="none" w="sm" len="sm"/>
          </a:ln>
        </p:spPr>
      </p:cxnSp>
      <p:sp>
        <p:nvSpPr>
          <p:cNvPr id="263" name="Google Shape;263;g3bb5fbf5691_0_233"/>
          <p:cNvSpPr/>
          <p:nvPr/>
        </p:nvSpPr>
        <p:spPr>
          <a:xfrm>
            <a:off x="3047949" y="5254028"/>
            <a:ext cx="563400" cy="365700"/>
          </a:xfrm>
          <a:prstGeom prst="rect">
            <a:avLst/>
          </a:prstGeom>
          <a:noFill/>
          <a:ln>
            <a:noFill/>
          </a:ln>
        </p:spPr>
        <p:txBody>
          <a:bodyPr spcFirstLastPara="1" wrap="square" lIns="83250" tIns="41625" rIns="83250" bIns="41625" anchor="t" anchorCtr="0">
            <a:noAutofit/>
          </a:bodyPr>
          <a:lstStyle/>
          <a:p>
            <a:pPr marL="0" marR="0" lvl="0" indent="0" algn="l" rtl="0">
              <a:lnSpc>
                <a:spcPct val="100000"/>
              </a:lnSpc>
              <a:spcBef>
                <a:spcPts val="0"/>
              </a:spcBef>
              <a:spcAft>
                <a:spcPts val="0"/>
              </a:spcAft>
              <a:buNone/>
            </a:pPr>
            <a:r>
              <a:rPr lang="en-US" sz="1850" b="0" i="0" u="none" strike="noStrike" cap="none">
                <a:solidFill>
                  <a:srgbClr val="000000"/>
                </a:solidFill>
                <a:latin typeface="Times New Roman"/>
                <a:ea typeface="Times New Roman"/>
                <a:cs typeface="Times New Roman"/>
                <a:sym typeface="Times New Roman"/>
              </a:rPr>
              <a:t>1/8</a:t>
            </a:r>
            <a:endParaRPr sz="1295"/>
          </a:p>
        </p:txBody>
      </p:sp>
      <p:sp>
        <p:nvSpPr>
          <p:cNvPr id="264" name="Google Shape;264;g3bb5fbf5691_0_233"/>
          <p:cNvSpPr/>
          <p:nvPr/>
        </p:nvSpPr>
        <p:spPr>
          <a:xfrm>
            <a:off x="3612084" y="5818161"/>
            <a:ext cx="469200" cy="365700"/>
          </a:xfrm>
          <a:prstGeom prst="rect">
            <a:avLst/>
          </a:prstGeom>
          <a:noFill/>
          <a:ln>
            <a:noFill/>
          </a:ln>
        </p:spPr>
        <p:txBody>
          <a:bodyPr spcFirstLastPara="1" wrap="square" lIns="83250" tIns="41625" rIns="83250" bIns="41625" anchor="t" anchorCtr="0">
            <a:noAutofit/>
          </a:bodyPr>
          <a:lstStyle/>
          <a:p>
            <a:pPr marL="0" marR="0" lvl="0" indent="0" algn="l" rtl="0">
              <a:lnSpc>
                <a:spcPct val="100000"/>
              </a:lnSpc>
              <a:spcBef>
                <a:spcPts val="0"/>
              </a:spcBef>
              <a:spcAft>
                <a:spcPts val="0"/>
              </a:spcAft>
              <a:buNone/>
            </a:pPr>
            <a:r>
              <a:rPr lang="en-US" sz="1850" b="0" i="0" u="none" strike="noStrike" cap="none">
                <a:solidFill>
                  <a:srgbClr val="000000"/>
                </a:solidFill>
                <a:latin typeface="Times New Roman"/>
                <a:ea typeface="Times New Roman"/>
                <a:cs typeface="Times New Roman"/>
                <a:sym typeface="Times New Roman"/>
              </a:rPr>
              <a:t>1/8</a:t>
            </a:r>
            <a:endParaRPr sz="1295"/>
          </a:p>
        </p:txBody>
      </p:sp>
      <p:sp>
        <p:nvSpPr>
          <p:cNvPr id="265" name="Google Shape;265;g3bb5fbf5691_0_233"/>
          <p:cNvSpPr/>
          <p:nvPr/>
        </p:nvSpPr>
        <p:spPr>
          <a:xfrm>
            <a:off x="3541484" y="5183761"/>
            <a:ext cx="581100" cy="365700"/>
          </a:xfrm>
          <a:prstGeom prst="rect">
            <a:avLst/>
          </a:prstGeom>
          <a:noFill/>
          <a:ln>
            <a:noFill/>
          </a:ln>
        </p:spPr>
        <p:txBody>
          <a:bodyPr spcFirstLastPara="1" wrap="square" lIns="83250" tIns="41625" rIns="83250" bIns="41625" anchor="t" anchorCtr="0">
            <a:noAutofit/>
          </a:bodyPr>
          <a:lstStyle/>
          <a:p>
            <a:pPr marL="0" marR="0" lvl="0" indent="0" algn="l" rtl="0">
              <a:lnSpc>
                <a:spcPct val="100000"/>
              </a:lnSpc>
              <a:spcBef>
                <a:spcPts val="0"/>
              </a:spcBef>
              <a:spcAft>
                <a:spcPts val="0"/>
              </a:spcAft>
              <a:buNone/>
            </a:pPr>
            <a:r>
              <a:rPr lang="en-US" sz="1850" b="0" i="0" u="none" strike="noStrike" cap="none">
                <a:solidFill>
                  <a:srgbClr val="000000"/>
                </a:solidFill>
                <a:latin typeface="Times New Roman"/>
                <a:ea typeface="Times New Roman"/>
                <a:cs typeface="Times New Roman"/>
                <a:sym typeface="Times New Roman"/>
              </a:rPr>
              <a:t>.914</a:t>
            </a:r>
            <a:endParaRPr sz="1295"/>
          </a:p>
        </p:txBody>
      </p:sp>
      <p:sp>
        <p:nvSpPr>
          <p:cNvPr id="266" name="Google Shape;266;g3bb5fbf5691_0_233"/>
          <p:cNvSpPr/>
          <p:nvPr/>
        </p:nvSpPr>
        <p:spPr>
          <a:xfrm>
            <a:off x="4105286" y="4619627"/>
            <a:ext cx="581100" cy="365700"/>
          </a:xfrm>
          <a:prstGeom prst="rect">
            <a:avLst/>
          </a:prstGeom>
          <a:noFill/>
          <a:ln>
            <a:noFill/>
          </a:ln>
        </p:spPr>
        <p:txBody>
          <a:bodyPr spcFirstLastPara="1" wrap="square" lIns="83250" tIns="41625" rIns="83250" bIns="41625" anchor="t" anchorCtr="0">
            <a:noAutofit/>
          </a:bodyPr>
          <a:lstStyle/>
          <a:p>
            <a:pPr marL="0" marR="0" lvl="0" indent="0" algn="l" rtl="0">
              <a:lnSpc>
                <a:spcPct val="100000"/>
              </a:lnSpc>
              <a:spcBef>
                <a:spcPts val="0"/>
              </a:spcBef>
              <a:spcAft>
                <a:spcPts val="0"/>
              </a:spcAft>
              <a:buNone/>
            </a:pPr>
            <a:r>
              <a:rPr lang="en-US" sz="1850" b="0" i="0" u="none" strike="noStrike" cap="none">
                <a:solidFill>
                  <a:srgbClr val="000000"/>
                </a:solidFill>
                <a:latin typeface="Times New Roman"/>
                <a:ea typeface="Times New Roman"/>
                <a:cs typeface="Times New Roman"/>
                <a:sym typeface="Times New Roman"/>
              </a:rPr>
              <a:t>.914</a:t>
            </a:r>
            <a:endParaRPr sz="1295"/>
          </a:p>
        </p:txBody>
      </p:sp>
      <p:sp>
        <p:nvSpPr>
          <p:cNvPr id="267" name="Google Shape;267;g3bb5fbf5691_0_233"/>
          <p:cNvSpPr/>
          <p:nvPr/>
        </p:nvSpPr>
        <p:spPr>
          <a:xfrm>
            <a:off x="4598821" y="4055826"/>
            <a:ext cx="581100" cy="365700"/>
          </a:xfrm>
          <a:prstGeom prst="rect">
            <a:avLst/>
          </a:prstGeom>
          <a:noFill/>
          <a:ln>
            <a:noFill/>
          </a:ln>
        </p:spPr>
        <p:txBody>
          <a:bodyPr spcFirstLastPara="1" wrap="square" lIns="83250" tIns="41625" rIns="83250" bIns="41625" anchor="t" anchorCtr="0">
            <a:noAutofit/>
          </a:bodyPr>
          <a:lstStyle/>
          <a:p>
            <a:pPr marL="0" marR="0" lvl="0" indent="0" algn="l" rtl="0">
              <a:lnSpc>
                <a:spcPct val="100000"/>
              </a:lnSpc>
              <a:spcBef>
                <a:spcPts val="0"/>
              </a:spcBef>
              <a:spcAft>
                <a:spcPts val="0"/>
              </a:spcAft>
              <a:buNone/>
            </a:pPr>
            <a:r>
              <a:rPr lang="en-US" sz="1850" b="0" i="0" u="none" strike="noStrike" cap="none">
                <a:solidFill>
                  <a:srgbClr val="000000"/>
                </a:solidFill>
                <a:latin typeface="Times New Roman"/>
                <a:ea typeface="Times New Roman"/>
                <a:cs typeface="Times New Roman"/>
                <a:sym typeface="Times New Roman"/>
              </a:rPr>
              <a:t>.914</a:t>
            </a:r>
            <a:endParaRPr sz="1295"/>
          </a:p>
        </p:txBody>
      </p:sp>
      <p:sp>
        <p:nvSpPr>
          <p:cNvPr id="268" name="Google Shape;268;g3bb5fbf5691_0_233"/>
          <p:cNvSpPr/>
          <p:nvPr/>
        </p:nvSpPr>
        <p:spPr>
          <a:xfrm>
            <a:off x="4598821" y="3421425"/>
            <a:ext cx="469200" cy="365700"/>
          </a:xfrm>
          <a:prstGeom prst="rect">
            <a:avLst/>
          </a:prstGeom>
          <a:noFill/>
          <a:ln>
            <a:noFill/>
          </a:ln>
        </p:spPr>
        <p:txBody>
          <a:bodyPr spcFirstLastPara="1" wrap="square" lIns="83250" tIns="41625" rIns="83250" bIns="41625" anchor="t" anchorCtr="0">
            <a:noAutofit/>
          </a:bodyPr>
          <a:lstStyle/>
          <a:p>
            <a:pPr marL="0" marR="0" lvl="0" indent="0" algn="l" rtl="0">
              <a:lnSpc>
                <a:spcPct val="100000"/>
              </a:lnSpc>
              <a:spcBef>
                <a:spcPts val="0"/>
              </a:spcBef>
              <a:spcAft>
                <a:spcPts val="0"/>
              </a:spcAft>
              <a:buNone/>
            </a:pPr>
            <a:r>
              <a:rPr lang="en-US" sz="1850" b="0" i="0" u="none" strike="noStrike" cap="none">
                <a:solidFill>
                  <a:srgbClr val="000000"/>
                </a:solidFill>
                <a:latin typeface="Times New Roman"/>
                <a:ea typeface="Times New Roman"/>
                <a:cs typeface="Times New Roman"/>
                <a:sym typeface="Times New Roman"/>
              </a:rPr>
              <a:t>1/8</a:t>
            </a:r>
            <a:endParaRPr sz="1295"/>
          </a:p>
        </p:txBody>
      </p:sp>
      <p:sp>
        <p:nvSpPr>
          <p:cNvPr id="269" name="Google Shape;269;g3bb5fbf5691_0_233"/>
          <p:cNvSpPr/>
          <p:nvPr/>
        </p:nvSpPr>
        <p:spPr>
          <a:xfrm>
            <a:off x="5303823" y="4055826"/>
            <a:ext cx="469200" cy="365700"/>
          </a:xfrm>
          <a:prstGeom prst="rect">
            <a:avLst/>
          </a:prstGeom>
          <a:noFill/>
          <a:ln>
            <a:noFill/>
          </a:ln>
        </p:spPr>
        <p:txBody>
          <a:bodyPr spcFirstLastPara="1" wrap="square" lIns="83250" tIns="41625" rIns="83250" bIns="41625" anchor="t" anchorCtr="0">
            <a:noAutofit/>
          </a:bodyPr>
          <a:lstStyle/>
          <a:p>
            <a:pPr marL="0" marR="0" lvl="0" indent="0" algn="l" rtl="0">
              <a:lnSpc>
                <a:spcPct val="100000"/>
              </a:lnSpc>
              <a:spcBef>
                <a:spcPts val="0"/>
              </a:spcBef>
              <a:spcAft>
                <a:spcPts val="0"/>
              </a:spcAft>
              <a:buNone/>
            </a:pPr>
            <a:r>
              <a:rPr lang="en-US" sz="1850" b="0" i="0" u="none" strike="noStrike" cap="none">
                <a:solidFill>
                  <a:srgbClr val="000000"/>
                </a:solidFill>
                <a:latin typeface="Times New Roman"/>
                <a:ea typeface="Times New Roman"/>
                <a:cs typeface="Times New Roman"/>
                <a:sym typeface="Times New Roman"/>
              </a:rPr>
              <a:t>1/8</a:t>
            </a:r>
            <a:endParaRPr sz="1295"/>
          </a:p>
        </p:txBody>
      </p:sp>
      <p:sp>
        <p:nvSpPr>
          <p:cNvPr id="270" name="Google Shape;270;g3bb5fbf5691_0_233"/>
          <p:cNvSpPr/>
          <p:nvPr/>
        </p:nvSpPr>
        <p:spPr>
          <a:xfrm>
            <a:off x="4175886" y="5254028"/>
            <a:ext cx="634200" cy="365700"/>
          </a:xfrm>
          <a:prstGeom prst="rect">
            <a:avLst/>
          </a:prstGeom>
          <a:noFill/>
          <a:ln>
            <a:noFill/>
          </a:ln>
        </p:spPr>
        <p:txBody>
          <a:bodyPr spcFirstLastPara="1" wrap="square" lIns="83250" tIns="41625" rIns="83250" bIns="41625" anchor="t" anchorCtr="0">
            <a:noAutofit/>
          </a:bodyPr>
          <a:lstStyle/>
          <a:p>
            <a:pPr marL="0" marR="0" lvl="0" indent="0" algn="l" rtl="0">
              <a:lnSpc>
                <a:spcPct val="100000"/>
              </a:lnSpc>
              <a:spcBef>
                <a:spcPts val="0"/>
              </a:spcBef>
              <a:spcAft>
                <a:spcPts val="0"/>
              </a:spcAft>
              <a:buNone/>
            </a:pPr>
            <a:r>
              <a:rPr lang="en-US" sz="1850" b="0" i="0" u="none" strike="noStrike" cap="none">
                <a:solidFill>
                  <a:srgbClr val="000000"/>
                </a:solidFill>
                <a:latin typeface="Times New Roman"/>
                <a:ea typeface="Times New Roman"/>
                <a:cs typeface="Times New Roman"/>
                <a:sym typeface="Times New Roman"/>
              </a:rPr>
              <a:t>1/4</a:t>
            </a:r>
            <a:endParaRPr sz="1295"/>
          </a:p>
        </p:txBody>
      </p:sp>
      <p:sp>
        <p:nvSpPr>
          <p:cNvPr id="271" name="Google Shape;271;g3bb5fbf5691_0_233"/>
          <p:cNvSpPr/>
          <p:nvPr/>
        </p:nvSpPr>
        <p:spPr>
          <a:xfrm>
            <a:off x="4105286" y="3985226"/>
            <a:ext cx="469200" cy="365700"/>
          </a:xfrm>
          <a:prstGeom prst="rect">
            <a:avLst/>
          </a:prstGeom>
          <a:noFill/>
          <a:ln>
            <a:noFill/>
          </a:ln>
        </p:spPr>
        <p:txBody>
          <a:bodyPr spcFirstLastPara="1" wrap="square" lIns="83250" tIns="41625" rIns="83250" bIns="41625" anchor="t" anchorCtr="0">
            <a:noAutofit/>
          </a:bodyPr>
          <a:lstStyle/>
          <a:p>
            <a:pPr marL="0" marR="0" lvl="0" indent="0" algn="l" rtl="0">
              <a:lnSpc>
                <a:spcPct val="100000"/>
              </a:lnSpc>
              <a:spcBef>
                <a:spcPts val="0"/>
              </a:spcBef>
              <a:spcAft>
                <a:spcPts val="0"/>
              </a:spcAft>
              <a:buNone/>
            </a:pPr>
            <a:r>
              <a:rPr lang="en-US" sz="1850" b="0" i="0" u="none" strike="noStrike" cap="none">
                <a:solidFill>
                  <a:srgbClr val="000000"/>
                </a:solidFill>
                <a:latin typeface="Times New Roman"/>
                <a:ea typeface="Times New Roman"/>
                <a:cs typeface="Times New Roman"/>
                <a:sym typeface="Times New Roman"/>
              </a:rPr>
              <a:t>1/4</a:t>
            </a:r>
            <a:endParaRPr sz="1295"/>
          </a:p>
        </p:txBody>
      </p:sp>
      <p:sp>
        <p:nvSpPr>
          <p:cNvPr id="272" name="Google Shape;272;g3bb5fbf5691_0_233"/>
          <p:cNvSpPr/>
          <p:nvPr/>
        </p:nvSpPr>
        <p:spPr>
          <a:xfrm>
            <a:off x="3470884" y="4549360"/>
            <a:ext cx="469200" cy="365700"/>
          </a:xfrm>
          <a:prstGeom prst="rect">
            <a:avLst/>
          </a:prstGeom>
          <a:noFill/>
          <a:ln>
            <a:noFill/>
          </a:ln>
        </p:spPr>
        <p:txBody>
          <a:bodyPr spcFirstLastPara="1" wrap="square" lIns="83250" tIns="41625" rIns="83250" bIns="41625" anchor="t" anchorCtr="0">
            <a:noAutofit/>
          </a:bodyPr>
          <a:lstStyle/>
          <a:p>
            <a:pPr marL="0" marR="0" lvl="0" indent="0" algn="l" rtl="0">
              <a:lnSpc>
                <a:spcPct val="100000"/>
              </a:lnSpc>
              <a:spcBef>
                <a:spcPts val="0"/>
              </a:spcBef>
              <a:spcAft>
                <a:spcPts val="0"/>
              </a:spcAft>
              <a:buNone/>
            </a:pPr>
            <a:r>
              <a:rPr lang="en-US" sz="1850" b="0" i="0" u="none" strike="noStrike" cap="none">
                <a:solidFill>
                  <a:srgbClr val="000000"/>
                </a:solidFill>
                <a:latin typeface="Times New Roman"/>
                <a:ea typeface="Times New Roman"/>
                <a:cs typeface="Times New Roman"/>
                <a:sym typeface="Times New Roman"/>
              </a:rPr>
              <a:t>1/4</a:t>
            </a:r>
            <a:endParaRPr sz="1295"/>
          </a:p>
        </p:txBody>
      </p:sp>
      <p:sp>
        <p:nvSpPr>
          <p:cNvPr id="273" name="Google Shape;273;g3bb5fbf5691_0_233"/>
          <p:cNvSpPr/>
          <p:nvPr/>
        </p:nvSpPr>
        <p:spPr>
          <a:xfrm>
            <a:off x="4739688" y="4690227"/>
            <a:ext cx="469200" cy="365700"/>
          </a:xfrm>
          <a:prstGeom prst="rect">
            <a:avLst/>
          </a:prstGeom>
          <a:noFill/>
          <a:ln>
            <a:noFill/>
          </a:ln>
        </p:spPr>
        <p:txBody>
          <a:bodyPr spcFirstLastPara="1" wrap="square" lIns="83250" tIns="41625" rIns="83250" bIns="41625" anchor="t" anchorCtr="0">
            <a:noAutofit/>
          </a:bodyPr>
          <a:lstStyle/>
          <a:p>
            <a:pPr marL="0" marR="0" lvl="0" indent="0" algn="l" rtl="0">
              <a:lnSpc>
                <a:spcPct val="100000"/>
              </a:lnSpc>
              <a:spcBef>
                <a:spcPts val="0"/>
              </a:spcBef>
              <a:spcAft>
                <a:spcPts val="0"/>
              </a:spcAft>
              <a:buNone/>
            </a:pPr>
            <a:r>
              <a:rPr lang="en-US" sz="1850" b="0" i="0" u="none" strike="noStrike" cap="none">
                <a:solidFill>
                  <a:srgbClr val="000000"/>
                </a:solidFill>
                <a:latin typeface="Times New Roman"/>
                <a:ea typeface="Times New Roman"/>
                <a:cs typeface="Times New Roman"/>
                <a:sym typeface="Times New Roman"/>
              </a:rPr>
              <a:t>1/4</a:t>
            </a:r>
            <a:endParaRPr sz="1295"/>
          </a:p>
        </p:txBody>
      </p:sp>
      <p:sp>
        <p:nvSpPr>
          <p:cNvPr id="274" name="Google Shape;274;g3bb5fbf5691_0_233"/>
          <p:cNvSpPr/>
          <p:nvPr/>
        </p:nvSpPr>
        <p:spPr>
          <a:xfrm>
            <a:off x="3137199" y="4619627"/>
            <a:ext cx="273300" cy="337500"/>
          </a:xfrm>
          <a:prstGeom prst="rect">
            <a:avLst/>
          </a:prstGeom>
          <a:noFill/>
          <a:ln>
            <a:noFill/>
          </a:ln>
        </p:spPr>
        <p:txBody>
          <a:bodyPr spcFirstLastPara="1" wrap="square" lIns="83250" tIns="41625" rIns="83250" bIns="41625" anchor="t" anchorCtr="0">
            <a:noAutofit/>
          </a:bodyPr>
          <a:lstStyle/>
          <a:p>
            <a:pPr marL="0" marR="0" lvl="0" indent="0" algn="l" rtl="0">
              <a:lnSpc>
                <a:spcPct val="100000"/>
              </a:lnSpc>
              <a:spcBef>
                <a:spcPts val="0"/>
              </a:spcBef>
              <a:spcAft>
                <a:spcPts val="0"/>
              </a:spcAft>
              <a:buNone/>
            </a:pPr>
            <a:r>
              <a:rPr lang="en-US" sz="1665" b="0" i="0" u="none" strike="noStrike" cap="none">
                <a:solidFill>
                  <a:srgbClr val="000000"/>
                </a:solidFill>
                <a:latin typeface="Times New Roman"/>
                <a:ea typeface="Times New Roman"/>
                <a:cs typeface="Times New Roman"/>
                <a:sym typeface="Times New Roman"/>
              </a:rPr>
              <a:t>0</a:t>
            </a:r>
            <a:endParaRPr sz="1295"/>
          </a:p>
        </p:txBody>
      </p:sp>
      <p:sp>
        <p:nvSpPr>
          <p:cNvPr id="275" name="Google Shape;275;g3bb5fbf5691_0_233"/>
          <p:cNvSpPr/>
          <p:nvPr/>
        </p:nvSpPr>
        <p:spPr>
          <a:xfrm>
            <a:off x="5322472" y="4619627"/>
            <a:ext cx="273300" cy="337500"/>
          </a:xfrm>
          <a:prstGeom prst="rect">
            <a:avLst/>
          </a:prstGeom>
          <a:noFill/>
          <a:ln>
            <a:noFill/>
          </a:ln>
        </p:spPr>
        <p:txBody>
          <a:bodyPr spcFirstLastPara="1" wrap="square" lIns="83250" tIns="41625" rIns="83250" bIns="41625" anchor="t" anchorCtr="0">
            <a:noAutofit/>
          </a:bodyPr>
          <a:lstStyle/>
          <a:p>
            <a:pPr marL="0" marR="0" lvl="0" indent="0" algn="l" rtl="0">
              <a:lnSpc>
                <a:spcPct val="100000"/>
              </a:lnSpc>
              <a:spcBef>
                <a:spcPts val="0"/>
              </a:spcBef>
              <a:spcAft>
                <a:spcPts val="0"/>
              </a:spcAft>
              <a:buNone/>
            </a:pPr>
            <a:r>
              <a:rPr lang="en-US" sz="1665" b="0" i="0" u="none" strike="noStrike" cap="none">
                <a:solidFill>
                  <a:srgbClr val="000000"/>
                </a:solidFill>
                <a:latin typeface="Times New Roman"/>
                <a:ea typeface="Times New Roman"/>
                <a:cs typeface="Times New Roman"/>
                <a:sym typeface="Times New Roman"/>
              </a:rPr>
              <a:t>0</a:t>
            </a:r>
            <a:endParaRPr sz="1295"/>
          </a:p>
        </p:txBody>
      </p:sp>
      <p:sp>
        <p:nvSpPr>
          <p:cNvPr id="276" name="Google Shape;276;g3bb5fbf5691_0_233"/>
          <p:cNvSpPr/>
          <p:nvPr/>
        </p:nvSpPr>
        <p:spPr>
          <a:xfrm>
            <a:off x="5322472" y="5183761"/>
            <a:ext cx="273300" cy="337500"/>
          </a:xfrm>
          <a:prstGeom prst="rect">
            <a:avLst/>
          </a:prstGeom>
          <a:noFill/>
          <a:ln>
            <a:noFill/>
          </a:ln>
        </p:spPr>
        <p:txBody>
          <a:bodyPr spcFirstLastPara="1" wrap="square" lIns="83250" tIns="41625" rIns="83250" bIns="41625" anchor="t" anchorCtr="0">
            <a:noAutofit/>
          </a:bodyPr>
          <a:lstStyle/>
          <a:p>
            <a:pPr marL="0" marR="0" lvl="0" indent="0" algn="l" rtl="0">
              <a:lnSpc>
                <a:spcPct val="100000"/>
              </a:lnSpc>
              <a:spcBef>
                <a:spcPts val="0"/>
              </a:spcBef>
              <a:spcAft>
                <a:spcPts val="0"/>
              </a:spcAft>
              <a:buNone/>
            </a:pPr>
            <a:r>
              <a:rPr lang="en-US" sz="1665" b="0" i="0" u="none" strike="noStrike" cap="none">
                <a:solidFill>
                  <a:srgbClr val="000000"/>
                </a:solidFill>
                <a:latin typeface="Times New Roman"/>
                <a:ea typeface="Times New Roman"/>
                <a:cs typeface="Times New Roman"/>
                <a:sym typeface="Times New Roman"/>
              </a:rPr>
              <a:t>0</a:t>
            </a:r>
            <a:endParaRPr sz="1295"/>
          </a:p>
        </p:txBody>
      </p:sp>
      <p:sp>
        <p:nvSpPr>
          <p:cNvPr id="277" name="Google Shape;277;g3bb5fbf5691_0_233"/>
          <p:cNvSpPr/>
          <p:nvPr/>
        </p:nvSpPr>
        <p:spPr>
          <a:xfrm>
            <a:off x="4828937" y="5183761"/>
            <a:ext cx="273300" cy="337500"/>
          </a:xfrm>
          <a:prstGeom prst="rect">
            <a:avLst/>
          </a:prstGeom>
          <a:noFill/>
          <a:ln>
            <a:noFill/>
          </a:ln>
        </p:spPr>
        <p:txBody>
          <a:bodyPr spcFirstLastPara="1" wrap="square" lIns="83250" tIns="41625" rIns="83250" bIns="41625" anchor="t" anchorCtr="0">
            <a:noAutofit/>
          </a:bodyPr>
          <a:lstStyle/>
          <a:p>
            <a:pPr marL="0" marR="0" lvl="0" indent="0" algn="l" rtl="0">
              <a:lnSpc>
                <a:spcPct val="100000"/>
              </a:lnSpc>
              <a:spcBef>
                <a:spcPts val="0"/>
              </a:spcBef>
              <a:spcAft>
                <a:spcPts val="0"/>
              </a:spcAft>
              <a:buNone/>
            </a:pPr>
            <a:r>
              <a:rPr lang="en-US" sz="1665" b="0" i="0" u="none" strike="noStrike" cap="none">
                <a:solidFill>
                  <a:srgbClr val="000000"/>
                </a:solidFill>
                <a:latin typeface="Times New Roman"/>
                <a:ea typeface="Times New Roman"/>
                <a:cs typeface="Times New Roman"/>
                <a:sym typeface="Times New Roman"/>
              </a:rPr>
              <a:t>0</a:t>
            </a:r>
            <a:endParaRPr sz="1295"/>
          </a:p>
        </p:txBody>
      </p:sp>
      <p:sp>
        <p:nvSpPr>
          <p:cNvPr id="278" name="Google Shape;278;g3bb5fbf5691_0_233"/>
          <p:cNvSpPr/>
          <p:nvPr/>
        </p:nvSpPr>
        <p:spPr>
          <a:xfrm>
            <a:off x="5322472" y="5747561"/>
            <a:ext cx="273300" cy="337500"/>
          </a:xfrm>
          <a:prstGeom prst="rect">
            <a:avLst/>
          </a:prstGeom>
          <a:noFill/>
          <a:ln>
            <a:noFill/>
          </a:ln>
        </p:spPr>
        <p:txBody>
          <a:bodyPr spcFirstLastPara="1" wrap="square" lIns="83250" tIns="41625" rIns="83250" bIns="41625" anchor="t" anchorCtr="0">
            <a:noAutofit/>
          </a:bodyPr>
          <a:lstStyle/>
          <a:p>
            <a:pPr marL="0" marR="0" lvl="0" indent="0" algn="l" rtl="0">
              <a:lnSpc>
                <a:spcPct val="100000"/>
              </a:lnSpc>
              <a:spcBef>
                <a:spcPts val="0"/>
              </a:spcBef>
              <a:spcAft>
                <a:spcPts val="0"/>
              </a:spcAft>
              <a:buNone/>
            </a:pPr>
            <a:r>
              <a:rPr lang="en-US" sz="1665" b="0" i="0" u="none" strike="noStrike" cap="none">
                <a:solidFill>
                  <a:srgbClr val="000000"/>
                </a:solidFill>
                <a:latin typeface="Times New Roman"/>
                <a:ea typeface="Times New Roman"/>
                <a:cs typeface="Times New Roman"/>
                <a:sym typeface="Times New Roman"/>
              </a:rPr>
              <a:t>0</a:t>
            </a:r>
            <a:endParaRPr sz="1295"/>
          </a:p>
        </p:txBody>
      </p:sp>
      <p:sp>
        <p:nvSpPr>
          <p:cNvPr id="279" name="Google Shape;279;g3bb5fbf5691_0_233"/>
          <p:cNvSpPr/>
          <p:nvPr/>
        </p:nvSpPr>
        <p:spPr>
          <a:xfrm>
            <a:off x="4828937" y="5747561"/>
            <a:ext cx="273300" cy="337500"/>
          </a:xfrm>
          <a:prstGeom prst="rect">
            <a:avLst/>
          </a:prstGeom>
          <a:noFill/>
          <a:ln>
            <a:noFill/>
          </a:ln>
        </p:spPr>
        <p:txBody>
          <a:bodyPr spcFirstLastPara="1" wrap="square" lIns="83250" tIns="41625" rIns="83250" bIns="41625" anchor="t" anchorCtr="0">
            <a:noAutofit/>
          </a:bodyPr>
          <a:lstStyle/>
          <a:p>
            <a:pPr marL="0" marR="0" lvl="0" indent="0" algn="l" rtl="0">
              <a:lnSpc>
                <a:spcPct val="100000"/>
              </a:lnSpc>
              <a:spcBef>
                <a:spcPts val="0"/>
              </a:spcBef>
              <a:spcAft>
                <a:spcPts val="0"/>
              </a:spcAft>
              <a:buNone/>
            </a:pPr>
            <a:r>
              <a:rPr lang="en-US" sz="1665" b="0" i="0" u="none" strike="noStrike" cap="none">
                <a:solidFill>
                  <a:srgbClr val="000000"/>
                </a:solidFill>
                <a:latin typeface="Times New Roman"/>
                <a:ea typeface="Times New Roman"/>
                <a:cs typeface="Times New Roman"/>
                <a:sym typeface="Times New Roman"/>
              </a:rPr>
              <a:t>0</a:t>
            </a:r>
            <a:endParaRPr sz="1295"/>
          </a:p>
        </p:txBody>
      </p:sp>
      <p:sp>
        <p:nvSpPr>
          <p:cNvPr id="280" name="Google Shape;280;g3bb5fbf5691_0_233"/>
          <p:cNvSpPr/>
          <p:nvPr/>
        </p:nvSpPr>
        <p:spPr>
          <a:xfrm>
            <a:off x="4265135" y="5747561"/>
            <a:ext cx="273300" cy="337500"/>
          </a:xfrm>
          <a:prstGeom prst="rect">
            <a:avLst/>
          </a:prstGeom>
          <a:noFill/>
          <a:ln>
            <a:noFill/>
          </a:ln>
        </p:spPr>
        <p:txBody>
          <a:bodyPr spcFirstLastPara="1" wrap="square" lIns="83250" tIns="41625" rIns="83250" bIns="41625" anchor="t" anchorCtr="0">
            <a:noAutofit/>
          </a:bodyPr>
          <a:lstStyle/>
          <a:p>
            <a:pPr marL="0" marR="0" lvl="0" indent="0" algn="l" rtl="0">
              <a:lnSpc>
                <a:spcPct val="100000"/>
              </a:lnSpc>
              <a:spcBef>
                <a:spcPts val="0"/>
              </a:spcBef>
              <a:spcAft>
                <a:spcPts val="0"/>
              </a:spcAft>
              <a:buNone/>
            </a:pPr>
            <a:r>
              <a:rPr lang="en-US" sz="1665" b="0" i="0" u="none" strike="noStrike" cap="none">
                <a:solidFill>
                  <a:srgbClr val="000000"/>
                </a:solidFill>
                <a:latin typeface="Times New Roman"/>
                <a:ea typeface="Times New Roman"/>
                <a:cs typeface="Times New Roman"/>
                <a:sym typeface="Times New Roman"/>
              </a:rPr>
              <a:t>0</a:t>
            </a:r>
            <a:endParaRPr sz="1295"/>
          </a:p>
        </p:txBody>
      </p:sp>
      <p:sp>
        <p:nvSpPr>
          <p:cNvPr id="281" name="Google Shape;281;g3bb5fbf5691_0_233"/>
          <p:cNvSpPr/>
          <p:nvPr/>
        </p:nvSpPr>
        <p:spPr>
          <a:xfrm>
            <a:off x="3122546" y="5715259"/>
            <a:ext cx="273300" cy="337500"/>
          </a:xfrm>
          <a:prstGeom prst="rect">
            <a:avLst/>
          </a:prstGeom>
          <a:noFill/>
          <a:ln>
            <a:noFill/>
          </a:ln>
        </p:spPr>
        <p:txBody>
          <a:bodyPr spcFirstLastPara="1" wrap="square" lIns="83250" tIns="41625" rIns="83250" bIns="41625" anchor="t" anchorCtr="0">
            <a:noAutofit/>
          </a:bodyPr>
          <a:lstStyle/>
          <a:p>
            <a:pPr marL="0" marR="0" lvl="0" indent="0" algn="l" rtl="0">
              <a:lnSpc>
                <a:spcPct val="100000"/>
              </a:lnSpc>
              <a:spcBef>
                <a:spcPts val="0"/>
              </a:spcBef>
              <a:spcAft>
                <a:spcPts val="0"/>
              </a:spcAft>
              <a:buNone/>
            </a:pPr>
            <a:r>
              <a:rPr lang="en-US" sz="1665" b="0" i="0" u="none" strike="noStrike" cap="none">
                <a:solidFill>
                  <a:srgbClr val="000000"/>
                </a:solidFill>
                <a:latin typeface="Times New Roman"/>
                <a:ea typeface="Times New Roman"/>
                <a:cs typeface="Times New Roman"/>
                <a:sym typeface="Times New Roman"/>
              </a:rPr>
              <a:t>0</a:t>
            </a:r>
            <a:endParaRPr sz="1295"/>
          </a:p>
        </p:txBody>
      </p:sp>
      <p:sp>
        <p:nvSpPr>
          <p:cNvPr id="282" name="Google Shape;282;g3bb5fbf5691_0_233"/>
          <p:cNvSpPr/>
          <p:nvPr/>
        </p:nvSpPr>
        <p:spPr>
          <a:xfrm>
            <a:off x="3137199" y="4055826"/>
            <a:ext cx="273300" cy="337500"/>
          </a:xfrm>
          <a:prstGeom prst="rect">
            <a:avLst/>
          </a:prstGeom>
          <a:noFill/>
          <a:ln>
            <a:noFill/>
          </a:ln>
        </p:spPr>
        <p:txBody>
          <a:bodyPr spcFirstLastPara="1" wrap="square" lIns="83250" tIns="41625" rIns="83250" bIns="41625" anchor="t" anchorCtr="0">
            <a:noAutofit/>
          </a:bodyPr>
          <a:lstStyle/>
          <a:p>
            <a:pPr marL="0" marR="0" lvl="0" indent="0" algn="l" rtl="0">
              <a:lnSpc>
                <a:spcPct val="100000"/>
              </a:lnSpc>
              <a:spcBef>
                <a:spcPts val="0"/>
              </a:spcBef>
              <a:spcAft>
                <a:spcPts val="0"/>
              </a:spcAft>
              <a:buNone/>
            </a:pPr>
            <a:r>
              <a:rPr lang="en-US" sz="1665" b="0" i="0" u="none" strike="noStrike" cap="none">
                <a:solidFill>
                  <a:srgbClr val="000000"/>
                </a:solidFill>
                <a:latin typeface="Times New Roman"/>
                <a:ea typeface="Times New Roman"/>
                <a:cs typeface="Times New Roman"/>
                <a:sym typeface="Times New Roman"/>
              </a:rPr>
              <a:t>0</a:t>
            </a:r>
            <a:endParaRPr sz="1295"/>
          </a:p>
        </p:txBody>
      </p:sp>
      <p:sp>
        <p:nvSpPr>
          <p:cNvPr id="283" name="Google Shape;283;g3bb5fbf5691_0_233"/>
          <p:cNvSpPr/>
          <p:nvPr/>
        </p:nvSpPr>
        <p:spPr>
          <a:xfrm>
            <a:off x="3137199" y="3492025"/>
            <a:ext cx="273300" cy="337500"/>
          </a:xfrm>
          <a:prstGeom prst="rect">
            <a:avLst/>
          </a:prstGeom>
          <a:noFill/>
          <a:ln>
            <a:noFill/>
          </a:ln>
        </p:spPr>
        <p:txBody>
          <a:bodyPr spcFirstLastPara="1" wrap="square" lIns="83250" tIns="41625" rIns="83250" bIns="41625" anchor="t" anchorCtr="0">
            <a:noAutofit/>
          </a:bodyPr>
          <a:lstStyle/>
          <a:p>
            <a:pPr marL="0" marR="0" lvl="0" indent="0" algn="l" rtl="0">
              <a:lnSpc>
                <a:spcPct val="100000"/>
              </a:lnSpc>
              <a:spcBef>
                <a:spcPts val="0"/>
              </a:spcBef>
              <a:spcAft>
                <a:spcPts val="0"/>
              </a:spcAft>
              <a:buNone/>
            </a:pPr>
            <a:r>
              <a:rPr lang="en-US" sz="1665" b="0" i="0" u="none" strike="noStrike" cap="none">
                <a:solidFill>
                  <a:srgbClr val="000000"/>
                </a:solidFill>
                <a:latin typeface="Times New Roman"/>
                <a:ea typeface="Times New Roman"/>
                <a:cs typeface="Times New Roman"/>
                <a:sym typeface="Times New Roman"/>
              </a:rPr>
              <a:t>0</a:t>
            </a:r>
            <a:endParaRPr sz="1295"/>
          </a:p>
        </p:txBody>
      </p:sp>
      <p:sp>
        <p:nvSpPr>
          <p:cNvPr id="284" name="Google Shape;284;g3bb5fbf5691_0_233"/>
          <p:cNvSpPr/>
          <p:nvPr/>
        </p:nvSpPr>
        <p:spPr>
          <a:xfrm>
            <a:off x="3701000" y="4055826"/>
            <a:ext cx="273300" cy="337500"/>
          </a:xfrm>
          <a:prstGeom prst="rect">
            <a:avLst/>
          </a:prstGeom>
          <a:noFill/>
          <a:ln>
            <a:noFill/>
          </a:ln>
        </p:spPr>
        <p:txBody>
          <a:bodyPr spcFirstLastPara="1" wrap="square" lIns="83250" tIns="41625" rIns="83250" bIns="41625" anchor="t" anchorCtr="0">
            <a:noAutofit/>
          </a:bodyPr>
          <a:lstStyle/>
          <a:p>
            <a:pPr marL="0" marR="0" lvl="0" indent="0" algn="l" rtl="0">
              <a:lnSpc>
                <a:spcPct val="100000"/>
              </a:lnSpc>
              <a:spcBef>
                <a:spcPts val="0"/>
              </a:spcBef>
              <a:spcAft>
                <a:spcPts val="0"/>
              </a:spcAft>
              <a:buNone/>
            </a:pPr>
            <a:r>
              <a:rPr lang="en-US" sz="1665" b="0" i="0" u="none" strike="noStrike" cap="none">
                <a:solidFill>
                  <a:srgbClr val="000000"/>
                </a:solidFill>
                <a:latin typeface="Times New Roman"/>
                <a:ea typeface="Times New Roman"/>
                <a:cs typeface="Times New Roman"/>
                <a:sym typeface="Times New Roman"/>
              </a:rPr>
              <a:t>0</a:t>
            </a:r>
            <a:endParaRPr sz="1295"/>
          </a:p>
        </p:txBody>
      </p:sp>
      <p:sp>
        <p:nvSpPr>
          <p:cNvPr id="285" name="Google Shape;285;g3bb5fbf5691_0_233"/>
          <p:cNvSpPr/>
          <p:nvPr/>
        </p:nvSpPr>
        <p:spPr>
          <a:xfrm>
            <a:off x="3701000" y="3492025"/>
            <a:ext cx="273300" cy="337500"/>
          </a:xfrm>
          <a:prstGeom prst="rect">
            <a:avLst/>
          </a:prstGeom>
          <a:noFill/>
          <a:ln>
            <a:noFill/>
          </a:ln>
        </p:spPr>
        <p:txBody>
          <a:bodyPr spcFirstLastPara="1" wrap="square" lIns="83250" tIns="41625" rIns="83250" bIns="41625" anchor="t" anchorCtr="0">
            <a:noAutofit/>
          </a:bodyPr>
          <a:lstStyle/>
          <a:p>
            <a:pPr marL="0" marR="0" lvl="0" indent="0" algn="l" rtl="0">
              <a:lnSpc>
                <a:spcPct val="100000"/>
              </a:lnSpc>
              <a:spcBef>
                <a:spcPts val="0"/>
              </a:spcBef>
              <a:spcAft>
                <a:spcPts val="0"/>
              </a:spcAft>
              <a:buNone/>
            </a:pPr>
            <a:r>
              <a:rPr lang="en-US" sz="1665" b="0" i="0" u="none" strike="noStrike" cap="none">
                <a:solidFill>
                  <a:srgbClr val="000000"/>
                </a:solidFill>
                <a:latin typeface="Times New Roman"/>
                <a:ea typeface="Times New Roman"/>
                <a:cs typeface="Times New Roman"/>
                <a:sym typeface="Times New Roman"/>
              </a:rPr>
              <a:t>0</a:t>
            </a:r>
            <a:endParaRPr sz="1295"/>
          </a:p>
        </p:txBody>
      </p:sp>
      <p:sp>
        <p:nvSpPr>
          <p:cNvPr id="286" name="Google Shape;286;g3bb5fbf5691_0_233"/>
          <p:cNvSpPr/>
          <p:nvPr/>
        </p:nvSpPr>
        <p:spPr>
          <a:xfrm>
            <a:off x="4194535" y="3492025"/>
            <a:ext cx="273300" cy="337500"/>
          </a:xfrm>
          <a:prstGeom prst="rect">
            <a:avLst/>
          </a:prstGeom>
          <a:noFill/>
          <a:ln>
            <a:noFill/>
          </a:ln>
        </p:spPr>
        <p:txBody>
          <a:bodyPr spcFirstLastPara="1" wrap="square" lIns="83250" tIns="41625" rIns="83250" bIns="41625" anchor="t" anchorCtr="0">
            <a:noAutofit/>
          </a:bodyPr>
          <a:lstStyle/>
          <a:p>
            <a:pPr marL="0" marR="0" lvl="0" indent="0" algn="l" rtl="0">
              <a:lnSpc>
                <a:spcPct val="100000"/>
              </a:lnSpc>
              <a:spcBef>
                <a:spcPts val="0"/>
              </a:spcBef>
              <a:spcAft>
                <a:spcPts val="0"/>
              </a:spcAft>
              <a:buNone/>
            </a:pPr>
            <a:r>
              <a:rPr lang="en-US" sz="1665" b="0" i="0" u="none" strike="noStrike" cap="none">
                <a:solidFill>
                  <a:srgbClr val="000000"/>
                </a:solidFill>
                <a:latin typeface="Times New Roman"/>
                <a:ea typeface="Times New Roman"/>
                <a:cs typeface="Times New Roman"/>
                <a:sym typeface="Times New Roman"/>
              </a:rPr>
              <a:t>0</a:t>
            </a:r>
            <a:endParaRPr sz="1295"/>
          </a:p>
        </p:txBody>
      </p:sp>
      <p:sp>
        <p:nvSpPr>
          <p:cNvPr id="287" name="Google Shape;287;g3bb5fbf5691_0_233"/>
          <p:cNvSpPr/>
          <p:nvPr/>
        </p:nvSpPr>
        <p:spPr>
          <a:xfrm>
            <a:off x="5392739" y="3492025"/>
            <a:ext cx="273300" cy="337500"/>
          </a:xfrm>
          <a:prstGeom prst="rect">
            <a:avLst/>
          </a:prstGeom>
          <a:noFill/>
          <a:ln>
            <a:noFill/>
          </a:ln>
        </p:spPr>
        <p:txBody>
          <a:bodyPr spcFirstLastPara="1" wrap="square" lIns="83250" tIns="41625" rIns="83250" bIns="41625" anchor="t" anchorCtr="0">
            <a:noAutofit/>
          </a:bodyPr>
          <a:lstStyle/>
          <a:p>
            <a:pPr marL="0" marR="0" lvl="0" indent="0" algn="l" rtl="0">
              <a:lnSpc>
                <a:spcPct val="100000"/>
              </a:lnSpc>
              <a:spcBef>
                <a:spcPts val="0"/>
              </a:spcBef>
              <a:spcAft>
                <a:spcPts val="0"/>
              </a:spcAft>
              <a:buNone/>
            </a:pPr>
            <a:r>
              <a:rPr lang="en-US" sz="1665" b="0" i="0" u="none" strike="noStrike" cap="none">
                <a:solidFill>
                  <a:srgbClr val="000000"/>
                </a:solidFill>
                <a:latin typeface="Times New Roman"/>
                <a:ea typeface="Times New Roman"/>
                <a:cs typeface="Times New Roman"/>
                <a:sym typeface="Times New Roman"/>
              </a:rPr>
              <a:t>0</a:t>
            </a:r>
            <a:endParaRPr sz="129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291"/>
        <p:cNvGrpSpPr/>
        <p:nvPr/>
      </p:nvGrpSpPr>
      <p:grpSpPr>
        <a:xfrm>
          <a:off x="0" y="0"/>
          <a:ext cx="0" cy="0"/>
          <a:chOff x="0" y="0"/>
          <a:chExt cx="0" cy="0"/>
        </a:xfrm>
      </p:grpSpPr>
      <p:sp>
        <p:nvSpPr>
          <p:cNvPr id="292" name="Google Shape;292;g3bbe9322812_0_20"/>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293" name="Google Shape;293;g3bbe9322812_0_20"/>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
        <p:nvSpPr>
          <p:cNvPr id="294" name="Google Shape;294;g3bbe9322812_0_20"/>
          <p:cNvSpPr txBox="1"/>
          <p:nvPr/>
        </p:nvSpPr>
        <p:spPr>
          <a:xfrm>
            <a:off x="363825" y="168125"/>
            <a:ext cx="7789500" cy="7695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Anti-Aliasing : Prefiltering</a:t>
            </a:r>
            <a:endParaRPr sz="3800">
              <a:solidFill>
                <a:schemeClr val="lt1"/>
              </a:solidFill>
              <a:latin typeface="Calibri"/>
              <a:ea typeface="Calibri"/>
              <a:cs typeface="Calibri"/>
              <a:sym typeface="Calibri"/>
            </a:endParaRPr>
          </a:p>
        </p:txBody>
      </p:sp>
      <p:pic>
        <p:nvPicPr>
          <p:cNvPr id="295" name="Google Shape;295;g3bbe9322812_0_20"/>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411"/>
              </a:srgbClr>
            </a:outerShdw>
          </a:effectLst>
        </p:spPr>
      </p:pic>
      <p:sp>
        <p:nvSpPr>
          <p:cNvPr id="296" name="Google Shape;296;g3bbe9322812_0_20"/>
          <p:cNvSpPr txBox="1"/>
          <p:nvPr/>
        </p:nvSpPr>
        <p:spPr>
          <a:xfrm>
            <a:off x="219525" y="1370725"/>
            <a:ext cx="5503200" cy="4266600"/>
          </a:xfrm>
          <a:prstGeom prst="rect">
            <a:avLst/>
          </a:prstGeom>
          <a:noFill/>
          <a:ln>
            <a:noFill/>
          </a:ln>
        </p:spPr>
        <p:txBody>
          <a:bodyPr spcFirstLastPara="1" wrap="square" lIns="91425" tIns="45700" rIns="91425" bIns="45700" anchor="t" anchorCtr="0">
            <a:noAutofit/>
          </a:bodyPr>
          <a:lstStyle/>
          <a:p>
            <a:pPr marL="457200" marR="0" lvl="0" indent="-355600" algn="just" rtl="0">
              <a:lnSpc>
                <a:spcPct val="100000"/>
              </a:lnSpc>
              <a:spcBef>
                <a:spcPts val="1000"/>
              </a:spcBef>
              <a:spcAft>
                <a:spcPts val="0"/>
              </a:spcAft>
              <a:buClr>
                <a:srgbClr val="0B5394"/>
              </a:buClr>
              <a:buSzPts val="2000"/>
              <a:buFont typeface="Calibri"/>
              <a:buChar char="■"/>
            </a:pPr>
            <a:r>
              <a:rPr lang="en-US" sz="2000" b="0" i="0" u="none" strike="noStrike" cap="none">
                <a:solidFill>
                  <a:srgbClr val="000000"/>
                </a:solidFill>
                <a:latin typeface="Calibri"/>
                <a:ea typeface="Calibri"/>
                <a:cs typeface="Calibri"/>
                <a:sym typeface="Calibri"/>
              </a:rPr>
              <a:t>Prefiltering methods treat a pixel as an area, and compute pixel color based on the overlap of the scene's objects with a pixel's area</a:t>
            </a:r>
            <a:r>
              <a:rPr lang="en-US" sz="2000">
                <a:latin typeface="Calibri"/>
                <a:ea typeface="Calibri"/>
                <a:cs typeface="Calibri"/>
                <a:sym typeface="Calibri"/>
              </a:rPr>
              <a:t>.</a:t>
            </a:r>
            <a:endParaRPr sz="2000">
              <a:latin typeface="Calibri"/>
              <a:ea typeface="Calibri"/>
              <a:cs typeface="Calibri"/>
              <a:sym typeface="Calibri"/>
            </a:endParaRPr>
          </a:p>
          <a:p>
            <a:pPr marL="457200" marR="0" lvl="0" indent="-355600" algn="just" rtl="0">
              <a:lnSpc>
                <a:spcPct val="100000"/>
              </a:lnSpc>
              <a:spcBef>
                <a:spcPts val="1000"/>
              </a:spcBef>
              <a:spcAft>
                <a:spcPts val="0"/>
              </a:spcAft>
              <a:buClr>
                <a:srgbClr val="0B5394"/>
              </a:buClr>
              <a:buSzPts val="2000"/>
              <a:buFont typeface="Calibri"/>
              <a:buChar char="■"/>
            </a:pPr>
            <a:r>
              <a:rPr lang="en-US" sz="2000" b="0" i="0" u="none" strike="noStrike" cap="none">
                <a:solidFill>
                  <a:srgbClr val="000000"/>
                </a:solidFill>
                <a:latin typeface="Calibri"/>
                <a:ea typeface="Calibri"/>
                <a:cs typeface="Calibri"/>
                <a:sym typeface="Calibri"/>
              </a:rPr>
              <a:t>A modification to Bresenham's algorithm was developed by Pitteway and Watkinson. In this algorithm, each pixel is given an intensity depending on the area of overlap of the pixel and the line. So, due to the blurring effect along the line edges, the effect of anti-aliasing is not very prominent, although it still exists.</a:t>
            </a:r>
            <a:endParaRPr sz="2000" b="0" i="0" u="none" strike="noStrike" cap="none">
              <a:solidFill>
                <a:srgbClr val="000000"/>
              </a:solidFill>
              <a:latin typeface="Calibri"/>
              <a:ea typeface="Calibri"/>
              <a:cs typeface="Calibri"/>
              <a:sym typeface="Calibri"/>
            </a:endParaRPr>
          </a:p>
          <a:p>
            <a:pPr marL="457200" marR="0" lvl="0" indent="-355600" algn="just" rtl="0">
              <a:lnSpc>
                <a:spcPct val="100000"/>
              </a:lnSpc>
              <a:spcBef>
                <a:spcPts val="1000"/>
              </a:spcBef>
              <a:spcAft>
                <a:spcPts val="0"/>
              </a:spcAft>
              <a:buClr>
                <a:srgbClr val="0B5394"/>
              </a:buClr>
              <a:buSzPts val="2000"/>
              <a:buFont typeface="Calibri"/>
              <a:buChar char="■"/>
            </a:pPr>
            <a:r>
              <a:rPr lang="en-US" sz="2000" b="0" i="0" u="none" strike="noStrike" cap="none">
                <a:solidFill>
                  <a:srgbClr val="000000"/>
                </a:solidFill>
                <a:latin typeface="Calibri"/>
                <a:ea typeface="Calibri"/>
                <a:cs typeface="Calibri"/>
                <a:sym typeface="Calibri"/>
              </a:rPr>
              <a:t>For sampling shapes other than polygons, this can be very computationally intensive.</a:t>
            </a:r>
            <a:endParaRPr/>
          </a:p>
          <a:p>
            <a:pPr marL="0" marR="0" lvl="0" indent="0" algn="ctr" rtl="0">
              <a:lnSpc>
                <a:spcPct val="100000"/>
              </a:lnSpc>
              <a:spcBef>
                <a:spcPts val="0"/>
              </a:spcBef>
              <a:spcAft>
                <a:spcPts val="0"/>
              </a:spcAft>
              <a:buNone/>
            </a:pPr>
            <a:r>
              <a:rPr lang="en-US" sz="2000" b="0" i="0" u="none" strike="noStrike" cap="none">
                <a:solidFill>
                  <a:srgbClr val="000000"/>
                </a:solidFill>
                <a:latin typeface="Calibri"/>
                <a:ea typeface="Calibri"/>
                <a:cs typeface="Calibri"/>
                <a:sym typeface="Calibri"/>
              </a:rPr>
              <a:t> </a:t>
            </a:r>
            <a:endParaRPr/>
          </a:p>
        </p:txBody>
      </p:sp>
      <p:pic>
        <p:nvPicPr>
          <p:cNvPr id="297" name="Google Shape;297;g3bbe9322812_0_20"/>
          <p:cNvPicPr preferRelativeResize="0"/>
          <p:nvPr/>
        </p:nvPicPr>
        <p:blipFill rotWithShape="1">
          <a:blip r:embed="rId4">
            <a:alphaModFix/>
          </a:blip>
          <a:srcRect/>
          <a:stretch/>
        </p:blipFill>
        <p:spPr>
          <a:xfrm>
            <a:off x="6048275" y="1926938"/>
            <a:ext cx="2744640" cy="289512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g3bd06ed8d76_0_165"/>
          <p:cNvSpPr/>
          <p:nvPr/>
        </p:nvSpPr>
        <p:spPr>
          <a:xfrm>
            <a:off x="0" y="4191120"/>
            <a:ext cx="3885900" cy="17364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800" b="1" i="0" u="none" strike="noStrike" cap="none">
                <a:solidFill>
                  <a:srgbClr val="000000"/>
                </a:solidFill>
                <a:latin typeface="Calibri"/>
                <a:ea typeface="Calibri"/>
                <a:cs typeface="Calibri"/>
                <a:sym typeface="Calibri"/>
              </a:rPr>
              <a:t>Original Image</a:t>
            </a:r>
            <a:endParaRPr/>
          </a:p>
          <a:p>
            <a:pPr marL="0" marR="0" lvl="0" indent="0" algn="l" rtl="0">
              <a:lnSpc>
                <a:spcPct val="100000"/>
              </a:lnSpc>
              <a:spcBef>
                <a:spcPts val="0"/>
              </a:spcBef>
              <a:spcAft>
                <a:spcPts val="0"/>
              </a:spcAft>
              <a:buNone/>
            </a:pPr>
            <a:br>
              <a:rPr lang="en-US" sz="1800" b="0" i="0" u="none" strike="noStrike" cap="none">
                <a:solidFill>
                  <a:srgbClr val="000000"/>
                </a:solidFill>
                <a:latin typeface="Calibri"/>
                <a:ea typeface="Calibri"/>
                <a:cs typeface="Calibri"/>
                <a:sym typeface="Calibri"/>
              </a:rPr>
            </a:br>
            <a:r>
              <a:rPr lang="en-US" sz="1800" b="0" i="0" u="none" strike="noStrike" cap="none">
                <a:solidFill>
                  <a:srgbClr val="000000"/>
                </a:solidFill>
                <a:latin typeface="Calibri"/>
                <a:ea typeface="Calibri"/>
                <a:cs typeface="Calibri"/>
                <a:sym typeface="Calibri"/>
              </a:rPr>
              <a:t>Without antialiasing, the jaggies are harshly evident.</a:t>
            </a:r>
            <a:endParaRPr/>
          </a:p>
          <a:p>
            <a:pPr marL="0" marR="0" lvl="0" indent="0" algn="l" rtl="0">
              <a:lnSpc>
                <a:spcPct val="100000"/>
              </a:lnSpc>
              <a:spcBef>
                <a:spcPts val="0"/>
              </a:spcBef>
              <a:spcAft>
                <a:spcPts val="0"/>
              </a:spcAft>
              <a:buNone/>
            </a:pPr>
            <a:br>
              <a:rPr lang="en-US" sz="1800" b="0" i="0" u="none" strike="noStrike" cap="none">
                <a:solidFill>
                  <a:srgbClr val="000000"/>
                </a:solidFill>
                <a:latin typeface="Calibri"/>
                <a:ea typeface="Calibri"/>
                <a:cs typeface="Calibri"/>
                <a:sym typeface="Calibri"/>
              </a:rPr>
            </a:br>
            <a:endParaRPr/>
          </a:p>
        </p:txBody>
      </p:sp>
      <p:pic>
        <p:nvPicPr>
          <p:cNvPr id="303" name="Google Shape;303;g3bd06ed8d76_0_165"/>
          <p:cNvPicPr preferRelativeResize="0"/>
          <p:nvPr/>
        </p:nvPicPr>
        <p:blipFill rotWithShape="1">
          <a:blip r:embed="rId3">
            <a:alphaModFix/>
          </a:blip>
          <a:srcRect/>
          <a:stretch/>
        </p:blipFill>
        <p:spPr>
          <a:xfrm>
            <a:off x="0" y="0"/>
            <a:ext cx="4723920" cy="4066920"/>
          </a:xfrm>
          <a:prstGeom prst="rect">
            <a:avLst/>
          </a:prstGeom>
          <a:noFill/>
          <a:ln>
            <a:noFill/>
          </a:ln>
        </p:spPr>
      </p:pic>
      <p:pic>
        <p:nvPicPr>
          <p:cNvPr id="304" name="Google Shape;304;g3bd06ed8d76_0_165"/>
          <p:cNvPicPr preferRelativeResize="0"/>
          <p:nvPr/>
        </p:nvPicPr>
        <p:blipFill rotWithShape="1">
          <a:blip r:embed="rId4">
            <a:alphaModFix/>
          </a:blip>
          <a:srcRect/>
          <a:stretch/>
        </p:blipFill>
        <p:spPr>
          <a:xfrm>
            <a:off x="4724280" y="0"/>
            <a:ext cx="4419360" cy="4066920"/>
          </a:xfrm>
          <a:prstGeom prst="rect">
            <a:avLst/>
          </a:prstGeom>
          <a:noFill/>
          <a:ln>
            <a:noFill/>
          </a:ln>
        </p:spPr>
      </p:pic>
      <p:sp>
        <p:nvSpPr>
          <p:cNvPr id="305" name="Google Shape;305;g3bd06ed8d76_0_165"/>
          <p:cNvSpPr/>
          <p:nvPr/>
        </p:nvSpPr>
        <p:spPr>
          <a:xfrm>
            <a:off x="4952880" y="4114800"/>
            <a:ext cx="4190700" cy="22842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800" b="1" i="0" u="none" strike="noStrike" cap="none">
                <a:solidFill>
                  <a:srgbClr val="000000"/>
                </a:solidFill>
                <a:latin typeface="Calibri"/>
                <a:ea typeface="Calibri"/>
                <a:cs typeface="Calibri"/>
                <a:sym typeface="Calibri"/>
              </a:rPr>
              <a:t>Prefiltered image</a:t>
            </a:r>
            <a:endParaRPr/>
          </a:p>
          <a:p>
            <a:pPr marL="0" marR="0" lvl="0" indent="0" algn="l" rtl="0">
              <a:lnSpc>
                <a:spcPct val="100000"/>
              </a:lnSpc>
              <a:spcBef>
                <a:spcPts val="0"/>
              </a:spcBef>
              <a:spcAft>
                <a:spcPts val="0"/>
              </a:spcAft>
              <a:buNone/>
            </a:pPr>
            <a:r>
              <a:rPr lang="en-US" sz="1800">
                <a:latin typeface="Calibri"/>
                <a:ea typeface="Calibri"/>
                <a:cs typeface="Calibri"/>
                <a:sym typeface="Calibri"/>
              </a:rPr>
              <a:t>Along</a:t>
            </a:r>
            <a:r>
              <a:rPr lang="en-US" sz="1800" b="0" i="0" u="none" strike="noStrike" cap="none">
                <a:solidFill>
                  <a:srgbClr val="000000"/>
                </a:solidFill>
                <a:latin typeface="Calibri"/>
                <a:ea typeface="Calibri"/>
                <a:cs typeface="Calibri"/>
                <a:sym typeface="Calibri"/>
              </a:rPr>
              <a:t> the character's border, the colors are a mixture of the foreground and background colors.</a:t>
            </a:r>
            <a:endParaRPr/>
          </a:p>
          <a:p>
            <a:pPr marL="0" marR="0" lvl="0" indent="0" algn="l" rtl="0">
              <a:lnSpc>
                <a:spcPct val="100000"/>
              </a:lnSpc>
              <a:spcBef>
                <a:spcPts val="0"/>
              </a:spcBef>
              <a:spcAft>
                <a:spcPts val="0"/>
              </a:spcAft>
              <a:buNone/>
            </a:pPr>
            <a:br>
              <a:rPr lang="en-US" sz="1800" b="0" i="0" u="none" strike="noStrike" cap="none">
                <a:solidFill>
                  <a:srgbClr val="000000"/>
                </a:solidFill>
                <a:latin typeface="Calibri"/>
                <a:ea typeface="Calibri"/>
                <a:cs typeface="Calibri"/>
                <a:sym typeface="Calibri"/>
              </a:rPr>
            </a:br>
            <a:endParaRPr/>
          </a:p>
        </p:txBody>
      </p:sp>
      <p:sp>
        <p:nvSpPr>
          <p:cNvPr id="306" name="Google Shape;306;g3bd06ed8d76_0_165"/>
          <p:cNvSpPr txBox="1"/>
          <p:nvPr/>
        </p:nvSpPr>
        <p:spPr>
          <a:xfrm>
            <a:off x="6553080" y="6356520"/>
            <a:ext cx="2133300" cy="364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rgbClr val="8B8B8B"/>
                </a:solidFill>
                <a:latin typeface="Calibri"/>
                <a:ea typeface="Calibri"/>
                <a:cs typeface="Calibri"/>
                <a:sym typeface="Calibri"/>
              </a:rPr>
              <a:t>14</a:t>
            </a:fld>
            <a:endParaRPr sz="1200" b="0" i="0" u="none" strike="noStrike" cap="none">
              <a:solidFill>
                <a:srgbClr val="8B8B8B"/>
              </a:solidFill>
              <a:latin typeface="Calibri"/>
              <a:ea typeface="Calibri"/>
              <a:cs typeface="Calibri"/>
              <a:sym typeface="Calibri"/>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310"/>
        <p:cNvGrpSpPr/>
        <p:nvPr/>
      </p:nvGrpSpPr>
      <p:grpSpPr>
        <a:xfrm>
          <a:off x="0" y="0"/>
          <a:ext cx="0" cy="0"/>
          <a:chOff x="0" y="0"/>
          <a:chExt cx="0" cy="0"/>
        </a:xfrm>
      </p:grpSpPr>
      <p:sp>
        <p:nvSpPr>
          <p:cNvPr id="311" name="Google Shape;311;g3bc93f8e738_0_202"/>
          <p:cNvSpPr txBox="1"/>
          <p:nvPr/>
        </p:nvSpPr>
        <p:spPr>
          <a:xfrm>
            <a:off x="3028950" y="645960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312" name="Google Shape;312;g3bc93f8e738_0_202"/>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
        <p:nvSpPr>
          <p:cNvPr id="313" name="Google Shape;313;g3bc93f8e738_0_202"/>
          <p:cNvSpPr txBox="1"/>
          <p:nvPr/>
        </p:nvSpPr>
        <p:spPr>
          <a:xfrm>
            <a:off x="363825" y="168125"/>
            <a:ext cx="7789500" cy="7542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700">
                <a:solidFill>
                  <a:schemeClr val="lt1"/>
                </a:solidFill>
                <a:latin typeface="Calibri"/>
                <a:ea typeface="Calibri"/>
                <a:cs typeface="Calibri"/>
                <a:sym typeface="Calibri"/>
              </a:rPr>
              <a:t>3. Anti-Aliasing : Postfiltering</a:t>
            </a:r>
            <a:endParaRPr sz="3700">
              <a:solidFill>
                <a:schemeClr val="lt1"/>
              </a:solidFill>
              <a:latin typeface="Calibri"/>
              <a:ea typeface="Calibri"/>
              <a:cs typeface="Calibri"/>
              <a:sym typeface="Calibri"/>
            </a:endParaRPr>
          </a:p>
        </p:txBody>
      </p:sp>
      <p:pic>
        <p:nvPicPr>
          <p:cNvPr id="314" name="Google Shape;314;g3bc93f8e738_0_202"/>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411"/>
              </a:srgbClr>
            </a:outerShdw>
          </a:effectLst>
        </p:spPr>
      </p:pic>
      <p:sp>
        <p:nvSpPr>
          <p:cNvPr id="315" name="Google Shape;315;g3bc93f8e738_0_202"/>
          <p:cNvSpPr txBox="1"/>
          <p:nvPr/>
        </p:nvSpPr>
        <p:spPr>
          <a:xfrm>
            <a:off x="408750" y="1144525"/>
            <a:ext cx="7993500" cy="51102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1400"/>
              <a:buFont typeface="Arial"/>
              <a:buNone/>
            </a:pPr>
            <a:r>
              <a:rPr lang="en-US" sz="2000">
                <a:latin typeface="Times New Roman"/>
                <a:ea typeface="Times New Roman"/>
                <a:cs typeface="Times New Roman"/>
                <a:sym typeface="Times New Roman"/>
              </a:rPr>
              <a:t>Supersampling or postfiltering is the process by which aliasing effects in graphics are reduced by increasing the frequency of the sampling grid and then averaging the results down. This process means calculating a virtual image at a higher spatial resolution than the frame store resolution and then averaging down to the final resolution. It is called postfiltering as the filtering is carried out after sampling.</a:t>
            </a:r>
            <a:endParaRPr sz="200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Arial"/>
              <a:buNone/>
            </a:pPr>
            <a:endParaRPr sz="200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Arial"/>
              <a:buNone/>
            </a:pPr>
            <a:r>
              <a:rPr lang="en-US" sz="2000">
                <a:latin typeface="Times New Roman"/>
                <a:ea typeface="Times New Roman"/>
                <a:cs typeface="Times New Roman"/>
                <a:sym typeface="Times New Roman"/>
              </a:rPr>
              <a:t>Supersampling is basically a three stage process : </a:t>
            </a:r>
            <a:endParaRPr sz="200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Arial"/>
              <a:buNone/>
            </a:pPr>
            <a:endParaRPr sz="200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Arial"/>
              <a:buNone/>
            </a:pPr>
            <a:r>
              <a:rPr lang="en-US" sz="2000">
                <a:latin typeface="Times New Roman"/>
                <a:ea typeface="Times New Roman"/>
                <a:cs typeface="Times New Roman"/>
                <a:sym typeface="Times New Roman"/>
              </a:rPr>
              <a:t>*  A continuous image I(x,y) is sampled at n times the frame resolution. This is a virtual image.</a:t>
            </a:r>
            <a:endParaRPr sz="200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Arial"/>
              <a:buNone/>
            </a:pPr>
            <a:r>
              <a:rPr lang="en-US" sz="2000">
                <a:latin typeface="Times New Roman"/>
                <a:ea typeface="Times New Roman"/>
                <a:cs typeface="Times New Roman"/>
                <a:sym typeface="Times New Roman"/>
              </a:rPr>
              <a:t>** The virtual image is then lowpass filtered.</a:t>
            </a:r>
            <a:endParaRPr sz="2000">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400"/>
              <a:buFont typeface="Arial"/>
              <a:buNone/>
            </a:pPr>
            <a:r>
              <a:rPr lang="en-US" sz="2000">
                <a:latin typeface="Times New Roman"/>
                <a:ea typeface="Times New Roman"/>
                <a:cs typeface="Times New Roman"/>
                <a:sym typeface="Times New Roman"/>
              </a:rPr>
              <a:t>*** The filtered image is then resampled at the final frame resolution. </a:t>
            </a:r>
            <a:endParaRPr sz="20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20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20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20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319"/>
        <p:cNvGrpSpPr/>
        <p:nvPr/>
      </p:nvGrpSpPr>
      <p:grpSpPr>
        <a:xfrm>
          <a:off x="0" y="0"/>
          <a:ext cx="0" cy="0"/>
          <a:chOff x="0" y="0"/>
          <a:chExt cx="0" cy="0"/>
        </a:xfrm>
      </p:grpSpPr>
      <p:sp>
        <p:nvSpPr>
          <p:cNvPr id="320" name="Google Shape;320;g3bc93f8e738_0_173"/>
          <p:cNvSpPr txBox="1"/>
          <p:nvPr/>
        </p:nvSpPr>
        <p:spPr>
          <a:xfrm>
            <a:off x="3028950" y="645960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321" name="Google Shape;321;g3bc93f8e738_0_173"/>
          <p:cNvSpPr txBox="1"/>
          <p:nvPr/>
        </p:nvSpPr>
        <p:spPr>
          <a:xfrm>
            <a:off x="363825" y="168125"/>
            <a:ext cx="7789500" cy="7542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700">
                <a:solidFill>
                  <a:schemeClr val="lt1"/>
                </a:solidFill>
                <a:latin typeface="Calibri"/>
                <a:ea typeface="Calibri"/>
                <a:cs typeface="Calibri"/>
                <a:sym typeface="Calibri"/>
              </a:rPr>
              <a:t>Anti-Aliasing : Postfiltering (Continues)</a:t>
            </a:r>
            <a:endParaRPr sz="3700">
              <a:solidFill>
                <a:schemeClr val="lt1"/>
              </a:solidFill>
              <a:latin typeface="Calibri"/>
              <a:ea typeface="Calibri"/>
              <a:cs typeface="Calibri"/>
              <a:sym typeface="Calibri"/>
            </a:endParaRPr>
          </a:p>
        </p:txBody>
      </p:sp>
      <p:pic>
        <p:nvPicPr>
          <p:cNvPr id="322" name="Google Shape;322;g3bc93f8e738_0_173"/>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411"/>
              </a:srgbClr>
            </a:outerShdw>
          </a:effectLst>
        </p:spPr>
      </p:pic>
      <p:sp>
        <p:nvSpPr>
          <p:cNvPr id="323" name="Google Shape;323;g3bc93f8e738_0_173"/>
          <p:cNvSpPr txBox="1"/>
          <p:nvPr/>
        </p:nvSpPr>
        <p:spPr>
          <a:xfrm>
            <a:off x="609475" y="1095450"/>
            <a:ext cx="8076900" cy="2138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300" b="0" i="0" u="none" strike="noStrike" cap="none">
                <a:solidFill>
                  <a:srgbClr val="000000"/>
                </a:solidFill>
                <a:latin typeface="Calibri"/>
                <a:ea typeface="Calibri"/>
                <a:cs typeface="Calibri"/>
                <a:sym typeface="Calibri"/>
              </a:rPr>
              <a:t>There are two drawbacks to this method :</a:t>
            </a:r>
            <a:endParaRPr sz="15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br>
              <a:rPr lang="en-US" sz="2300" b="0" i="0" u="none" strike="noStrike" cap="none">
                <a:solidFill>
                  <a:srgbClr val="000000"/>
                </a:solidFill>
                <a:latin typeface="Calibri"/>
                <a:ea typeface="Calibri"/>
                <a:cs typeface="Calibri"/>
                <a:sym typeface="Calibri"/>
              </a:rPr>
            </a:br>
            <a:r>
              <a:rPr lang="en-US" sz="2300" b="0" i="0" u="none" strike="noStrike" cap="none">
                <a:solidFill>
                  <a:srgbClr val="000000"/>
                </a:solidFill>
                <a:latin typeface="Calibri"/>
                <a:ea typeface="Calibri"/>
                <a:cs typeface="Calibri"/>
                <a:sym typeface="Calibri"/>
              </a:rPr>
              <a:t># There is a technical and economic limit for increasing the resolution of the virtual image.</a:t>
            </a:r>
            <a:br>
              <a:rPr lang="en-US" sz="2300" b="0" i="0" u="none" strike="noStrike" cap="none">
                <a:solidFill>
                  <a:srgbClr val="000000"/>
                </a:solidFill>
                <a:latin typeface="Calibri"/>
                <a:ea typeface="Calibri"/>
                <a:cs typeface="Calibri"/>
                <a:sym typeface="Calibri"/>
              </a:rPr>
            </a:br>
            <a:br>
              <a:rPr lang="en-US" sz="2300" b="0" i="0" u="none" strike="noStrike" cap="none">
                <a:solidFill>
                  <a:srgbClr val="000000"/>
                </a:solidFill>
                <a:latin typeface="Calibri"/>
                <a:ea typeface="Calibri"/>
                <a:cs typeface="Calibri"/>
                <a:sym typeface="Calibri"/>
              </a:rPr>
            </a:br>
            <a:r>
              <a:rPr lang="en-US" sz="2300" b="0" i="0" u="none" strike="noStrike" cap="none">
                <a:solidFill>
                  <a:srgbClr val="000000"/>
                </a:solidFill>
                <a:latin typeface="Calibri"/>
                <a:ea typeface="Calibri"/>
                <a:cs typeface="Calibri"/>
                <a:sym typeface="Calibri"/>
              </a:rPr>
              <a:t>##  Since the frequency of images can extend to infinity, it just reduces aliasing by raising the Nyquist limit - shift the effect of the frequency spectrum</a:t>
            </a:r>
            <a:r>
              <a:rPr lang="en-US" sz="2900" b="0" i="0" u="none" strike="noStrike" cap="none">
                <a:solidFill>
                  <a:srgbClr val="000000"/>
                </a:solidFill>
                <a:latin typeface="Calibri"/>
                <a:ea typeface="Calibri"/>
                <a:cs typeface="Calibri"/>
                <a:sym typeface="Calibri"/>
              </a:rPr>
              <a:t>.</a:t>
            </a:r>
            <a:endParaRPr sz="1500" b="0" i="0" u="none" strike="noStrike" cap="none">
              <a:solidFill>
                <a:srgbClr val="000000"/>
              </a:solidFill>
              <a:latin typeface="Arial"/>
              <a:ea typeface="Arial"/>
              <a:cs typeface="Arial"/>
              <a:sym typeface="Arial"/>
            </a:endParaRPr>
          </a:p>
        </p:txBody>
      </p:sp>
      <p:pic>
        <p:nvPicPr>
          <p:cNvPr id="324" name="Google Shape;324;g3bc93f8e738_0_173"/>
          <p:cNvPicPr preferRelativeResize="0"/>
          <p:nvPr/>
        </p:nvPicPr>
        <p:blipFill rotWithShape="1">
          <a:blip r:embed="rId4">
            <a:alphaModFix/>
          </a:blip>
          <a:srcRect/>
          <a:stretch/>
        </p:blipFill>
        <p:spPr>
          <a:xfrm>
            <a:off x="881100" y="4138100"/>
            <a:ext cx="3461908" cy="1869339"/>
          </a:xfrm>
          <a:prstGeom prst="rect">
            <a:avLst/>
          </a:prstGeom>
          <a:noFill/>
          <a:ln>
            <a:noFill/>
          </a:ln>
        </p:spPr>
      </p:pic>
      <p:sp>
        <p:nvSpPr>
          <p:cNvPr id="325" name="Google Shape;325;g3bc93f8e738_0_173"/>
          <p:cNvSpPr/>
          <p:nvPr/>
        </p:nvSpPr>
        <p:spPr>
          <a:xfrm>
            <a:off x="3198497" y="5834703"/>
            <a:ext cx="3405300" cy="331500"/>
          </a:xfrm>
          <a:prstGeom prst="rect">
            <a:avLst/>
          </a:prstGeom>
          <a:noFill/>
          <a:ln>
            <a:noFill/>
          </a:ln>
        </p:spPr>
        <p:txBody>
          <a:bodyPr spcFirstLastPara="1" wrap="square" lIns="81800" tIns="40875" rIns="81800" bIns="40875" anchor="t" anchorCtr="0">
            <a:noAutofit/>
          </a:bodyPr>
          <a:lstStyle/>
          <a:p>
            <a:pPr marL="0" marR="0" lvl="0" indent="0" algn="l" rtl="0">
              <a:lnSpc>
                <a:spcPct val="100000"/>
              </a:lnSpc>
              <a:spcBef>
                <a:spcPts val="0"/>
              </a:spcBef>
              <a:spcAft>
                <a:spcPts val="0"/>
              </a:spcAft>
              <a:buNone/>
            </a:pPr>
            <a:r>
              <a:rPr lang="en-US" sz="1635" b="0" i="0" u="none" strike="noStrike" cap="none">
                <a:solidFill>
                  <a:srgbClr val="000000"/>
                </a:solidFill>
                <a:latin typeface="Calibri"/>
                <a:ea typeface="Calibri"/>
                <a:cs typeface="Calibri"/>
                <a:sym typeface="Calibri"/>
              </a:rPr>
              <a:t>Calculating the end color value</a:t>
            </a:r>
            <a:endParaRPr sz="1272"/>
          </a:p>
        </p:txBody>
      </p:sp>
      <p:pic>
        <p:nvPicPr>
          <p:cNvPr id="326" name="Google Shape;326;g3bc93f8e738_0_173"/>
          <p:cNvPicPr preferRelativeResize="0"/>
          <p:nvPr/>
        </p:nvPicPr>
        <p:blipFill rotWithShape="1">
          <a:blip r:embed="rId5">
            <a:alphaModFix/>
          </a:blip>
          <a:srcRect/>
          <a:stretch/>
        </p:blipFill>
        <p:spPr>
          <a:xfrm>
            <a:off x="5474656" y="4539045"/>
            <a:ext cx="2371515" cy="1419180"/>
          </a:xfrm>
          <a:prstGeom prst="rect">
            <a:avLst/>
          </a:prstGeom>
          <a:noFill/>
          <a:ln>
            <a:noFill/>
          </a:ln>
        </p:spPr>
      </p:pic>
      <p:sp>
        <p:nvSpPr>
          <p:cNvPr id="327" name="Google Shape;327;g3bc93f8e738_0_173"/>
          <p:cNvSpPr txBox="1"/>
          <p:nvPr/>
        </p:nvSpPr>
        <p:spPr>
          <a:xfrm>
            <a:off x="6919880" y="6459745"/>
            <a:ext cx="2133300" cy="3648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rgbClr val="8B8B8B"/>
                </a:solidFill>
                <a:latin typeface="Calibri"/>
                <a:ea typeface="Calibri"/>
                <a:cs typeface="Calibri"/>
                <a:sym typeface="Calibri"/>
              </a:rPr>
              <a:t>16</a:t>
            </a:fld>
            <a:endParaRPr sz="1200" b="0" i="0" u="none" strike="noStrike" cap="none">
              <a:solidFill>
                <a:srgbClr val="8B8B8B"/>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331"/>
        <p:cNvGrpSpPr/>
        <p:nvPr/>
      </p:nvGrpSpPr>
      <p:grpSpPr>
        <a:xfrm>
          <a:off x="0" y="0"/>
          <a:ext cx="0" cy="0"/>
          <a:chOff x="0" y="0"/>
          <a:chExt cx="0" cy="0"/>
        </a:xfrm>
      </p:grpSpPr>
      <p:sp>
        <p:nvSpPr>
          <p:cNvPr id="332" name="Google Shape;332;g3bb5fbf5691_0_224"/>
          <p:cNvSpPr txBox="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333" name="Google Shape;333;g3bb5fbf5691_0_224"/>
          <p:cNvSpPr txBox="1"/>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
        <p:nvSpPr>
          <p:cNvPr id="334" name="Google Shape;334;g3bb5fbf5691_0_224"/>
          <p:cNvSpPr txBox="1"/>
          <p:nvPr/>
        </p:nvSpPr>
        <p:spPr>
          <a:xfrm>
            <a:off x="363825" y="168125"/>
            <a:ext cx="7789500" cy="769500"/>
          </a:xfrm>
          <a:prstGeom prst="rect">
            <a:avLst/>
          </a:prstGeom>
          <a:solidFill>
            <a:srgbClr val="3D85C6"/>
          </a:solidFill>
          <a:ln w="19050" cap="flat" cmpd="sng">
            <a:solidFill>
              <a:schemeClr val="lt1"/>
            </a:solidFill>
            <a:prstDash val="solid"/>
            <a:round/>
            <a:headEnd type="none" w="sm" len="sm"/>
            <a:tailEnd type="none" w="sm" len="sm"/>
          </a:ln>
          <a:effectLst>
            <a:outerShdw blurRad="57150" dist="19050" dir="5400000" algn="bl" rotWithShape="0">
              <a:srgbClr val="000000">
                <a:alpha val="49411"/>
              </a:srgbClr>
            </a:outerShdw>
          </a:effectLst>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800"/>
              <a:buFont typeface="Arial"/>
              <a:buNone/>
            </a:pPr>
            <a:r>
              <a:rPr lang="en-US" sz="3800">
                <a:solidFill>
                  <a:schemeClr val="lt1"/>
                </a:solidFill>
                <a:latin typeface="Calibri"/>
                <a:ea typeface="Calibri"/>
                <a:cs typeface="Calibri"/>
                <a:sym typeface="Calibri"/>
              </a:rPr>
              <a:t>Post-Filtering : Advantages</a:t>
            </a:r>
            <a:endParaRPr sz="3800">
              <a:solidFill>
                <a:schemeClr val="lt1"/>
              </a:solidFill>
              <a:latin typeface="Calibri"/>
              <a:ea typeface="Calibri"/>
              <a:cs typeface="Calibri"/>
              <a:sym typeface="Calibri"/>
            </a:endParaRPr>
          </a:p>
        </p:txBody>
      </p:sp>
      <p:pic>
        <p:nvPicPr>
          <p:cNvPr id="335" name="Google Shape;335;g3bb5fbf5691_0_224"/>
          <p:cNvPicPr preferRelativeResize="0"/>
          <p:nvPr/>
        </p:nvPicPr>
        <p:blipFill rotWithShape="1">
          <a:blip r:embed="rId3">
            <a:alphaModFix/>
          </a:blip>
          <a:srcRect/>
          <a:stretch/>
        </p:blipFill>
        <p:spPr>
          <a:xfrm>
            <a:off x="8153225" y="294475"/>
            <a:ext cx="1095400" cy="547700"/>
          </a:xfrm>
          <a:prstGeom prst="rect">
            <a:avLst/>
          </a:prstGeom>
          <a:noFill/>
          <a:ln>
            <a:noFill/>
          </a:ln>
          <a:effectLst>
            <a:outerShdw blurRad="57150" dist="19050" dir="5400000" algn="bl" rotWithShape="0">
              <a:srgbClr val="000000">
                <a:alpha val="49411"/>
              </a:srgbClr>
            </a:outerShdw>
          </a:effectLst>
        </p:spPr>
      </p:pic>
      <p:sp>
        <p:nvSpPr>
          <p:cNvPr id="336" name="Google Shape;336;g3bb5fbf5691_0_224"/>
          <p:cNvSpPr txBox="1"/>
          <p:nvPr/>
        </p:nvSpPr>
        <p:spPr>
          <a:xfrm>
            <a:off x="363825" y="5505263"/>
            <a:ext cx="59976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Tahoma"/>
              <a:buNone/>
            </a:pPr>
            <a:r>
              <a:rPr lang="en-US" sz="1600" b="0" i="0" u="none" strike="noStrike" cap="none">
                <a:solidFill>
                  <a:srgbClr val="000000"/>
                </a:solidFill>
                <a:latin typeface="Tahoma"/>
                <a:ea typeface="Tahoma"/>
                <a:cs typeface="Tahoma"/>
                <a:sym typeface="Tahoma"/>
              </a:rPr>
              <a:t>                                                         </a:t>
            </a:r>
            <a:endParaRPr sz="1400" b="0" i="0" u="none" strike="noStrike" cap="none">
              <a:solidFill>
                <a:srgbClr val="000000"/>
              </a:solidFill>
              <a:latin typeface="Arial"/>
              <a:ea typeface="Arial"/>
              <a:cs typeface="Arial"/>
              <a:sym typeface="Arial"/>
            </a:endParaRPr>
          </a:p>
        </p:txBody>
      </p:sp>
      <p:sp>
        <p:nvSpPr>
          <p:cNvPr id="337" name="Google Shape;337;g3bb5fbf5691_0_224"/>
          <p:cNvSpPr txBox="1"/>
          <p:nvPr/>
        </p:nvSpPr>
        <p:spPr>
          <a:xfrm>
            <a:off x="438455" y="1559945"/>
            <a:ext cx="8076900" cy="45717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800" b="0" i="0" u="none" strike="noStrike" cap="none">
                <a:solidFill>
                  <a:srgbClr val="000000"/>
                </a:solidFill>
                <a:latin typeface="Calibri"/>
                <a:ea typeface="Calibri"/>
                <a:cs typeface="Calibri"/>
                <a:sym typeface="Calibri"/>
              </a:rPr>
              <a:t>* </a:t>
            </a:r>
            <a:r>
              <a:rPr lang="en-US" sz="2600" b="0" i="0" u="none" strike="noStrike" cap="none">
                <a:solidFill>
                  <a:srgbClr val="000000"/>
                </a:solidFill>
                <a:latin typeface="Calibri"/>
                <a:ea typeface="Calibri"/>
                <a:cs typeface="Calibri"/>
                <a:sym typeface="Calibri"/>
              </a:rPr>
              <a:t>It </a:t>
            </a:r>
            <a:r>
              <a:rPr lang="en-US" sz="2600">
                <a:latin typeface="Calibri"/>
                <a:ea typeface="Calibri"/>
                <a:cs typeface="Calibri"/>
                <a:sym typeface="Calibri"/>
              </a:rPr>
              <a:t>supports</a:t>
            </a:r>
            <a:r>
              <a:rPr lang="en-US" sz="2600" b="0" i="0" u="none" strike="noStrike" cap="none">
                <a:solidFill>
                  <a:srgbClr val="000000"/>
                </a:solidFill>
                <a:latin typeface="Calibri"/>
                <a:ea typeface="Calibri"/>
                <a:cs typeface="Calibri"/>
                <a:sym typeface="Calibri"/>
              </a:rPr>
              <a:t> arbitrary symmetric filters at a fixed </a:t>
            </a:r>
            <a:r>
              <a:rPr lang="en-US" sz="2600">
                <a:latin typeface="Calibri"/>
                <a:ea typeface="Calibri"/>
                <a:cs typeface="Calibri"/>
                <a:sym typeface="Calibri"/>
              </a:rPr>
              <a:t>cost.</a:t>
            </a:r>
            <a:r>
              <a:rPr lang="en-US" sz="2600" b="0" i="0" u="none" strike="noStrike" cap="none">
                <a:solidFill>
                  <a:srgbClr val="000000"/>
                </a:solidFill>
                <a:latin typeface="Calibri"/>
                <a:ea typeface="Calibri"/>
                <a:cs typeface="Calibri"/>
                <a:sym typeface="Calibri"/>
              </a:rPr>
              <a:t> </a:t>
            </a:r>
            <a:endParaRPr sz="1200"/>
          </a:p>
          <a:p>
            <a:pPr marL="0" marR="0" lvl="0" indent="0" algn="ctr" rtl="0">
              <a:lnSpc>
                <a:spcPct val="100000"/>
              </a:lnSpc>
              <a:spcBef>
                <a:spcPts val="0"/>
              </a:spcBef>
              <a:spcAft>
                <a:spcPts val="0"/>
              </a:spcAft>
              <a:buNone/>
            </a:pPr>
            <a:r>
              <a:rPr lang="en-US" sz="2600" b="0" i="0" u="none" strike="noStrike" cap="none">
                <a:solidFill>
                  <a:srgbClr val="000000"/>
                </a:solidFill>
                <a:latin typeface="Calibri"/>
                <a:ea typeface="Calibri"/>
                <a:cs typeface="Calibri"/>
                <a:sym typeface="Calibri"/>
              </a:rPr>
              <a:t>** It allows </a:t>
            </a:r>
            <a:r>
              <a:rPr lang="en-US" sz="2600">
                <a:latin typeface="Calibri"/>
                <a:ea typeface="Calibri"/>
                <a:cs typeface="Calibri"/>
                <a:sym typeface="Calibri"/>
              </a:rPr>
              <a:t>wider</a:t>
            </a:r>
            <a:r>
              <a:rPr lang="en-US" sz="2600" b="0" i="0" u="none" strike="noStrike" cap="none">
                <a:solidFill>
                  <a:srgbClr val="000000"/>
                </a:solidFill>
                <a:latin typeface="Calibri"/>
                <a:ea typeface="Calibri"/>
                <a:cs typeface="Calibri"/>
                <a:sym typeface="Calibri"/>
              </a:rPr>
              <a:t> filter support. Most hardware anti-aliasing schemes only consider samples within a pixel. </a:t>
            </a:r>
            <a:endParaRPr sz="1200"/>
          </a:p>
          <a:p>
            <a:pPr marL="0" marR="0" lvl="0" indent="0" algn="ctr" rtl="0">
              <a:lnSpc>
                <a:spcPct val="100000"/>
              </a:lnSpc>
              <a:spcBef>
                <a:spcPts val="0"/>
              </a:spcBef>
              <a:spcAft>
                <a:spcPts val="0"/>
              </a:spcAft>
              <a:buNone/>
            </a:pPr>
            <a:r>
              <a:rPr lang="en-US" sz="2600" b="0" i="0" u="none" strike="noStrike" cap="none">
                <a:solidFill>
                  <a:srgbClr val="000000"/>
                </a:solidFill>
                <a:latin typeface="Calibri"/>
                <a:ea typeface="Calibri"/>
                <a:cs typeface="Calibri"/>
                <a:sym typeface="Calibri"/>
              </a:rPr>
              <a:t>*** This method is independent of hardware-specific anti-aliasing methods. </a:t>
            </a:r>
            <a:endParaRPr sz="1200"/>
          </a:p>
          <a:p>
            <a:pPr marL="0" marR="0" lvl="0" indent="0" algn="ctr" rtl="0">
              <a:lnSpc>
                <a:spcPct val="100000"/>
              </a:lnSpc>
              <a:spcBef>
                <a:spcPts val="0"/>
              </a:spcBef>
              <a:spcAft>
                <a:spcPts val="0"/>
              </a:spcAft>
              <a:buNone/>
            </a:pPr>
            <a:r>
              <a:rPr lang="en-US" sz="2600" b="0" i="0" u="none" strike="noStrike" cap="none">
                <a:solidFill>
                  <a:srgbClr val="000000"/>
                </a:solidFill>
                <a:latin typeface="Calibri"/>
                <a:ea typeface="Calibri"/>
                <a:cs typeface="Calibri"/>
                <a:sym typeface="Calibri"/>
              </a:rPr>
              <a:t>**** It is a simple, fast, and easy</a:t>
            </a:r>
            <a:r>
              <a:rPr lang="en-US" sz="2600">
                <a:latin typeface="Calibri"/>
                <a:ea typeface="Calibri"/>
                <a:cs typeface="Calibri"/>
                <a:sym typeface="Calibri"/>
              </a:rPr>
              <a:t>-to-implement</a:t>
            </a:r>
            <a:r>
              <a:rPr lang="en-US" sz="2600" b="0" i="0" u="none" strike="noStrike" cap="none">
                <a:solidFill>
                  <a:srgbClr val="000000"/>
                </a:solidFill>
                <a:latin typeface="Calibri"/>
                <a:ea typeface="Calibri"/>
                <a:cs typeface="Calibri"/>
                <a:sym typeface="Calibri"/>
              </a:rPr>
              <a:t> </a:t>
            </a:r>
            <a:r>
              <a:rPr lang="en-US" sz="2600">
                <a:latin typeface="Calibri"/>
                <a:ea typeface="Calibri"/>
                <a:cs typeface="Calibri"/>
                <a:sym typeface="Calibri"/>
              </a:rPr>
              <a:t>method.</a:t>
            </a:r>
            <a:r>
              <a:rPr lang="en-US" sz="2600" b="0" i="0" u="none" strike="noStrike" cap="none">
                <a:solidFill>
                  <a:srgbClr val="000000"/>
                </a:solidFill>
                <a:latin typeface="Calibri"/>
                <a:ea typeface="Calibri"/>
                <a:cs typeface="Calibri"/>
                <a:sym typeface="Calibri"/>
              </a:rPr>
              <a:t> </a:t>
            </a:r>
            <a:endParaRPr sz="1200"/>
          </a:p>
          <a:p>
            <a:pPr marL="0" marR="0" lvl="0" indent="0" algn="ctr" rtl="0">
              <a:lnSpc>
                <a:spcPct val="100000"/>
              </a:lnSpc>
              <a:spcBef>
                <a:spcPts val="0"/>
              </a:spcBef>
              <a:spcAft>
                <a:spcPts val="0"/>
              </a:spcAft>
              <a:buNone/>
            </a:pPr>
            <a:endParaRPr sz="2800" b="0"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None/>
            </a:pPr>
            <a:endParaRPr sz="2800" b="0" i="0" u="none" strike="noStrike" cap="non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7"/>
          <p:cNvSpPr txBox="1">
            <a:spLocks noGrp="1"/>
          </p:cNvSpPr>
          <p:nvPr>
            <p:ph type="title"/>
          </p:nvPr>
        </p:nvSpPr>
        <p:spPr>
          <a:xfrm>
            <a:off x="628650" y="365125"/>
            <a:ext cx="7886700" cy="13255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300"/>
              <a:buFont typeface="Calibri"/>
              <a:buNone/>
            </a:pPr>
            <a:r>
              <a:rPr lang="en-US" sz="3300" b="0" i="0" u="none">
                <a:solidFill>
                  <a:schemeClr val="dk1"/>
                </a:solidFill>
                <a:latin typeface="Calibri"/>
                <a:ea typeface="Calibri"/>
                <a:cs typeface="Calibri"/>
                <a:sym typeface="Calibri"/>
              </a:rPr>
              <a:t> </a:t>
            </a:r>
            <a:endParaRPr/>
          </a:p>
        </p:txBody>
      </p:sp>
      <p:pic>
        <p:nvPicPr>
          <p:cNvPr id="344" name="Google Shape;344;p17"/>
          <p:cNvPicPr preferRelativeResize="0">
            <a:picLocks noGrp="1"/>
          </p:cNvPicPr>
          <p:nvPr>
            <p:ph type="body" idx="1"/>
          </p:nvPr>
        </p:nvPicPr>
        <p:blipFill rotWithShape="1">
          <a:blip r:embed="rId3">
            <a:alphaModFix/>
          </a:blip>
          <a:srcRect/>
          <a:stretch/>
        </p:blipFill>
        <p:spPr>
          <a:xfrm>
            <a:off x="1671637" y="1295400"/>
            <a:ext cx="5800725" cy="4351337"/>
          </a:xfrm>
          <a:prstGeom prst="rect">
            <a:avLst/>
          </a:prstGeom>
          <a:noFill/>
          <a:ln>
            <a:noFill/>
          </a:ln>
        </p:spPr>
      </p:pic>
      <p:pic>
        <p:nvPicPr>
          <p:cNvPr id="345" name="Google Shape;345;p17"/>
          <p:cNvPicPr preferRelativeResize="0"/>
          <p:nvPr/>
        </p:nvPicPr>
        <p:blipFill rotWithShape="1">
          <a:blip r:embed="rId4">
            <a:alphaModFix/>
          </a:blip>
          <a:srcRect/>
          <a:stretch/>
        </p:blipFill>
        <p:spPr>
          <a:xfrm>
            <a:off x="8077200" y="22225"/>
            <a:ext cx="1371600" cy="685800"/>
          </a:xfrm>
          <a:prstGeom prst="rect">
            <a:avLst/>
          </a:prstGeom>
          <a:noFill/>
          <a:ln>
            <a:noFill/>
          </a:ln>
        </p:spPr>
      </p:pic>
      <p:sp>
        <p:nvSpPr>
          <p:cNvPr id="346" name="Google Shape;346;p17"/>
          <p:cNvSpPr txBox="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898989"/>
              </a:buClr>
              <a:buSzPts val="900"/>
              <a:buFont typeface="Arial"/>
              <a:buNone/>
            </a:pPr>
            <a:r>
              <a:rPr lang="en-US" sz="900" b="0" i="0" u="none" strike="noStrike" cap="none">
                <a:solidFill>
                  <a:srgbClr val="898989"/>
                </a:solidFill>
                <a:latin typeface="Arial"/>
                <a:ea typeface="Arial"/>
                <a:cs typeface="Arial"/>
                <a:sym typeface="Arial"/>
              </a:rPr>
              <a:t>Department of CSE, Daffodil International University</a:t>
            </a:r>
            <a:endParaRPr sz="1400" b="0" i="0" u="none" strike="noStrike" cap="none">
              <a:solidFill>
                <a:srgbClr val="000000"/>
              </a:solidFill>
              <a:latin typeface="Arial"/>
              <a:ea typeface="Arial"/>
              <a:cs typeface="Arial"/>
              <a:sym typeface="Arial"/>
            </a:endParaRPr>
          </a:p>
        </p:txBody>
      </p:sp>
      <p:sp>
        <p:nvSpPr>
          <p:cNvPr id="347" name="Google Shape;347;p17"/>
          <p:cNvSpPr txBox="1"/>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898989"/>
              </a:buClr>
              <a:buSzPts val="900"/>
              <a:buFont typeface="Arial"/>
              <a:buNone/>
            </a:pPr>
            <a:fld id="{00000000-1234-1234-1234-123412341234}" type="slidenum">
              <a:rPr lang="en-US" sz="900" b="0" i="0" u="none" strike="noStrike" cap="none">
                <a:solidFill>
                  <a:srgbClr val="898989"/>
                </a:solidFill>
                <a:latin typeface="Arial"/>
                <a:ea typeface="Arial"/>
                <a:cs typeface="Arial"/>
                <a:sym typeface="Arial"/>
              </a:rPr>
              <a:t>18</a:t>
            </a:fld>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44"/>
                                        </p:tgtEl>
                                        <p:attrNameLst>
                                          <p:attrName>style.visibility</p:attrName>
                                        </p:attrNameLst>
                                      </p:cBhvr>
                                      <p:to>
                                        <p:strVal val="visible"/>
                                      </p:to>
                                    </p:set>
                                    <p:anim calcmode="lin" valueType="num">
                                      <p:cBhvr additive="base">
                                        <p:cTn id="7" dur="1000"/>
                                        <p:tgtEl>
                                          <p:spTgt spid="344"/>
                                        </p:tgtEl>
                                        <p:attrNameLst>
                                          <p:attrName>ppt_w</p:attrName>
                                        </p:attrNameLst>
                                      </p:cBhvr>
                                      <p:tavLst>
                                        <p:tav tm="0">
                                          <p:val>
                                            <p:strVal val="0"/>
                                          </p:val>
                                        </p:tav>
                                        <p:tav tm="100000">
                                          <p:val>
                                            <p:strVal val="#ppt_w"/>
                                          </p:val>
                                        </p:tav>
                                      </p:tavLst>
                                    </p:anim>
                                    <p:anim calcmode="lin" valueType="num">
                                      <p:cBhvr additive="base">
                                        <p:cTn id="8" dur="1000"/>
                                        <p:tgtEl>
                                          <p:spTgt spid="34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1346</Words>
  <Application>Microsoft Office PowerPoint</Application>
  <PresentationFormat>On-screen Show (4:3)</PresentationFormat>
  <Paragraphs>151</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Tahoma</vt:lpstr>
      <vt:lpstr>Times New Roman</vt:lpstr>
      <vt:lpstr>Lucida Sans</vt:lpstr>
      <vt:lpstr>Office Theme</vt:lpstr>
      <vt:lpstr> Computer Graphics Anti-aliasing Lecture 8</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Brian Mac Namee</dc:creator>
  <cp:lastModifiedBy>DIU</cp:lastModifiedBy>
  <cp:revision>1</cp:revision>
  <dcterms:created xsi:type="dcterms:W3CDTF">2006-08-22T08:27:31Z</dcterms:created>
  <dcterms:modified xsi:type="dcterms:W3CDTF">2026-06-09T02:36:57Z</dcterms:modified>
</cp:coreProperties>
</file>