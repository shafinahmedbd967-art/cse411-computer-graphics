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9296400" cy="7010400"/>
  <p:embeddedFontLst>
    <p:embeddedFont>
      <p:font typeface="Tahoma"/>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39">
          <p15:clr>
            <a:srgbClr val="000000"/>
          </p15:clr>
        </p15:guide>
        <p15:guide id="2" pos="2879">
          <p15:clr>
            <a:srgbClr val="000000"/>
          </p15:clr>
        </p15:guide>
      </p15:sldGuideLst>
    </p:ext>
    <p:ext uri="GoogleSlidesCustomDataVersion2">
      <go:slidesCustomData xmlns:go="http://customooxmlschemas.google.com/" r:id="rId26" roundtripDataSignature="AMtx7mhMfTHWIgAZiXOYwlxEVHXhzUA6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39" orient="horz"/>
        <p:guide pos="287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Tahoma-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Tahom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265737" y="0"/>
            <a:ext cx="4029075" cy="3508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6657975"/>
            <a:ext cx="4029075" cy="3508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b5fbf5691_0_2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6" name="Google Shape;106;g3bb5fbf5691_0_2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b5fbf5691_0_5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6" name="Google Shape;116;g3bb5fbf5691_0_5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b5fbf5691_0_39: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1" name="Google Shape;151;g3bb5fbf5691_0_39: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b5fbf5691_0_10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1" name="Google Shape;161;g3bb5fbf5691_0_10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b5fbf5691_0_12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3" name="Google Shape;173;g3bb5fbf5691_0_12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b5fbf5691_0_19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1" name="Google Shape;181;g3bb5fbf5691_0_19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c93f8e738_0_8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0" name="Google Shape;190;g3bc93f8e738_0_8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c93f8e738_0_14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0" name="Google Shape;200;g3bc93f8e738_0_14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b5fbf5691_0_15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0" name="Google Shape;210;g3bb5fbf5691_0_15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b5fbf5691_0_23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0" name="Google Shape;240;g3bb5fbf5691_0_23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be9322812_0_2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0" name="Google Shape;290;g3bbe9322812_0_2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bd06ed8d76_0_165:notes"/>
          <p:cNvSpPr txBox="1"/>
          <p:nvPr>
            <p:ph idx="1" type="body"/>
          </p:nvPr>
        </p:nvSpPr>
        <p:spPr>
          <a:xfrm>
            <a:off x="929625" y="3329925"/>
            <a:ext cx="7437000" cy="3154800"/>
          </a:xfrm>
          <a:prstGeom prst="rect">
            <a:avLst/>
          </a:prstGeom>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
        <p:nvSpPr>
          <p:cNvPr id="300" name="Google Shape;300;g3bd06ed8d76_0_165:notes"/>
          <p:cNvSpPr/>
          <p:nvPr>
            <p:ph idx="2" type="sldImg"/>
          </p:nvPr>
        </p:nvSpPr>
        <p:spPr>
          <a:xfrm>
            <a:off x="1549700" y="525775"/>
            <a:ext cx="6198000" cy="262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bc93f8e738_0_20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09" name="Google Shape;309;g3bc93f8e738_0_20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c93f8e738_0_173: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8" name="Google Shape;318;g3bc93f8e738_0_173: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b5fbf5691_0_22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30" name="Google Shape;330;g3bb5fbf5691_0_22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7: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41" name="Google Shape;341;p17: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1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2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p:nvPr>
            <p:ph idx="2" type="pic"/>
          </p:nvPr>
        </p:nvSpPr>
        <p:spPr>
          <a:xfrm>
            <a:off x="3887391" y="987426"/>
            <a:ext cx="4629150" cy="4873625"/>
          </a:xfrm>
          <a:prstGeom prst="rect">
            <a:avLst/>
          </a:prstGeom>
          <a:noFill/>
          <a:ln>
            <a:noFill/>
          </a:ln>
        </p:spPr>
      </p:sp>
      <p:sp>
        <p:nvSpPr>
          <p:cNvPr id="42" name="Google Shape;42;p2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3" name="Google Shape;43;p2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9" name="Google Shape;49;p2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0" name="Google Shape;50;p2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2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2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jpg"/><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gif"/><Relationship Id="rId4" Type="http://schemas.openxmlformats.org/officeDocument/2006/relationships/image" Target="../media/image11.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055800" y="730200"/>
            <a:ext cx="6838500" cy="1809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Computer Graphics</a:t>
            </a:r>
            <a:br>
              <a:rPr b="1" i="0" lang="en-US" sz="3600" u="none">
                <a:solidFill>
                  <a:schemeClr val="dk1"/>
                </a:solidFill>
                <a:latin typeface="Calibri"/>
                <a:ea typeface="Calibri"/>
                <a:cs typeface="Calibri"/>
                <a:sym typeface="Calibri"/>
              </a:rPr>
            </a:br>
            <a:r>
              <a:rPr b="1" lang="en-US" sz="3266">
                <a:solidFill>
                  <a:srgbClr val="0B5394"/>
                </a:solidFill>
              </a:rPr>
              <a:t>Anti-aliasing</a:t>
            </a:r>
            <a:endParaRPr b="1" sz="3266">
              <a:solidFill>
                <a:srgbClr val="0B5394"/>
              </a:solidFill>
            </a:endParaRPr>
          </a:p>
          <a:p>
            <a:pPr indent="0" lvl="0" marL="0" rtl="0" algn="ctr">
              <a:lnSpc>
                <a:spcPct val="90000"/>
              </a:lnSpc>
              <a:spcBef>
                <a:spcPts val="0"/>
              </a:spcBef>
              <a:spcAft>
                <a:spcPts val="0"/>
              </a:spcAft>
              <a:buClr>
                <a:schemeClr val="dk1"/>
              </a:buClr>
              <a:buSzPct val="136666"/>
              <a:buFont typeface="Calibri"/>
              <a:buNone/>
            </a:pPr>
            <a:r>
              <a:rPr b="1" lang="en-US" sz="3000">
                <a:solidFill>
                  <a:srgbClr val="85200C"/>
                </a:solidFill>
              </a:rPr>
              <a:t>Lecture 8</a:t>
            </a:r>
            <a:endParaRPr>
              <a:solidFill>
                <a:srgbClr val="85200C"/>
              </a:solidFill>
            </a:endParaRPr>
          </a:p>
        </p:txBody>
      </p:sp>
      <p:sp>
        <p:nvSpPr>
          <p:cNvPr id="90" name="Google Shape;90;p1"/>
          <p:cNvSpPr txBox="1"/>
          <p:nvPr>
            <p:ph idx="1" type="subTitle"/>
          </p:nvPr>
        </p:nvSpPr>
        <p:spPr>
          <a:xfrm>
            <a:off x="263800" y="4964425"/>
            <a:ext cx="8422500" cy="1506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b="1" lang="en-US">
                <a:solidFill>
                  <a:srgbClr val="980000"/>
                </a:solidFill>
              </a:rPr>
              <a:t>Syada Tasmia Alvi</a:t>
            </a:r>
            <a:endParaRPr b="1">
              <a:solidFill>
                <a:srgbClr val="980000"/>
              </a:solidFill>
            </a:endParaRPr>
          </a:p>
          <a:p>
            <a:pPr indent="0" lvl="0" marL="0" rtl="0" algn="ctr">
              <a:lnSpc>
                <a:spcPct val="90000"/>
              </a:lnSpc>
              <a:spcBef>
                <a:spcPts val="700"/>
              </a:spcBef>
              <a:spcAft>
                <a:spcPts val="0"/>
              </a:spcAft>
              <a:buClr>
                <a:schemeClr val="dk1"/>
              </a:buClr>
              <a:buSzPts val="1800"/>
              <a:buNone/>
            </a:pPr>
            <a:r>
              <a:rPr b="1" lang="en-US">
                <a:solidFill>
                  <a:srgbClr val="0B5394"/>
                </a:solidFill>
              </a:rPr>
              <a:t>Senior Lecturer</a:t>
            </a:r>
            <a:br>
              <a:rPr b="1" i="0" lang="en-US" sz="1800" u="none">
                <a:solidFill>
                  <a:srgbClr val="0B5394"/>
                </a:solidFill>
              </a:rPr>
            </a:br>
            <a:r>
              <a:rPr b="1" i="0" lang="en-US" sz="1800" u="none">
                <a:solidFill>
                  <a:srgbClr val="1C4587"/>
                </a:solidFill>
              </a:rPr>
              <a:t>Department of Computer Science and Engineering</a:t>
            </a:r>
            <a:br>
              <a:rPr b="1" i="0" lang="en-US" sz="1800" u="none">
                <a:solidFill>
                  <a:srgbClr val="1C4587"/>
                </a:solidFill>
              </a:rPr>
            </a:br>
            <a:r>
              <a:rPr b="1" i="0" lang="en-US" sz="1800" u="none">
                <a:solidFill>
                  <a:srgbClr val="1C4587"/>
                </a:solidFill>
              </a:rPr>
              <a:t>Daffodil International University, DIU</a:t>
            </a:r>
            <a:endParaRPr b="1">
              <a:solidFill>
                <a:srgbClr val="1C4587"/>
              </a:solidFill>
            </a:endParaRPr>
          </a:p>
        </p:txBody>
      </p:sp>
      <p:sp>
        <p:nvSpPr>
          <p:cNvPr descr="Diu Logo PNG Images - CleanPNG" id="91" name="Google Shape;91;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4" name="Google Shape;94;p1"/>
          <p:cNvPicPr preferRelativeResize="0"/>
          <p:nvPr/>
        </p:nvPicPr>
        <p:blipFill rotWithShape="1">
          <a:blip r:embed="rId4">
            <a:alphaModFix/>
          </a:blip>
          <a:srcRect b="24752" l="0" r="0" t="19611"/>
          <a:stretch/>
        </p:blipFill>
        <p:spPr>
          <a:xfrm>
            <a:off x="2737975" y="2834025"/>
            <a:ext cx="3608351" cy="2007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02" name="Google Shape;102;p2"/>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lang="en-US" sz="4000">
                <a:solidFill>
                  <a:schemeClr val="lt1"/>
                </a:solidFill>
                <a:latin typeface="Calibri"/>
                <a:ea typeface="Calibri"/>
                <a:cs typeface="Calibri"/>
                <a:sym typeface="Calibri"/>
              </a:rPr>
              <a:t>What Does Sampling Mean?</a:t>
            </a:r>
            <a:endParaRPr sz="4000">
              <a:solidFill>
                <a:schemeClr val="lt1"/>
              </a:solidFill>
              <a:latin typeface="Calibri"/>
              <a:ea typeface="Calibri"/>
              <a:cs typeface="Calibri"/>
              <a:sym typeface="Calibri"/>
            </a:endParaRPr>
          </a:p>
        </p:txBody>
      </p:sp>
      <p:sp>
        <p:nvSpPr>
          <p:cNvPr id="103" name="Google Shape;103;p2"/>
          <p:cNvSpPr txBox="1"/>
          <p:nvPr/>
        </p:nvSpPr>
        <p:spPr>
          <a:xfrm>
            <a:off x="270625" y="1128675"/>
            <a:ext cx="8604000" cy="39045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Most things in the real world are continuous.</a:t>
            </a:r>
            <a:endParaRPr sz="2000">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Everything in a computer is discrete.</a:t>
            </a:r>
            <a:endParaRPr sz="2000">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The process of mapping a continuous function to a discrete one is called sampling.</a:t>
            </a:r>
            <a:endParaRPr sz="2000">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The process of mapping a discrete function to a continuous one is called reconstruction.</a:t>
            </a:r>
            <a:endParaRPr sz="2000">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 The process of mapping a continuous variable to a discrete one is called discretization.</a:t>
            </a:r>
            <a:endParaRPr sz="2000">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 Rendering an image requires sampling and discretization.</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g3bb5fbf5691_0_2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09" name="Google Shape;109;g3bb5fbf5691_0_2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0" name="Google Shape;110;g3bb5fbf5691_0_2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What Does Aliasing Mean?</a:t>
            </a:r>
            <a:endParaRPr sz="3800">
              <a:solidFill>
                <a:schemeClr val="lt1"/>
              </a:solidFill>
              <a:latin typeface="Calibri"/>
              <a:ea typeface="Calibri"/>
              <a:cs typeface="Calibri"/>
              <a:sym typeface="Calibri"/>
            </a:endParaRPr>
          </a:p>
        </p:txBody>
      </p:sp>
      <p:pic>
        <p:nvPicPr>
          <p:cNvPr id="111" name="Google Shape;111;g3bb5fbf5691_0_2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12" name="Google Shape;112;g3bb5fbf5691_0_28"/>
          <p:cNvSpPr txBox="1"/>
          <p:nvPr/>
        </p:nvSpPr>
        <p:spPr>
          <a:xfrm>
            <a:off x="363825" y="1126350"/>
            <a:ext cx="8492400" cy="2893800"/>
          </a:xfrm>
          <a:prstGeom prst="rect">
            <a:avLst/>
          </a:prstGeom>
          <a:noFill/>
          <a:ln>
            <a:noFill/>
          </a:ln>
        </p:spPr>
        <p:txBody>
          <a:bodyPr anchorCtr="0" anchor="t" bIns="91425" lIns="91425" spcFirstLastPara="1" rIns="91425" wrap="square" tIns="91425">
            <a:spAutoFit/>
          </a:bodyPr>
          <a:lstStyle/>
          <a:p>
            <a:pPr indent="-342900" lvl="0" marL="457200" rtl="0" algn="just">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Digital sampling of any signal, whether sound, digital photographs, or other, can result in apparent signals at frequencies well below anything present in the original. </a:t>
            </a:r>
            <a:endParaRPr sz="1800">
              <a:latin typeface="Times New Roman"/>
              <a:ea typeface="Times New Roman"/>
              <a:cs typeface="Times New Roman"/>
              <a:sym typeface="Times New Roman"/>
            </a:endParaRPr>
          </a:p>
          <a:p>
            <a:pPr indent="-342900" lvl="0" marL="457200" rtl="0" algn="just">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Aliasing occurs when a signal is sampled at </a:t>
            </a:r>
            <a:r>
              <a:rPr lang="en-US" sz="1800">
                <a:latin typeface="Times New Roman"/>
                <a:ea typeface="Times New Roman"/>
                <a:cs typeface="Times New Roman"/>
                <a:sym typeface="Times New Roman"/>
              </a:rPr>
              <a:t>less</a:t>
            </a:r>
            <a:r>
              <a:rPr lang="en-US" sz="1800">
                <a:latin typeface="Times New Roman"/>
                <a:ea typeface="Times New Roman"/>
                <a:cs typeface="Times New Roman"/>
                <a:sym typeface="Times New Roman"/>
              </a:rPr>
              <a:t> than twice the highest frequency present in the signal. </a:t>
            </a:r>
            <a:endParaRPr sz="1800">
              <a:latin typeface="Times New Roman"/>
              <a:ea typeface="Times New Roman"/>
              <a:cs typeface="Times New Roman"/>
              <a:sym typeface="Times New Roman"/>
            </a:endParaRPr>
          </a:p>
          <a:p>
            <a:pPr indent="-342900" lvl="0" marL="457200" rtl="0" algn="just">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In images, the repetition is in space rather than signals sampled in time for digital audio. If the image data is not properly processed during sampling or reconstruction, the reconstructed image will differ from the original image, and an alias </a:t>
            </a:r>
            <a:r>
              <a:rPr lang="en-US" sz="1800">
                <a:latin typeface="Times New Roman"/>
                <a:ea typeface="Times New Roman"/>
                <a:cs typeface="Times New Roman"/>
                <a:sym typeface="Times New Roman"/>
              </a:rPr>
              <a:t>will be</a:t>
            </a:r>
            <a:r>
              <a:rPr lang="en-US" sz="1800">
                <a:latin typeface="Times New Roman"/>
                <a:ea typeface="Times New Roman"/>
                <a:cs typeface="Times New Roman"/>
                <a:sym typeface="Times New Roman"/>
              </a:rPr>
              <a:t> seen.</a:t>
            </a:r>
            <a:endParaRPr sz="1800">
              <a:latin typeface="Times New Roman"/>
              <a:ea typeface="Times New Roman"/>
              <a:cs typeface="Times New Roman"/>
              <a:sym typeface="Times New Roman"/>
            </a:endParaRPr>
          </a:p>
          <a:p>
            <a:pPr indent="-342900" lvl="0" marL="457200" rtl="0" algn="just">
              <a:spcBef>
                <a:spcPts val="0"/>
              </a:spcBef>
              <a:spcAft>
                <a:spcPts val="0"/>
              </a:spcAft>
              <a:buClr>
                <a:srgbClr val="0B5394"/>
              </a:buClr>
              <a:buSzPts val="1800"/>
              <a:buFont typeface="Times New Roman"/>
              <a:buChar char="■"/>
            </a:pPr>
            <a:r>
              <a:rPr lang="en-US" sz="1800">
                <a:solidFill>
                  <a:schemeClr val="dk1"/>
                </a:solidFill>
                <a:latin typeface="Times New Roman"/>
                <a:ea typeface="Times New Roman"/>
                <a:cs typeface="Times New Roman"/>
                <a:sym typeface="Times New Roman"/>
              </a:rPr>
              <a:t>An example of spatial aliasing is the moiré pattern one can observe in a poorly pixelized image. </a:t>
            </a:r>
            <a:endParaRPr sz="1800">
              <a:latin typeface="Times New Roman"/>
              <a:ea typeface="Times New Roman"/>
              <a:cs typeface="Times New Roman"/>
              <a:sym typeface="Times New Roman"/>
            </a:endParaRPr>
          </a:p>
          <a:p>
            <a:pPr indent="0" lvl="0" marL="0" rtl="0" algn="just">
              <a:spcBef>
                <a:spcPts val="0"/>
              </a:spcBef>
              <a:spcAft>
                <a:spcPts val="0"/>
              </a:spcAft>
              <a:buNone/>
            </a:pPr>
            <a:r>
              <a:t/>
            </a:r>
            <a:endParaRPr/>
          </a:p>
        </p:txBody>
      </p:sp>
      <p:pic>
        <p:nvPicPr>
          <p:cNvPr id="113" name="Google Shape;113;g3bb5fbf5691_0_28"/>
          <p:cNvPicPr preferRelativeResize="0"/>
          <p:nvPr/>
        </p:nvPicPr>
        <p:blipFill rotWithShape="1">
          <a:blip r:embed="rId4">
            <a:alphaModFix/>
          </a:blip>
          <a:srcRect b="0" l="0" r="0" t="0"/>
          <a:stretch/>
        </p:blipFill>
        <p:spPr>
          <a:xfrm>
            <a:off x="3088375" y="3777850"/>
            <a:ext cx="3518726" cy="2075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7" name="Shape 117"/>
        <p:cNvGrpSpPr/>
        <p:nvPr/>
      </p:nvGrpSpPr>
      <p:grpSpPr>
        <a:xfrm>
          <a:off x="0" y="0"/>
          <a:ext cx="0" cy="0"/>
          <a:chOff x="0" y="0"/>
          <a:chExt cx="0" cy="0"/>
        </a:xfrm>
      </p:grpSpPr>
      <p:sp>
        <p:nvSpPr>
          <p:cNvPr id="118" name="Google Shape;118;g3bb5fbf5691_0_5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19" name="Google Shape;119;g3bb5fbf5691_0_5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0" name="Google Shape;120;g3bb5fbf5691_0_5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Line Segments</a:t>
            </a:r>
            <a:endParaRPr sz="3800">
              <a:solidFill>
                <a:schemeClr val="lt1"/>
              </a:solidFill>
              <a:latin typeface="Calibri"/>
              <a:ea typeface="Calibri"/>
              <a:cs typeface="Calibri"/>
              <a:sym typeface="Calibri"/>
            </a:endParaRPr>
          </a:p>
        </p:txBody>
      </p:sp>
      <p:pic>
        <p:nvPicPr>
          <p:cNvPr id="121" name="Google Shape;121;g3bb5fbf5691_0_5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22" name="Google Shape;122;g3bb5fbf5691_0_52"/>
          <p:cNvSpPr txBox="1"/>
          <p:nvPr/>
        </p:nvSpPr>
        <p:spPr>
          <a:xfrm>
            <a:off x="181675" y="1023775"/>
            <a:ext cx="8333700" cy="16725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If we tried to sample a line segment so it would map to a 2D raster display.</a:t>
            </a:r>
            <a:endParaRPr sz="2000">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We would see stair steps, or jaggies Since we “quantized” the pixel values to 0 or 1</a:t>
            </a:r>
            <a:endParaRPr sz="2000">
              <a:solidFill>
                <a:srgbClr val="434343"/>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None/>
            </a:pPr>
            <a:r>
              <a:rPr b="0" i="0" lang="en-US" sz="2000" u="none" cap="none" strike="noStrike">
                <a:solidFill>
                  <a:srgbClr val="434343"/>
                </a:solidFill>
                <a:latin typeface="Times New Roman"/>
                <a:ea typeface="Times New Roman"/>
                <a:cs typeface="Times New Roman"/>
                <a:sym typeface="Times New Roman"/>
              </a:rPr>
              <a:t>    </a:t>
            </a:r>
            <a:endParaRPr b="0" i="0" sz="2000" u="none" cap="none" strike="noStrike">
              <a:solidFill>
                <a:srgbClr val="434343"/>
              </a:solidFill>
              <a:latin typeface="Times New Roman"/>
              <a:ea typeface="Times New Roman"/>
              <a:cs typeface="Times New Roman"/>
              <a:sym typeface="Times New Roman"/>
            </a:endParaRPr>
          </a:p>
        </p:txBody>
      </p:sp>
      <p:sp>
        <p:nvSpPr>
          <p:cNvPr id="123" name="Google Shape;123;g3bb5fbf5691_0_52"/>
          <p:cNvSpPr txBox="1"/>
          <p:nvPr/>
        </p:nvSpPr>
        <p:spPr>
          <a:xfrm>
            <a:off x="325600" y="504201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124" name="Google Shape;124;g3bb5fbf5691_0_52"/>
          <p:cNvSpPr/>
          <p:nvPr/>
        </p:nvSpPr>
        <p:spPr>
          <a:xfrm>
            <a:off x="266695" y="3559030"/>
            <a:ext cx="8564100" cy="2094900"/>
          </a:xfrm>
          <a:prstGeom prst="rect">
            <a:avLst/>
          </a:pr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 name="Google Shape;125;g3bb5fbf5691_0_52"/>
          <p:cNvCxnSpPr/>
          <p:nvPr/>
        </p:nvCxnSpPr>
        <p:spPr>
          <a:xfrm flipH="1" rot="10800000">
            <a:off x="505375" y="3939070"/>
            <a:ext cx="7998600" cy="1385400"/>
          </a:xfrm>
          <a:prstGeom prst="straightConnector1">
            <a:avLst/>
          </a:prstGeom>
          <a:noFill/>
          <a:ln cap="flat" cmpd="sng" w="38150">
            <a:solidFill>
              <a:srgbClr val="4F81BD"/>
            </a:solidFill>
            <a:prstDash val="solid"/>
            <a:round/>
            <a:headEnd len="sm" w="sm" type="none"/>
            <a:tailEnd len="sm" w="sm" type="none"/>
          </a:ln>
        </p:spPr>
      </p:cxnSp>
      <p:cxnSp>
        <p:nvCxnSpPr>
          <p:cNvPr id="126" name="Google Shape;126;g3bb5fbf5691_0_52"/>
          <p:cNvCxnSpPr/>
          <p:nvPr/>
        </p:nvCxnSpPr>
        <p:spPr>
          <a:xfrm flipH="1">
            <a:off x="4609075" y="3415750"/>
            <a:ext cx="47100" cy="71700"/>
          </a:xfrm>
          <a:prstGeom prst="straightConnector1">
            <a:avLst/>
          </a:prstGeom>
          <a:noFill/>
          <a:ln cap="flat" cmpd="sng" w="9525">
            <a:solidFill>
              <a:srgbClr val="EEECE1"/>
            </a:solidFill>
            <a:prstDash val="solid"/>
            <a:round/>
            <a:headEnd len="sm" w="sm" type="none"/>
            <a:tailEnd len="sm" w="sm" type="none"/>
          </a:ln>
        </p:spPr>
      </p:cxnSp>
      <p:cxnSp>
        <p:nvCxnSpPr>
          <p:cNvPr id="127" name="Google Shape;127;g3bb5fbf5691_0_52"/>
          <p:cNvCxnSpPr/>
          <p:nvPr/>
        </p:nvCxnSpPr>
        <p:spPr>
          <a:xfrm flipH="1" rot="10800000">
            <a:off x="4533415" y="3443890"/>
            <a:ext cx="75600" cy="43500"/>
          </a:xfrm>
          <a:prstGeom prst="straightConnector1">
            <a:avLst/>
          </a:prstGeom>
          <a:noFill/>
          <a:ln cap="flat" cmpd="sng" w="9525">
            <a:solidFill>
              <a:srgbClr val="EEECE1"/>
            </a:solidFill>
            <a:prstDash val="solid"/>
            <a:round/>
            <a:headEnd len="sm" w="sm" type="none"/>
            <a:tailEnd len="sm" w="sm" type="none"/>
          </a:ln>
        </p:spPr>
      </p:cxnSp>
      <p:cxnSp>
        <p:nvCxnSpPr>
          <p:cNvPr id="128" name="Google Shape;128;g3bb5fbf5691_0_52"/>
          <p:cNvCxnSpPr/>
          <p:nvPr/>
        </p:nvCxnSpPr>
        <p:spPr>
          <a:xfrm>
            <a:off x="274615" y="2813110"/>
            <a:ext cx="8602500" cy="0"/>
          </a:xfrm>
          <a:prstGeom prst="straightConnector1">
            <a:avLst/>
          </a:prstGeom>
          <a:noFill/>
          <a:ln cap="flat" cmpd="sng" w="9525">
            <a:solidFill>
              <a:srgbClr val="EEECE1"/>
            </a:solidFill>
            <a:prstDash val="solid"/>
            <a:round/>
            <a:headEnd len="sm" w="sm" type="none"/>
            <a:tailEnd len="sm" w="sm" type="none"/>
          </a:ln>
        </p:spPr>
      </p:cxnSp>
      <p:cxnSp>
        <p:nvCxnSpPr>
          <p:cNvPr id="129" name="Google Shape;129;g3bb5fbf5691_0_52"/>
          <p:cNvCxnSpPr/>
          <p:nvPr/>
        </p:nvCxnSpPr>
        <p:spPr>
          <a:xfrm flipH="1" rot="10800000">
            <a:off x="8112895" y="2956390"/>
            <a:ext cx="764400" cy="43200"/>
          </a:xfrm>
          <a:prstGeom prst="straightConnector1">
            <a:avLst/>
          </a:prstGeom>
          <a:noFill/>
          <a:ln cap="flat" cmpd="sng" w="9525">
            <a:solidFill>
              <a:srgbClr val="EEECE1"/>
            </a:solidFill>
            <a:prstDash val="solid"/>
            <a:round/>
            <a:headEnd len="sm" w="sm" type="none"/>
            <a:tailEnd len="sm" w="sm" type="none"/>
          </a:ln>
        </p:spPr>
      </p:cxnSp>
      <p:cxnSp>
        <p:nvCxnSpPr>
          <p:cNvPr id="130" name="Google Shape;130;g3bb5fbf5691_0_52"/>
          <p:cNvCxnSpPr/>
          <p:nvPr/>
        </p:nvCxnSpPr>
        <p:spPr>
          <a:xfrm>
            <a:off x="274615" y="3099670"/>
            <a:ext cx="8602500" cy="0"/>
          </a:xfrm>
          <a:prstGeom prst="straightConnector1">
            <a:avLst/>
          </a:prstGeom>
          <a:noFill/>
          <a:ln cap="flat" cmpd="sng" w="9525">
            <a:solidFill>
              <a:srgbClr val="EEECE1"/>
            </a:solidFill>
            <a:prstDash val="solid"/>
            <a:round/>
            <a:headEnd len="sm" w="sm" type="none"/>
            <a:tailEnd len="sm" w="sm" type="none"/>
          </a:ln>
        </p:spPr>
      </p:cxnSp>
      <p:cxnSp>
        <p:nvCxnSpPr>
          <p:cNvPr id="131" name="Google Shape;131;g3bb5fbf5691_0_52"/>
          <p:cNvCxnSpPr/>
          <p:nvPr/>
        </p:nvCxnSpPr>
        <p:spPr>
          <a:xfrm>
            <a:off x="274615" y="3242590"/>
            <a:ext cx="8602500" cy="0"/>
          </a:xfrm>
          <a:prstGeom prst="straightConnector1">
            <a:avLst/>
          </a:prstGeom>
          <a:noFill/>
          <a:ln cap="flat" cmpd="sng" w="9525">
            <a:solidFill>
              <a:srgbClr val="EEECE1"/>
            </a:solidFill>
            <a:prstDash val="solid"/>
            <a:round/>
            <a:headEnd len="sm" w="sm" type="none"/>
            <a:tailEnd len="sm" w="sm" type="none"/>
          </a:ln>
        </p:spPr>
      </p:cxnSp>
      <p:cxnSp>
        <p:nvCxnSpPr>
          <p:cNvPr id="132" name="Google Shape;132;g3bb5fbf5691_0_52"/>
          <p:cNvCxnSpPr/>
          <p:nvPr/>
        </p:nvCxnSpPr>
        <p:spPr>
          <a:xfrm>
            <a:off x="274615" y="3385870"/>
            <a:ext cx="8602500" cy="0"/>
          </a:xfrm>
          <a:prstGeom prst="straightConnector1">
            <a:avLst/>
          </a:prstGeom>
          <a:noFill/>
          <a:ln cap="flat" cmpd="sng" w="9525">
            <a:solidFill>
              <a:srgbClr val="EEECE1"/>
            </a:solidFill>
            <a:prstDash val="solid"/>
            <a:round/>
            <a:headEnd len="sm" w="sm" type="none"/>
            <a:tailEnd len="sm" w="sm" type="none"/>
          </a:ln>
        </p:spPr>
      </p:cxnSp>
      <p:cxnSp>
        <p:nvCxnSpPr>
          <p:cNvPr id="133" name="Google Shape;133;g3bb5fbf5691_0_52"/>
          <p:cNvCxnSpPr/>
          <p:nvPr/>
        </p:nvCxnSpPr>
        <p:spPr>
          <a:xfrm>
            <a:off x="274615" y="3529150"/>
            <a:ext cx="8602500" cy="0"/>
          </a:xfrm>
          <a:prstGeom prst="straightConnector1">
            <a:avLst/>
          </a:prstGeom>
          <a:noFill/>
          <a:ln cap="flat" cmpd="sng" w="9525">
            <a:solidFill>
              <a:srgbClr val="EEECE1"/>
            </a:solidFill>
            <a:prstDash val="solid"/>
            <a:round/>
            <a:headEnd len="sm" w="sm" type="none"/>
            <a:tailEnd len="sm" w="sm" type="none"/>
          </a:ln>
        </p:spPr>
      </p:cxnSp>
      <p:cxnSp>
        <p:nvCxnSpPr>
          <p:cNvPr id="134" name="Google Shape;134;g3bb5fbf5691_0_52"/>
          <p:cNvCxnSpPr/>
          <p:nvPr/>
        </p:nvCxnSpPr>
        <p:spPr>
          <a:xfrm>
            <a:off x="274615" y="3672070"/>
            <a:ext cx="8602500" cy="0"/>
          </a:xfrm>
          <a:prstGeom prst="straightConnector1">
            <a:avLst/>
          </a:prstGeom>
          <a:noFill/>
          <a:ln cap="flat" cmpd="sng" w="9525">
            <a:solidFill>
              <a:srgbClr val="EEECE1"/>
            </a:solidFill>
            <a:prstDash val="solid"/>
            <a:round/>
            <a:headEnd len="sm" w="sm" type="none"/>
            <a:tailEnd len="sm" w="sm" type="none"/>
          </a:ln>
        </p:spPr>
      </p:cxnSp>
      <p:cxnSp>
        <p:nvCxnSpPr>
          <p:cNvPr id="135" name="Google Shape;135;g3bb5fbf5691_0_52"/>
          <p:cNvCxnSpPr/>
          <p:nvPr/>
        </p:nvCxnSpPr>
        <p:spPr>
          <a:xfrm>
            <a:off x="274615" y="3815350"/>
            <a:ext cx="8602500" cy="0"/>
          </a:xfrm>
          <a:prstGeom prst="straightConnector1">
            <a:avLst/>
          </a:prstGeom>
          <a:noFill/>
          <a:ln cap="flat" cmpd="sng" w="9525">
            <a:solidFill>
              <a:srgbClr val="EEECE1"/>
            </a:solidFill>
            <a:prstDash val="solid"/>
            <a:round/>
            <a:headEnd len="sm" w="sm" type="none"/>
            <a:tailEnd len="sm" w="sm" type="none"/>
          </a:ln>
        </p:spPr>
      </p:cxnSp>
      <p:sp>
        <p:nvSpPr>
          <p:cNvPr id="136" name="Google Shape;136;g3bb5fbf5691_0_52"/>
          <p:cNvSpPr/>
          <p:nvPr/>
        </p:nvSpPr>
        <p:spPr>
          <a:xfrm>
            <a:off x="7791415" y="381859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bb5fbf5691_0_52"/>
          <p:cNvSpPr/>
          <p:nvPr/>
        </p:nvSpPr>
        <p:spPr>
          <a:xfrm>
            <a:off x="4597135" y="4279390"/>
            <a:ext cx="10014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bb5fbf5691_0_52"/>
          <p:cNvSpPr/>
          <p:nvPr/>
        </p:nvSpPr>
        <p:spPr>
          <a:xfrm>
            <a:off x="4605415" y="4528510"/>
            <a:ext cx="10014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bb5fbf5691_0_52"/>
          <p:cNvSpPr/>
          <p:nvPr/>
        </p:nvSpPr>
        <p:spPr>
          <a:xfrm>
            <a:off x="3490135" y="451951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bb5fbf5691_0_52"/>
          <p:cNvSpPr/>
          <p:nvPr/>
        </p:nvSpPr>
        <p:spPr>
          <a:xfrm>
            <a:off x="3502735" y="4744510"/>
            <a:ext cx="10014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3bb5fbf5691_0_52"/>
          <p:cNvSpPr/>
          <p:nvPr/>
        </p:nvSpPr>
        <p:spPr>
          <a:xfrm>
            <a:off x="2463415" y="474595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bb5fbf5691_0_52"/>
          <p:cNvSpPr/>
          <p:nvPr/>
        </p:nvSpPr>
        <p:spPr>
          <a:xfrm>
            <a:off x="2505175" y="498319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bb5fbf5691_0_52"/>
          <p:cNvSpPr/>
          <p:nvPr/>
        </p:nvSpPr>
        <p:spPr>
          <a:xfrm>
            <a:off x="312775" y="498463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bb5fbf5691_0_52"/>
          <p:cNvSpPr/>
          <p:nvPr/>
        </p:nvSpPr>
        <p:spPr>
          <a:xfrm>
            <a:off x="1398535" y="498751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bb5fbf5691_0_52"/>
          <p:cNvSpPr/>
          <p:nvPr/>
        </p:nvSpPr>
        <p:spPr>
          <a:xfrm>
            <a:off x="291895" y="5224750"/>
            <a:ext cx="10014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bb5fbf5691_0_52"/>
          <p:cNvSpPr/>
          <p:nvPr/>
        </p:nvSpPr>
        <p:spPr>
          <a:xfrm>
            <a:off x="6793855" y="4055470"/>
            <a:ext cx="10014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bb5fbf5691_0_52"/>
          <p:cNvSpPr/>
          <p:nvPr/>
        </p:nvSpPr>
        <p:spPr>
          <a:xfrm>
            <a:off x="5645095" y="428227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bb5fbf5691_0_52"/>
          <p:cNvSpPr/>
          <p:nvPr/>
        </p:nvSpPr>
        <p:spPr>
          <a:xfrm>
            <a:off x="5712055" y="4067350"/>
            <a:ext cx="1005900" cy="211200"/>
          </a:xfrm>
          <a:prstGeom prst="rect">
            <a:avLst/>
          </a:prstGeom>
          <a:solidFill>
            <a:srgbClr val="4F81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2" name="Shape 152"/>
        <p:cNvGrpSpPr/>
        <p:nvPr/>
      </p:nvGrpSpPr>
      <p:grpSpPr>
        <a:xfrm>
          <a:off x="0" y="0"/>
          <a:ext cx="0" cy="0"/>
          <a:chOff x="0" y="0"/>
          <a:chExt cx="0" cy="0"/>
        </a:xfrm>
      </p:grpSpPr>
      <p:sp>
        <p:nvSpPr>
          <p:cNvPr id="153" name="Google Shape;153;g3bb5fbf5691_0_39"/>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54" name="Google Shape;154;g3bb5fbf5691_0_39"/>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5" name="Google Shape;155;g3bb5fbf5691_0_39"/>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Anti-aliasing: Definition</a:t>
            </a:r>
            <a:endParaRPr sz="3800">
              <a:solidFill>
                <a:schemeClr val="lt1"/>
              </a:solidFill>
              <a:latin typeface="Calibri"/>
              <a:ea typeface="Calibri"/>
              <a:cs typeface="Calibri"/>
              <a:sym typeface="Calibri"/>
            </a:endParaRPr>
          </a:p>
        </p:txBody>
      </p:sp>
      <p:pic>
        <p:nvPicPr>
          <p:cNvPr id="156" name="Google Shape;156;g3bb5fbf5691_0_39"/>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57" name="Google Shape;157;g3bb5fbf5691_0_39"/>
          <p:cNvSpPr txBox="1"/>
          <p:nvPr/>
        </p:nvSpPr>
        <p:spPr>
          <a:xfrm>
            <a:off x="219675" y="1271700"/>
            <a:ext cx="3886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900"/>
              <a:buFont typeface="Arial"/>
              <a:buNone/>
            </a:pPr>
            <a:r>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900"/>
              <a:buFont typeface="Arial"/>
              <a:buNone/>
            </a:pPr>
            <a:r>
              <a:rPr b="0" i="0" lang="en-US" sz="1900" u="none" cap="none" strike="noStrike">
                <a:solidFill>
                  <a:schemeClr val="dk1"/>
                </a:solidFill>
                <a:latin typeface="Times New Roman"/>
                <a:ea typeface="Times New Roman"/>
                <a:cs typeface="Times New Roman"/>
                <a:sym typeface="Times New Roman"/>
              </a:rPr>
              <a:t> </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 name="Google Shape;158;g3bb5fbf5691_0_39"/>
          <p:cNvSpPr txBox="1"/>
          <p:nvPr/>
        </p:nvSpPr>
        <p:spPr>
          <a:xfrm>
            <a:off x="445100" y="1071850"/>
            <a:ext cx="8284200" cy="2339700"/>
          </a:xfrm>
          <a:prstGeom prst="rect">
            <a:avLst/>
          </a:prstGeom>
          <a:noFill/>
          <a:ln>
            <a:noFill/>
          </a:ln>
        </p:spPr>
        <p:txBody>
          <a:bodyPr anchorCtr="0" anchor="t" bIns="91425" lIns="91425" spcFirstLastPara="1" rIns="91425" wrap="square" tIns="91425">
            <a:spAutoFit/>
          </a:bodyPr>
          <a:lstStyle/>
          <a:p>
            <a:pPr indent="-355600" lvl="0" marL="457200" rtl="0" algn="just">
              <a:spcBef>
                <a:spcPts val="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Anti-aliasing is a technique used in digital imaging to reduce the visual defects that occur when high-resolution images are presented </a:t>
            </a:r>
            <a:r>
              <a:rPr lang="en-US" sz="2000">
                <a:latin typeface="Times New Roman"/>
                <a:ea typeface="Times New Roman"/>
                <a:cs typeface="Times New Roman"/>
                <a:sym typeface="Times New Roman"/>
              </a:rPr>
              <a:t>on lower-resolution</a:t>
            </a:r>
            <a:r>
              <a:rPr lang="en-US" sz="2000">
                <a:latin typeface="Times New Roman"/>
                <a:ea typeface="Times New Roman"/>
                <a:cs typeface="Times New Roman"/>
                <a:sym typeface="Times New Roman"/>
              </a:rPr>
              <a:t> output devices like the monitor or printer. </a:t>
            </a:r>
            <a:endParaRPr sz="2000">
              <a:latin typeface="Times New Roman"/>
              <a:ea typeface="Times New Roman"/>
              <a:cs typeface="Times New Roman"/>
              <a:sym typeface="Times New Roman"/>
            </a:endParaRPr>
          </a:p>
          <a:p>
            <a:pPr indent="-355600" lvl="0" marL="457200" rtl="0" algn="just">
              <a:spcBef>
                <a:spcPts val="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Aliasing manifests itself as jagged or stair-stepped lines (Also known as jaggies) on edges and objects that should otherwise be smooth.</a:t>
            </a:r>
            <a:endParaRPr sz="2000">
              <a:latin typeface="Times New Roman"/>
              <a:ea typeface="Times New Roman"/>
              <a:cs typeface="Times New Roman"/>
              <a:sym typeface="Times New Roman"/>
            </a:endParaRPr>
          </a:p>
          <a:p>
            <a:pPr indent="-355600" lvl="0" marL="457200" rtl="0" algn="just">
              <a:spcBef>
                <a:spcPts val="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 With sound, aliases are removed by eliminating frequencies above half the sampling frequencies.</a:t>
            </a:r>
            <a:endParaRPr sz="2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g3bb5fbf5691_0_10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64" name="Google Shape;164;g3bb5fbf5691_0_10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5" name="Google Shape;165;g3bb5fbf5691_0_101"/>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lang="en-US" sz="3400">
                <a:solidFill>
                  <a:schemeClr val="lt1"/>
                </a:solidFill>
                <a:latin typeface="Calibri"/>
                <a:ea typeface="Calibri"/>
                <a:cs typeface="Calibri"/>
                <a:sym typeface="Calibri"/>
              </a:rPr>
              <a:t>Before and After of Anti-Aliasing</a:t>
            </a:r>
            <a:endParaRPr b="0" i="0" sz="3400" u="none" cap="none" strike="noStrike">
              <a:solidFill>
                <a:schemeClr val="lt1"/>
              </a:solidFill>
              <a:latin typeface="Calibri"/>
              <a:ea typeface="Calibri"/>
              <a:cs typeface="Calibri"/>
              <a:sym typeface="Calibri"/>
            </a:endParaRPr>
          </a:p>
        </p:txBody>
      </p:sp>
      <p:pic>
        <p:nvPicPr>
          <p:cNvPr id="166" name="Google Shape;166;g3bb5fbf5691_0_10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pic>
        <p:nvPicPr>
          <p:cNvPr id="167" name="Google Shape;167;g3bb5fbf5691_0_101"/>
          <p:cNvPicPr preferRelativeResize="0"/>
          <p:nvPr/>
        </p:nvPicPr>
        <p:blipFill rotWithShape="1">
          <a:blip r:embed="rId4">
            <a:alphaModFix/>
          </a:blip>
          <a:srcRect b="0" l="0" r="0" t="0"/>
          <a:stretch/>
        </p:blipFill>
        <p:spPr>
          <a:xfrm>
            <a:off x="304920" y="1676520"/>
            <a:ext cx="4114440" cy="3809520"/>
          </a:xfrm>
          <a:prstGeom prst="rect">
            <a:avLst/>
          </a:prstGeom>
          <a:noFill/>
          <a:ln>
            <a:noFill/>
          </a:ln>
        </p:spPr>
      </p:pic>
      <p:pic>
        <p:nvPicPr>
          <p:cNvPr id="168" name="Google Shape;168;g3bb5fbf5691_0_101"/>
          <p:cNvPicPr preferRelativeResize="0"/>
          <p:nvPr/>
        </p:nvPicPr>
        <p:blipFill rotWithShape="1">
          <a:blip r:embed="rId5">
            <a:alphaModFix/>
          </a:blip>
          <a:srcRect b="0" l="0" r="0" t="0"/>
          <a:stretch/>
        </p:blipFill>
        <p:spPr>
          <a:xfrm>
            <a:off x="4724280" y="1676520"/>
            <a:ext cx="4114440" cy="3809520"/>
          </a:xfrm>
          <a:prstGeom prst="rect">
            <a:avLst/>
          </a:prstGeom>
          <a:noFill/>
          <a:ln>
            <a:noFill/>
          </a:ln>
        </p:spPr>
      </p:pic>
      <p:sp>
        <p:nvSpPr>
          <p:cNvPr id="169" name="Google Shape;169;g3bb5fbf5691_0_101"/>
          <p:cNvSpPr/>
          <p:nvPr/>
        </p:nvSpPr>
        <p:spPr>
          <a:xfrm>
            <a:off x="726675" y="5556925"/>
            <a:ext cx="3433500" cy="9162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1800" u="none" cap="none" strike="noStrike">
                <a:solidFill>
                  <a:srgbClr val="980000"/>
                </a:solidFill>
                <a:latin typeface="Calibri"/>
                <a:ea typeface="Calibri"/>
                <a:cs typeface="Calibri"/>
                <a:sym typeface="Calibri"/>
              </a:rPr>
              <a:t>Aliased polygons</a:t>
            </a:r>
            <a:r>
              <a:rPr b="1" lang="en-US">
                <a:solidFill>
                  <a:srgbClr val="980000"/>
                </a:solidFill>
              </a:rPr>
              <a:t> </a:t>
            </a:r>
            <a:r>
              <a:rPr b="1" i="0" lang="en-US" sz="1800" u="none" cap="none" strike="noStrike">
                <a:solidFill>
                  <a:srgbClr val="980000"/>
                </a:solidFill>
                <a:latin typeface="Calibri"/>
                <a:ea typeface="Calibri"/>
                <a:cs typeface="Calibri"/>
                <a:sym typeface="Calibri"/>
              </a:rPr>
              <a:t>(jagged </a:t>
            </a:r>
            <a:r>
              <a:rPr b="1" lang="en-US" sz="1800">
                <a:solidFill>
                  <a:srgbClr val="980000"/>
                </a:solidFill>
                <a:latin typeface="Calibri"/>
                <a:ea typeface="Calibri"/>
                <a:cs typeface="Calibri"/>
                <a:sym typeface="Calibri"/>
              </a:rPr>
              <a:t>edges) </a:t>
            </a:r>
            <a:endParaRPr b="1">
              <a:solidFill>
                <a:srgbClr val="980000"/>
              </a:solidFill>
            </a:endParaRPr>
          </a:p>
        </p:txBody>
      </p:sp>
      <p:sp>
        <p:nvSpPr>
          <p:cNvPr id="170" name="Google Shape;170;g3bb5fbf5691_0_101"/>
          <p:cNvSpPr/>
          <p:nvPr/>
        </p:nvSpPr>
        <p:spPr>
          <a:xfrm>
            <a:off x="4812725" y="5599900"/>
            <a:ext cx="4026000" cy="6426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rPr b="1" i="0" lang="en-US" sz="1800" u="none" cap="none" strike="noStrike">
                <a:solidFill>
                  <a:srgbClr val="980000"/>
                </a:solidFill>
                <a:latin typeface="Calibri"/>
                <a:ea typeface="Calibri"/>
                <a:cs typeface="Calibri"/>
                <a:sym typeface="Calibri"/>
              </a:rPr>
              <a:t>Anti-aliased polygons</a:t>
            </a:r>
            <a:r>
              <a:rPr b="1" lang="en-US">
                <a:solidFill>
                  <a:srgbClr val="980000"/>
                </a:solidFill>
              </a:rPr>
              <a:t> </a:t>
            </a:r>
            <a:r>
              <a:rPr b="1" i="0" lang="en-US" sz="1800" u="none" cap="none" strike="noStrike">
                <a:solidFill>
                  <a:srgbClr val="980000"/>
                </a:solidFill>
                <a:latin typeface="Calibri"/>
                <a:ea typeface="Calibri"/>
                <a:cs typeface="Calibri"/>
                <a:sym typeface="Calibri"/>
              </a:rPr>
              <a:t>(smoothed edges)</a:t>
            </a:r>
            <a:endParaRPr b="1">
              <a:solidFill>
                <a:srgbClr val="98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g3bb5fbf5691_0_12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6" name="Google Shape;176;g3bb5fbf5691_0_121"/>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What Does Anti-aliasing Do?</a:t>
            </a:r>
            <a:endParaRPr sz="3800">
              <a:solidFill>
                <a:schemeClr val="lt1"/>
              </a:solidFill>
              <a:latin typeface="Calibri"/>
              <a:ea typeface="Calibri"/>
              <a:cs typeface="Calibri"/>
              <a:sym typeface="Calibri"/>
            </a:endParaRPr>
          </a:p>
        </p:txBody>
      </p:sp>
      <p:pic>
        <p:nvPicPr>
          <p:cNvPr id="177" name="Google Shape;177;g3bb5fbf5691_0_12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78" name="Google Shape;178;g3bb5fbf5691_0_121"/>
          <p:cNvSpPr txBox="1"/>
          <p:nvPr/>
        </p:nvSpPr>
        <p:spPr>
          <a:xfrm>
            <a:off x="118250" y="1136975"/>
            <a:ext cx="8722500" cy="25962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Anti-aliasing makes these curved or slanting lines smooth again by adding a slight discoloration to the edges of the line or object, causing the jagged edges to blur and melt together. </a:t>
            </a:r>
            <a:endParaRPr sz="2000">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It also removes jagged edges by adding subtle color changes around the lines If the image is zoomed out a bit, the human eye can no longer notice the slight discoloration that antialiasing creates.</a:t>
            </a:r>
            <a:endParaRPr b="0" i="0" sz="2000" u="none" cap="none" strike="noStrike">
              <a:solidFill>
                <a:srgbClr val="434343"/>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000"/>
              <a:buFont typeface="Arial"/>
              <a:buNone/>
            </a:pPr>
            <a:r>
              <a:t/>
            </a:r>
            <a:endParaRPr b="0" i="0" sz="2000" u="none" cap="none" strike="noStrike">
              <a:solidFill>
                <a:srgbClr val="434343"/>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2" name="Shape 182"/>
        <p:cNvGrpSpPr/>
        <p:nvPr/>
      </p:nvGrpSpPr>
      <p:grpSpPr>
        <a:xfrm>
          <a:off x="0" y="0"/>
          <a:ext cx="0" cy="0"/>
          <a:chOff x="0" y="0"/>
          <a:chExt cx="0" cy="0"/>
        </a:xfrm>
      </p:grpSpPr>
      <p:sp>
        <p:nvSpPr>
          <p:cNvPr id="183" name="Google Shape;183;g3bb5fbf5691_0_19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84" name="Google Shape;184;g3bb5fbf5691_0_19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5" name="Google Shape;185;g3bb5fbf5691_0_19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Do We really need anti-aliasing?</a:t>
            </a:r>
            <a:endParaRPr b="0" i="0" sz="3800" u="none" cap="none" strike="noStrike">
              <a:solidFill>
                <a:schemeClr val="lt1"/>
              </a:solidFill>
              <a:latin typeface="Calibri"/>
              <a:ea typeface="Calibri"/>
              <a:cs typeface="Calibri"/>
              <a:sym typeface="Calibri"/>
            </a:endParaRPr>
          </a:p>
        </p:txBody>
      </p:sp>
      <p:pic>
        <p:nvPicPr>
          <p:cNvPr id="186" name="Google Shape;186;g3bb5fbf5691_0_19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87" name="Google Shape;187;g3bb5fbf5691_0_190"/>
          <p:cNvSpPr txBox="1"/>
          <p:nvPr/>
        </p:nvSpPr>
        <p:spPr>
          <a:xfrm>
            <a:off x="215900" y="1143000"/>
            <a:ext cx="8445600" cy="3453000"/>
          </a:xfrm>
          <a:prstGeom prst="rect">
            <a:avLst/>
          </a:prstGeom>
          <a:noFill/>
          <a:ln>
            <a:noFill/>
          </a:ln>
        </p:spPr>
        <p:txBody>
          <a:bodyPr anchorCtr="0" anchor="t" bIns="91425" lIns="91425" spcFirstLastPara="1" rIns="91425" wrap="square" tIns="91425">
            <a:spAutoFit/>
          </a:bodyPr>
          <a:lstStyle/>
          <a:p>
            <a:pPr indent="-349250" lvl="0" marL="457200" marR="0" rtl="0" algn="just">
              <a:lnSpc>
                <a:spcPct val="100000"/>
              </a:lnSpc>
              <a:spcBef>
                <a:spcPts val="1000"/>
              </a:spcBef>
              <a:spcAft>
                <a:spcPts val="0"/>
              </a:spcAft>
              <a:buClr>
                <a:srgbClr val="0B5394"/>
              </a:buClr>
              <a:buSzPts val="1900"/>
              <a:buFont typeface="Times New Roman"/>
              <a:buChar char="■"/>
            </a:pPr>
            <a:r>
              <a:rPr lang="en-US" sz="1900">
                <a:latin typeface="Times New Roman"/>
                <a:ea typeface="Times New Roman"/>
                <a:cs typeface="Times New Roman"/>
                <a:sym typeface="Times New Roman"/>
              </a:rPr>
              <a:t>Jaggies appear when an output device does not have a high enough resolution to represent a smooth line correctly.  The pixels that make up the screen of the monitor are all shaped in rectangles or squares. Because lighting up only half of one of these square pixels is not possible.</a:t>
            </a:r>
            <a:endParaRPr sz="1900">
              <a:latin typeface="Times New Roman"/>
              <a:ea typeface="Times New Roman"/>
              <a:cs typeface="Times New Roman"/>
              <a:sym typeface="Times New Roman"/>
            </a:endParaRPr>
          </a:p>
          <a:p>
            <a:pPr indent="-349250" lvl="0" marL="457200" marR="0" rtl="0" algn="just">
              <a:lnSpc>
                <a:spcPct val="100000"/>
              </a:lnSpc>
              <a:spcBef>
                <a:spcPts val="1000"/>
              </a:spcBef>
              <a:spcAft>
                <a:spcPts val="0"/>
              </a:spcAft>
              <a:buClr>
                <a:srgbClr val="0B5394"/>
              </a:buClr>
              <a:buSzPts val="1900"/>
              <a:buFont typeface="Times New Roman"/>
              <a:buChar char="■"/>
            </a:pPr>
            <a:r>
              <a:rPr lang="en-US" sz="1900">
                <a:latin typeface="Times New Roman"/>
                <a:ea typeface="Times New Roman"/>
                <a:cs typeface="Times New Roman"/>
                <a:sym typeface="Times New Roman"/>
              </a:rPr>
              <a:t>The jagged line effect can be minimized by increasing the resolution of the monitor, making the pixels small enough that the human eye cannot distinguish them individually. This is not a good solution, however, because images are displayed based on their resolution. A single image pixel may take up many monitor pixels, making it impossible for a higher-resolution monitor to mask the jagged edges. This is where anti-aliasing is required.</a:t>
            </a:r>
            <a:endParaRPr sz="19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id="192" name="Google Shape;192;g3bc93f8e738_0_8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93" name="Google Shape;193;g3bc93f8e738_0_8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4" name="Google Shape;194;g3bc93f8e738_0_8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Anti-Aliasing Techniques</a:t>
            </a:r>
            <a:endParaRPr sz="3800">
              <a:solidFill>
                <a:schemeClr val="lt1"/>
              </a:solidFill>
              <a:latin typeface="Calibri"/>
              <a:ea typeface="Calibri"/>
              <a:cs typeface="Calibri"/>
              <a:sym typeface="Calibri"/>
            </a:endParaRPr>
          </a:p>
        </p:txBody>
      </p:sp>
      <p:pic>
        <p:nvPicPr>
          <p:cNvPr id="195" name="Google Shape;195;g3bc93f8e738_0_8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196" name="Google Shape;196;g3bc93f8e738_0_80"/>
          <p:cNvSpPr txBox="1"/>
          <p:nvPr/>
        </p:nvSpPr>
        <p:spPr>
          <a:xfrm>
            <a:off x="225000" y="1013713"/>
            <a:ext cx="8445600" cy="431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97" name="Google Shape;197;g3bc93f8e738_0_80"/>
          <p:cNvSpPr txBox="1"/>
          <p:nvPr/>
        </p:nvSpPr>
        <p:spPr>
          <a:xfrm>
            <a:off x="363825" y="1389775"/>
            <a:ext cx="8306700" cy="3694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900">
                <a:latin typeface="Times New Roman"/>
                <a:ea typeface="Times New Roman"/>
                <a:cs typeface="Times New Roman"/>
                <a:sym typeface="Times New Roman"/>
              </a:rPr>
              <a:t>Anti-aliasing</a:t>
            </a:r>
            <a:r>
              <a:rPr lang="en-US" sz="1900">
                <a:latin typeface="Times New Roman"/>
                <a:ea typeface="Times New Roman"/>
                <a:cs typeface="Times New Roman"/>
                <a:sym typeface="Times New Roman"/>
              </a:rPr>
              <a:t>  techniques were developed to combat the effects of aliasing. There are three main classes of anti-aliasing algorithms :</a:t>
            </a:r>
            <a:endParaRPr sz="1900">
              <a:latin typeface="Times New Roman"/>
              <a:ea typeface="Times New Roman"/>
              <a:cs typeface="Times New Roman"/>
              <a:sym typeface="Times New Roman"/>
            </a:endParaRPr>
          </a:p>
          <a:p>
            <a:pPr indent="0" lvl="0" marL="0" rtl="0" algn="just">
              <a:spcBef>
                <a:spcPts val="0"/>
              </a:spcBef>
              <a:spcAft>
                <a:spcPts val="0"/>
              </a:spcAft>
              <a:buNone/>
            </a:pPr>
            <a:r>
              <a:t/>
            </a:r>
            <a:endParaRPr sz="1900">
              <a:latin typeface="Times New Roman"/>
              <a:ea typeface="Times New Roman"/>
              <a:cs typeface="Times New Roman"/>
              <a:sym typeface="Times New Roman"/>
            </a:endParaRPr>
          </a:p>
          <a:p>
            <a:pPr indent="0" lvl="0" marL="0" rtl="0" algn="just">
              <a:spcBef>
                <a:spcPts val="0"/>
              </a:spcBef>
              <a:spcAft>
                <a:spcPts val="0"/>
              </a:spcAft>
              <a:buNone/>
            </a:pPr>
            <a:r>
              <a:rPr lang="en-US" sz="1900">
                <a:latin typeface="Times New Roman"/>
                <a:ea typeface="Times New Roman"/>
                <a:cs typeface="Times New Roman"/>
                <a:sym typeface="Times New Roman"/>
              </a:rPr>
              <a:t>1. As </a:t>
            </a:r>
            <a:r>
              <a:rPr lang="en-US" sz="1900">
                <a:latin typeface="Times New Roman"/>
                <a:ea typeface="Times New Roman"/>
                <a:cs typeface="Times New Roman"/>
                <a:sym typeface="Times New Roman"/>
              </a:rPr>
              <a:t>the aliasing</a:t>
            </a:r>
            <a:r>
              <a:rPr lang="en-US" sz="1900">
                <a:latin typeface="Times New Roman"/>
                <a:ea typeface="Times New Roman"/>
                <a:cs typeface="Times New Roman"/>
                <a:sym typeface="Times New Roman"/>
              </a:rPr>
              <a:t> problem is due to low resolution, one easy solution is to increase the resolution. This increases the cost of image production.</a:t>
            </a:r>
            <a:endParaRPr sz="1900">
              <a:latin typeface="Times New Roman"/>
              <a:ea typeface="Times New Roman"/>
              <a:cs typeface="Times New Roman"/>
              <a:sym typeface="Times New Roman"/>
            </a:endParaRPr>
          </a:p>
          <a:p>
            <a:pPr indent="0" lvl="0" marL="0" rtl="0" algn="just">
              <a:spcBef>
                <a:spcPts val="0"/>
              </a:spcBef>
              <a:spcAft>
                <a:spcPts val="0"/>
              </a:spcAft>
              <a:buNone/>
            </a:pPr>
            <a:r>
              <a:t/>
            </a:r>
            <a:endParaRPr sz="1900">
              <a:latin typeface="Times New Roman"/>
              <a:ea typeface="Times New Roman"/>
              <a:cs typeface="Times New Roman"/>
              <a:sym typeface="Times New Roman"/>
            </a:endParaRPr>
          </a:p>
          <a:p>
            <a:pPr indent="0" lvl="0" marL="0" rtl="0" algn="just">
              <a:spcBef>
                <a:spcPts val="0"/>
              </a:spcBef>
              <a:spcAft>
                <a:spcPts val="0"/>
              </a:spcAft>
              <a:buNone/>
            </a:pPr>
            <a:r>
              <a:rPr lang="en-US" sz="1900">
                <a:latin typeface="Times New Roman"/>
                <a:ea typeface="Times New Roman"/>
                <a:cs typeface="Times New Roman"/>
                <a:sym typeface="Times New Roman"/>
              </a:rPr>
              <a:t>2. The image can be calculated by considering the intensities over a particular region. This is called </a:t>
            </a:r>
            <a:r>
              <a:rPr lang="en-US" sz="1900">
                <a:latin typeface="Times New Roman"/>
                <a:ea typeface="Times New Roman"/>
                <a:cs typeface="Times New Roman"/>
                <a:sym typeface="Times New Roman"/>
              </a:rPr>
              <a:t>area sampling.</a:t>
            </a: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0" rtl="0" algn="just">
              <a:spcBef>
                <a:spcPts val="0"/>
              </a:spcBef>
              <a:spcAft>
                <a:spcPts val="0"/>
              </a:spcAft>
              <a:buNone/>
            </a:pPr>
            <a:r>
              <a:t/>
            </a:r>
            <a:endParaRPr sz="1900">
              <a:latin typeface="Times New Roman"/>
              <a:ea typeface="Times New Roman"/>
              <a:cs typeface="Times New Roman"/>
              <a:sym typeface="Times New Roman"/>
            </a:endParaRPr>
          </a:p>
          <a:p>
            <a:pPr indent="0" lvl="0" marL="0" rtl="0" algn="just">
              <a:spcBef>
                <a:spcPts val="0"/>
              </a:spcBef>
              <a:spcAft>
                <a:spcPts val="0"/>
              </a:spcAft>
              <a:buNone/>
            </a:pPr>
            <a:r>
              <a:rPr lang="en-US" sz="1900">
                <a:latin typeface="Times New Roman"/>
                <a:ea typeface="Times New Roman"/>
                <a:cs typeface="Times New Roman"/>
                <a:sym typeface="Times New Roman"/>
              </a:rPr>
              <a:t> 3. The image is created at high resolution and then digitally filtered. This method is called supersampling or postfiltering and eliminates high </a:t>
            </a:r>
            <a:r>
              <a:rPr lang="en-US" sz="1900">
                <a:latin typeface="Times New Roman"/>
                <a:ea typeface="Times New Roman"/>
                <a:cs typeface="Times New Roman"/>
                <a:sym typeface="Times New Roman"/>
              </a:rPr>
              <a:t>frequencies,</a:t>
            </a:r>
            <a:r>
              <a:rPr lang="en-US" sz="1900">
                <a:latin typeface="Times New Roman"/>
                <a:ea typeface="Times New Roman"/>
                <a:cs typeface="Times New Roman"/>
                <a:sym typeface="Times New Roman"/>
              </a:rPr>
              <a:t> which are the source of aliases.</a:t>
            </a:r>
            <a:endParaRPr sz="19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1" name="Shape 201"/>
        <p:cNvGrpSpPr/>
        <p:nvPr/>
      </p:nvGrpSpPr>
      <p:grpSpPr>
        <a:xfrm>
          <a:off x="0" y="0"/>
          <a:ext cx="0" cy="0"/>
          <a:chOff x="0" y="0"/>
          <a:chExt cx="0" cy="0"/>
        </a:xfrm>
      </p:grpSpPr>
      <p:sp>
        <p:nvSpPr>
          <p:cNvPr id="202" name="Google Shape;202;g3bc93f8e738_0_146"/>
          <p:cNvSpPr txBox="1"/>
          <p:nvPr/>
        </p:nvSpPr>
        <p:spPr>
          <a:xfrm>
            <a:off x="2865450" y="6459375"/>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03" name="Google Shape;203;g3bc93f8e738_0_14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4" name="Google Shape;204;g3bc93f8e738_0_146"/>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1. Anti-Aliasing : Increasing Resolution</a:t>
            </a:r>
            <a:endParaRPr sz="3800">
              <a:solidFill>
                <a:schemeClr val="lt1"/>
              </a:solidFill>
              <a:latin typeface="Calibri"/>
              <a:ea typeface="Calibri"/>
              <a:cs typeface="Calibri"/>
              <a:sym typeface="Calibri"/>
            </a:endParaRPr>
          </a:p>
        </p:txBody>
      </p:sp>
      <p:pic>
        <p:nvPicPr>
          <p:cNvPr id="205" name="Google Shape;205;g3bc93f8e738_0_14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206" name="Google Shape;206;g3bc93f8e738_0_146"/>
          <p:cNvSpPr txBox="1"/>
          <p:nvPr/>
        </p:nvSpPr>
        <p:spPr>
          <a:xfrm>
            <a:off x="415750" y="1240788"/>
            <a:ext cx="8445600" cy="1585500"/>
          </a:xfrm>
          <a:prstGeom prst="rect">
            <a:avLst/>
          </a:prstGeom>
          <a:noFill/>
          <a:ln>
            <a:noFill/>
          </a:ln>
        </p:spPr>
        <p:txBody>
          <a:bodyPr anchorCtr="0" anchor="t" bIns="91425" lIns="91425" spcFirstLastPara="1" rIns="91425" wrap="square" tIns="91425">
            <a:spAutoFit/>
          </a:bodyPr>
          <a:lstStyle/>
          <a:p>
            <a:pPr indent="-387350" lvl="0" marL="457200" marR="0" rtl="0" algn="just">
              <a:lnSpc>
                <a:spcPct val="100000"/>
              </a:lnSpc>
              <a:spcBef>
                <a:spcPts val="0"/>
              </a:spcBef>
              <a:spcAft>
                <a:spcPts val="0"/>
              </a:spcAft>
              <a:buClr>
                <a:srgbClr val="0B5394"/>
              </a:buClr>
              <a:buSzPts val="2500"/>
              <a:buFont typeface="Times New Roman"/>
              <a:buChar char="■"/>
            </a:pPr>
            <a:r>
              <a:rPr lang="en-US" sz="2000">
                <a:latin typeface="Times New Roman"/>
                <a:ea typeface="Times New Roman"/>
                <a:cs typeface="Times New Roman"/>
                <a:sym typeface="Times New Roman"/>
              </a:rPr>
              <a:t>Doubling resolution in x and y</a:t>
            </a:r>
            <a:endParaRPr sz="2000">
              <a:latin typeface="Times New Roman"/>
              <a:ea typeface="Times New Roman"/>
              <a:cs typeface="Times New Roman"/>
              <a:sym typeface="Times New Roman"/>
            </a:endParaRPr>
          </a:p>
          <a:p>
            <a:pPr indent="-387350" lvl="0" marL="457200" marR="0" rtl="0" algn="just">
              <a:lnSpc>
                <a:spcPct val="100000"/>
              </a:lnSpc>
              <a:spcBef>
                <a:spcPts val="0"/>
              </a:spcBef>
              <a:spcAft>
                <a:spcPts val="0"/>
              </a:spcAft>
              <a:buClr>
                <a:srgbClr val="0B5394"/>
              </a:buClr>
              <a:buSzPts val="2500"/>
              <a:buFont typeface="Times New Roman"/>
              <a:buChar char="■"/>
            </a:pPr>
            <a:r>
              <a:rPr lang="en-US" sz="2000">
                <a:latin typeface="Times New Roman"/>
                <a:ea typeface="Times New Roman"/>
                <a:cs typeface="Times New Roman"/>
                <a:sym typeface="Times New Roman"/>
              </a:rPr>
              <a:t> This method only lessens the problem</a:t>
            </a:r>
            <a:endParaRPr sz="2000">
              <a:latin typeface="Times New Roman"/>
              <a:ea typeface="Times New Roman"/>
              <a:cs typeface="Times New Roman"/>
              <a:sym typeface="Times New Roman"/>
            </a:endParaRPr>
          </a:p>
          <a:p>
            <a:pPr indent="-387350" lvl="0" marL="457200" marR="0" rtl="0" algn="just">
              <a:lnSpc>
                <a:spcPct val="100000"/>
              </a:lnSpc>
              <a:spcBef>
                <a:spcPts val="0"/>
              </a:spcBef>
              <a:spcAft>
                <a:spcPts val="0"/>
              </a:spcAft>
              <a:buClr>
                <a:srgbClr val="0B5394"/>
              </a:buClr>
              <a:buSzPts val="2500"/>
              <a:buFont typeface="Times New Roman"/>
              <a:buChar char="■"/>
            </a:pPr>
            <a:r>
              <a:rPr lang="en-US" sz="2000">
                <a:latin typeface="Times New Roman"/>
                <a:ea typeface="Times New Roman"/>
                <a:cs typeface="Times New Roman"/>
                <a:sym typeface="Times New Roman"/>
              </a:rPr>
              <a:t>Costs 4 times memory, memory bandwidth and scan conversion time</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600"/>
              <a:buFont typeface="Arial"/>
              <a:buNone/>
            </a:pPr>
            <a:r>
              <a:t/>
            </a:r>
            <a:endParaRPr sz="1600">
              <a:latin typeface="Times New Roman"/>
              <a:ea typeface="Times New Roman"/>
              <a:cs typeface="Times New Roman"/>
              <a:sym typeface="Times New Roman"/>
            </a:endParaRPr>
          </a:p>
        </p:txBody>
      </p:sp>
      <p:pic>
        <p:nvPicPr>
          <p:cNvPr id="207" name="Google Shape;207;g3bc93f8e738_0_146"/>
          <p:cNvPicPr preferRelativeResize="0"/>
          <p:nvPr/>
        </p:nvPicPr>
        <p:blipFill rotWithShape="1">
          <a:blip r:embed="rId4">
            <a:alphaModFix/>
          </a:blip>
          <a:srcRect b="0" l="0" r="0" t="0"/>
          <a:stretch/>
        </p:blipFill>
        <p:spPr>
          <a:xfrm>
            <a:off x="987300" y="2826300"/>
            <a:ext cx="6542550" cy="2859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1" name="Shape 211"/>
        <p:cNvGrpSpPr/>
        <p:nvPr/>
      </p:nvGrpSpPr>
      <p:grpSpPr>
        <a:xfrm>
          <a:off x="0" y="0"/>
          <a:ext cx="0" cy="0"/>
          <a:chOff x="0" y="0"/>
          <a:chExt cx="0" cy="0"/>
        </a:xfrm>
      </p:grpSpPr>
      <p:sp>
        <p:nvSpPr>
          <p:cNvPr id="212" name="Google Shape;212;g3bb5fbf5691_0_15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13" name="Google Shape;213;g3bb5fbf5691_0_15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4" name="Google Shape;214;g3bb5fbf5691_0_15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2. Anti-Aliasing : Area Sampling</a:t>
            </a:r>
            <a:endParaRPr sz="3800">
              <a:solidFill>
                <a:schemeClr val="lt1"/>
              </a:solidFill>
              <a:latin typeface="Calibri"/>
              <a:ea typeface="Calibri"/>
              <a:cs typeface="Calibri"/>
              <a:sym typeface="Calibri"/>
            </a:endParaRPr>
          </a:p>
        </p:txBody>
      </p:sp>
      <p:pic>
        <p:nvPicPr>
          <p:cNvPr id="215" name="Google Shape;215;g3bb5fbf5691_0_15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216" name="Google Shape;216;g3bb5fbf5691_0_158"/>
          <p:cNvSpPr txBox="1"/>
          <p:nvPr/>
        </p:nvSpPr>
        <p:spPr>
          <a:xfrm>
            <a:off x="308825" y="1280775"/>
            <a:ext cx="8320500" cy="2339700"/>
          </a:xfrm>
          <a:prstGeom prst="rect">
            <a:avLst/>
          </a:prstGeom>
          <a:noFill/>
          <a:ln>
            <a:noFill/>
          </a:ln>
        </p:spPr>
        <p:txBody>
          <a:bodyPr anchorCtr="0" anchor="t" bIns="91425" lIns="91425" spcFirstLastPara="1" rIns="91425" wrap="square" tIns="91425">
            <a:spAutoFit/>
          </a:bodyPr>
          <a:lstStyle/>
          <a:p>
            <a:pPr indent="-406400" lvl="0" marL="457200" rtl="0" algn="just">
              <a:spcBef>
                <a:spcPts val="0"/>
              </a:spcBef>
              <a:spcAft>
                <a:spcPts val="0"/>
              </a:spcAft>
              <a:buSzPts val="2800"/>
              <a:buFont typeface="Times New Roman"/>
              <a:buChar char="■"/>
            </a:pPr>
            <a:r>
              <a:rPr lang="en-US" sz="2000">
                <a:latin typeface="Times New Roman"/>
                <a:ea typeface="Times New Roman"/>
                <a:cs typeface="Times New Roman"/>
                <a:sym typeface="Times New Roman"/>
              </a:rPr>
              <a:t>Area sampling approaches sample primitives with a box rather than spikes.</a:t>
            </a:r>
            <a:endParaRPr sz="2000">
              <a:latin typeface="Times New Roman"/>
              <a:ea typeface="Times New Roman"/>
              <a:cs typeface="Times New Roman"/>
              <a:sym typeface="Times New Roman"/>
            </a:endParaRPr>
          </a:p>
          <a:p>
            <a:pPr indent="-406400" lvl="1" marL="914400" rtl="0" algn="just">
              <a:spcBef>
                <a:spcPts val="0"/>
              </a:spcBef>
              <a:spcAft>
                <a:spcPts val="0"/>
              </a:spcAft>
              <a:buSzPts val="2800"/>
              <a:buFont typeface="Times New Roman"/>
              <a:buChar char="○"/>
            </a:pPr>
            <a:r>
              <a:rPr lang="en-US" sz="2000">
                <a:latin typeface="Times New Roman"/>
                <a:ea typeface="Times New Roman"/>
                <a:cs typeface="Times New Roman"/>
                <a:sym typeface="Times New Roman"/>
              </a:rPr>
              <a:t> Requires primitives that have area (lines with 1 pixel width).</a:t>
            </a:r>
            <a:endParaRPr sz="2000">
              <a:latin typeface="Times New Roman"/>
              <a:ea typeface="Times New Roman"/>
              <a:cs typeface="Times New Roman"/>
              <a:sym typeface="Times New Roman"/>
            </a:endParaRPr>
          </a:p>
          <a:p>
            <a:pPr indent="-406400" lvl="1" marL="914400" rtl="0" algn="just">
              <a:spcBef>
                <a:spcPts val="0"/>
              </a:spcBef>
              <a:spcAft>
                <a:spcPts val="0"/>
              </a:spcAft>
              <a:buSzPts val="2800"/>
              <a:buFont typeface="Times New Roman"/>
              <a:buChar char="○"/>
            </a:pPr>
            <a:r>
              <a:rPr lang="en-US" sz="2000">
                <a:latin typeface="Times New Roman"/>
                <a:ea typeface="Times New Roman"/>
                <a:cs typeface="Times New Roman"/>
                <a:sym typeface="Times New Roman"/>
              </a:rPr>
              <a:t>Sometimes referred to as pre-filtering.</a:t>
            </a:r>
            <a:endParaRPr sz="2000">
              <a:latin typeface="Times New Roman"/>
              <a:ea typeface="Times New Roman"/>
              <a:cs typeface="Times New Roman"/>
              <a:sym typeface="Times New Roman"/>
            </a:endParaRPr>
          </a:p>
          <a:p>
            <a:pPr indent="-406400" lvl="1" marL="914400" rtl="0" algn="just">
              <a:spcBef>
                <a:spcPts val="0"/>
              </a:spcBef>
              <a:spcAft>
                <a:spcPts val="0"/>
              </a:spcAft>
              <a:buSzPts val="2800"/>
              <a:buFont typeface="Times New Roman"/>
              <a:buChar char="○"/>
            </a:pPr>
            <a:r>
              <a:rPr lang="en-US" sz="2000">
                <a:latin typeface="Times New Roman"/>
                <a:ea typeface="Times New Roman"/>
                <a:cs typeface="Times New Roman"/>
                <a:sym typeface="Times New Roman"/>
              </a:rPr>
              <a:t> Shade pixels according to the area covered by thickened line.</a:t>
            </a:r>
            <a:endParaRPr sz="2000">
              <a:latin typeface="Times New Roman"/>
              <a:ea typeface="Times New Roman"/>
              <a:cs typeface="Times New Roman"/>
              <a:sym typeface="Times New Roman"/>
            </a:endParaRPr>
          </a:p>
          <a:p>
            <a:pPr indent="-406400" lvl="1" marL="914400" rtl="0" algn="just">
              <a:spcBef>
                <a:spcPts val="0"/>
              </a:spcBef>
              <a:spcAft>
                <a:spcPts val="0"/>
              </a:spcAft>
              <a:buSzPts val="2800"/>
              <a:buFont typeface="Times New Roman"/>
              <a:buChar char="○"/>
            </a:pPr>
            <a:r>
              <a:rPr lang="en-US" sz="2000">
                <a:latin typeface="Times New Roman"/>
                <a:ea typeface="Times New Roman"/>
                <a:cs typeface="Times New Roman"/>
                <a:sym typeface="Times New Roman"/>
              </a:rPr>
              <a:t> This is unweighted area sampling.</a:t>
            </a:r>
            <a:endParaRPr sz="2000">
              <a:latin typeface="Times New Roman"/>
              <a:ea typeface="Times New Roman"/>
              <a:cs typeface="Times New Roman"/>
              <a:sym typeface="Times New Roman"/>
            </a:endParaRPr>
          </a:p>
        </p:txBody>
      </p:sp>
      <p:sp>
        <p:nvSpPr>
          <p:cNvPr id="217" name="Google Shape;217;g3bb5fbf5691_0_158"/>
          <p:cNvSpPr/>
          <p:nvPr/>
        </p:nvSpPr>
        <p:spPr>
          <a:xfrm>
            <a:off x="3200400" y="3962520"/>
            <a:ext cx="2882400" cy="2230200"/>
          </a:xfrm>
          <a:prstGeom prst="rect">
            <a:avLst/>
          </a:prstGeom>
          <a:noFill/>
          <a:ln cap="flat"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8" name="Google Shape;218;g3bb5fbf5691_0_158"/>
          <p:cNvCxnSpPr/>
          <p:nvPr/>
        </p:nvCxnSpPr>
        <p:spPr>
          <a:xfrm>
            <a:off x="3203280" y="3930480"/>
            <a:ext cx="2895900" cy="0"/>
          </a:xfrm>
          <a:prstGeom prst="straightConnector1">
            <a:avLst/>
          </a:prstGeom>
          <a:noFill/>
          <a:ln cap="flat" cmpd="sng" w="9525">
            <a:solidFill>
              <a:srgbClr val="EEECE1"/>
            </a:solidFill>
            <a:prstDash val="solid"/>
            <a:round/>
            <a:headEnd len="sm" w="sm" type="none"/>
            <a:tailEnd len="sm" w="sm" type="none"/>
          </a:ln>
        </p:spPr>
      </p:cxnSp>
      <p:cxnSp>
        <p:nvCxnSpPr>
          <p:cNvPr id="219" name="Google Shape;219;g3bb5fbf5691_0_158"/>
          <p:cNvCxnSpPr/>
          <p:nvPr/>
        </p:nvCxnSpPr>
        <p:spPr>
          <a:xfrm>
            <a:off x="3203280" y="4082760"/>
            <a:ext cx="2895900" cy="0"/>
          </a:xfrm>
          <a:prstGeom prst="straightConnector1">
            <a:avLst/>
          </a:prstGeom>
          <a:noFill/>
          <a:ln cap="flat" cmpd="sng" w="9525">
            <a:solidFill>
              <a:srgbClr val="EEECE1"/>
            </a:solidFill>
            <a:prstDash val="solid"/>
            <a:round/>
            <a:headEnd len="sm" w="sm" type="none"/>
            <a:tailEnd len="sm" w="sm" type="none"/>
          </a:ln>
        </p:spPr>
      </p:cxnSp>
      <p:cxnSp>
        <p:nvCxnSpPr>
          <p:cNvPr id="220" name="Google Shape;220;g3bb5fbf5691_0_158"/>
          <p:cNvCxnSpPr/>
          <p:nvPr/>
        </p:nvCxnSpPr>
        <p:spPr>
          <a:xfrm>
            <a:off x="3203280" y="4235400"/>
            <a:ext cx="2895900" cy="0"/>
          </a:xfrm>
          <a:prstGeom prst="straightConnector1">
            <a:avLst/>
          </a:prstGeom>
          <a:noFill/>
          <a:ln cap="flat" cmpd="sng" w="9525">
            <a:solidFill>
              <a:srgbClr val="EEECE1"/>
            </a:solidFill>
            <a:prstDash val="solid"/>
            <a:round/>
            <a:headEnd len="sm" w="sm" type="none"/>
            <a:tailEnd len="sm" w="sm" type="none"/>
          </a:ln>
        </p:spPr>
      </p:cxnSp>
      <p:sp>
        <p:nvSpPr>
          <p:cNvPr id="221" name="Google Shape;221;g3bb5fbf5691_0_158"/>
          <p:cNvSpPr/>
          <p:nvPr/>
        </p:nvSpPr>
        <p:spPr>
          <a:xfrm>
            <a:off x="5732640" y="4238640"/>
            <a:ext cx="337800" cy="225000"/>
          </a:xfrm>
          <a:prstGeom prst="rect">
            <a:avLst/>
          </a:prstGeom>
          <a:solidFill>
            <a:srgbClr val="FFAF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bb5fbf5691_0_158"/>
          <p:cNvSpPr/>
          <p:nvPr/>
        </p:nvSpPr>
        <p:spPr>
          <a:xfrm>
            <a:off x="4657680" y="4729320"/>
            <a:ext cx="337800" cy="225000"/>
          </a:xfrm>
          <a:prstGeom prst="rect">
            <a:avLst/>
          </a:prstGeom>
          <a:solidFill>
            <a:srgbClr val="FFC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bb5fbf5691_0_158"/>
          <p:cNvSpPr/>
          <p:nvPr/>
        </p:nvSpPr>
        <p:spPr>
          <a:xfrm>
            <a:off x="4660920" y="4994280"/>
            <a:ext cx="337800" cy="225000"/>
          </a:xfrm>
          <a:prstGeom prst="rect">
            <a:avLst/>
          </a:prstGeom>
          <a:solidFill>
            <a:srgbClr val="FFD4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bb5fbf5691_0_158"/>
          <p:cNvSpPr/>
          <p:nvPr/>
        </p:nvSpPr>
        <p:spPr>
          <a:xfrm>
            <a:off x="4286160" y="4984920"/>
            <a:ext cx="337800" cy="225000"/>
          </a:xfrm>
          <a:prstGeom prst="rect">
            <a:avLst/>
          </a:prstGeom>
          <a:solidFill>
            <a:srgbClr val="FFC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bb5fbf5691_0_158"/>
          <p:cNvSpPr/>
          <p:nvPr/>
        </p:nvSpPr>
        <p:spPr>
          <a:xfrm>
            <a:off x="4289400" y="5224320"/>
            <a:ext cx="337800" cy="225000"/>
          </a:xfrm>
          <a:prstGeom prst="rect">
            <a:avLst/>
          </a:prstGeom>
          <a:solidFill>
            <a:srgbClr val="FFC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g3bb5fbf5691_0_158"/>
          <p:cNvSpPr/>
          <p:nvPr/>
        </p:nvSpPr>
        <p:spPr>
          <a:xfrm>
            <a:off x="3940200" y="5226120"/>
            <a:ext cx="337800" cy="225000"/>
          </a:xfrm>
          <a:prstGeom prst="rect">
            <a:avLst/>
          </a:prstGeom>
          <a:solidFill>
            <a:srgbClr val="FFB2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bb5fbf5691_0_158"/>
          <p:cNvSpPr/>
          <p:nvPr/>
        </p:nvSpPr>
        <p:spPr>
          <a:xfrm>
            <a:off x="3954600" y="5478480"/>
            <a:ext cx="337800" cy="225000"/>
          </a:xfrm>
          <a:prstGeom prst="rect">
            <a:avLst/>
          </a:prstGeom>
          <a:solidFill>
            <a:srgbClr val="FFD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bb5fbf5691_0_158"/>
          <p:cNvSpPr/>
          <p:nvPr/>
        </p:nvSpPr>
        <p:spPr>
          <a:xfrm>
            <a:off x="3216240" y="5479920"/>
            <a:ext cx="337800" cy="225000"/>
          </a:xfrm>
          <a:prstGeom prst="rect">
            <a:avLst/>
          </a:prstGeom>
          <a:solidFill>
            <a:srgbClr val="FFCE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bb5fbf5691_0_158"/>
          <p:cNvSpPr/>
          <p:nvPr/>
        </p:nvSpPr>
        <p:spPr>
          <a:xfrm>
            <a:off x="3581280" y="5483160"/>
            <a:ext cx="337800" cy="225000"/>
          </a:xfrm>
          <a:prstGeom prst="rect">
            <a:avLst/>
          </a:prstGeom>
          <a:solidFill>
            <a:srgbClr val="FFA1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bb5fbf5691_0_158"/>
          <p:cNvSpPr/>
          <p:nvPr/>
        </p:nvSpPr>
        <p:spPr>
          <a:xfrm>
            <a:off x="3208320" y="5735520"/>
            <a:ext cx="337800" cy="225000"/>
          </a:xfrm>
          <a:prstGeom prst="rect">
            <a:avLst/>
          </a:prstGeom>
          <a:solidFill>
            <a:srgbClr val="FFC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bb5fbf5691_0_158"/>
          <p:cNvSpPr/>
          <p:nvPr/>
        </p:nvSpPr>
        <p:spPr>
          <a:xfrm>
            <a:off x="5397480" y="4491000"/>
            <a:ext cx="337800" cy="225000"/>
          </a:xfrm>
          <a:prstGeom prst="rect">
            <a:avLst/>
          </a:prstGeom>
          <a:solidFill>
            <a:srgbClr val="FFAC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bb5fbf5691_0_158"/>
          <p:cNvSpPr/>
          <p:nvPr/>
        </p:nvSpPr>
        <p:spPr>
          <a:xfrm>
            <a:off x="5024520" y="4732200"/>
            <a:ext cx="337800" cy="225000"/>
          </a:xfrm>
          <a:prstGeom prst="rect">
            <a:avLst/>
          </a:prstGeom>
          <a:solidFill>
            <a:srgbClr val="FFB5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bb5fbf5691_0_158"/>
          <p:cNvSpPr/>
          <p:nvPr/>
        </p:nvSpPr>
        <p:spPr>
          <a:xfrm>
            <a:off x="5033880" y="4503600"/>
            <a:ext cx="337800" cy="225000"/>
          </a:xfrm>
          <a:prstGeom prst="rect">
            <a:avLst/>
          </a:prstGeom>
          <a:solidFill>
            <a:srgbClr val="FFE9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4" name="Google Shape;234;g3bb5fbf5691_0_158"/>
          <p:cNvCxnSpPr/>
          <p:nvPr/>
        </p:nvCxnSpPr>
        <p:spPr>
          <a:xfrm flipH="1" rot="10800000">
            <a:off x="3357360" y="4443240"/>
            <a:ext cx="2692500" cy="1474800"/>
          </a:xfrm>
          <a:prstGeom prst="straightConnector1">
            <a:avLst/>
          </a:prstGeom>
          <a:noFill/>
          <a:ln cap="flat" cmpd="sng" w="38150">
            <a:solidFill>
              <a:srgbClr val="0000FF"/>
            </a:solidFill>
            <a:prstDash val="solid"/>
            <a:round/>
            <a:headEnd len="sm" w="sm" type="none"/>
            <a:tailEnd len="sm" w="sm" type="none"/>
          </a:ln>
        </p:spPr>
      </p:cxnSp>
      <p:cxnSp>
        <p:nvCxnSpPr>
          <p:cNvPr id="235" name="Google Shape;235;g3bb5fbf5691_0_158"/>
          <p:cNvCxnSpPr/>
          <p:nvPr/>
        </p:nvCxnSpPr>
        <p:spPr>
          <a:xfrm flipH="1" rot="10800000">
            <a:off x="3268440" y="4240200"/>
            <a:ext cx="2692500" cy="1474800"/>
          </a:xfrm>
          <a:prstGeom prst="straightConnector1">
            <a:avLst/>
          </a:prstGeom>
          <a:noFill/>
          <a:ln cap="flat" cmpd="sng" w="38150">
            <a:solidFill>
              <a:srgbClr val="0000FF"/>
            </a:solidFill>
            <a:prstDash val="solid"/>
            <a:round/>
            <a:headEnd len="sm" w="sm" type="none"/>
            <a:tailEnd len="sm" w="sm" type="none"/>
          </a:ln>
        </p:spPr>
      </p:cxnSp>
      <p:cxnSp>
        <p:nvCxnSpPr>
          <p:cNvPr id="236" name="Google Shape;236;g3bb5fbf5691_0_158"/>
          <p:cNvCxnSpPr/>
          <p:nvPr/>
        </p:nvCxnSpPr>
        <p:spPr>
          <a:xfrm>
            <a:off x="3276360" y="5705280"/>
            <a:ext cx="87600" cy="200100"/>
          </a:xfrm>
          <a:prstGeom prst="straightConnector1">
            <a:avLst/>
          </a:prstGeom>
          <a:noFill/>
          <a:ln cap="flat" cmpd="sng" w="38150">
            <a:solidFill>
              <a:srgbClr val="0000FF"/>
            </a:solidFill>
            <a:prstDash val="solid"/>
            <a:round/>
            <a:headEnd len="sm" w="sm" type="none"/>
            <a:tailEnd len="sm" w="sm" type="none"/>
          </a:ln>
        </p:spPr>
      </p:cxnSp>
      <p:cxnSp>
        <p:nvCxnSpPr>
          <p:cNvPr id="237" name="Google Shape;237;g3bb5fbf5691_0_158"/>
          <p:cNvCxnSpPr/>
          <p:nvPr/>
        </p:nvCxnSpPr>
        <p:spPr>
          <a:xfrm>
            <a:off x="5946480" y="4238280"/>
            <a:ext cx="87600" cy="189000"/>
          </a:xfrm>
          <a:prstGeom prst="straightConnector1">
            <a:avLst/>
          </a:prstGeom>
          <a:noFill/>
          <a:ln cap="flat" cmpd="sng" w="38150">
            <a:solidFill>
              <a:srgbClr val="0000FF"/>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1" name="Shape 241"/>
        <p:cNvGrpSpPr/>
        <p:nvPr/>
      </p:nvGrpSpPr>
      <p:grpSpPr>
        <a:xfrm>
          <a:off x="0" y="0"/>
          <a:ext cx="0" cy="0"/>
          <a:chOff x="0" y="0"/>
          <a:chExt cx="0" cy="0"/>
        </a:xfrm>
      </p:grpSpPr>
      <p:sp>
        <p:nvSpPr>
          <p:cNvPr id="242" name="Google Shape;242;g3bb5fbf5691_0_233"/>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43" name="Google Shape;243;g3bb5fbf5691_0_233"/>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4" name="Google Shape;244;g3bb5fbf5691_0_233"/>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Weighted Area Sampling</a:t>
            </a:r>
            <a:endParaRPr sz="3800">
              <a:solidFill>
                <a:schemeClr val="lt1"/>
              </a:solidFill>
              <a:latin typeface="Calibri"/>
              <a:ea typeface="Calibri"/>
              <a:cs typeface="Calibri"/>
              <a:sym typeface="Calibri"/>
            </a:endParaRPr>
          </a:p>
        </p:txBody>
      </p:sp>
      <p:pic>
        <p:nvPicPr>
          <p:cNvPr id="245" name="Google Shape;245;g3bb5fbf5691_0_23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246" name="Google Shape;246;g3bb5fbf5691_0_233"/>
          <p:cNvSpPr txBox="1"/>
          <p:nvPr/>
        </p:nvSpPr>
        <p:spPr>
          <a:xfrm>
            <a:off x="379725" y="1095898"/>
            <a:ext cx="8381400" cy="1301700"/>
          </a:xfrm>
          <a:prstGeom prst="rect">
            <a:avLst/>
          </a:prstGeom>
          <a:noFill/>
          <a:ln>
            <a:noFill/>
          </a:ln>
        </p:spPr>
        <p:txBody>
          <a:bodyPr anchorCtr="0" anchor="t" bIns="45700" lIns="91425" spcFirstLastPara="1" rIns="91425" wrap="square" tIns="45700">
            <a:noAutofit/>
          </a:bodyPr>
          <a:lstStyle/>
          <a:p>
            <a:pPr indent="-355600" lvl="0" marL="457200" marR="0" rtl="0" algn="l">
              <a:lnSpc>
                <a:spcPct val="115000"/>
              </a:lnSpc>
              <a:spcBef>
                <a:spcPts val="0"/>
              </a:spcBef>
              <a:spcAft>
                <a:spcPts val="0"/>
              </a:spcAft>
              <a:buClr>
                <a:srgbClr val="0B5394"/>
              </a:buClr>
              <a:buSzPts val="2000"/>
              <a:buFont typeface="Lucida Sans"/>
              <a:buChar char="■"/>
            </a:pPr>
            <a:r>
              <a:rPr b="0" i="0" lang="en-US" sz="2000" u="none" cap="none" strike="noStrike">
                <a:solidFill>
                  <a:srgbClr val="000000"/>
                </a:solidFill>
                <a:latin typeface="Lucida Sans"/>
                <a:ea typeface="Lucida Sans"/>
                <a:cs typeface="Lucida Sans"/>
                <a:sym typeface="Lucida Sans"/>
              </a:rPr>
              <a:t>Consider a line as having thickness.</a:t>
            </a:r>
            <a:endParaRPr/>
          </a:p>
          <a:p>
            <a:pPr indent="-355600" lvl="0" marL="457200" marR="0" rtl="0" algn="l">
              <a:lnSpc>
                <a:spcPct val="115000"/>
              </a:lnSpc>
              <a:spcBef>
                <a:spcPts val="0"/>
              </a:spcBef>
              <a:spcAft>
                <a:spcPts val="0"/>
              </a:spcAft>
              <a:buClr>
                <a:srgbClr val="0B5394"/>
              </a:buClr>
              <a:buSzPts val="2000"/>
              <a:buFont typeface="Lucida Sans"/>
              <a:buChar char="■"/>
            </a:pPr>
            <a:r>
              <a:rPr b="0" i="0" lang="en-US" sz="2000" u="none" cap="none" strike="noStrike">
                <a:solidFill>
                  <a:srgbClr val="000000"/>
                </a:solidFill>
                <a:latin typeface="Lucida Sans"/>
                <a:ea typeface="Lucida Sans"/>
                <a:cs typeface="Lucida Sans"/>
                <a:sym typeface="Lucida Sans"/>
              </a:rPr>
              <a:t>Consider pixels as little squares.</a:t>
            </a:r>
            <a:endParaRPr/>
          </a:p>
          <a:p>
            <a:pPr indent="-355600" lvl="0" marL="457200" marR="0" rtl="0" algn="l">
              <a:lnSpc>
                <a:spcPct val="115000"/>
              </a:lnSpc>
              <a:spcBef>
                <a:spcPts val="0"/>
              </a:spcBef>
              <a:spcAft>
                <a:spcPts val="0"/>
              </a:spcAft>
              <a:buClr>
                <a:srgbClr val="0B5394"/>
              </a:buClr>
              <a:buSzPts val="2000"/>
              <a:buFont typeface="Lucida Sans"/>
              <a:buChar char="■"/>
            </a:pPr>
            <a:r>
              <a:rPr b="0" i="0" lang="en-US" sz="2000" u="none" cap="none" strike="noStrike">
                <a:solidFill>
                  <a:srgbClr val="000000"/>
                </a:solidFill>
                <a:latin typeface="Lucida Sans"/>
                <a:ea typeface="Lucida Sans"/>
                <a:cs typeface="Lucida Sans"/>
                <a:sym typeface="Lucida Sans"/>
              </a:rPr>
              <a:t>Fill pixels according to the proportion of their square covered by the line.</a:t>
            </a:r>
            <a:endParaRPr/>
          </a:p>
          <a:p>
            <a:pPr indent="-355600" lvl="0" marL="457200" marR="0" rtl="0" algn="l">
              <a:lnSpc>
                <a:spcPct val="115000"/>
              </a:lnSpc>
              <a:spcBef>
                <a:spcPts val="0"/>
              </a:spcBef>
              <a:spcAft>
                <a:spcPts val="0"/>
              </a:spcAft>
              <a:buClr>
                <a:srgbClr val="0B5394"/>
              </a:buClr>
              <a:buSzPts val="2000"/>
              <a:buFont typeface="Lucida Sans"/>
              <a:buChar char="■"/>
            </a:pPr>
            <a:r>
              <a:rPr b="0" i="0" lang="en-US" sz="2000" u="none" cap="none" strike="noStrike">
                <a:solidFill>
                  <a:srgbClr val="000000"/>
                </a:solidFill>
                <a:latin typeface="Lucida Sans"/>
                <a:ea typeface="Lucida Sans"/>
                <a:cs typeface="Lucida Sans"/>
                <a:sym typeface="Lucida Sans"/>
              </a:rPr>
              <a:t>Other variations weigh the contribution according to where in the square the primitive falls.</a:t>
            </a:r>
            <a:endParaRPr/>
          </a:p>
          <a:p>
            <a:pPr indent="0" lvl="0" marL="0" marR="0" rtl="0" algn="ctr">
              <a:lnSpc>
                <a:spcPct val="100000"/>
              </a:lnSpc>
              <a:spcBef>
                <a:spcPts val="0"/>
              </a:spcBef>
              <a:spcAft>
                <a:spcPts val="0"/>
              </a:spcAft>
              <a:buNone/>
            </a:pPr>
            <a:r>
              <a:t/>
            </a:r>
            <a:endParaRPr b="0" i="0" sz="2000" u="none" cap="none" strike="noStrike">
              <a:solidFill>
                <a:srgbClr val="000000"/>
              </a:solidFill>
              <a:latin typeface="Lucida Sans"/>
              <a:ea typeface="Lucida Sans"/>
              <a:cs typeface="Lucida Sans"/>
              <a:sym typeface="Lucida Sans"/>
            </a:endParaRPr>
          </a:p>
        </p:txBody>
      </p:sp>
      <p:cxnSp>
        <p:nvCxnSpPr>
          <p:cNvPr id="247" name="Google Shape;247;g3bb5fbf5691_0_233"/>
          <p:cNvCxnSpPr/>
          <p:nvPr/>
        </p:nvCxnSpPr>
        <p:spPr>
          <a:xfrm>
            <a:off x="3047949" y="3421425"/>
            <a:ext cx="0" cy="2819400"/>
          </a:xfrm>
          <a:prstGeom prst="straightConnector1">
            <a:avLst/>
          </a:prstGeom>
          <a:noFill/>
          <a:ln cap="flat" cmpd="sng" w="8800">
            <a:solidFill>
              <a:srgbClr val="000000"/>
            </a:solidFill>
            <a:prstDash val="solid"/>
            <a:round/>
            <a:headEnd len="sm" w="sm" type="none"/>
            <a:tailEnd len="sm" w="sm" type="none"/>
          </a:ln>
        </p:spPr>
      </p:cxnSp>
      <p:cxnSp>
        <p:nvCxnSpPr>
          <p:cNvPr id="248" name="Google Shape;248;g3bb5fbf5691_0_233"/>
          <p:cNvCxnSpPr/>
          <p:nvPr/>
        </p:nvCxnSpPr>
        <p:spPr>
          <a:xfrm flipH="1" rot="10800000">
            <a:off x="3033875" y="3433700"/>
            <a:ext cx="2825100" cy="18000"/>
          </a:xfrm>
          <a:prstGeom prst="straightConnector1">
            <a:avLst/>
          </a:prstGeom>
          <a:noFill/>
          <a:ln cap="flat" cmpd="sng" w="9525">
            <a:solidFill>
              <a:srgbClr val="000000"/>
            </a:solidFill>
            <a:prstDash val="solid"/>
            <a:round/>
            <a:headEnd len="sm" w="sm" type="none"/>
            <a:tailEnd len="sm" w="sm" type="none"/>
          </a:ln>
        </p:spPr>
      </p:cxnSp>
      <p:cxnSp>
        <p:nvCxnSpPr>
          <p:cNvPr id="249" name="Google Shape;249;g3bb5fbf5691_0_233"/>
          <p:cNvCxnSpPr/>
          <p:nvPr/>
        </p:nvCxnSpPr>
        <p:spPr>
          <a:xfrm>
            <a:off x="3118550" y="3914626"/>
            <a:ext cx="2678700" cy="42300"/>
          </a:xfrm>
          <a:prstGeom prst="straightConnector1">
            <a:avLst/>
          </a:prstGeom>
          <a:noFill/>
          <a:ln cap="flat" cmpd="sng" w="8800">
            <a:solidFill>
              <a:srgbClr val="000000"/>
            </a:solidFill>
            <a:prstDash val="solid"/>
            <a:round/>
            <a:headEnd len="sm" w="sm" type="none"/>
            <a:tailEnd len="sm" w="sm" type="none"/>
          </a:ln>
        </p:spPr>
      </p:cxnSp>
      <p:cxnSp>
        <p:nvCxnSpPr>
          <p:cNvPr id="250" name="Google Shape;250;g3bb5fbf5691_0_233"/>
          <p:cNvCxnSpPr/>
          <p:nvPr/>
        </p:nvCxnSpPr>
        <p:spPr>
          <a:xfrm>
            <a:off x="2819630" y="6269360"/>
            <a:ext cx="3048000" cy="0"/>
          </a:xfrm>
          <a:prstGeom prst="straightConnector1">
            <a:avLst/>
          </a:prstGeom>
          <a:noFill/>
          <a:ln cap="flat" cmpd="sng" w="9525">
            <a:solidFill>
              <a:srgbClr val="000000"/>
            </a:solidFill>
            <a:prstDash val="solid"/>
            <a:round/>
            <a:headEnd len="sm" w="sm" type="none"/>
            <a:tailEnd len="sm" w="sm" type="none"/>
          </a:ln>
        </p:spPr>
      </p:cxnSp>
      <p:cxnSp>
        <p:nvCxnSpPr>
          <p:cNvPr id="251" name="Google Shape;251;g3bb5fbf5691_0_233"/>
          <p:cNvCxnSpPr/>
          <p:nvPr/>
        </p:nvCxnSpPr>
        <p:spPr>
          <a:xfrm>
            <a:off x="3047949" y="5676961"/>
            <a:ext cx="2819700" cy="0"/>
          </a:xfrm>
          <a:prstGeom prst="straightConnector1">
            <a:avLst/>
          </a:prstGeom>
          <a:noFill/>
          <a:ln cap="flat" cmpd="sng" w="8800">
            <a:solidFill>
              <a:srgbClr val="000000"/>
            </a:solidFill>
            <a:prstDash val="solid"/>
            <a:round/>
            <a:headEnd len="sm" w="sm" type="none"/>
            <a:tailEnd len="sm" w="sm" type="none"/>
          </a:ln>
        </p:spPr>
      </p:cxnSp>
      <p:cxnSp>
        <p:nvCxnSpPr>
          <p:cNvPr id="252" name="Google Shape;252;g3bb5fbf5691_0_233"/>
          <p:cNvCxnSpPr/>
          <p:nvPr/>
        </p:nvCxnSpPr>
        <p:spPr>
          <a:xfrm>
            <a:off x="3047949" y="5113161"/>
            <a:ext cx="2819700" cy="0"/>
          </a:xfrm>
          <a:prstGeom prst="straightConnector1">
            <a:avLst/>
          </a:prstGeom>
          <a:noFill/>
          <a:ln cap="flat" cmpd="sng" w="8800">
            <a:solidFill>
              <a:srgbClr val="000000"/>
            </a:solidFill>
            <a:prstDash val="solid"/>
            <a:round/>
            <a:headEnd len="sm" w="sm" type="none"/>
            <a:tailEnd len="sm" w="sm" type="none"/>
          </a:ln>
        </p:spPr>
      </p:cxnSp>
      <p:cxnSp>
        <p:nvCxnSpPr>
          <p:cNvPr id="253" name="Google Shape;253;g3bb5fbf5691_0_233"/>
          <p:cNvCxnSpPr/>
          <p:nvPr/>
        </p:nvCxnSpPr>
        <p:spPr>
          <a:xfrm>
            <a:off x="3047949" y="4549027"/>
            <a:ext cx="2819700" cy="0"/>
          </a:xfrm>
          <a:prstGeom prst="straightConnector1">
            <a:avLst/>
          </a:prstGeom>
          <a:noFill/>
          <a:ln cap="flat" cmpd="sng" w="8800">
            <a:solidFill>
              <a:srgbClr val="000000"/>
            </a:solidFill>
            <a:prstDash val="solid"/>
            <a:round/>
            <a:headEnd len="sm" w="sm" type="none"/>
            <a:tailEnd len="sm" w="sm" type="none"/>
          </a:ln>
        </p:spPr>
      </p:cxnSp>
      <p:cxnSp>
        <p:nvCxnSpPr>
          <p:cNvPr id="254" name="Google Shape;254;g3bb5fbf5691_0_233"/>
          <p:cNvCxnSpPr/>
          <p:nvPr/>
        </p:nvCxnSpPr>
        <p:spPr>
          <a:xfrm>
            <a:off x="5867624" y="3421425"/>
            <a:ext cx="0" cy="2819400"/>
          </a:xfrm>
          <a:prstGeom prst="straightConnector1">
            <a:avLst/>
          </a:prstGeom>
          <a:noFill/>
          <a:ln cap="flat" cmpd="sng" w="8800">
            <a:solidFill>
              <a:srgbClr val="000000"/>
            </a:solidFill>
            <a:prstDash val="solid"/>
            <a:round/>
            <a:headEnd len="sm" w="sm" type="none"/>
            <a:tailEnd len="sm" w="sm" type="none"/>
          </a:ln>
        </p:spPr>
      </p:cxnSp>
      <p:cxnSp>
        <p:nvCxnSpPr>
          <p:cNvPr id="255" name="Google Shape;255;g3bb5fbf5691_0_233"/>
          <p:cNvCxnSpPr/>
          <p:nvPr/>
        </p:nvCxnSpPr>
        <p:spPr>
          <a:xfrm>
            <a:off x="5162622" y="3421425"/>
            <a:ext cx="0" cy="2819400"/>
          </a:xfrm>
          <a:prstGeom prst="straightConnector1">
            <a:avLst/>
          </a:prstGeom>
          <a:noFill/>
          <a:ln cap="flat" cmpd="sng" w="8800">
            <a:solidFill>
              <a:srgbClr val="000000"/>
            </a:solidFill>
            <a:prstDash val="solid"/>
            <a:round/>
            <a:headEnd len="sm" w="sm" type="none"/>
            <a:tailEnd len="sm" w="sm" type="none"/>
          </a:ln>
        </p:spPr>
      </p:cxnSp>
      <p:cxnSp>
        <p:nvCxnSpPr>
          <p:cNvPr id="256" name="Google Shape;256;g3bb5fbf5691_0_233"/>
          <p:cNvCxnSpPr/>
          <p:nvPr/>
        </p:nvCxnSpPr>
        <p:spPr>
          <a:xfrm>
            <a:off x="4105286" y="3421425"/>
            <a:ext cx="0" cy="2819400"/>
          </a:xfrm>
          <a:prstGeom prst="straightConnector1">
            <a:avLst/>
          </a:prstGeom>
          <a:noFill/>
          <a:ln cap="flat" cmpd="sng" w="8800">
            <a:solidFill>
              <a:srgbClr val="000000"/>
            </a:solidFill>
            <a:prstDash val="solid"/>
            <a:round/>
            <a:headEnd len="sm" w="sm" type="none"/>
            <a:tailEnd len="sm" w="sm" type="none"/>
          </a:ln>
        </p:spPr>
      </p:cxnSp>
      <p:cxnSp>
        <p:nvCxnSpPr>
          <p:cNvPr id="257" name="Google Shape;257;g3bb5fbf5691_0_233"/>
          <p:cNvCxnSpPr/>
          <p:nvPr/>
        </p:nvCxnSpPr>
        <p:spPr>
          <a:xfrm>
            <a:off x="4598821" y="3421425"/>
            <a:ext cx="0" cy="2819400"/>
          </a:xfrm>
          <a:prstGeom prst="straightConnector1">
            <a:avLst/>
          </a:prstGeom>
          <a:noFill/>
          <a:ln cap="flat" cmpd="sng" w="8800">
            <a:solidFill>
              <a:srgbClr val="000000"/>
            </a:solidFill>
            <a:prstDash val="solid"/>
            <a:round/>
            <a:headEnd len="sm" w="sm" type="none"/>
            <a:tailEnd len="sm" w="sm" type="none"/>
          </a:ln>
        </p:spPr>
      </p:cxnSp>
      <p:cxnSp>
        <p:nvCxnSpPr>
          <p:cNvPr id="258" name="Google Shape;258;g3bb5fbf5691_0_233"/>
          <p:cNvCxnSpPr/>
          <p:nvPr/>
        </p:nvCxnSpPr>
        <p:spPr>
          <a:xfrm>
            <a:off x="3541484" y="3421425"/>
            <a:ext cx="0" cy="2819400"/>
          </a:xfrm>
          <a:prstGeom prst="straightConnector1">
            <a:avLst/>
          </a:prstGeom>
          <a:noFill/>
          <a:ln cap="flat" cmpd="sng" w="8800">
            <a:solidFill>
              <a:srgbClr val="000000"/>
            </a:solidFill>
            <a:prstDash val="solid"/>
            <a:round/>
            <a:headEnd len="sm" w="sm" type="none"/>
            <a:tailEnd len="sm" w="sm" type="none"/>
          </a:ln>
        </p:spPr>
      </p:cxnSp>
      <p:cxnSp>
        <p:nvCxnSpPr>
          <p:cNvPr id="259" name="Google Shape;259;g3bb5fbf5691_0_233"/>
          <p:cNvCxnSpPr/>
          <p:nvPr/>
        </p:nvCxnSpPr>
        <p:spPr>
          <a:xfrm>
            <a:off x="3330017" y="5465495"/>
            <a:ext cx="423000" cy="423000"/>
          </a:xfrm>
          <a:prstGeom prst="straightConnector1">
            <a:avLst/>
          </a:prstGeom>
          <a:noFill/>
          <a:ln cap="flat" cmpd="sng" w="26300">
            <a:solidFill>
              <a:srgbClr val="000000"/>
            </a:solidFill>
            <a:prstDash val="solid"/>
            <a:round/>
            <a:headEnd len="sm" w="sm" type="none"/>
            <a:tailEnd len="sm" w="sm" type="none"/>
          </a:ln>
        </p:spPr>
      </p:cxnSp>
      <p:cxnSp>
        <p:nvCxnSpPr>
          <p:cNvPr id="260" name="Google Shape;260;g3bb5fbf5691_0_233"/>
          <p:cNvCxnSpPr/>
          <p:nvPr/>
        </p:nvCxnSpPr>
        <p:spPr>
          <a:xfrm flipH="1" rot="10800000">
            <a:off x="3330017" y="3773795"/>
            <a:ext cx="1691700" cy="1691700"/>
          </a:xfrm>
          <a:prstGeom prst="straightConnector1">
            <a:avLst/>
          </a:prstGeom>
          <a:noFill/>
          <a:ln cap="flat" cmpd="sng" w="26300">
            <a:solidFill>
              <a:srgbClr val="000000"/>
            </a:solidFill>
            <a:prstDash val="solid"/>
            <a:round/>
            <a:headEnd len="sm" w="sm" type="none"/>
            <a:tailEnd len="sm" w="sm" type="none"/>
          </a:ln>
        </p:spPr>
      </p:cxnSp>
      <p:cxnSp>
        <p:nvCxnSpPr>
          <p:cNvPr id="261" name="Google Shape;261;g3bb5fbf5691_0_233"/>
          <p:cNvCxnSpPr/>
          <p:nvPr/>
        </p:nvCxnSpPr>
        <p:spPr>
          <a:xfrm>
            <a:off x="5021755" y="3773759"/>
            <a:ext cx="423000" cy="423000"/>
          </a:xfrm>
          <a:prstGeom prst="straightConnector1">
            <a:avLst/>
          </a:prstGeom>
          <a:noFill/>
          <a:ln cap="flat" cmpd="sng" w="26300">
            <a:solidFill>
              <a:srgbClr val="000000"/>
            </a:solidFill>
            <a:prstDash val="solid"/>
            <a:round/>
            <a:headEnd len="sm" w="sm" type="none"/>
            <a:tailEnd len="sm" w="sm" type="none"/>
          </a:ln>
        </p:spPr>
      </p:cxnSp>
      <p:cxnSp>
        <p:nvCxnSpPr>
          <p:cNvPr id="262" name="Google Shape;262;g3bb5fbf5691_0_233"/>
          <p:cNvCxnSpPr/>
          <p:nvPr/>
        </p:nvCxnSpPr>
        <p:spPr>
          <a:xfrm flipH="1" rot="10800000">
            <a:off x="3752951" y="4196728"/>
            <a:ext cx="1691700" cy="1691700"/>
          </a:xfrm>
          <a:prstGeom prst="straightConnector1">
            <a:avLst/>
          </a:prstGeom>
          <a:noFill/>
          <a:ln cap="flat" cmpd="sng" w="26300">
            <a:solidFill>
              <a:srgbClr val="000000"/>
            </a:solidFill>
            <a:prstDash val="solid"/>
            <a:round/>
            <a:headEnd len="sm" w="sm" type="none"/>
            <a:tailEnd len="sm" w="sm" type="none"/>
          </a:ln>
        </p:spPr>
      </p:cxnSp>
      <p:sp>
        <p:nvSpPr>
          <p:cNvPr id="263" name="Google Shape;263;g3bb5fbf5691_0_233"/>
          <p:cNvSpPr/>
          <p:nvPr/>
        </p:nvSpPr>
        <p:spPr>
          <a:xfrm>
            <a:off x="3047949" y="5254028"/>
            <a:ext cx="5634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1/8</a:t>
            </a:r>
            <a:endParaRPr sz="1295"/>
          </a:p>
        </p:txBody>
      </p:sp>
      <p:sp>
        <p:nvSpPr>
          <p:cNvPr id="264" name="Google Shape;264;g3bb5fbf5691_0_233"/>
          <p:cNvSpPr/>
          <p:nvPr/>
        </p:nvSpPr>
        <p:spPr>
          <a:xfrm>
            <a:off x="3612084" y="5818161"/>
            <a:ext cx="469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1/8</a:t>
            </a:r>
            <a:endParaRPr sz="1295"/>
          </a:p>
        </p:txBody>
      </p:sp>
      <p:sp>
        <p:nvSpPr>
          <p:cNvPr id="265" name="Google Shape;265;g3bb5fbf5691_0_233"/>
          <p:cNvSpPr/>
          <p:nvPr/>
        </p:nvSpPr>
        <p:spPr>
          <a:xfrm>
            <a:off x="3541484" y="5183761"/>
            <a:ext cx="5811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.914</a:t>
            </a:r>
            <a:endParaRPr sz="1295"/>
          </a:p>
        </p:txBody>
      </p:sp>
      <p:sp>
        <p:nvSpPr>
          <p:cNvPr id="266" name="Google Shape;266;g3bb5fbf5691_0_233"/>
          <p:cNvSpPr/>
          <p:nvPr/>
        </p:nvSpPr>
        <p:spPr>
          <a:xfrm>
            <a:off x="4105286" y="4619627"/>
            <a:ext cx="5811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.914</a:t>
            </a:r>
            <a:endParaRPr sz="1295"/>
          </a:p>
        </p:txBody>
      </p:sp>
      <p:sp>
        <p:nvSpPr>
          <p:cNvPr id="267" name="Google Shape;267;g3bb5fbf5691_0_233"/>
          <p:cNvSpPr/>
          <p:nvPr/>
        </p:nvSpPr>
        <p:spPr>
          <a:xfrm>
            <a:off x="4598821" y="4055826"/>
            <a:ext cx="5811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.914</a:t>
            </a:r>
            <a:endParaRPr sz="1295"/>
          </a:p>
        </p:txBody>
      </p:sp>
      <p:sp>
        <p:nvSpPr>
          <p:cNvPr id="268" name="Google Shape;268;g3bb5fbf5691_0_233"/>
          <p:cNvSpPr/>
          <p:nvPr/>
        </p:nvSpPr>
        <p:spPr>
          <a:xfrm>
            <a:off x="4598821" y="3421425"/>
            <a:ext cx="469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1/8</a:t>
            </a:r>
            <a:endParaRPr sz="1295"/>
          </a:p>
        </p:txBody>
      </p:sp>
      <p:sp>
        <p:nvSpPr>
          <p:cNvPr id="269" name="Google Shape;269;g3bb5fbf5691_0_233"/>
          <p:cNvSpPr/>
          <p:nvPr/>
        </p:nvSpPr>
        <p:spPr>
          <a:xfrm>
            <a:off x="5303823" y="4055826"/>
            <a:ext cx="469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1/8</a:t>
            </a:r>
            <a:endParaRPr sz="1295"/>
          </a:p>
        </p:txBody>
      </p:sp>
      <p:sp>
        <p:nvSpPr>
          <p:cNvPr id="270" name="Google Shape;270;g3bb5fbf5691_0_233"/>
          <p:cNvSpPr/>
          <p:nvPr/>
        </p:nvSpPr>
        <p:spPr>
          <a:xfrm>
            <a:off x="4175886" y="5254028"/>
            <a:ext cx="634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1/4</a:t>
            </a:r>
            <a:endParaRPr sz="1295"/>
          </a:p>
        </p:txBody>
      </p:sp>
      <p:sp>
        <p:nvSpPr>
          <p:cNvPr id="271" name="Google Shape;271;g3bb5fbf5691_0_233"/>
          <p:cNvSpPr/>
          <p:nvPr/>
        </p:nvSpPr>
        <p:spPr>
          <a:xfrm>
            <a:off x="4105286" y="3985226"/>
            <a:ext cx="469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1/4</a:t>
            </a:r>
            <a:endParaRPr sz="1295"/>
          </a:p>
        </p:txBody>
      </p:sp>
      <p:sp>
        <p:nvSpPr>
          <p:cNvPr id="272" name="Google Shape;272;g3bb5fbf5691_0_233"/>
          <p:cNvSpPr/>
          <p:nvPr/>
        </p:nvSpPr>
        <p:spPr>
          <a:xfrm>
            <a:off x="3470884" y="4549360"/>
            <a:ext cx="469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1/4</a:t>
            </a:r>
            <a:endParaRPr sz="1295"/>
          </a:p>
        </p:txBody>
      </p:sp>
      <p:sp>
        <p:nvSpPr>
          <p:cNvPr id="273" name="Google Shape;273;g3bb5fbf5691_0_233"/>
          <p:cNvSpPr/>
          <p:nvPr/>
        </p:nvSpPr>
        <p:spPr>
          <a:xfrm>
            <a:off x="4739688" y="4690227"/>
            <a:ext cx="469200" cy="3657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850" u="none" cap="none" strike="noStrike">
                <a:solidFill>
                  <a:srgbClr val="000000"/>
                </a:solidFill>
                <a:latin typeface="Times New Roman"/>
                <a:ea typeface="Times New Roman"/>
                <a:cs typeface="Times New Roman"/>
                <a:sym typeface="Times New Roman"/>
              </a:rPr>
              <a:t>1/4</a:t>
            </a:r>
            <a:endParaRPr sz="1295"/>
          </a:p>
        </p:txBody>
      </p:sp>
      <p:sp>
        <p:nvSpPr>
          <p:cNvPr id="274" name="Google Shape;274;g3bb5fbf5691_0_233"/>
          <p:cNvSpPr/>
          <p:nvPr/>
        </p:nvSpPr>
        <p:spPr>
          <a:xfrm>
            <a:off x="3137199" y="4619627"/>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75" name="Google Shape;275;g3bb5fbf5691_0_233"/>
          <p:cNvSpPr/>
          <p:nvPr/>
        </p:nvSpPr>
        <p:spPr>
          <a:xfrm>
            <a:off x="5322472" y="4619627"/>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76" name="Google Shape;276;g3bb5fbf5691_0_233"/>
          <p:cNvSpPr/>
          <p:nvPr/>
        </p:nvSpPr>
        <p:spPr>
          <a:xfrm>
            <a:off x="5322472" y="5183761"/>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77" name="Google Shape;277;g3bb5fbf5691_0_233"/>
          <p:cNvSpPr/>
          <p:nvPr/>
        </p:nvSpPr>
        <p:spPr>
          <a:xfrm>
            <a:off x="4828937" y="5183761"/>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78" name="Google Shape;278;g3bb5fbf5691_0_233"/>
          <p:cNvSpPr/>
          <p:nvPr/>
        </p:nvSpPr>
        <p:spPr>
          <a:xfrm>
            <a:off x="5322472" y="5747561"/>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79" name="Google Shape;279;g3bb5fbf5691_0_233"/>
          <p:cNvSpPr/>
          <p:nvPr/>
        </p:nvSpPr>
        <p:spPr>
          <a:xfrm>
            <a:off x="4828937" y="5747561"/>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0" name="Google Shape;280;g3bb5fbf5691_0_233"/>
          <p:cNvSpPr/>
          <p:nvPr/>
        </p:nvSpPr>
        <p:spPr>
          <a:xfrm>
            <a:off x="4265135" y="5747561"/>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1" name="Google Shape;281;g3bb5fbf5691_0_233"/>
          <p:cNvSpPr/>
          <p:nvPr/>
        </p:nvSpPr>
        <p:spPr>
          <a:xfrm>
            <a:off x="3122546" y="5715259"/>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2" name="Google Shape;282;g3bb5fbf5691_0_233"/>
          <p:cNvSpPr/>
          <p:nvPr/>
        </p:nvSpPr>
        <p:spPr>
          <a:xfrm>
            <a:off x="3137199" y="4055826"/>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3" name="Google Shape;283;g3bb5fbf5691_0_233"/>
          <p:cNvSpPr/>
          <p:nvPr/>
        </p:nvSpPr>
        <p:spPr>
          <a:xfrm>
            <a:off x="3137199" y="3492025"/>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4" name="Google Shape;284;g3bb5fbf5691_0_233"/>
          <p:cNvSpPr/>
          <p:nvPr/>
        </p:nvSpPr>
        <p:spPr>
          <a:xfrm>
            <a:off x="3701000" y="4055826"/>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5" name="Google Shape;285;g3bb5fbf5691_0_233"/>
          <p:cNvSpPr/>
          <p:nvPr/>
        </p:nvSpPr>
        <p:spPr>
          <a:xfrm>
            <a:off x="3701000" y="3492025"/>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6" name="Google Shape;286;g3bb5fbf5691_0_233"/>
          <p:cNvSpPr/>
          <p:nvPr/>
        </p:nvSpPr>
        <p:spPr>
          <a:xfrm>
            <a:off x="4194535" y="3492025"/>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
        <p:nvSpPr>
          <p:cNvPr id="287" name="Google Shape;287;g3bb5fbf5691_0_233"/>
          <p:cNvSpPr/>
          <p:nvPr/>
        </p:nvSpPr>
        <p:spPr>
          <a:xfrm>
            <a:off x="5392739" y="3492025"/>
            <a:ext cx="273300" cy="337500"/>
          </a:xfrm>
          <a:prstGeom prst="rect">
            <a:avLst/>
          </a:prstGeom>
          <a:noFill/>
          <a:ln>
            <a:noFill/>
          </a:ln>
        </p:spPr>
        <p:txBody>
          <a:bodyPr anchorCtr="0" anchor="t" bIns="41625" lIns="83250" spcFirstLastPara="1" rIns="83250" wrap="square" tIns="41625">
            <a:noAutofit/>
          </a:bodyPr>
          <a:lstStyle/>
          <a:p>
            <a:pPr indent="0" lvl="0" marL="0" marR="0" rtl="0" algn="l">
              <a:lnSpc>
                <a:spcPct val="100000"/>
              </a:lnSpc>
              <a:spcBef>
                <a:spcPts val="0"/>
              </a:spcBef>
              <a:spcAft>
                <a:spcPts val="0"/>
              </a:spcAft>
              <a:buNone/>
            </a:pPr>
            <a:r>
              <a:rPr b="0" i="0" lang="en-US" sz="1665" u="none" cap="none" strike="noStrike">
                <a:solidFill>
                  <a:srgbClr val="000000"/>
                </a:solidFill>
                <a:latin typeface="Times New Roman"/>
                <a:ea typeface="Times New Roman"/>
                <a:cs typeface="Times New Roman"/>
                <a:sym typeface="Times New Roman"/>
              </a:rPr>
              <a:t>0</a:t>
            </a:r>
            <a:endParaRPr sz="1295"/>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1" name="Shape 291"/>
        <p:cNvGrpSpPr/>
        <p:nvPr/>
      </p:nvGrpSpPr>
      <p:grpSpPr>
        <a:xfrm>
          <a:off x="0" y="0"/>
          <a:ext cx="0" cy="0"/>
          <a:chOff x="0" y="0"/>
          <a:chExt cx="0" cy="0"/>
        </a:xfrm>
      </p:grpSpPr>
      <p:sp>
        <p:nvSpPr>
          <p:cNvPr id="292" name="Google Shape;292;g3bbe9322812_0_2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93" name="Google Shape;293;g3bbe9322812_0_2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4" name="Google Shape;294;g3bbe9322812_0_20"/>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Anti-Aliasing : Prefiltering</a:t>
            </a:r>
            <a:endParaRPr sz="3800">
              <a:solidFill>
                <a:schemeClr val="lt1"/>
              </a:solidFill>
              <a:latin typeface="Calibri"/>
              <a:ea typeface="Calibri"/>
              <a:cs typeface="Calibri"/>
              <a:sym typeface="Calibri"/>
            </a:endParaRPr>
          </a:p>
        </p:txBody>
      </p:sp>
      <p:pic>
        <p:nvPicPr>
          <p:cNvPr id="295" name="Google Shape;295;g3bbe9322812_0_2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296" name="Google Shape;296;g3bbe9322812_0_20"/>
          <p:cNvSpPr txBox="1"/>
          <p:nvPr/>
        </p:nvSpPr>
        <p:spPr>
          <a:xfrm>
            <a:off x="219525" y="1370725"/>
            <a:ext cx="5503200" cy="4266600"/>
          </a:xfrm>
          <a:prstGeom prst="rect">
            <a:avLst/>
          </a:prstGeom>
          <a:noFill/>
          <a:ln>
            <a:noFill/>
          </a:ln>
        </p:spPr>
        <p:txBody>
          <a:bodyPr anchorCtr="0" anchor="t" bIns="45700" lIns="91425" spcFirstLastPara="1" rIns="91425" wrap="square" tIns="45700">
            <a:noAutofit/>
          </a:bodyPr>
          <a:lstStyle/>
          <a:p>
            <a:pPr indent="-355600" lvl="0" marL="457200" marR="0" rtl="0" algn="just">
              <a:lnSpc>
                <a:spcPct val="100000"/>
              </a:lnSpc>
              <a:spcBef>
                <a:spcPts val="1000"/>
              </a:spcBef>
              <a:spcAft>
                <a:spcPts val="0"/>
              </a:spcAft>
              <a:buClr>
                <a:srgbClr val="0B5394"/>
              </a:buClr>
              <a:buSzPts val="2000"/>
              <a:buFont typeface="Calibri"/>
              <a:buChar char="■"/>
            </a:pPr>
            <a:r>
              <a:rPr b="0" i="0" lang="en-US" sz="2000" u="none" cap="none" strike="noStrike">
                <a:solidFill>
                  <a:srgbClr val="000000"/>
                </a:solidFill>
                <a:latin typeface="Calibri"/>
                <a:ea typeface="Calibri"/>
                <a:cs typeface="Calibri"/>
                <a:sym typeface="Calibri"/>
              </a:rPr>
              <a:t>Prefiltering methods treat a pixel as an area, and compute pixel color based on the overlap of the scene's objects with a pixel's area</a:t>
            </a:r>
            <a:r>
              <a:rPr lang="en-US" sz="2000">
                <a:latin typeface="Calibri"/>
                <a:ea typeface="Calibri"/>
                <a:cs typeface="Calibri"/>
                <a:sym typeface="Calibri"/>
              </a:rPr>
              <a:t>.</a:t>
            </a:r>
            <a:endParaRPr sz="2000">
              <a:latin typeface="Calibri"/>
              <a:ea typeface="Calibri"/>
              <a:cs typeface="Calibri"/>
              <a:sym typeface="Calibri"/>
            </a:endParaRPr>
          </a:p>
          <a:p>
            <a:pPr indent="-355600" lvl="0" marL="457200" marR="0" rtl="0" algn="just">
              <a:lnSpc>
                <a:spcPct val="100000"/>
              </a:lnSpc>
              <a:spcBef>
                <a:spcPts val="1000"/>
              </a:spcBef>
              <a:spcAft>
                <a:spcPts val="0"/>
              </a:spcAft>
              <a:buClr>
                <a:srgbClr val="0B5394"/>
              </a:buClr>
              <a:buSzPts val="2000"/>
              <a:buFont typeface="Calibri"/>
              <a:buChar char="■"/>
            </a:pPr>
            <a:r>
              <a:rPr b="0" i="0" lang="en-US" sz="2000" u="none" cap="none" strike="noStrike">
                <a:solidFill>
                  <a:srgbClr val="000000"/>
                </a:solidFill>
                <a:latin typeface="Calibri"/>
                <a:ea typeface="Calibri"/>
                <a:cs typeface="Calibri"/>
                <a:sym typeface="Calibri"/>
              </a:rPr>
              <a:t>A modification to Bresenham's algorithm was developed by Pitteway and Watkinson. In this algorithm, each pixel is given an intensity depending on the area of overlap of the pixel and the line. So, due to the blurring effect along the line edges, the effect of anti-aliasing is not very prominent, although it still exists.</a:t>
            </a:r>
            <a:endParaRPr b="0" i="0" sz="2000" u="none" cap="none" strike="noStrike">
              <a:solidFill>
                <a:srgbClr val="000000"/>
              </a:solidFill>
              <a:latin typeface="Calibri"/>
              <a:ea typeface="Calibri"/>
              <a:cs typeface="Calibri"/>
              <a:sym typeface="Calibri"/>
            </a:endParaRPr>
          </a:p>
          <a:p>
            <a:pPr indent="-355600" lvl="0" marL="457200" marR="0" rtl="0" algn="just">
              <a:lnSpc>
                <a:spcPct val="100000"/>
              </a:lnSpc>
              <a:spcBef>
                <a:spcPts val="1000"/>
              </a:spcBef>
              <a:spcAft>
                <a:spcPts val="0"/>
              </a:spcAft>
              <a:buClr>
                <a:srgbClr val="0B5394"/>
              </a:buClr>
              <a:buSzPts val="2000"/>
              <a:buFont typeface="Calibri"/>
              <a:buChar char="■"/>
            </a:pPr>
            <a:r>
              <a:rPr b="0" i="0" lang="en-US" sz="2000" u="none" cap="none" strike="noStrike">
                <a:solidFill>
                  <a:srgbClr val="000000"/>
                </a:solidFill>
                <a:latin typeface="Calibri"/>
                <a:ea typeface="Calibri"/>
                <a:cs typeface="Calibri"/>
                <a:sym typeface="Calibri"/>
              </a:rPr>
              <a:t>For sampling shapes other than polygons, this can be very computationally intensive.</a:t>
            </a:r>
            <a:endParaRPr/>
          </a:p>
          <a:p>
            <a:pPr indent="0" lvl="0" marL="0" marR="0" rtl="0" algn="ctr">
              <a:lnSpc>
                <a:spcPct val="100000"/>
              </a:lnSpc>
              <a:spcBef>
                <a:spcPts val="0"/>
              </a:spcBef>
              <a:spcAft>
                <a:spcPts val="0"/>
              </a:spcAft>
              <a:buNone/>
            </a:pPr>
            <a:r>
              <a:rPr b="0" i="0" lang="en-US" sz="2000" u="none" cap="none" strike="noStrike">
                <a:solidFill>
                  <a:srgbClr val="000000"/>
                </a:solidFill>
                <a:latin typeface="Calibri"/>
                <a:ea typeface="Calibri"/>
                <a:cs typeface="Calibri"/>
                <a:sym typeface="Calibri"/>
              </a:rPr>
              <a:t> </a:t>
            </a:r>
            <a:endParaRPr/>
          </a:p>
        </p:txBody>
      </p:sp>
      <p:pic>
        <p:nvPicPr>
          <p:cNvPr id="297" name="Google Shape;297;g3bbe9322812_0_20"/>
          <p:cNvPicPr preferRelativeResize="0"/>
          <p:nvPr/>
        </p:nvPicPr>
        <p:blipFill rotWithShape="1">
          <a:blip r:embed="rId4">
            <a:alphaModFix/>
          </a:blip>
          <a:srcRect b="0" l="0" r="0" t="0"/>
          <a:stretch/>
        </p:blipFill>
        <p:spPr>
          <a:xfrm>
            <a:off x="6048275" y="1926938"/>
            <a:ext cx="2744640" cy="28951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bd06ed8d76_0_165"/>
          <p:cNvSpPr/>
          <p:nvPr/>
        </p:nvSpPr>
        <p:spPr>
          <a:xfrm>
            <a:off x="0" y="4191120"/>
            <a:ext cx="3885900" cy="17364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Calibri"/>
                <a:ea typeface="Calibri"/>
                <a:cs typeface="Calibri"/>
                <a:sym typeface="Calibri"/>
              </a:rPr>
              <a:t>Original Image</a:t>
            </a:r>
            <a:endParaRPr/>
          </a:p>
          <a:p>
            <a:pPr indent="0" lvl="0" marL="0" marR="0" rtl="0" algn="l">
              <a:lnSpc>
                <a:spcPct val="100000"/>
              </a:lnSpc>
              <a:spcBef>
                <a:spcPts val="0"/>
              </a:spcBef>
              <a:spcAft>
                <a:spcPts val="0"/>
              </a:spcAft>
              <a:buNone/>
            </a:pPr>
            <a:br>
              <a:rPr b="0" i="0" lang="en-US" sz="1800" u="none" cap="none" strike="noStrike">
                <a:solidFill>
                  <a:srgbClr val="000000"/>
                </a:solidFill>
                <a:latin typeface="Calibri"/>
                <a:ea typeface="Calibri"/>
                <a:cs typeface="Calibri"/>
                <a:sym typeface="Calibri"/>
              </a:rPr>
            </a:br>
            <a:r>
              <a:rPr b="0" i="0" lang="en-US" sz="1800" u="none" cap="none" strike="noStrike">
                <a:solidFill>
                  <a:srgbClr val="000000"/>
                </a:solidFill>
                <a:latin typeface="Calibri"/>
                <a:ea typeface="Calibri"/>
                <a:cs typeface="Calibri"/>
                <a:sym typeface="Calibri"/>
              </a:rPr>
              <a:t>Without antialiasing, the jaggies are harshly evident.</a:t>
            </a:r>
            <a:endParaRPr/>
          </a:p>
          <a:p>
            <a:pPr indent="0" lvl="0" marL="0" marR="0" rtl="0" algn="l">
              <a:lnSpc>
                <a:spcPct val="100000"/>
              </a:lnSpc>
              <a:spcBef>
                <a:spcPts val="0"/>
              </a:spcBef>
              <a:spcAft>
                <a:spcPts val="0"/>
              </a:spcAft>
              <a:buNone/>
            </a:pPr>
            <a:br>
              <a:rPr b="0" i="0" lang="en-US" sz="1800" u="none" cap="none" strike="noStrike">
                <a:solidFill>
                  <a:srgbClr val="000000"/>
                </a:solidFill>
                <a:latin typeface="Calibri"/>
                <a:ea typeface="Calibri"/>
                <a:cs typeface="Calibri"/>
                <a:sym typeface="Calibri"/>
              </a:rPr>
            </a:br>
            <a:endParaRPr/>
          </a:p>
        </p:txBody>
      </p:sp>
      <p:pic>
        <p:nvPicPr>
          <p:cNvPr id="303" name="Google Shape;303;g3bd06ed8d76_0_165"/>
          <p:cNvPicPr preferRelativeResize="0"/>
          <p:nvPr/>
        </p:nvPicPr>
        <p:blipFill rotWithShape="1">
          <a:blip r:embed="rId3">
            <a:alphaModFix/>
          </a:blip>
          <a:srcRect b="0" l="0" r="0" t="0"/>
          <a:stretch/>
        </p:blipFill>
        <p:spPr>
          <a:xfrm>
            <a:off x="0" y="0"/>
            <a:ext cx="4723920" cy="4066920"/>
          </a:xfrm>
          <a:prstGeom prst="rect">
            <a:avLst/>
          </a:prstGeom>
          <a:noFill/>
          <a:ln>
            <a:noFill/>
          </a:ln>
        </p:spPr>
      </p:pic>
      <p:pic>
        <p:nvPicPr>
          <p:cNvPr id="304" name="Google Shape;304;g3bd06ed8d76_0_165"/>
          <p:cNvPicPr preferRelativeResize="0"/>
          <p:nvPr/>
        </p:nvPicPr>
        <p:blipFill rotWithShape="1">
          <a:blip r:embed="rId4">
            <a:alphaModFix/>
          </a:blip>
          <a:srcRect b="0" l="0" r="0" t="0"/>
          <a:stretch/>
        </p:blipFill>
        <p:spPr>
          <a:xfrm>
            <a:off x="4724280" y="0"/>
            <a:ext cx="4419360" cy="4066920"/>
          </a:xfrm>
          <a:prstGeom prst="rect">
            <a:avLst/>
          </a:prstGeom>
          <a:noFill/>
          <a:ln>
            <a:noFill/>
          </a:ln>
        </p:spPr>
      </p:pic>
      <p:sp>
        <p:nvSpPr>
          <p:cNvPr id="305" name="Google Shape;305;g3bd06ed8d76_0_165"/>
          <p:cNvSpPr/>
          <p:nvPr/>
        </p:nvSpPr>
        <p:spPr>
          <a:xfrm>
            <a:off x="4952880" y="4114800"/>
            <a:ext cx="4190700" cy="22842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Calibri"/>
                <a:ea typeface="Calibri"/>
                <a:cs typeface="Calibri"/>
                <a:sym typeface="Calibri"/>
              </a:rPr>
              <a:t>Prefiltered image</a:t>
            </a:r>
            <a:endParaRPr/>
          </a:p>
          <a:p>
            <a:pPr indent="0" lvl="0" marL="0" marR="0" rtl="0" algn="l">
              <a:lnSpc>
                <a:spcPct val="100000"/>
              </a:lnSpc>
              <a:spcBef>
                <a:spcPts val="0"/>
              </a:spcBef>
              <a:spcAft>
                <a:spcPts val="0"/>
              </a:spcAft>
              <a:buNone/>
            </a:pPr>
            <a:r>
              <a:rPr lang="en-US" sz="1800">
                <a:latin typeface="Calibri"/>
                <a:ea typeface="Calibri"/>
                <a:cs typeface="Calibri"/>
                <a:sym typeface="Calibri"/>
              </a:rPr>
              <a:t>Along</a:t>
            </a:r>
            <a:r>
              <a:rPr b="0" i="0" lang="en-US" sz="1800" u="none" cap="none" strike="noStrike">
                <a:solidFill>
                  <a:srgbClr val="000000"/>
                </a:solidFill>
                <a:latin typeface="Calibri"/>
                <a:ea typeface="Calibri"/>
                <a:cs typeface="Calibri"/>
                <a:sym typeface="Calibri"/>
              </a:rPr>
              <a:t> the character's border, the colors are a mixture of the foreground and background colors.</a:t>
            </a:r>
            <a:endParaRPr/>
          </a:p>
          <a:p>
            <a:pPr indent="0" lvl="0" marL="0" marR="0" rtl="0" algn="l">
              <a:lnSpc>
                <a:spcPct val="100000"/>
              </a:lnSpc>
              <a:spcBef>
                <a:spcPts val="0"/>
              </a:spcBef>
              <a:spcAft>
                <a:spcPts val="0"/>
              </a:spcAft>
              <a:buNone/>
            </a:pPr>
            <a:br>
              <a:rPr b="0" i="0" lang="en-US" sz="1800" u="none" cap="none" strike="noStrike">
                <a:solidFill>
                  <a:srgbClr val="000000"/>
                </a:solidFill>
                <a:latin typeface="Calibri"/>
                <a:ea typeface="Calibri"/>
                <a:cs typeface="Calibri"/>
                <a:sym typeface="Calibri"/>
              </a:rPr>
            </a:br>
            <a:endParaRPr/>
          </a:p>
        </p:txBody>
      </p:sp>
      <p:sp>
        <p:nvSpPr>
          <p:cNvPr id="306" name="Google Shape;306;g3bd06ed8d76_0_165"/>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200" u="none" cap="none" strike="noStrike">
              <a:solidFill>
                <a:srgbClr val="8B8B8B"/>
              </a:solidFill>
              <a:latin typeface="Calibri"/>
              <a:ea typeface="Calibri"/>
              <a:cs typeface="Calibri"/>
              <a:sym typeface="Calibri"/>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g3bc93f8e738_0_202"/>
          <p:cNvSpPr txBox="1"/>
          <p:nvPr/>
        </p:nvSpPr>
        <p:spPr>
          <a:xfrm>
            <a:off x="3028950" y="64596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12" name="Google Shape;312;g3bc93f8e738_0_20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3" name="Google Shape;313;g3bc93f8e738_0_202"/>
          <p:cNvSpPr txBox="1"/>
          <p:nvPr/>
        </p:nvSpPr>
        <p:spPr>
          <a:xfrm>
            <a:off x="363825" y="168125"/>
            <a:ext cx="7789500" cy="7542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700">
                <a:solidFill>
                  <a:schemeClr val="lt1"/>
                </a:solidFill>
                <a:latin typeface="Calibri"/>
                <a:ea typeface="Calibri"/>
                <a:cs typeface="Calibri"/>
                <a:sym typeface="Calibri"/>
              </a:rPr>
              <a:t>3. Anti-Aliasing : Postfiltering</a:t>
            </a:r>
            <a:endParaRPr sz="3700">
              <a:solidFill>
                <a:schemeClr val="lt1"/>
              </a:solidFill>
              <a:latin typeface="Calibri"/>
              <a:ea typeface="Calibri"/>
              <a:cs typeface="Calibri"/>
              <a:sym typeface="Calibri"/>
            </a:endParaRPr>
          </a:p>
        </p:txBody>
      </p:sp>
      <p:pic>
        <p:nvPicPr>
          <p:cNvPr id="314" name="Google Shape;314;g3bc93f8e738_0_20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315" name="Google Shape;315;g3bc93f8e738_0_202"/>
          <p:cNvSpPr txBox="1"/>
          <p:nvPr/>
        </p:nvSpPr>
        <p:spPr>
          <a:xfrm>
            <a:off x="408750" y="1144525"/>
            <a:ext cx="7993500" cy="511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Supersampling or postfiltering is the process by which aliasing effects in graphics are reduced by increasing the frequency of the sampling grid and then averaging the results down. This process means calculating a virtual image at a higher spatial resolution than the frame store resolution and then averaging down to the final resolution. It is called postfiltering as the filtering is carried out after sampling.</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Supersampling is basically a three stage process : </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  A continuous image I(x,y) is sampled at n times the frame resolution. This is a virtual image.</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 The virtual image is then lowpass filtered.</a:t>
            </a:r>
            <a:endParaRPr sz="2000">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 The filtered image is then resampled at the final frame resolution. </a:t>
            </a:r>
            <a:endParaRPr sz="20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20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2000">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9" name="Shape 319"/>
        <p:cNvGrpSpPr/>
        <p:nvPr/>
      </p:nvGrpSpPr>
      <p:grpSpPr>
        <a:xfrm>
          <a:off x="0" y="0"/>
          <a:ext cx="0" cy="0"/>
          <a:chOff x="0" y="0"/>
          <a:chExt cx="0" cy="0"/>
        </a:xfrm>
      </p:grpSpPr>
      <p:sp>
        <p:nvSpPr>
          <p:cNvPr id="320" name="Google Shape;320;g3bc93f8e738_0_173"/>
          <p:cNvSpPr txBox="1"/>
          <p:nvPr/>
        </p:nvSpPr>
        <p:spPr>
          <a:xfrm>
            <a:off x="3028950" y="645960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21" name="Google Shape;321;g3bc93f8e738_0_173"/>
          <p:cNvSpPr txBox="1"/>
          <p:nvPr/>
        </p:nvSpPr>
        <p:spPr>
          <a:xfrm>
            <a:off x="363825" y="168125"/>
            <a:ext cx="7789500" cy="7542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700">
                <a:solidFill>
                  <a:schemeClr val="lt1"/>
                </a:solidFill>
                <a:latin typeface="Calibri"/>
                <a:ea typeface="Calibri"/>
                <a:cs typeface="Calibri"/>
                <a:sym typeface="Calibri"/>
              </a:rPr>
              <a:t>Anti-Aliasing : Postfiltering (Continues)</a:t>
            </a:r>
            <a:endParaRPr sz="3700">
              <a:solidFill>
                <a:schemeClr val="lt1"/>
              </a:solidFill>
              <a:latin typeface="Calibri"/>
              <a:ea typeface="Calibri"/>
              <a:cs typeface="Calibri"/>
              <a:sym typeface="Calibri"/>
            </a:endParaRPr>
          </a:p>
        </p:txBody>
      </p:sp>
      <p:pic>
        <p:nvPicPr>
          <p:cNvPr id="322" name="Google Shape;322;g3bc93f8e738_0_173"/>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323" name="Google Shape;323;g3bc93f8e738_0_173"/>
          <p:cNvSpPr txBox="1"/>
          <p:nvPr/>
        </p:nvSpPr>
        <p:spPr>
          <a:xfrm>
            <a:off x="609475" y="1095450"/>
            <a:ext cx="8076900" cy="2138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2300" u="none" cap="none" strike="noStrike">
                <a:solidFill>
                  <a:srgbClr val="000000"/>
                </a:solidFill>
                <a:latin typeface="Calibri"/>
                <a:ea typeface="Calibri"/>
                <a:cs typeface="Calibri"/>
                <a:sym typeface="Calibri"/>
              </a:rPr>
              <a:t>There are two drawbacks to this method :</a:t>
            </a:r>
            <a:endParaRPr b="0" i="0" sz="1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br>
              <a:rPr b="0" i="0" lang="en-US" sz="2300" u="none" cap="none" strike="noStrike">
                <a:solidFill>
                  <a:srgbClr val="000000"/>
                </a:solidFill>
                <a:latin typeface="Calibri"/>
                <a:ea typeface="Calibri"/>
                <a:cs typeface="Calibri"/>
                <a:sym typeface="Calibri"/>
              </a:rPr>
            </a:br>
            <a:r>
              <a:rPr b="0" i="0" lang="en-US" sz="2300" u="none" cap="none" strike="noStrike">
                <a:solidFill>
                  <a:srgbClr val="000000"/>
                </a:solidFill>
                <a:latin typeface="Calibri"/>
                <a:ea typeface="Calibri"/>
                <a:cs typeface="Calibri"/>
                <a:sym typeface="Calibri"/>
              </a:rPr>
              <a:t># There is a technical and economic limit for increasing the resolution of the virtual image.</a:t>
            </a:r>
            <a:br>
              <a:rPr b="0" i="0" lang="en-US" sz="2300" u="none" cap="none" strike="noStrike">
                <a:solidFill>
                  <a:srgbClr val="000000"/>
                </a:solidFill>
                <a:latin typeface="Calibri"/>
                <a:ea typeface="Calibri"/>
                <a:cs typeface="Calibri"/>
                <a:sym typeface="Calibri"/>
              </a:rPr>
            </a:br>
            <a:br>
              <a:rPr b="0" i="0" lang="en-US" sz="2300" u="none" cap="none" strike="noStrike">
                <a:solidFill>
                  <a:srgbClr val="000000"/>
                </a:solidFill>
                <a:latin typeface="Calibri"/>
                <a:ea typeface="Calibri"/>
                <a:cs typeface="Calibri"/>
                <a:sym typeface="Calibri"/>
              </a:rPr>
            </a:br>
            <a:r>
              <a:rPr b="0" i="0" lang="en-US" sz="2300" u="none" cap="none" strike="noStrike">
                <a:solidFill>
                  <a:srgbClr val="000000"/>
                </a:solidFill>
                <a:latin typeface="Calibri"/>
                <a:ea typeface="Calibri"/>
                <a:cs typeface="Calibri"/>
                <a:sym typeface="Calibri"/>
              </a:rPr>
              <a:t>##  Since the frequency of images can extend to infinity, it just reduces aliasing by raising the Nyquist limit - shift the effect of the frequency spectrum</a:t>
            </a:r>
            <a:r>
              <a:rPr b="0" i="0" lang="en-US" sz="2900" u="none" cap="none" strike="noStrike">
                <a:solidFill>
                  <a:srgbClr val="000000"/>
                </a:solidFill>
                <a:latin typeface="Calibri"/>
                <a:ea typeface="Calibri"/>
                <a:cs typeface="Calibri"/>
                <a:sym typeface="Calibri"/>
              </a:rPr>
              <a:t>.</a:t>
            </a:r>
            <a:endParaRPr b="0" i="0" sz="1500" u="none" cap="none" strike="noStrike">
              <a:solidFill>
                <a:srgbClr val="000000"/>
              </a:solidFill>
              <a:latin typeface="Arial"/>
              <a:ea typeface="Arial"/>
              <a:cs typeface="Arial"/>
              <a:sym typeface="Arial"/>
            </a:endParaRPr>
          </a:p>
        </p:txBody>
      </p:sp>
      <p:pic>
        <p:nvPicPr>
          <p:cNvPr id="324" name="Google Shape;324;g3bc93f8e738_0_173"/>
          <p:cNvPicPr preferRelativeResize="0"/>
          <p:nvPr/>
        </p:nvPicPr>
        <p:blipFill rotWithShape="1">
          <a:blip r:embed="rId4">
            <a:alphaModFix/>
          </a:blip>
          <a:srcRect b="0" l="0" r="0" t="0"/>
          <a:stretch/>
        </p:blipFill>
        <p:spPr>
          <a:xfrm>
            <a:off x="881100" y="4138100"/>
            <a:ext cx="3461908" cy="1869339"/>
          </a:xfrm>
          <a:prstGeom prst="rect">
            <a:avLst/>
          </a:prstGeom>
          <a:noFill/>
          <a:ln>
            <a:noFill/>
          </a:ln>
        </p:spPr>
      </p:pic>
      <p:sp>
        <p:nvSpPr>
          <p:cNvPr id="325" name="Google Shape;325;g3bc93f8e738_0_173"/>
          <p:cNvSpPr/>
          <p:nvPr/>
        </p:nvSpPr>
        <p:spPr>
          <a:xfrm>
            <a:off x="3198497" y="5834703"/>
            <a:ext cx="3405300" cy="331500"/>
          </a:xfrm>
          <a:prstGeom prst="rect">
            <a:avLst/>
          </a:prstGeom>
          <a:noFill/>
          <a:ln>
            <a:noFill/>
          </a:ln>
        </p:spPr>
        <p:txBody>
          <a:bodyPr anchorCtr="0" anchor="t" bIns="40875" lIns="81800" spcFirstLastPara="1" rIns="81800" wrap="square" tIns="40875">
            <a:noAutofit/>
          </a:bodyPr>
          <a:lstStyle/>
          <a:p>
            <a:pPr indent="0" lvl="0" marL="0" marR="0" rtl="0" algn="l">
              <a:lnSpc>
                <a:spcPct val="100000"/>
              </a:lnSpc>
              <a:spcBef>
                <a:spcPts val="0"/>
              </a:spcBef>
              <a:spcAft>
                <a:spcPts val="0"/>
              </a:spcAft>
              <a:buNone/>
            </a:pPr>
            <a:r>
              <a:rPr b="0" i="0" lang="en-US" sz="1635" u="none" cap="none" strike="noStrike">
                <a:solidFill>
                  <a:srgbClr val="000000"/>
                </a:solidFill>
                <a:latin typeface="Calibri"/>
                <a:ea typeface="Calibri"/>
                <a:cs typeface="Calibri"/>
                <a:sym typeface="Calibri"/>
              </a:rPr>
              <a:t>Calculating the end color value</a:t>
            </a:r>
            <a:endParaRPr sz="1272"/>
          </a:p>
        </p:txBody>
      </p:sp>
      <p:pic>
        <p:nvPicPr>
          <p:cNvPr id="326" name="Google Shape;326;g3bc93f8e738_0_173"/>
          <p:cNvPicPr preferRelativeResize="0"/>
          <p:nvPr/>
        </p:nvPicPr>
        <p:blipFill rotWithShape="1">
          <a:blip r:embed="rId5">
            <a:alphaModFix/>
          </a:blip>
          <a:srcRect b="0" l="0" r="0" t="0"/>
          <a:stretch/>
        </p:blipFill>
        <p:spPr>
          <a:xfrm>
            <a:off x="5474656" y="4539045"/>
            <a:ext cx="2371515" cy="1419180"/>
          </a:xfrm>
          <a:prstGeom prst="rect">
            <a:avLst/>
          </a:prstGeom>
          <a:noFill/>
          <a:ln>
            <a:noFill/>
          </a:ln>
        </p:spPr>
      </p:pic>
      <p:sp>
        <p:nvSpPr>
          <p:cNvPr id="327" name="Google Shape;327;g3bc93f8e738_0_173"/>
          <p:cNvSpPr txBox="1"/>
          <p:nvPr/>
        </p:nvSpPr>
        <p:spPr>
          <a:xfrm>
            <a:off x="6919880" y="6459745"/>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8B8B8B"/>
                </a:solidFill>
                <a:latin typeface="Calibri"/>
                <a:ea typeface="Calibri"/>
                <a:cs typeface="Calibri"/>
                <a:sym typeface="Calibri"/>
              </a:rPr>
              <a:t>‹#›</a:t>
            </a:fld>
            <a:endParaRPr b="0" i="0" sz="1200" u="none" cap="none" strike="noStrike">
              <a:solidFill>
                <a:srgbClr val="8B8B8B"/>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1" name="Shape 331"/>
        <p:cNvGrpSpPr/>
        <p:nvPr/>
      </p:nvGrpSpPr>
      <p:grpSpPr>
        <a:xfrm>
          <a:off x="0" y="0"/>
          <a:ext cx="0" cy="0"/>
          <a:chOff x="0" y="0"/>
          <a:chExt cx="0" cy="0"/>
        </a:xfrm>
      </p:grpSpPr>
      <p:sp>
        <p:nvSpPr>
          <p:cNvPr id="332" name="Google Shape;332;g3bb5fbf5691_0_22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33" name="Google Shape;333;g3bb5fbf5691_0_22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4" name="Google Shape;334;g3bb5fbf5691_0_22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Post-Filtering : Advantages</a:t>
            </a:r>
            <a:endParaRPr sz="3800">
              <a:solidFill>
                <a:schemeClr val="lt1"/>
              </a:solidFill>
              <a:latin typeface="Calibri"/>
              <a:ea typeface="Calibri"/>
              <a:cs typeface="Calibri"/>
              <a:sym typeface="Calibri"/>
            </a:endParaRPr>
          </a:p>
        </p:txBody>
      </p:sp>
      <p:pic>
        <p:nvPicPr>
          <p:cNvPr id="335" name="Google Shape;335;g3bb5fbf5691_0_22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411"/>
              </a:srgbClr>
            </a:outerShdw>
          </a:effectLst>
        </p:spPr>
      </p:pic>
      <p:sp>
        <p:nvSpPr>
          <p:cNvPr id="336" name="Google Shape;336;g3bb5fbf5691_0_224"/>
          <p:cNvSpPr txBox="1"/>
          <p:nvPr/>
        </p:nvSpPr>
        <p:spPr>
          <a:xfrm>
            <a:off x="363825" y="5505263"/>
            <a:ext cx="5997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p:txBody>
      </p:sp>
      <p:sp>
        <p:nvSpPr>
          <p:cNvPr id="337" name="Google Shape;337;g3bb5fbf5691_0_224"/>
          <p:cNvSpPr txBox="1"/>
          <p:nvPr/>
        </p:nvSpPr>
        <p:spPr>
          <a:xfrm>
            <a:off x="438455" y="1559945"/>
            <a:ext cx="8076900" cy="4571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 </a:t>
            </a:r>
            <a:r>
              <a:rPr b="0" i="0" lang="en-US" sz="2600" u="none" cap="none" strike="noStrike">
                <a:solidFill>
                  <a:srgbClr val="000000"/>
                </a:solidFill>
                <a:latin typeface="Calibri"/>
                <a:ea typeface="Calibri"/>
                <a:cs typeface="Calibri"/>
                <a:sym typeface="Calibri"/>
              </a:rPr>
              <a:t>It </a:t>
            </a:r>
            <a:r>
              <a:rPr lang="en-US" sz="2600">
                <a:latin typeface="Calibri"/>
                <a:ea typeface="Calibri"/>
                <a:cs typeface="Calibri"/>
                <a:sym typeface="Calibri"/>
              </a:rPr>
              <a:t>supports</a:t>
            </a:r>
            <a:r>
              <a:rPr b="0" i="0" lang="en-US" sz="2600" u="none" cap="none" strike="noStrike">
                <a:solidFill>
                  <a:srgbClr val="000000"/>
                </a:solidFill>
                <a:latin typeface="Calibri"/>
                <a:ea typeface="Calibri"/>
                <a:cs typeface="Calibri"/>
                <a:sym typeface="Calibri"/>
              </a:rPr>
              <a:t> arbitrary symmetric filters at a fixed </a:t>
            </a:r>
            <a:r>
              <a:rPr lang="en-US" sz="2600">
                <a:latin typeface="Calibri"/>
                <a:ea typeface="Calibri"/>
                <a:cs typeface="Calibri"/>
                <a:sym typeface="Calibri"/>
              </a:rPr>
              <a:t>cost.</a:t>
            </a:r>
            <a:r>
              <a:rPr b="0" i="0" lang="en-US" sz="2600" u="none" cap="none" strike="noStrike">
                <a:solidFill>
                  <a:srgbClr val="000000"/>
                </a:solidFill>
                <a:latin typeface="Calibri"/>
                <a:ea typeface="Calibri"/>
                <a:cs typeface="Calibri"/>
                <a:sym typeface="Calibri"/>
              </a:rPr>
              <a:t> </a:t>
            </a:r>
            <a:endParaRPr sz="1200"/>
          </a:p>
          <a:p>
            <a:pPr indent="0" lvl="0" marL="0" marR="0" rtl="0" algn="ctr">
              <a:lnSpc>
                <a:spcPct val="100000"/>
              </a:lnSpc>
              <a:spcBef>
                <a:spcPts val="0"/>
              </a:spcBef>
              <a:spcAft>
                <a:spcPts val="0"/>
              </a:spcAft>
              <a:buNone/>
            </a:pPr>
            <a:r>
              <a:rPr b="0" i="0" lang="en-US" sz="2600" u="none" cap="none" strike="noStrike">
                <a:solidFill>
                  <a:srgbClr val="000000"/>
                </a:solidFill>
                <a:latin typeface="Calibri"/>
                <a:ea typeface="Calibri"/>
                <a:cs typeface="Calibri"/>
                <a:sym typeface="Calibri"/>
              </a:rPr>
              <a:t>** It allows </a:t>
            </a:r>
            <a:r>
              <a:rPr lang="en-US" sz="2600">
                <a:latin typeface="Calibri"/>
                <a:ea typeface="Calibri"/>
                <a:cs typeface="Calibri"/>
                <a:sym typeface="Calibri"/>
              </a:rPr>
              <a:t>wider</a:t>
            </a:r>
            <a:r>
              <a:rPr b="0" i="0" lang="en-US" sz="2600" u="none" cap="none" strike="noStrike">
                <a:solidFill>
                  <a:srgbClr val="000000"/>
                </a:solidFill>
                <a:latin typeface="Calibri"/>
                <a:ea typeface="Calibri"/>
                <a:cs typeface="Calibri"/>
                <a:sym typeface="Calibri"/>
              </a:rPr>
              <a:t> filter support. Most hardware anti-aliasing schemes only consider samples within a pixel. </a:t>
            </a:r>
            <a:endParaRPr sz="1200"/>
          </a:p>
          <a:p>
            <a:pPr indent="0" lvl="0" marL="0" marR="0" rtl="0" algn="ctr">
              <a:lnSpc>
                <a:spcPct val="100000"/>
              </a:lnSpc>
              <a:spcBef>
                <a:spcPts val="0"/>
              </a:spcBef>
              <a:spcAft>
                <a:spcPts val="0"/>
              </a:spcAft>
              <a:buNone/>
            </a:pPr>
            <a:r>
              <a:rPr b="0" i="0" lang="en-US" sz="2600" u="none" cap="none" strike="noStrike">
                <a:solidFill>
                  <a:srgbClr val="000000"/>
                </a:solidFill>
                <a:latin typeface="Calibri"/>
                <a:ea typeface="Calibri"/>
                <a:cs typeface="Calibri"/>
                <a:sym typeface="Calibri"/>
              </a:rPr>
              <a:t>*** This method is independent of hardware-specific anti-aliasing methods. </a:t>
            </a:r>
            <a:endParaRPr sz="1200"/>
          </a:p>
          <a:p>
            <a:pPr indent="0" lvl="0" marL="0" marR="0" rtl="0" algn="ctr">
              <a:lnSpc>
                <a:spcPct val="100000"/>
              </a:lnSpc>
              <a:spcBef>
                <a:spcPts val="0"/>
              </a:spcBef>
              <a:spcAft>
                <a:spcPts val="0"/>
              </a:spcAft>
              <a:buNone/>
            </a:pPr>
            <a:r>
              <a:rPr b="0" i="0" lang="en-US" sz="2600" u="none" cap="none" strike="noStrike">
                <a:solidFill>
                  <a:srgbClr val="000000"/>
                </a:solidFill>
                <a:latin typeface="Calibri"/>
                <a:ea typeface="Calibri"/>
                <a:cs typeface="Calibri"/>
                <a:sym typeface="Calibri"/>
              </a:rPr>
              <a:t>**** It is a simple, fast, and easy</a:t>
            </a:r>
            <a:r>
              <a:rPr lang="en-US" sz="2600">
                <a:latin typeface="Calibri"/>
                <a:ea typeface="Calibri"/>
                <a:cs typeface="Calibri"/>
                <a:sym typeface="Calibri"/>
              </a:rPr>
              <a:t>-to-implement</a:t>
            </a:r>
            <a:r>
              <a:rPr b="0" i="0" lang="en-US" sz="2600" u="none" cap="none" strike="noStrike">
                <a:solidFill>
                  <a:srgbClr val="000000"/>
                </a:solidFill>
                <a:latin typeface="Calibri"/>
                <a:ea typeface="Calibri"/>
                <a:cs typeface="Calibri"/>
                <a:sym typeface="Calibri"/>
              </a:rPr>
              <a:t> </a:t>
            </a:r>
            <a:r>
              <a:rPr lang="en-US" sz="2600">
                <a:latin typeface="Calibri"/>
                <a:ea typeface="Calibri"/>
                <a:cs typeface="Calibri"/>
                <a:sym typeface="Calibri"/>
              </a:rPr>
              <a:t>method.</a:t>
            </a:r>
            <a:r>
              <a:rPr b="0" i="0" lang="en-US" sz="2600" u="none" cap="none" strike="noStrike">
                <a:solidFill>
                  <a:srgbClr val="000000"/>
                </a:solidFill>
                <a:latin typeface="Calibri"/>
                <a:ea typeface="Calibri"/>
                <a:cs typeface="Calibri"/>
                <a:sym typeface="Calibri"/>
              </a:rPr>
              <a:t> </a:t>
            </a:r>
            <a:endParaRPr sz="1200"/>
          </a:p>
          <a:p>
            <a:pPr indent="0" lvl="0" marL="0" marR="0" rtl="0" algn="ctr">
              <a:lnSpc>
                <a:spcPct val="100000"/>
              </a:lnSpc>
              <a:spcBef>
                <a:spcPts val="0"/>
              </a:spcBef>
              <a:spcAft>
                <a:spcPts val="0"/>
              </a:spcAft>
              <a:buNone/>
            </a:pPr>
            <a:r>
              <a:t/>
            </a:r>
            <a:endParaRPr b="0" i="0" sz="2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344" name="Google Shape;344;p17"/>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345" name="Google Shape;345;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346" name="Google Shape;346;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347" name="Google Shape;347;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4"/>
                                        </p:tgtEl>
                                        <p:attrNameLst>
                                          <p:attrName>style.visibility</p:attrName>
                                        </p:attrNameLst>
                                      </p:cBhvr>
                                      <p:to>
                                        <p:strVal val="visible"/>
                                      </p:to>
                                    </p:set>
                                    <p:anim calcmode="lin" valueType="num">
                                      <p:cBhvr additive="base">
                                        <p:cTn dur="1000"/>
                                        <p:tgtEl>
                                          <p:spTgt spid="344"/>
                                        </p:tgtEl>
                                        <p:attrNameLst>
                                          <p:attrName>ppt_w</p:attrName>
                                        </p:attrNameLst>
                                      </p:cBhvr>
                                      <p:tavLst>
                                        <p:tav fmla="" tm="0">
                                          <p:val>
                                            <p:strVal val="0"/>
                                          </p:val>
                                        </p:tav>
                                        <p:tav fmla="" tm="100000">
                                          <p:val>
                                            <p:strVal val="#ppt_w"/>
                                          </p:val>
                                        </p:tav>
                                      </p:tavLst>
                                    </p:anim>
                                    <p:anim calcmode="lin" valueType="num">
                                      <p:cBhvr additive="base">
                                        <p:cTn dur="1000"/>
                                        <p:tgtEl>
                                          <p:spTgt spid="34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2006-08-22T08:27:31Z</dcterms:created>
  <dc:creator>Brian Mac Namee</dc:creator>
</cp:coreProperties>
</file>