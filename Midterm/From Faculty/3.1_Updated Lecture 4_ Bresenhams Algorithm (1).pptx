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y="6858000" cx="9144000"/>
  <p:notesSz cx="9296400" cy="7010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339">
          <p15:clr>
            <a:srgbClr val="000000"/>
          </p15:clr>
        </p15:guide>
        <p15:guide id="2" pos="2879">
          <p15:clr>
            <a:srgbClr val="000000"/>
          </p15:clr>
        </p15:guide>
      </p15:sldGuideLst>
    </p:ext>
    <p:ext uri="GoogleSlidesCustomDataVersion2">
      <go:slidesCustomData xmlns:go="http://customooxmlschemas.google.com/" r:id="rId30" roundtripDataSignature="AMtx7miQds+XFg1UYcoI7WDQi4z+HayR2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48E3395-5A6F-4E07-83FC-C634DF74E4AE}">
  <a:tblStyle styleId="{F48E3395-5A6F-4E07-83FC-C634DF74E4A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64969D87-7905-4602-A9DE-F355D8108A63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339" orient="horz"/>
        <p:guide pos="287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0" Type="http://customschemas.google.com/relationships/presentationmetadata" Target="meta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4029075" cy="350837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265737" y="0"/>
            <a:ext cx="4029075" cy="350837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95600" y="525462"/>
            <a:ext cx="3505200" cy="262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30275" y="3330575"/>
            <a:ext cx="7435850" cy="3154362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657975"/>
            <a:ext cx="4029075" cy="350837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265737" y="6657975"/>
            <a:ext cx="4029075" cy="350837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98d13a825_0_85:notes"/>
          <p:cNvSpPr/>
          <p:nvPr>
            <p:ph idx="2" type="sldImg"/>
          </p:nvPr>
        </p:nvSpPr>
        <p:spPr>
          <a:xfrm>
            <a:off x="3061907" y="525409"/>
            <a:ext cx="3172800" cy="262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37" name="Google Shape;137;g3e98d13a825_0_85:notes"/>
          <p:cNvSpPr txBox="1"/>
          <p:nvPr>
            <p:ph idx="1" type="body"/>
          </p:nvPr>
        </p:nvSpPr>
        <p:spPr>
          <a:xfrm>
            <a:off x="930389" y="3329243"/>
            <a:ext cx="7437000" cy="31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g3e98d13a825_0_85:notes"/>
          <p:cNvSpPr txBox="1"/>
          <p:nvPr/>
        </p:nvSpPr>
        <p:spPr>
          <a:xfrm>
            <a:off x="5265224" y="6658488"/>
            <a:ext cx="4030200" cy="350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:notes"/>
          <p:cNvSpPr txBox="1"/>
          <p:nvPr>
            <p:ph idx="1" type="body"/>
          </p:nvPr>
        </p:nvSpPr>
        <p:spPr>
          <a:xfrm>
            <a:off x="930275" y="3330575"/>
            <a:ext cx="7435850" cy="3154362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2:notes"/>
          <p:cNvSpPr/>
          <p:nvPr>
            <p:ph idx="2" type="sldImg"/>
          </p:nvPr>
        </p:nvSpPr>
        <p:spPr>
          <a:xfrm>
            <a:off x="2895600" y="525462"/>
            <a:ext cx="3505200" cy="262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:notes"/>
          <p:cNvSpPr txBox="1"/>
          <p:nvPr>
            <p:ph idx="1" type="body"/>
          </p:nvPr>
        </p:nvSpPr>
        <p:spPr>
          <a:xfrm>
            <a:off x="930275" y="3330575"/>
            <a:ext cx="7435850" cy="3154362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3:notes"/>
          <p:cNvSpPr/>
          <p:nvPr>
            <p:ph idx="2" type="sldImg"/>
          </p:nvPr>
        </p:nvSpPr>
        <p:spPr>
          <a:xfrm>
            <a:off x="2895600" y="525462"/>
            <a:ext cx="3505200" cy="262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:notes"/>
          <p:cNvSpPr txBox="1"/>
          <p:nvPr>
            <p:ph idx="1" type="body"/>
          </p:nvPr>
        </p:nvSpPr>
        <p:spPr>
          <a:xfrm>
            <a:off x="930275" y="3330575"/>
            <a:ext cx="7435850" cy="3154362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p4:notes"/>
          <p:cNvSpPr/>
          <p:nvPr>
            <p:ph idx="2" type="sldImg"/>
          </p:nvPr>
        </p:nvSpPr>
        <p:spPr>
          <a:xfrm>
            <a:off x="2895600" y="525462"/>
            <a:ext cx="3505200" cy="262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5:notes"/>
          <p:cNvSpPr txBox="1"/>
          <p:nvPr>
            <p:ph idx="1" type="body"/>
          </p:nvPr>
        </p:nvSpPr>
        <p:spPr>
          <a:xfrm>
            <a:off x="930275" y="3330575"/>
            <a:ext cx="7435850" cy="3154362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p5:notes"/>
          <p:cNvSpPr/>
          <p:nvPr>
            <p:ph idx="2" type="sldImg"/>
          </p:nvPr>
        </p:nvSpPr>
        <p:spPr>
          <a:xfrm>
            <a:off x="2895600" y="525462"/>
            <a:ext cx="3505200" cy="262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6:notes"/>
          <p:cNvSpPr txBox="1"/>
          <p:nvPr>
            <p:ph idx="1" type="body"/>
          </p:nvPr>
        </p:nvSpPr>
        <p:spPr>
          <a:xfrm>
            <a:off x="930275" y="3330575"/>
            <a:ext cx="7435850" cy="3154362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p6:notes"/>
          <p:cNvSpPr/>
          <p:nvPr>
            <p:ph idx="2" type="sldImg"/>
          </p:nvPr>
        </p:nvSpPr>
        <p:spPr>
          <a:xfrm>
            <a:off x="2895600" y="525462"/>
            <a:ext cx="3505200" cy="262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7:notes"/>
          <p:cNvSpPr txBox="1"/>
          <p:nvPr>
            <p:ph idx="1" type="body"/>
          </p:nvPr>
        </p:nvSpPr>
        <p:spPr>
          <a:xfrm>
            <a:off x="930275" y="3330575"/>
            <a:ext cx="7435850" cy="3154362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" name="Google Shape;263;p7:notes"/>
          <p:cNvSpPr/>
          <p:nvPr>
            <p:ph idx="2" type="sldImg"/>
          </p:nvPr>
        </p:nvSpPr>
        <p:spPr>
          <a:xfrm>
            <a:off x="2895600" y="525462"/>
            <a:ext cx="3505200" cy="262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8:notes"/>
          <p:cNvSpPr txBox="1"/>
          <p:nvPr>
            <p:ph idx="1" type="body"/>
          </p:nvPr>
        </p:nvSpPr>
        <p:spPr>
          <a:xfrm>
            <a:off x="930275" y="3330575"/>
            <a:ext cx="7435850" cy="3154362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3" name="Google Shape;273;p8:notes"/>
          <p:cNvSpPr/>
          <p:nvPr>
            <p:ph idx="2" type="sldImg"/>
          </p:nvPr>
        </p:nvSpPr>
        <p:spPr>
          <a:xfrm>
            <a:off x="2895600" y="525462"/>
            <a:ext cx="3505200" cy="262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:notes"/>
          <p:cNvSpPr txBox="1"/>
          <p:nvPr>
            <p:ph idx="1" type="body"/>
          </p:nvPr>
        </p:nvSpPr>
        <p:spPr>
          <a:xfrm>
            <a:off x="930275" y="3330575"/>
            <a:ext cx="7435850" cy="3154362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7" name="Google Shape;287;p9:notes"/>
          <p:cNvSpPr/>
          <p:nvPr>
            <p:ph idx="2" type="sldImg"/>
          </p:nvPr>
        </p:nvSpPr>
        <p:spPr>
          <a:xfrm>
            <a:off x="2895600" y="525462"/>
            <a:ext cx="3505200" cy="262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0:notes"/>
          <p:cNvSpPr txBox="1"/>
          <p:nvPr>
            <p:ph idx="1" type="body"/>
          </p:nvPr>
        </p:nvSpPr>
        <p:spPr>
          <a:xfrm>
            <a:off x="930275" y="3330575"/>
            <a:ext cx="7435850" cy="3154362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p10:notes"/>
          <p:cNvSpPr/>
          <p:nvPr>
            <p:ph idx="2" type="sldImg"/>
          </p:nvPr>
        </p:nvSpPr>
        <p:spPr>
          <a:xfrm>
            <a:off x="2895600" y="525462"/>
            <a:ext cx="3505200" cy="262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1:notes"/>
          <p:cNvSpPr txBox="1"/>
          <p:nvPr>
            <p:ph idx="1" type="body"/>
          </p:nvPr>
        </p:nvSpPr>
        <p:spPr>
          <a:xfrm>
            <a:off x="930275" y="3330575"/>
            <a:ext cx="7435850" cy="3154362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9" name="Google Shape;309;p11:notes"/>
          <p:cNvSpPr/>
          <p:nvPr>
            <p:ph idx="2" type="sldImg"/>
          </p:nvPr>
        </p:nvSpPr>
        <p:spPr>
          <a:xfrm>
            <a:off x="2895600" y="525462"/>
            <a:ext cx="3505200" cy="262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ea22b26706_2_7:notes"/>
          <p:cNvSpPr txBox="1"/>
          <p:nvPr>
            <p:ph idx="1" type="body"/>
          </p:nvPr>
        </p:nvSpPr>
        <p:spPr>
          <a:xfrm>
            <a:off x="930275" y="3330575"/>
            <a:ext cx="7435800" cy="31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0" name="Google Shape;320;g3ea22b26706_2_7:notes"/>
          <p:cNvSpPr/>
          <p:nvPr>
            <p:ph idx="2" type="sldImg"/>
          </p:nvPr>
        </p:nvSpPr>
        <p:spPr>
          <a:xfrm>
            <a:off x="2895600" y="525462"/>
            <a:ext cx="3505200" cy="262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cb4883548c_0_0:notes"/>
          <p:cNvSpPr txBox="1"/>
          <p:nvPr>
            <p:ph idx="1" type="body"/>
          </p:nvPr>
        </p:nvSpPr>
        <p:spPr>
          <a:xfrm>
            <a:off x="930275" y="3330575"/>
            <a:ext cx="7435800" cy="31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8" name="Google Shape;328;g3cb4883548c_0_0:notes"/>
          <p:cNvSpPr/>
          <p:nvPr>
            <p:ph idx="2" type="sldImg"/>
          </p:nvPr>
        </p:nvSpPr>
        <p:spPr>
          <a:xfrm>
            <a:off x="2895600" y="525462"/>
            <a:ext cx="3505200" cy="262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cb4883548c_0_208:notes"/>
          <p:cNvSpPr txBox="1"/>
          <p:nvPr>
            <p:ph idx="1" type="body"/>
          </p:nvPr>
        </p:nvSpPr>
        <p:spPr>
          <a:xfrm>
            <a:off x="930275" y="3330575"/>
            <a:ext cx="7435800" cy="31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7" name="Google Shape;337;g3cb4883548c_0_208:notes"/>
          <p:cNvSpPr/>
          <p:nvPr>
            <p:ph idx="2" type="sldImg"/>
          </p:nvPr>
        </p:nvSpPr>
        <p:spPr>
          <a:xfrm>
            <a:off x="2895600" y="525462"/>
            <a:ext cx="3505200" cy="262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2:notes"/>
          <p:cNvSpPr txBox="1"/>
          <p:nvPr>
            <p:ph idx="1" type="body"/>
          </p:nvPr>
        </p:nvSpPr>
        <p:spPr>
          <a:xfrm>
            <a:off x="930275" y="3330575"/>
            <a:ext cx="7435850" cy="3154362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6" name="Google Shape;346;p12:notes"/>
          <p:cNvSpPr/>
          <p:nvPr>
            <p:ph idx="2" type="sldImg"/>
          </p:nvPr>
        </p:nvSpPr>
        <p:spPr>
          <a:xfrm>
            <a:off x="2895600" y="525462"/>
            <a:ext cx="3505200" cy="262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3:notes"/>
          <p:cNvSpPr txBox="1"/>
          <p:nvPr>
            <p:ph idx="1" type="body"/>
          </p:nvPr>
        </p:nvSpPr>
        <p:spPr>
          <a:xfrm>
            <a:off x="930275" y="3330575"/>
            <a:ext cx="7435850" cy="3154362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5" name="Google Shape;355;p13:notes"/>
          <p:cNvSpPr/>
          <p:nvPr>
            <p:ph idx="2" type="sldImg"/>
          </p:nvPr>
        </p:nvSpPr>
        <p:spPr>
          <a:xfrm>
            <a:off x="2895600" y="525462"/>
            <a:ext cx="3505200" cy="262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ea22b26706_0_0:notes"/>
          <p:cNvSpPr txBox="1"/>
          <p:nvPr>
            <p:ph idx="1" type="body"/>
          </p:nvPr>
        </p:nvSpPr>
        <p:spPr>
          <a:xfrm>
            <a:off x="930275" y="3330575"/>
            <a:ext cx="7435800" cy="31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5" name="Google Shape;505;g3ea22b26706_0_0:notes"/>
          <p:cNvSpPr/>
          <p:nvPr>
            <p:ph idx="2" type="sldImg"/>
          </p:nvPr>
        </p:nvSpPr>
        <p:spPr>
          <a:xfrm>
            <a:off x="2895600" y="525462"/>
            <a:ext cx="3505200" cy="262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4:notes"/>
          <p:cNvSpPr txBox="1"/>
          <p:nvPr>
            <p:ph idx="1" type="body"/>
          </p:nvPr>
        </p:nvSpPr>
        <p:spPr>
          <a:xfrm>
            <a:off x="930275" y="3330575"/>
            <a:ext cx="7435850" cy="3154362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4" name="Google Shape;514;p14:notes"/>
          <p:cNvSpPr/>
          <p:nvPr>
            <p:ph idx="2" type="sldImg"/>
          </p:nvPr>
        </p:nvSpPr>
        <p:spPr>
          <a:xfrm>
            <a:off x="2895600" y="525462"/>
            <a:ext cx="3505200" cy="262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15:notes"/>
          <p:cNvSpPr txBox="1"/>
          <p:nvPr>
            <p:ph idx="1" type="body"/>
          </p:nvPr>
        </p:nvSpPr>
        <p:spPr>
          <a:xfrm>
            <a:off x="930275" y="3330575"/>
            <a:ext cx="7435850" cy="3154362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4" name="Google Shape;524;p15:notes"/>
          <p:cNvSpPr/>
          <p:nvPr>
            <p:ph idx="2" type="sldImg"/>
          </p:nvPr>
        </p:nvSpPr>
        <p:spPr>
          <a:xfrm>
            <a:off x="2895600" y="525462"/>
            <a:ext cx="3505200" cy="262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e92da07caf_0_36:notes"/>
          <p:cNvSpPr txBox="1"/>
          <p:nvPr>
            <p:ph idx="1" type="body"/>
          </p:nvPr>
        </p:nvSpPr>
        <p:spPr>
          <a:xfrm>
            <a:off x="930275" y="3330575"/>
            <a:ext cx="7435800" cy="31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4" name="Google Shape;674;g3e92da07caf_0_36:notes"/>
          <p:cNvSpPr/>
          <p:nvPr>
            <p:ph idx="2" type="sldImg"/>
          </p:nvPr>
        </p:nvSpPr>
        <p:spPr>
          <a:xfrm>
            <a:off x="2895600" y="525462"/>
            <a:ext cx="3505200" cy="262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16:notes"/>
          <p:cNvSpPr/>
          <p:nvPr>
            <p:ph idx="2" type="sldImg"/>
          </p:nvPr>
        </p:nvSpPr>
        <p:spPr>
          <a:xfrm>
            <a:off x="2895600" y="525462"/>
            <a:ext cx="3505200" cy="262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3" name="Google Shape;683;p16:notes"/>
          <p:cNvSpPr txBox="1"/>
          <p:nvPr>
            <p:ph idx="1" type="body"/>
          </p:nvPr>
        </p:nvSpPr>
        <p:spPr>
          <a:xfrm>
            <a:off x="930275" y="3330575"/>
            <a:ext cx="7435850" cy="3154362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4" name="Google Shape;684;p16:notes"/>
          <p:cNvSpPr txBox="1"/>
          <p:nvPr/>
        </p:nvSpPr>
        <p:spPr>
          <a:xfrm>
            <a:off x="5265737" y="6657975"/>
            <a:ext cx="4029075" cy="350837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17:notes"/>
          <p:cNvSpPr/>
          <p:nvPr>
            <p:ph idx="2" type="sldImg"/>
          </p:nvPr>
        </p:nvSpPr>
        <p:spPr>
          <a:xfrm>
            <a:off x="2895600" y="525462"/>
            <a:ext cx="3505200" cy="262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3" name="Google Shape;693;p17:notes"/>
          <p:cNvSpPr txBox="1"/>
          <p:nvPr>
            <p:ph idx="1" type="body"/>
          </p:nvPr>
        </p:nvSpPr>
        <p:spPr>
          <a:xfrm>
            <a:off x="930275" y="3330575"/>
            <a:ext cx="7435850" cy="3154362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4" name="Google Shape;694;p17:notes"/>
          <p:cNvSpPr txBox="1"/>
          <p:nvPr/>
        </p:nvSpPr>
        <p:spPr>
          <a:xfrm>
            <a:off x="5265737" y="6657975"/>
            <a:ext cx="4029075" cy="350837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cb4883548c_0_151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g3cb4883548c_0_151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g3cb4883548c_0_15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cb4883548c_0_192"/>
          <p:cNvSpPr txBox="1"/>
          <p:nvPr>
            <p:ph type="title"/>
          </p:nvPr>
        </p:nvSpPr>
        <p:spPr>
          <a:xfrm>
            <a:off x="628650" y="365125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g3cb4883548c_0_192"/>
          <p:cNvSpPr txBox="1"/>
          <p:nvPr>
            <p:ph idx="1" type="body"/>
          </p:nvPr>
        </p:nvSpPr>
        <p:spPr>
          <a:xfrm>
            <a:off x="628650" y="1825625"/>
            <a:ext cx="78867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20" name="Google Shape;20;g3cb4883548c_0_192"/>
          <p:cNvSpPr txBox="1"/>
          <p:nvPr>
            <p:ph idx="10" type="dt"/>
          </p:nvPr>
        </p:nvSpPr>
        <p:spPr>
          <a:xfrm>
            <a:off x="6286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g3cb4883548c_0_192"/>
          <p:cNvSpPr txBox="1"/>
          <p:nvPr>
            <p:ph idx="11" type="ftr"/>
          </p:nvPr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g3cb4883548c_0_192"/>
          <p:cNvSpPr txBox="1"/>
          <p:nvPr>
            <p:ph idx="12" type="sldNum"/>
          </p:nvPr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cb4883548c_0_155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g3cb4883548c_0_15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cb4883548c_0_15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g3cb4883548c_0_15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g3cb4883548c_0_15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cb4883548c_0_16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g3cb4883548c_0_162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g3cb4883548c_0_162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g3cb4883548c_0_16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cb4883548c_0_16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g3cb4883548c_0_16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cb4883548c_0_170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g3cb4883548c_0_170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g3cb4883548c_0_17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cb4883548c_0_174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4" name="Google Shape;44;g3cb4883548c_0_17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cb4883548c_0_177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g3cb4883548c_0_177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8" name="Google Shape;48;g3cb4883548c_0_177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g3cb4883548c_0_177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g3cb4883548c_0_17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cb4883548c_0_183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3" name="Google Shape;53;g3cb4883548c_0_18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cb4883548c_0_186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6" name="Google Shape;56;g3cb4883548c_0_186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g3cb4883548c_0_18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cb4883548c_0_19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98d13a825_0_101"/>
          <p:cNvSpPr txBox="1"/>
          <p:nvPr>
            <p:ph type="ctrTitle"/>
          </p:nvPr>
        </p:nvSpPr>
        <p:spPr>
          <a:xfrm>
            <a:off x="1143000" y="1122363"/>
            <a:ext cx="6858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g3e98d13a825_0_101"/>
          <p:cNvSpPr txBox="1"/>
          <p:nvPr>
            <p:ph idx="1" type="subTitle"/>
          </p:nvPr>
        </p:nvSpPr>
        <p:spPr>
          <a:xfrm>
            <a:off x="1143000" y="3602038"/>
            <a:ext cx="6858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9" name="Google Shape;69;g3e98d13a825_0_101"/>
          <p:cNvSpPr txBox="1"/>
          <p:nvPr>
            <p:ph idx="10" type="dt"/>
          </p:nvPr>
        </p:nvSpPr>
        <p:spPr>
          <a:xfrm>
            <a:off x="6286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g3e98d13a825_0_101"/>
          <p:cNvSpPr txBox="1"/>
          <p:nvPr>
            <p:ph idx="11" type="ftr"/>
          </p:nvPr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g3e98d13a825_0_101"/>
          <p:cNvSpPr txBox="1"/>
          <p:nvPr>
            <p:ph idx="12" type="sldNum"/>
          </p:nvPr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98d13a825_0_107"/>
          <p:cNvSpPr txBox="1"/>
          <p:nvPr>
            <p:ph type="title"/>
          </p:nvPr>
        </p:nvSpPr>
        <p:spPr>
          <a:xfrm>
            <a:off x="628650" y="365125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g3e98d13a825_0_107"/>
          <p:cNvSpPr txBox="1"/>
          <p:nvPr>
            <p:ph idx="1" type="body"/>
          </p:nvPr>
        </p:nvSpPr>
        <p:spPr>
          <a:xfrm>
            <a:off x="628650" y="1825625"/>
            <a:ext cx="78867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g3e98d13a825_0_107"/>
          <p:cNvSpPr txBox="1"/>
          <p:nvPr>
            <p:ph idx="10" type="dt"/>
          </p:nvPr>
        </p:nvSpPr>
        <p:spPr>
          <a:xfrm>
            <a:off x="6286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g3e98d13a825_0_107"/>
          <p:cNvSpPr txBox="1"/>
          <p:nvPr>
            <p:ph idx="11" type="ftr"/>
          </p:nvPr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g3e98d13a825_0_107"/>
          <p:cNvSpPr txBox="1"/>
          <p:nvPr>
            <p:ph idx="12" type="sldNum"/>
          </p:nvPr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98d13a825_0_113"/>
          <p:cNvSpPr txBox="1"/>
          <p:nvPr>
            <p:ph type="title"/>
          </p:nvPr>
        </p:nvSpPr>
        <p:spPr>
          <a:xfrm rot="5400000">
            <a:off x="4623601" y="2285276"/>
            <a:ext cx="58119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g3e98d13a825_0_113"/>
          <p:cNvSpPr txBox="1"/>
          <p:nvPr>
            <p:ph idx="1" type="body"/>
          </p:nvPr>
        </p:nvSpPr>
        <p:spPr>
          <a:xfrm rot="5400000">
            <a:off x="623025" y="370674"/>
            <a:ext cx="58119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g3e98d13a825_0_113"/>
          <p:cNvSpPr txBox="1"/>
          <p:nvPr>
            <p:ph idx="10" type="dt"/>
          </p:nvPr>
        </p:nvSpPr>
        <p:spPr>
          <a:xfrm>
            <a:off x="6286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g3e98d13a825_0_113"/>
          <p:cNvSpPr txBox="1"/>
          <p:nvPr>
            <p:ph idx="11" type="ftr"/>
          </p:nvPr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g3e98d13a825_0_113"/>
          <p:cNvSpPr txBox="1"/>
          <p:nvPr>
            <p:ph idx="12" type="sldNum"/>
          </p:nvPr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98d13a825_0_119"/>
          <p:cNvSpPr txBox="1"/>
          <p:nvPr>
            <p:ph type="title"/>
          </p:nvPr>
        </p:nvSpPr>
        <p:spPr>
          <a:xfrm>
            <a:off x="628650" y="365125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g3e98d13a825_0_119"/>
          <p:cNvSpPr txBox="1"/>
          <p:nvPr>
            <p:ph idx="1" type="body"/>
          </p:nvPr>
        </p:nvSpPr>
        <p:spPr>
          <a:xfrm rot="5400000">
            <a:off x="2396401" y="57874"/>
            <a:ext cx="43512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g3e98d13a825_0_119"/>
          <p:cNvSpPr txBox="1"/>
          <p:nvPr>
            <p:ph idx="10" type="dt"/>
          </p:nvPr>
        </p:nvSpPr>
        <p:spPr>
          <a:xfrm>
            <a:off x="6286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g3e98d13a825_0_119"/>
          <p:cNvSpPr txBox="1"/>
          <p:nvPr>
            <p:ph idx="11" type="ftr"/>
          </p:nvPr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g3e98d13a825_0_119"/>
          <p:cNvSpPr txBox="1"/>
          <p:nvPr>
            <p:ph idx="12" type="sldNum"/>
          </p:nvPr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98d13a825_0_125"/>
          <p:cNvSpPr txBox="1"/>
          <p:nvPr>
            <p:ph type="title"/>
          </p:nvPr>
        </p:nvSpPr>
        <p:spPr>
          <a:xfrm>
            <a:off x="629841" y="457200"/>
            <a:ext cx="2949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g3e98d13a825_0_125"/>
          <p:cNvSpPr/>
          <p:nvPr>
            <p:ph idx="2" type="pic"/>
          </p:nvPr>
        </p:nvSpPr>
        <p:spPr>
          <a:xfrm>
            <a:off x="3887391" y="987426"/>
            <a:ext cx="46293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93" name="Google Shape;93;g3e98d13a825_0_125"/>
          <p:cNvSpPr txBox="1"/>
          <p:nvPr>
            <p:ph idx="1" type="body"/>
          </p:nvPr>
        </p:nvSpPr>
        <p:spPr>
          <a:xfrm>
            <a:off x="629841" y="2057400"/>
            <a:ext cx="29493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94" name="Google Shape;94;g3e98d13a825_0_125"/>
          <p:cNvSpPr txBox="1"/>
          <p:nvPr>
            <p:ph idx="10" type="dt"/>
          </p:nvPr>
        </p:nvSpPr>
        <p:spPr>
          <a:xfrm>
            <a:off x="6286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g3e98d13a825_0_125"/>
          <p:cNvSpPr txBox="1"/>
          <p:nvPr>
            <p:ph idx="11" type="ftr"/>
          </p:nvPr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g3e98d13a825_0_125"/>
          <p:cNvSpPr txBox="1"/>
          <p:nvPr>
            <p:ph idx="12" type="sldNum"/>
          </p:nvPr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98d13a825_0_132"/>
          <p:cNvSpPr txBox="1"/>
          <p:nvPr>
            <p:ph type="title"/>
          </p:nvPr>
        </p:nvSpPr>
        <p:spPr>
          <a:xfrm>
            <a:off x="629841" y="457200"/>
            <a:ext cx="2949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g3e98d13a825_0_132"/>
          <p:cNvSpPr txBox="1"/>
          <p:nvPr>
            <p:ph idx="1" type="body"/>
          </p:nvPr>
        </p:nvSpPr>
        <p:spPr>
          <a:xfrm>
            <a:off x="3887391" y="987426"/>
            <a:ext cx="46293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0" name="Google Shape;100;g3e98d13a825_0_132"/>
          <p:cNvSpPr txBox="1"/>
          <p:nvPr>
            <p:ph idx="2" type="body"/>
          </p:nvPr>
        </p:nvSpPr>
        <p:spPr>
          <a:xfrm>
            <a:off x="629841" y="2057400"/>
            <a:ext cx="29493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101" name="Google Shape;101;g3e98d13a825_0_132"/>
          <p:cNvSpPr txBox="1"/>
          <p:nvPr>
            <p:ph idx="10" type="dt"/>
          </p:nvPr>
        </p:nvSpPr>
        <p:spPr>
          <a:xfrm>
            <a:off x="6286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g3e98d13a825_0_132"/>
          <p:cNvSpPr txBox="1"/>
          <p:nvPr>
            <p:ph idx="11" type="ftr"/>
          </p:nvPr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g3e98d13a825_0_132"/>
          <p:cNvSpPr txBox="1"/>
          <p:nvPr>
            <p:ph idx="12" type="sldNum"/>
          </p:nvPr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98d13a825_0_139"/>
          <p:cNvSpPr txBox="1"/>
          <p:nvPr>
            <p:ph idx="10" type="dt"/>
          </p:nvPr>
        </p:nvSpPr>
        <p:spPr>
          <a:xfrm>
            <a:off x="6286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g3e98d13a825_0_139"/>
          <p:cNvSpPr txBox="1"/>
          <p:nvPr>
            <p:ph idx="11" type="ftr"/>
          </p:nvPr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g3e98d13a825_0_139"/>
          <p:cNvSpPr txBox="1"/>
          <p:nvPr>
            <p:ph idx="12" type="sldNum"/>
          </p:nvPr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98d13a825_0_143"/>
          <p:cNvSpPr txBox="1"/>
          <p:nvPr>
            <p:ph type="title"/>
          </p:nvPr>
        </p:nvSpPr>
        <p:spPr>
          <a:xfrm>
            <a:off x="628650" y="365125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g3e98d13a825_0_143"/>
          <p:cNvSpPr txBox="1"/>
          <p:nvPr>
            <p:ph idx="10" type="dt"/>
          </p:nvPr>
        </p:nvSpPr>
        <p:spPr>
          <a:xfrm>
            <a:off x="6286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g3e98d13a825_0_143"/>
          <p:cNvSpPr txBox="1"/>
          <p:nvPr>
            <p:ph idx="11" type="ftr"/>
          </p:nvPr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g3e98d13a825_0_143"/>
          <p:cNvSpPr txBox="1"/>
          <p:nvPr>
            <p:ph idx="12" type="sldNum"/>
          </p:nvPr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98d13a825_0_148"/>
          <p:cNvSpPr txBox="1"/>
          <p:nvPr>
            <p:ph type="title"/>
          </p:nvPr>
        </p:nvSpPr>
        <p:spPr>
          <a:xfrm>
            <a:off x="629841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g3e98d13a825_0_148"/>
          <p:cNvSpPr txBox="1"/>
          <p:nvPr>
            <p:ph idx="1" type="body"/>
          </p:nvPr>
        </p:nvSpPr>
        <p:spPr>
          <a:xfrm>
            <a:off x="629842" y="1681163"/>
            <a:ext cx="38682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16" name="Google Shape;116;g3e98d13a825_0_148"/>
          <p:cNvSpPr txBox="1"/>
          <p:nvPr>
            <p:ph idx="2" type="body"/>
          </p:nvPr>
        </p:nvSpPr>
        <p:spPr>
          <a:xfrm>
            <a:off x="629842" y="2505075"/>
            <a:ext cx="38682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g3e98d13a825_0_148"/>
          <p:cNvSpPr txBox="1"/>
          <p:nvPr>
            <p:ph idx="3" type="body"/>
          </p:nvPr>
        </p:nvSpPr>
        <p:spPr>
          <a:xfrm>
            <a:off x="4629150" y="1681163"/>
            <a:ext cx="38874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18" name="Google Shape;118;g3e98d13a825_0_148"/>
          <p:cNvSpPr txBox="1"/>
          <p:nvPr>
            <p:ph idx="4" type="body"/>
          </p:nvPr>
        </p:nvSpPr>
        <p:spPr>
          <a:xfrm>
            <a:off x="4629150" y="2505075"/>
            <a:ext cx="38874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g3e98d13a825_0_148"/>
          <p:cNvSpPr txBox="1"/>
          <p:nvPr>
            <p:ph idx="10" type="dt"/>
          </p:nvPr>
        </p:nvSpPr>
        <p:spPr>
          <a:xfrm>
            <a:off x="6286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g3e98d13a825_0_148"/>
          <p:cNvSpPr txBox="1"/>
          <p:nvPr>
            <p:ph idx="11" type="ftr"/>
          </p:nvPr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g3e98d13a825_0_148"/>
          <p:cNvSpPr txBox="1"/>
          <p:nvPr>
            <p:ph idx="12" type="sldNum"/>
          </p:nvPr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98d13a825_0_157"/>
          <p:cNvSpPr txBox="1"/>
          <p:nvPr>
            <p:ph type="title"/>
          </p:nvPr>
        </p:nvSpPr>
        <p:spPr>
          <a:xfrm>
            <a:off x="628650" y="365125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g3e98d13a825_0_157"/>
          <p:cNvSpPr txBox="1"/>
          <p:nvPr>
            <p:ph idx="1" type="body"/>
          </p:nvPr>
        </p:nvSpPr>
        <p:spPr>
          <a:xfrm>
            <a:off x="628650" y="1825625"/>
            <a:ext cx="3886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g3e98d13a825_0_157"/>
          <p:cNvSpPr txBox="1"/>
          <p:nvPr>
            <p:ph idx="2" type="body"/>
          </p:nvPr>
        </p:nvSpPr>
        <p:spPr>
          <a:xfrm>
            <a:off x="4629150" y="1825625"/>
            <a:ext cx="3886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g3e98d13a825_0_157"/>
          <p:cNvSpPr txBox="1"/>
          <p:nvPr>
            <p:ph idx="10" type="dt"/>
          </p:nvPr>
        </p:nvSpPr>
        <p:spPr>
          <a:xfrm>
            <a:off x="6286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g3e98d13a825_0_157"/>
          <p:cNvSpPr txBox="1"/>
          <p:nvPr>
            <p:ph idx="11" type="ftr"/>
          </p:nvPr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g3e98d13a825_0_157"/>
          <p:cNvSpPr txBox="1"/>
          <p:nvPr>
            <p:ph idx="12" type="sldNum"/>
          </p:nvPr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98d13a825_0_164"/>
          <p:cNvSpPr txBox="1"/>
          <p:nvPr>
            <p:ph type="title"/>
          </p:nvPr>
        </p:nvSpPr>
        <p:spPr>
          <a:xfrm>
            <a:off x="623888" y="1709739"/>
            <a:ext cx="78867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g3e98d13a825_0_164"/>
          <p:cNvSpPr txBox="1"/>
          <p:nvPr>
            <p:ph idx="1" type="body"/>
          </p:nvPr>
        </p:nvSpPr>
        <p:spPr>
          <a:xfrm>
            <a:off x="623888" y="4589464"/>
            <a:ext cx="78867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2" name="Google Shape;132;g3e98d13a825_0_164"/>
          <p:cNvSpPr txBox="1"/>
          <p:nvPr>
            <p:ph idx="10" type="dt"/>
          </p:nvPr>
        </p:nvSpPr>
        <p:spPr>
          <a:xfrm>
            <a:off x="6286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g3e98d13a825_0_164"/>
          <p:cNvSpPr txBox="1"/>
          <p:nvPr>
            <p:ph idx="11" type="ftr"/>
          </p:nvPr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g3e98d13a825_0_164"/>
          <p:cNvSpPr txBox="1"/>
          <p:nvPr>
            <p:ph idx="12" type="sldNum"/>
          </p:nvPr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cb4883548c_0_14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g3cb4883548c_0_14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g3cb4883548c_0_14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e98d13a825_0_95"/>
          <p:cNvSpPr txBox="1"/>
          <p:nvPr>
            <p:ph type="title"/>
          </p:nvPr>
        </p:nvSpPr>
        <p:spPr>
          <a:xfrm>
            <a:off x="628650" y="365125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g3e98d13a825_0_95"/>
          <p:cNvSpPr txBox="1"/>
          <p:nvPr>
            <p:ph idx="1" type="body"/>
          </p:nvPr>
        </p:nvSpPr>
        <p:spPr>
          <a:xfrm>
            <a:off x="628650" y="1825625"/>
            <a:ext cx="78867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g3e98d13a825_0_95"/>
          <p:cNvSpPr txBox="1"/>
          <p:nvPr>
            <p:ph idx="10" type="dt"/>
          </p:nvPr>
        </p:nvSpPr>
        <p:spPr>
          <a:xfrm>
            <a:off x="6286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g3e98d13a825_0_95"/>
          <p:cNvSpPr txBox="1"/>
          <p:nvPr>
            <p:ph idx="11" type="ftr"/>
          </p:nvPr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g3e98d13a825_0_95"/>
          <p:cNvSpPr txBox="1"/>
          <p:nvPr>
            <p:ph idx="12" type="sldNum"/>
          </p:nvPr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jp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23.png"/><Relationship Id="rId5" Type="http://schemas.openxmlformats.org/officeDocument/2006/relationships/image" Target="../media/image12.png"/><Relationship Id="rId6" Type="http://schemas.openxmlformats.org/officeDocument/2006/relationships/image" Target="../media/image7.png"/><Relationship Id="rId7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5.png"/><Relationship Id="rId6" Type="http://schemas.openxmlformats.org/officeDocument/2006/relationships/image" Target="../media/image26.png"/><Relationship Id="rId7" Type="http://schemas.openxmlformats.org/officeDocument/2006/relationships/image" Target="../media/image16.png"/><Relationship Id="rId8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10.png"/><Relationship Id="rId5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getsetcg.blogspot.com/2018/10/bresenham-line-drawing-derivation.html" TargetMode="External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gif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98d13a825_0_85"/>
          <p:cNvSpPr txBox="1"/>
          <p:nvPr>
            <p:ph type="ctrTitle"/>
          </p:nvPr>
        </p:nvSpPr>
        <p:spPr>
          <a:xfrm>
            <a:off x="623450" y="1138987"/>
            <a:ext cx="78192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Calibri"/>
              <a:buNone/>
            </a:pPr>
            <a:r>
              <a:rPr b="1" lang="en-US" sz="2600">
                <a:latin typeface="Cambria"/>
                <a:ea typeface="Cambria"/>
                <a:cs typeface="Cambria"/>
                <a:sym typeface="Cambria"/>
              </a:rPr>
              <a:t>Lecture 4</a:t>
            </a:r>
            <a:endParaRPr b="1" sz="26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Calibri"/>
              <a:buNone/>
            </a:pPr>
            <a:r>
              <a:rPr b="1" lang="en-US" sz="2200">
                <a:latin typeface="Cambria"/>
                <a:ea typeface="Cambria"/>
                <a:cs typeface="Cambria"/>
                <a:sym typeface="Cambria"/>
              </a:rPr>
              <a:t>Bresenham Line Drawing Algorithm</a:t>
            </a:r>
            <a:endParaRPr sz="22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descr="Diu Logo PNG Images - CleanPNG" id="141" name="Google Shape;141;g3e98d13a825_0_85"/>
          <p:cNvSpPr txBox="1"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g3e98d13a825_0_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3800" y="381000"/>
            <a:ext cx="13716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g3e98d13a825_0_85"/>
          <p:cNvSpPr txBox="1"/>
          <p:nvPr/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g3e98d13a825_0_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62407" y="2238221"/>
            <a:ext cx="2867025" cy="21399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5" name="Google Shape;145;g3e98d13a825_0_85"/>
          <p:cNvGraphicFramePr/>
          <p:nvPr/>
        </p:nvGraphicFramePr>
        <p:xfrm>
          <a:off x="1468112" y="46822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{F48E3395-5A6F-4E07-83FC-C634DF74E4AE}</a:tableStyleId>
              </a:tblPr>
              <a:tblGrid>
                <a:gridCol w="3922050"/>
                <a:gridCol w="2801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7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Prepared by</a:t>
                      </a:r>
                      <a:endParaRPr b="1" sz="1700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75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Tapasy Rabeya</a:t>
                      </a:r>
                      <a:endParaRPr sz="1700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75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Senior Lecturer</a:t>
                      </a:r>
                      <a:endParaRPr sz="1700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75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7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CSE, DIU</a:t>
                      </a:r>
                      <a:endParaRPr sz="1700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7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Course Teacher</a:t>
                      </a:r>
                      <a:endParaRPr b="1" sz="1700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Nushrat Jahan Oyshi</a:t>
                      </a:r>
                      <a:br>
                        <a:rPr lang="en-US" sz="17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</a:br>
                      <a:r>
                        <a:rPr lang="en-US" sz="17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Lecturer</a:t>
                      </a:r>
                      <a:endParaRPr sz="1700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7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CSE, DIU</a:t>
                      </a:r>
                      <a:endParaRPr sz="1700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"/>
          <p:cNvSpPr txBox="1"/>
          <p:nvPr/>
        </p:nvSpPr>
        <p:spPr>
          <a:xfrm>
            <a:off x="6132512" y="909637"/>
            <a:ext cx="2741700" cy="5624400"/>
          </a:xfrm>
          <a:prstGeom prst="rect">
            <a:avLst/>
          </a:prstGeom>
          <a:solidFill>
            <a:srgbClr val="9FC5E8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"/>
          <p:cNvSpPr txBox="1"/>
          <p:nvPr>
            <p:ph type="title"/>
          </p:nvPr>
        </p:nvSpPr>
        <p:spPr>
          <a:xfrm>
            <a:off x="175500" y="151200"/>
            <a:ext cx="81135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The Bresenham Line Algorithm</a:t>
            </a:r>
            <a:endParaRPr/>
          </a:p>
        </p:txBody>
      </p:sp>
      <p:sp>
        <p:nvSpPr>
          <p:cNvPr id="152" name="Google Shape;152;p2"/>
          <p:cNvSpPr txBox="1"/>
          <p:nvPr>
            <p:ph idx="1" type="body"/>
          </p:nvPr>
        </p:nvSpPr>
        <p:spPr>
          <a:xfrm>
            <a:off x="457200" y="1333500"/>
            <a:ext cx="5347800" cy="26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Bresenham algorithm is another incremental scan conversion algorithm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big advantage of this algorithm is that it uses only integer calculations</a:t>
            </a:r>
            <a:endParaRPr/>
          </a:p>
        </p:txBody>
      </p:sp>
      <p:pic>
        <p:nvPicPr>
          <p:cNvPr id="153" name="Google Shape;153;p2"/>
          <p:cNvPicPr preferRelativeResize="0"/>
          <p:nvPr/>
        </p:nvPicPr>
        <p:blipFill rotWithShape="1">
          <a:blip r:embed="rId3">
            <a:alphaModFix/>
          </a:blip>
          <a:srcRect b="21925" l="36816" r="27932" t="12698"/>
          <a:stretch/>
        </p:blipFill>
        <p:spPr>
          <a:xfrm>
            <a:off x="6232525" y="1009650"/>
            <a:ext cx="2538412" cy="3138487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"/>
          <p:cNvSpPr txBox="1"/>
          <p:nvPr/>
        </p:nvSpPr>
        <p:spPr>
          <a:xfrm>
            <a:off x="6130925" y="4364182"/>
            <a:ext cx="27432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Jack Bresenham worked for 27 years at IBM before entering academia. 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Bresenham developed his famous algorithms at IBM in the early 1960s.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9574" y="151200"/>
            <a:ext cx="13716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"/>
          <p:cNvSpPr txBox="1"/>
          <p:nvPr>
            <p:ph idx="1" type="body"/>
          </p:nvPr>
        </p:nvSpPr>
        <p:spPr>
          <a:xfrm>
            <a:off x="457200" y="1333500"/>
            <a:ext cx="8229600" cy="8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Move across the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axis in unit intervals and at each step choose between two different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coordinates</a:t>
            </a:r>
            <a:endParaRPr/>
          </a:p>
        </p:txBody>
      </p:sp>
      <p:cxnSp>
        <p:nvCxnSpPr>
          <p:cNvPr id="162" name="Google Shape;162;p3"/>
          <p:cNvCxnSpPr/>
          <p:nvPr/>
        </p:nvCxnSpPr>
        <p:spPr>
          <a:xfrm>
            <a:off x="1487487" y="2354632"/>
            <a:ext cx="0" cy="3298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3" name="Google Shape;163;p3"/>
          <p:cNvCxnSpPr/>
          <p:nvPr/>
        </p:nvCxnSpPr>
        <p:spPr>
          <a:xfrm>
            <a:off x="2282825" y="2376857"/>
            <a:ext cx="0" cy="329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4" name="Google Shape;164;p3"/>
          <p:cNvCxnSpPr/>
          <p:nvPr/>
        </p:nvCxnSpPr>
        <p:spPr>
          <a:xfrm>
            <a:off x="3078162" y="2395907"/>
            <a:ext cx="0" cy="3298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5" name="Google Shape;165;p3"/>
          <p:cNvCxnSpPr/>
          <p:nvPr/>
        </p:nvCxnSpPr>
        <p:spPr>
          <a:xfrm>
            <a:off x="3903662" y="2395907"/>
            <a:ext cx="0" cy="3298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6" name="Google Shape;166;p3"/>
          <p:cNvSpPr/>
          <p:nvPr/>
        </p:nvSpPr>
        <p:spPr>
          <a:xfrm>
            <a:off x="1352550" y="3476994"/>
            <a:ext cx="258900" cy="2589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"/>
          <p:cNvSpPr/>
          <p:nvPr/>
        </p:nvSpPr>
        <p:spPr>
          <a:xfrm>
            <a:off x="3748087" y="3476994"/>
            <a:ext cx="258900" cy="2589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"/>
          <p:cNvSpPr/>
          <p:nvPr/>
        </p:nvSpPr>
        <p:spPr>
          <a:xfrm>
            <a:off x="2151062" y="3476994"/>
            <a:ext cx="258900" cy="2589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"/>
          <p:cNvSpPr/>
          <p:nvPr/>
        </p:nvSpPr>
        <p:spPr>
          <a:xfrm>
            <a:off x="2949575" y="3476994"/>
            <a:ext cx="258900" cy="2589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"/>
          <p:cNvSpPr/>
          <p:nvPr/>
        </p:nvSpPr>
        <p:spPr>
          <a:xfrm>
            <a:off x="1355725" y="4258044"/>
            <a:ext cx="258900" cy="2589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"/>
          <p:cNvSpPr/>
          <p:nvPr/>
        </p:nvSpPr>
        <p:spPr>
          <a:xfrm>
            <a:off x="3751262" y="4258044"/>
            <a:ext cx="258900" cy="2589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"/>
          <p:cNvSpPr/>
          <p:nvPr/>
        </p:nvSpPr>
        <p:spPr>
          <a:xfrm>
            <a:off x="2154237" y="4258044"/>
            <a:ext cx="258900" cy="2589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"/>
          <p:cNvSpPr/>
          <p:nvPr/>
        </p:nvSpPr>
        <p:spPr>
          <a:xfrm>
            <a:off x="2952750" y="4258044"/>
            <a:ext cx="258900" cy="2589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"/>
          <p:cNvSpPr/>
          <p:nvPr/>
        </p:nvSpPr>
        <p:spPr>
          <a:xfrm>
            <a:off x="1354137" y="5066082"/>
            <a:ext cx="258900" cy="2589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"/>
          <p:cNvSpPr/>
          <p:nvPr/>
        </p:nvSpPr>
        <p:spPr>
          <a:xfrm>
            <a:off x="3749675" y="5066082"/>
            <a:ext cx="258900" cy="2589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"/>
          <p:cNvSpPr/>
          <p:nvPr/>
        </p:nvSpPr>
        <p:spPr>
          <a:xfrm>
            <a:off x="2152650" y="5066082"/>
            <a:ext cx="258900" cy="2589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"/>
          <p:cNvSpPr/>
          <p:nvPr/>
        </p:nvSpPr>
        <p:spPr>
          <a:xfrm>
            <a:off x="2951162" y="5066082"/>
            <a:ext cx="258900" cy="2589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8" name="Google Shape;178;p3"/>
          <p:cNvCxnSpPr/>
          <p:nvPr/>
        </p:nvCxnSpPr>
        <p:spPr>
          <a:xfrm flipH="1" rot="10800000">
            <a:off x="963612" y="2605469"/>
            <a:ext cx="3362400" cy="2106600"/>
          </a:xfrm>
          <a:prstGeom prst="straightConnector1">
            <a:avLst/>
          </a:prstGeom>
          <a:noFill/>
          <a:ln cap="flat" cmpd="sng" w="3175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9" name="Google Shape;179;p3"/>
          <p:cNvCxnSpPr/>
          <p:nvPr/>
        </p:nvCxnSpPr>
        <p:spPr>
          <a:xfrm>
            <a:off x="2707907" y="2263303"/>
            <a:ext cx="0" cy="3633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0" name="Google Shape;180;p3"/>
          <p:cNvSpPr/>
          <p:nvPr/>
        </p:nvSpPr>
        <p:spPr>
          <a:xfrm>
            <a:off x="1360487" y="2680069"/>
            <a:ext cx="258900" cy="2589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"/>
          <p:cNvSpPr/>
          <p:nvPr/>
        </p:nvSpPr>
        <p:spPr>
          <a:xfrm>
            <a:off x="3756025" y="2680069"/>
            <a:ext cx="258900" cy="2589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3"/>
          <p:cNvSpPr/>
          <p:nvPr/>
        </p:nvSpPr>
        <p:spPr>
          <a:xfrm>
            <a:off x="2159000" y="2680069"/>
            <a:ext cx="258900" cy="2589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"/>
          <p:cNvSpPr/>
          <p:nvPr/>
        </p:nvSpPr>
        <p:spPr>
          <a:xfrm>
            <a:off x="2957512" y="2680069"/>
            <a:ext cx="258900" cy="2589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3"/>
          <p:cNvSpPr txBox="1"/>
          <p:nvPr/>
        </p:nvSpPr>
        <p:spPr>
          <a:xfrm>
            <a:off x="1343025" y="5659807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3"/>
          <p:cNvSpPr txBox="1"/>
          <p:nvPr/>
        </p:nvSpPr>
        <p:spPr>
          <a:xfrm>
            <a:off x="2135187" y="5659807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3"/>
          <p:cNvSpPr txBox="1"/>
          <p:nvPr/>
        </p:nvSpPr>
        <p:spPr>
          <a:xfrm>
            <a:off x="2927350" y="5659807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3"/>
          <p:cNvSpPr txBox="1"/>
          <p:nvPr/>
        </p:nvSpPr>
        <p:spPr>
          <a:xfrm>
            <a:off x="3721100" y="5659807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"/>
          <p:cNvSpPr txBox="1"/>
          <p:nvPr/>
        </p:nvSpPr>
        <p:spPr>
          <a:xfrm>
            <a:off x="628650" y="5008932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3"/>
          <p:cNvSpPr txBox="1"/>
          <p:nvPr/>
        </p:nvSpPr>
        <p:spPr>
          <a:xfrm>
            <a:off x="628650" y="3411907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3"/>
          <p:cNvSpPr txBox="1"/>
          <p:nvPr/>
        </p:nvSpPr>
        <p:spPr>
          <a:xfrm>
            <a:off x="628650" y="4210419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3"/>
          <p:cNvSpPr txBox="1"/>
          <p:nvPr/>
        </p:nvSpPr>
        <p:spPr>
          <a:xfrm>
            <a:off x="628650" y="2613394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3"/>
          <p:cNvSpPr txBox="1"/>
          <p:nvPr/>
        </p:nvSpPr>
        <p:spPr>
          <a:xfrm>
            <a:off x="4808525" y="2726537"/>
            <a:ext cx="3780900" cy="25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example, from position (2, 3) we have to choose between (3, 3) and (3, 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would like the point that is closer to the original 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3"/>
          <p:cNvSpPr txBox="1"/>
          <p:nvPr/>
        </p:nvSpPr>
        <p:spPr>
          <a:xfrm>
            <a:off x="590550" y="3851644"/>
            <a:ext cx="719100" cy="326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2490787" y="4586657"/>
            <a:ext cx="990600" cy="326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+1, </a:t>
            </a: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"/>
          <p:cNvSpPr txBox="1"/>
          <p:nvPr/>
        </p:nvSpPr>
        <p:spPr>
          <a:xfrm>
            <a:off x="779462" y="2994394"/>
            <a:ext cx="1262100" cy="326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+1, </a:t>
            </a: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6" name="Google Shape;196;p3"/>
          <p:cNvCxnSpPr/>
          <p:nvPr/>
        </p:nvCxnSpPr>
        <p:spPr>
          <a:xfrm>
            <a:off x="2032000" y="3286494"/>
            <a:ext cx="139800" cy="20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7" name="Google Shape;197;p3"/>
          <p:cNvCxnSpPr/>
          <p:nvPr/>
        </p:nvCxnSpPr>
        <p:spPr>
          <a:xfrm rot="10800000">
            <a:off x="2378025" y="4515269"/>
            <a:ext cx="108000" cy="1587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8" name="Google Shape;198;p3"/>
          <p:cNvCxnSpPr/>
          <p:nvPr/>
        </p:nvCxnSpPr>
        <p:spPr>
          <a:xfrm>
            <a:off x="1247775" y="4178669"/>
            <a:ext cx="120600" cy="108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9" name="Google Shape;199;p3"/>
          <p:cNvSpPr txBox="1"/>
          <p:nvPr/>
        </p:nvSpPr>
        <p:spPr>
          <a:xfrm>
            <a:off x="3028950" y="6356357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"/>
          <p:cNvSpPr txBox="1"/>
          <p:nvPr>
            <p:ph type="title"/>
          </p:nvPr>
        </p:nvSpPr>
        <p:spPr>
          <a:xfrm>
            <a:off x="175500" y="151200"/>
            <a:ext cx="81135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The B</a:t>
            </a:r>
            <a:r>
              <a:rPr lang="en-US" sz="3300">
                <a:latin typeface="Calibri"/>
                <a:ea typeface="Calibri"/>
                <a:cs typeface="Calibri"/>
                <a:sym typeface="Calibri"/>
              </a:rPr>
              <a:t>ig Idea</a:t>
            </a:r>
            <a:endParaRPr/>
          </a:p>
        </p:txBody>
      </p:sp>
      <p:pic>
        <p:nvPicPr>
          <p:cNvPr id="202" name="Google Shape;20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50200" y="151200"/>
            <a:ext cx="13716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"/>
          <p:cNvSpPr txBox="1"/>
          <p:nvPr/>
        </p:nvSpPr>
        <p:spPr>
          <a:xfrm>
            <a:off x="474650" y="4017953"/>
            <a:ext cx="8680500" cy="22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0" i="1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coordinate on the mathematical line at </a:t>
            </a:r>
            <a:r>
              <a:rPr b="0" i="1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baseline="-25000" i="1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0" i="1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4"/>
          <p:cNvSpPr txBox="1"/>
          <p:nvPr>
            <p:ph idx="1" type="body"/>
          </p:nvPr>
        </p:nvSpPr>
        <p:spPr>
          <a:xfrm>
            <a:off x="474662" y="1333500"/>
            <a:ext cx="4475162" cy="284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Considering, </a:t>
            </a:r>
            <a:r>
              <a:rPr lang="en-US" sz="2400">
                <a:solidFill>
                  <a:schemeClr val="dk1"/>
                </a:solidFill>
              </a:rPr>
              <a:t>|</a:t>
            </a:r>
            <a:r>
              <a:rPr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US" sz="2400">
                <a:solidFill>
                  <a:schemeClr val="dk1"/>
                </a:solidFill>
              </a:rPr>
              <a:t>| &lt; 1</a:t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sample position </a:t>
            </a:r>
            <a:r>
              <a:rPr b="0" i="1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baseline="-25000" i="1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0" i="1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vertical separations from the mathematical line are labelled </a:t>
            </a:r>
            <a:r>
              <a:rPr b="0" i="1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baseline="-25000" i="1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upper</a:t>
            </a: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0" i="1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baseline="-25000" i="1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lower</a:t>
            </a:r>
            <a:endParaRPr/>
          </a:p>
        </p:txBody>
      </p:sp>
      <p:pic>
        <p:nvPicPr>
          <p:cNvPr id="209" name="Google Shape;20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4637" y="4916487"/>
            <a:ext cx="3290887" cy="7223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0" name="Google Shape;210;p4"/>
          <p:cNvGrpSpPr/>
          <p:nvPr/>
        </p:nvGrpSpPr>
        <p:grpSpPr>
          <a:xfrm>
            <a:off x="5125882" y="1210630"/>
            <a:ext cx="3514725" cy="3829049"/>
            <a:chOff x="2937" y="1065"/>
            <a:chExt cx="2214" cy="2412"/>
          </a:xfrm>
        </p:grpSpPr>
        <p:cxnSp>
          <p:nvCxnSpPr>
            <p:cNvPr id="211" name="Google Shape;211;p4"/>
            <p:cNvCxnSpPr/>
            <p:nvPr/>
          </p:nvCxnSpPr>
          <p:spPr>
            <a:xfrm rot="10800000">
              <a:off x="3416" y="1065"/>
              <a:ext cx="0" cy="133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12" name="Google Shape;212;p4"/>
            <p:cNvCxnSpPr/>
            <p:nvPr/>
          </p:nvCxnSpPr>
          <p:spPr>
            <a:xfrm rot="10800000">
              <a:off x="4493" y="1213"/>
              <a:ext cx="0" cy="2264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13" name="Google Shape;213;p4"/>
            <p:cNvCxnSpPr/>
            <p:nvPr/>
          </p:nvCxnSpPr>
          <p:spPr>
            <a:xfrm flipH="1" rot="10800000">
              <a:off x="3659" y="1191"/>
              <a:ext cx="1481" cy="1100"/>
            </a:xfrm>
            <a:prstGeom prst="straightConnector1">
              <a:avLst/>
            </a:prstGeom>
            <a:noFill/>
            <a:ln cap="flat" cmpd="sng" w="3175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4" name="Google Shape;214;p4"/>
            <p:cNvCxnSpPr/>
            <p:nvPr/>
          </p:nvCxnSpPr>
          <p:spPr>
            <a:xfrm>
              <a:off x="3359" y="1708"/>
              <a:ext cx="114" cy="0"/>
            </a:xfrm>
            <a:prstGeom prst="straightConnector1">
              <a:avLst/>
            </a:prstGeom>
            <a:noFill/>
            <a:ln cap="flat" cmpd="sng" w="12700">
              <a:solidFill>
                <a:srgbClr val="FF99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5" name="Google Shape;215;p4"/>
            <p:cNvCxnSpPr/>
            <p:nvPr/>
          </p:nvCxnSpPr>
          <p:spPr>
            <a:xfrm>
              <a:off x="3359" y="1331"/>
              <a:ext cx="114" cy="0"/>
            </a:xfrm>
            <a:prstGeom prst="straightConnector1">
              <a:avLst/>
            </a:prstGeom>
            <a:noFill/>
            <a:ln cap="flat" cmpd="sng" w="12700">
              <a:solidFill>
                <a:srgbClr val="FF99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6" name="Google Shape;216;p4"/>
            <p:cNvCxnSpPr/>
            <p:nvPr/>
          </p:nvCxnSpPr>
          <p:spPr>
            <a:xfrm>
              <a:off x="4446" y="2279"/>
              <a:ext cx="0" cy="119"/>
            </a:xfrm>
            <a:prstGeom prst="straightConnector1">
              <a:avLst/>
            </a:prstGeom>
            <a:noFill/>
            <a:ln cap="flat" cmpd="sng" w="12700">
              <a:solidFill>
                <a:srgbClr val="FF99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17" name="Google Shape;217;p4"/>
            <p:cNvSpPr/>
            <p:nvPr/>
          </p:nvSpPr>
          <p:spPr>
            <a:xfrm>
              <a:off x="4412" y="2031"/>
              <a:ext cx="74" cy="75"/>
            </a:xfrm>
            <a:prstGeom prst="ellipse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4"/>
            <p:cNvSpPr/>
            <p:nvPr/>
          </p:nvSpPr>
          <p:spPr>
            <a:xfrm>
              <a:off x="4412" y="1671"/>
              <a:ext cx="74" cy="75"/>
            </a:xfrm>
            <a:prstGeom prst="ellipse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4"/>
            <p:cNvSpPr/>
            <p:nvPr/>
          </p:nvSpPr>
          <p:spPr>
            <a:xfrm>
              <a:off x="4412" y="1293"/>
              <a:ext cx="74" cy="75"/>
            </a:xfrm>
            <a:prstGeom prst="ellipse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4"/>
            <p:cNvSpPr txBox="1"/>
            <p:nvPr/>
          </p:nvSpPr>
          <p:spPr>
            <a:xfrm>
              <a:off x="3168" y="152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9900"/>
                </a:buClr>
                <a:buSzPts val="2800"/>
                <a:buFont typeface="Times New Roman"/>
                <a:buNone/>
              </a:pPr>
              <a:r>
                <a:rPr b="1" i="1" lang="en-US" sz="28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4"/>
            <p:cNvSpPr txBox="1"/>
            <p:nvPr/>
          </p:nvSpPr>
          <p:spPr>
            <a:xfrm>
              <a:off x="3100" y="1836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9900"/>
                </a:buClr>
                <a:buSzPts val="2800"/>
                <a:buFont typeface="Times New Roman"/>
                <a:buNone/>
              </a:pPr>
              <a:r>
                <a:rPr b="1" i="1" lang="en-US" sz="28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b="1" baseline="-25000" i="1" lang="en-US" sz="28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4"/>
            <p:cNvSpPr txBox="1"/>
            <p:nvPr/>
          </p:nvSpPr>
          <p:spPr>
            <a:xfrm>
              <a:off x="2937" y="1142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9900"/>
                </a:buClr>
                <a:buSzPts val="2800"/>
                <a:buFont typeface="Times New Roman"/>
                <a:buNone/>
              </a:pPr>
              <a:r>
                <a:rPr b="1" i="1" lang="en-US" sz="28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b="1" baseline="-25000" i="1" lang="en-US" sz="28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k+</a:t>
              </a:r>
              <a:r>
                <a:rPr b="1" baseline="-25000" i="0" lang="en-US" sz="28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4"/>
            <p:cNvSpPr txBox="1"/>
            <p:nvPr/>
          </p:nvSpPr>
          <p:spPr>
            <a:xfrm>
              <a:off x="4208" y="2335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9900"/>
                </a:buClr>
                <a:buSzPts val="2800"/>
                <a:buFont typeface="Times New Roman"/>
                <a:buNone/>
              </a:pPr>
              <a:r>
                <a:rPr b="1" i="1" lang="en-US" sz="28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b="1" baseline="-25000" i="1" lang="en-US" sz="28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</a:t>
              </a:r>
              <a:r>
                <a:rPr b="1" i="1" lang="en-US" sz="28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b="1" i="0" lang="en-US" sz="28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4"/>
            <p:cNvSpPr/>
            <p:nvPr/>
          </p:nvSpPr>
          <p:spPr>
            <a:xfrm>
              <a:off x="4499" y="1704"/>
              <a:ext cx="74" cy="367"/>
            </a:xfrm>
            <a:prstGeom prst="rightBrace">
              <a:avLst>
                <a:gd fmla="val 8333" name="adj1"/>
                <a:gd fmla="val 50000" name="adj2"/>
              </a:avLst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4"/>
            <p:cNvSpPr/>
            <p:nvPr/>
          </p:nvSpPr>
          <p:spPr>
            <a:xfrm flipH="1">
              <a:off x="4317" y="1336"/>
              <a:ext cx="90" cy="368"/>
            </a:xfrm>
            <a:prstGeom prst="rightBrace">
              <a:avLst>
                <a:gd fmla="val 8333" name="adj1"/>
                <a:gd fmla="val 50000" name="adj2"/>
              </a:avLst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4"/>
            <p:cNvSpPr txBox="1"/>
            <p:nvPr/>
          </p:nvSpPr>
          <p:spPr>
            <a:xfrm>
              <a:off x="4551" y="1687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None/>
              </a:pPr>
              <a:r>
                <a:rPr b="0" i="1" lang="en-US" sz="2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r>
                <a:rPr b="0" baseline="-25000" i="1" lang="en-US" sz="2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lower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4"/>
            <p:cNvSpPr txBox="1"/>
            <p:nvPr/>
          </p:nvSpPr>
          <p:spPr>
            <a:xfrm>
              <a:off x="3781" y="1325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None/>
              </a:pPr>
              <a:r>
                <a:rPr b="0" i="1" lang="en-US" sz="2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r>
                <a:rPr b="0" baseline="-25000" i="1" lang="en-US" sz="2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upper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8" name="Google Shape;228;p4"/>
            <p:cNvCxnSpPr/>
            <p:nvPr/>
          </p:nvCxnSpPr>
          <p:spPr>
            <a:xfrm>
              <a:off x="3358" y="2068"/>
              <a:ext cx="114" cy="0"/>
            </a:xfrm>
            <a:prstGeom prst="straightConnector1">
              <a:avLst/>
            </a:prstGeom>
            <a:noFill/>
            <a:ln cap="flat" cmpd="sng" w="12700">
              <a:solidFill>
                <a:srgbClr val="FF99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29" name="Google Shape;229;p4"/>
          <p:cNvSpPr txBox="1"/>
          <p:nvPr/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4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4"/>
          <p:cNvSpPr txBox="1"/>
          <p:nvPr>
            <p:ph type="title"/>
          </p:nvPr>
        </p:nvSpPr>
        <p:spPr>
          <a:xfrm>
            <a:off x="175500" y="151200"/>
            <a:ext cx="81135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400">
                <a:latin typeface="Calibri"/>
                <a:ea typeface="Calibri"/>
                <a:cs typeface="Calibri"/>
                <a:sym typeface="Calibri"/>
              </a:rPr>
              <a:t>    </a:t>
            </a:r>
            <a:endParaRPr sz="3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400">
                <a:latin typeface="Calibri"/>
                <a:ea typeface="Calibri"/>
                <a:cs typeface="Calibri"/>
                <a:sym typeface="Calibri"/>
              </a:rPr>
              <a:t>Deriving The Bresenham Line Algorithm </a:t>
            </a:r>
            <a:endParaRPr sz="26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 sz="3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2" name="Google Shape;23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50200" y="151200"/>
            <a:ext cx="13716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5"/>
          <p:cNvSpPr txBox="1"/>
          <p:nvPr>
            <p:ph idx="1" type="body"/>
          </p:nvPr>
        </p:nvSpPr>
        <p:spPr>
          <a:xfrm>
            <a:off x="457200" y="1333500"/>
            <a:ext cx="8686800" cy="55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So,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upper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lower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given as follows: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use these to make a simple decision about which pixel is closer to the mathematical line</a:t>
            </a:r>
            <a:endParaRPr/>
          </a:p>
        </p:txBody>
      </p:sp>
      <p:grpSp>
        <p:nvGrpSpPr>
          <p:cNvPr id="238" name="Google Shape;238;p5"/>
          <p:cNvGrpSpPr/>
          <p:nvPr/>
        </p:nvGrpSpPr>
        <p:grpSpPr>
          <a:xfrm>
            <a:off x="2465387" y="2146300"/>
            <a:ext cx="4197350" cy="1247775"/>
            <a:chOff x="1030" y="2059"/>
            <a:chExt cx="2644" cy="786"/>
          </a:xfrm>
        </p:grpSpPr>
        <p:pic>
          <p:nvPicPr>
            <p:cNvPr id="239" name="Google Shape;239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30" y="2059"/>
              <a:ext cx="1493" cy="3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" name="Google Shape;240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632" y="2450"/>
              <a:ext cx="2042" cy="39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1" name="Google Shape;241;p5"/>
          <p:cNvGrpSpPr/>
          <p:nvPr/>
        </p:nvGrpSpPr>
        <p:grpSpPr>
          <a:xfrm>
            <a:off x="2179637" y="3833812"/>
            <a:ext cx="4762500" cy="1265237"/>
            <a:chOff x="1018" y="3070"/>
            <a:chExt cx="3000" cy="797"/>
          </a:xfrm>
        </p:grpSpPr>
        <p:pic>
          <p:nvPicPr>
            <p:cNvPr id="242" name="Google Shape;242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18" y="3070"/>
              <a:ext cx="2019" cy="4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3" name="Google Shape;243;p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624" y="3472"/>
              <a:ext cx="2394" cy="39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4" name="Google Shape;244;p5"/>
          <p:cNvSpPr txBox="1"/>
          <p:nvPr/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5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5"/>
          <p:cNvSpPr txBox="1"/>
          <p:nvPr>
            <p:ph type="title"/>
          </p:nvPr>
        </p:nvSpPr>
        <p:spPr>
          <a:xfrm>
            <a:off x="175500" y="151200"/>
            <a:ext cx="81135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400">
                <a:latin typeface="Calibri"/>
                <a:ea typeface="Calibri"/>
                <a:cs typeface="Calibri"/>
                <a:sym typeface="Calibri"/>
              </a:rPr>
              <a:t>    </a:t>
            </a:r>
            <a:endParaRPr sz="3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400">
                <a:latin typeface="Calibri"/>
                <a:ea typeface="Calibri"/>
                <a:cs typeface="Calibri"/>
                <a:sym typeface="Calibri"/>
              </a:rPr>
              <a:t>Deriving The Bresenham Line Algorithm</a:t>
            </a:r>
            <a:endParaRPr sz="26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 sz="3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7" name="Google Shape;247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50200" y="151200"/>
            <a:ext cx="13716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6"/>
          <p:cNvSpPr txBox="1"/>
          <p:nvPr>
            <p:ph idx="1" type="body"/>
          </p:nvPr>
        </p:nvSpPr>
        <p:spPr>
          <a:xfrm>
            <a:off x="457200" y="1333500"/>
            <a:ext cx="8686800" cy="55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simple decision is based on the difference between the two pixel positions: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Let’s substitute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 ∆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/∆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where ∆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∆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the differences between the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endpoints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</p:txBody>
      </p:sp>
      <p:pic>
        <p:nvPicPr>
          <p:cNvPr id="253" name="Google Shape;25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1700" y="2105025"/>
            <a:ext cx="7164387" cy="719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7712" y="3603625"/>
            <a:ext cx="7648575" cy="98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7725" y="4629150"/>
            <a:ext cx="5499100" cy="534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87725" y="5367337"/>
            <a:ext cx="3586162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6"/>
          <p:cNvSpPr txBox="1"/>
          <p:nvPr/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6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6"/>
          <p:cNvSpPr txBox="1"/>
          <p:nvPr>
            <p:ph type="title"/>
          </p:nvPr>
        </p:nvSpPr>
        <p:spPr>
          <a:xfrm>
            <a:off x="175500" y="151200"/>
            <a:ext cx="81135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400">
                <a:latin typeface="Calibri"/>
                <a:ea typeface="Calibri"/>
                <a:cs typeface="Calibri"/>
                <a:sym typeface="Calibri"/>
              </a:rPr>
              <a:t>    </a:t>
            </a:r>
            <a:endParaRPr sz="3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400">
                <a:latin typeface="Calibri"/>
                <a:ea typeface="Calibri"/>
                <a:cs typeface="Calibri"/>
                <a:sym typeface="Calibri"/>
              </a:rPr>
              <a:t>Deriving The Bresenham Line Algorithm</a:t>
            </a:r>
            <a:endParaRPr sz="26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 sz="3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0" name="Google Shape;260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50200" y="151200"/>
            <a:ext cx="13716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7"/>
          <p:cNvSpPr txBox="1"/>
          <p:nvPr>
            <p:ph idx="1" type="body"/>
          </p:nvPr>
        </p:nvSpPr>
        <p:spPr>
          <a:xfrm>
            <a:off x="401637" y="1252526"/>
            <a:ext cx="8113800" cy="49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So, a decision parameter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the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 step along a line is given by: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sign of the decision parameter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the same as that of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lower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upper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negative, then we choose the lower pixel, otherwise we choose the upper pixel</a:t>
            </a:r>
            <a:endParaRPr/>
          </a:p>
        </p:txBody>
      </p:sp>
      <p:pic>
        <p:nvPicPr>
          <p:cNvPr id="266" name="Google Shape;2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2150" y="1836737"/>
            <a:ext cx="4459287" cy="125412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7"/>
          <p:cNvSpPr txBox="1"/>
          <p:nvPr/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7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7"/>
          <p:cNvSpPr txBox="1"/>
          <p:nvPr>
            <p:ph type="title"/>
          </p:nvPr>
        </p:nvSpPr>
        <p:spPr>
          <a:xfrm>
            <a:off x="175500" y="151200"/>
            <a:ext cx="81135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400">
                <a:latin typeface="Calibri"/>
                <a:ea typeface="Calibri"/>
                <a:cs typeface="Calibri"/>
                <a:sym typeface="Calibri"/>
              </a:rPr>
              <a:t>    </a:t>
            </a:r>
            <a:endParaRPr sz="3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400">
                <a:latin typeface="Calibri"/>
                <a:ea typeface="Calibri"/>
                <a:cs typeface="Calibri"/>
                <a:sym typeface="Calibri"/>
              </a:rPr>
              <a:t>Deriving The Bresenham Line Algorithm</a:t>
            </a:r>
            <a:endParaRPr sz="26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 sz="3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0" name="Google Shape;27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50200" y="151200"/>
            <a:ext cx="13716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8"/>
          <p:cNvSpPr txBox="1"/>
          <p:nvPr>
            <p:ph idx="1" type="body"/>
          </p:nvPr>
        </p:nvSpPr>
        <p:spPr>
          <a:xfrm>
            <a:off x="406400" y="1335075"/>
            <a:ext cx="8183100" cy="46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Remember coordinate changes occur along the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axis in unit steps so we can do everything with integer calculations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step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+1 the decision parameter is given as: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Subtracting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from this we get:</a:t>
            </a:r>
            <a:endParaRPr/>
          </a:p>
          <a:p>
            <a:pPr indent="-19050" lvl="0" marL="17145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           here,    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" lvl="0" marL="17145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           [                           ]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" lvl="0" marL="17145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6" name="Google Shape;27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129" y="3494816"/>
            <a:ext cx="5191125" cy="627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875" y="4662988"/>
            <a:ext cx="7142163" cy="627062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8"/>
          <p:cNvSpPr txBox="1"/>
          <p:nvPr/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8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8"/>
          <p:cNvSpPr txBox="1"/>
          <p:nvPr>
            <p:ph type="title"/>
          </p:nvPr>
        </p:nvSpPr>
        <p:spPr>
          <a:xfrm>
            <a:off x="175500" y="151200"/>
            <a:ext cx="81135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400">
                <a:latin typeface="Calibri"/>
                <a:ea typeface="Calibri"/>
                <a:cs typeface="Calibri"/>
                <a:sym typeface="Calibri"/>
              </a:rPr>
              <a:t>    </a:t>
            </a:r>
            <a:endParaRPr sz="3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400">
                <a:latin typeface="Calibri"/>
                <a:ea typeface="Calibri"/>
                <a:cs typeface="Calibri"/>
                <a:sym typeface="Calibri"/>
              </a:rPr>
              <a:t>Deriving The Bresenham Line Algorithm</a:t>
            </a:r>
            <a:endParaRPr sz="26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 sz="3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1" name="Google Shape;28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50200" y="151200"/>
            <a:ext cx="13716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05150" y="3935177"/>
            <a:ext cx="5334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65362" y="3954227"/>
            <a:ext cx="31432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27150" y="3904227"/>
            <a:ext cx="783685" cy="365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9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But,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baseline="-2500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k+</a:t>
            </a:r>
            <a:r>
              <a:rPr b="0" baseline="-2500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the same as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baseline="-2500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so: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b="0" i="0" sz="40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baseline="-2500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k+1 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</a:t>
            </a:r>
            <a:r>
              <a:rPr b="0" baseline="-2500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either 0 or 1 depending on the sign of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0" baseline="-2500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first decision parameter p0 is evaluated at (x0, y0) is given as:</a:t>
            </a:r>
            <a:endParaRPr/>
          </a:p>
        </p:txBody>
      </p:sp>
      <p:pic>
        <p:nvPicPr>
          <p:cNvPr id="290" name="Google Shape;29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3387" y="2419350"/>
            <a:ext cx="5468937" cy="627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74837" y="4297362"/>
            <a:ext cx="2473325" cy="627062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9"/>
          <p:cNvSpPr txBox="1"/>
          <p:nvPr/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9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9"/>
          <p:cNvSpPr txBox="1"/>
          <p:nvPr>
            <p:ph type="title"/>
          </p:nvPr>
        </p:nvSpPr>
        <p:spPr>
          <a:xfrm>
            <a:off x="175500" y="151200"/>
            <a:ext cx="81135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400">
                <a:latin typeface="Calibri"/>
                <a:ea typeface="Calibri"/>
                <a:cs typeface="Calibri"/>
                <a:sym typeface="Calibri"/>
              </a:rPr>
              <a:t>    </a:t>
            </a:r>
            <a:endParaRPr sz="3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400">
                <a:latin typeface="Calibri"/>
                <a:ea typeface="Calibri"/>
                <a:cs typeface="Calibri"/>
                <a:sym typeface="Calibri"/>
              </a:rPr>
              <a:t>Deriving The Bresenham Line Algorithm</a:t>
            </a:r>
            <a:endParaRPr sz="26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 sz="3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5" name="Google Shape;295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50200" y="151200"/>
            <a:ext cx="13716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0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 txBox="1"/>
          <p:nvPr/>
        </p:nvSpPr>
        <p:spPr>
          <a:xfrm>
            <a:off x="457200" y="1136375"/>
            <a:ext cx="8229600" cy="5263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BRESENHAM’S</a:t>
            </a:r>
            <a:r>
              <a:rPr lang="en-US" sz="2400">
                <a:solidFill>
                  <a:schemeClr val="dk1"/>
                </a:solidFill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|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 &lt; 1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09600" lvl="0" marL="609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1.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 the two line end-points, storing the left end-point in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1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baseline="-25000" i="1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0" i="1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y</a:t>
            </a:r>
            <a:r>
              <a:rPr b="0" baseline="-25000" i="1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2.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Plot the point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1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baseline="-25000" i="1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0" i="1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y</a:t>
            </a:r>
            <a:r>
              <a:rPr b="0" baseline="-25000" i="1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3.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Calculate the constants 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</a:t>
            </a:r>
            <a:r>
              <a:rPr b="0" i="1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</a:t>
            </a:r>
            <a:r>
              <a:rPr b="0" i="1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2Δ</a:t>
            </a:r>
            <a:r>
              <a:rPr b="0" i="1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(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2Δ</a:t>
            </a:r>
            <a:r>
              <a:rPr b="0" i="1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- 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2Δ</a:t>
            </a:r>
            <a:r>
              <a:rPr b="0" i="1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and get the first value for the decision parameter as: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500" lvl="0" marL="6096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4.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 each </a:t>
            </a: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baseline="-2500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along the line, starting at </a:t>
            </a: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= 0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perform the following test. If </a:t>
            </a: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0" baseline="-2500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 0</a:t>
            </a:r>
            <a:r>
              <a:rPr lang="en-US" sz="2400">
                <a:solidFill>
                  <a:schemeClr val="dk1"/>
                </a:solidFill>
              </a:rPr>
              <a:t>,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next point to plot is </a:t>
            </a:r>
            <a:r>
              <a:rPr b="0" i="1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(x</a:t>
            </a:r>
            <a:r>
              <a:rPr b="0" baseline="-25000" i="1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0" i="1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+1, y</a:t>
            </a:r>
            <a:r>
              <a:rPr b="0" baseline="-25000" i="1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0" i="1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2" name="Google Shape;30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98837" y="4016872"/>
            <a:ext cx="2298701" cy="582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80177" y="5648088"/>
            <a:ext cx="2525711" cy="582612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0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0"/>
          <p:cNvSpPr txBox="1"/>
          <p:nvPr>
            <p:ph type="title"/>
          </p:nvPr>
        </p:nvSpPr>
        <p:spPr>
          <a:xfrm>
            <a:off x="175500" y="151200"/>
            <a:ext cx="81135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400">
                <a:latin typeface="Calibri"/>
                <a:ea typeface="Calibri"/>
                <a:cs typeface="Calibri"/>
                <a:sym typeface="Calibri"/>
              </a:rPr>
              <a:t>    </a:t>
            </a:r>
            <a:endParaRPr sz="3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400">
                <a:latin typeface="Calibri"/>
                <a:ea typeface="Calibri"/>
                <a:cs typeface="Calibri"/>
                <a:sym typeface="Calibri"/>
              </a:rPr>
              <a:t>Bresenham’s Line Algorithm</a:t>
            </a:r>
            <a:endParaRPr sz="26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 sz="3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6" name="Google Shape;306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50200" y="151200"/>
            <a:ext cx="13716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1"/>
          <p:cNvSpPr txBox="1"/>
          <p:nvPr>
            <p:ph idx="1" type="body"/>
          </p:nvPr>
        </p:nvSpPr>
        <p:spPr>
          <a:xfrm>
            <a:off x="457200" y="3717846"/>
            <a:ext cx="8229600" cy="11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None/>
            </a:pPr>
            <a:r>
              <a:rPr b="1" i="0" lang="en-US" sz="21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Attention! </a:t>
            </a: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algorithm and derivation above assumes slopes are less than 1. for other slopes we need to adjust the algorithm slightly.</a:t>
            </a:r>
            <a:endParaRPr/>
          </a:p>
        </p:txBody>
      </p:sp>
      <p:sp>
        <p:nvSpPr>
          <p:cNvPr id="312" name="Google Shape;312;p11"/>
          <p:cNvSpPr txBox="1"/>
          <p:nvPr/>
        </p:nvSpPr>
        <p:spPr>
          <a:xfrm>
            <a:off x="457200" y="1376362"/>
            <a:ext cx="8229600" cy="18446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Otherwise, the next point to plot is (</a:t>
            </a:r>
            <a:r>
              <a:rPr b="0" i="1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baseline="-25000" i="1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0" i="1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+1, y</a:t>
            </a:r>
            <a:r>
              <a:rPr b="0" baseline="-25000" i="1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0" i="1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and: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09600" lvl="0" marL="609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5.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Repeat step 4 (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1) times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3" name="Google Shape;31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08287" y="1895475"/>
            <a:ext cx="3497262" cy="582612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1"/>
          <p:cNvSpPr txBox="1"/>
          <p:nvPr/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1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1"/>
          <p:cNvSpPr txBox="1"/>
          <p:nvPr>
            <p:ph type="title"/>
          </p:nvPr>
        </p:nvSpPr>
        <p:spPr>
          <a:xfrm>
            <a:off x="175500" y="151200"/>
            <a:ext cx="81135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t/>
            </a:r>
            <a:endParaRPr sz="3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400">
                <a:latin typeface="Calibri"/>
                <a:ea typeface="Calibri"/>
                <a:cs typeface="Calibri"/>
                <a:sym typeface="Calibri"/>
              </a:rPr>
              <a:t>The Bresenham Line Algorithm (cont..)</a:t>
            </a:r>
            <a:endParaRPr sz="26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 sz="3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7" name="Google Shape;31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50200" y="151200"/>
            <a:ext cx="13716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ea22b26706_2_7"/>
          <p:cNvSpPr txBox="1"/>
          <p:nvPr/>
        </p:nvSpPr>
        <p:spPr>
          <a:xfrm>
            <a:off x="457200" y="1136375"/>
            <a:ext cx="8225100" cy="5054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BRESENHAM’S</a:t>
            </a:r>
            <a:r>
              <a:rPr lang="en-US" sz="2400">
                <a:solidFill>
                  <a:schemeClr val="dk1"/>
                </a:solidFill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|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 </a:t>
            </a:r>
            <a:r>
              <a:rPr lang="en-US" sz="2400">
                <a:solidFill>
                  <a:schemeClr val="dk1"/>
                </a:solidFill>
              </a:rPr>
              <a:t>&gt;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09600" lvl="0" marL="609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Resource: </a:t>
            </a:r>
            <a:r>
              <a:rPr lang="en-US" sz="2400" u="sng">
                <a:solidFill>
                  <a:schemeClr val="hlink"/>
                </a:solidFill>
                <a:hlinkClick r:id="rId3"/>
              </a:rPr>
              <a:t>https://getsetcg.blogspot.com/2018/10/bresenham-line-drawing-derivation.html</a:t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323" name="Google Shape;323;g3ea22b26706_2_7"/>
          <p:cNvSpPr txBox="1"/>
          <p:nvPr/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g3ea22b26706_2_7"/>
          <p:cNvSpPr txBox="1"/>
          <p:nvPr>
            <p:ph type="title"/>
          </p:nvPr>
        </p:nvSpPr>
        <p:spPr>
          <a:xfrm>
            <a:off x="175500" y="151200"/>
            <a:ext cx="81135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400">
                <a:latin typeface="Calibri"/>
                <a:ea typeface="Calibri"/>
                <a:cs typeface="Calibri"/>
                <a:sym typeface="Calibri"/>
              </a:rPr>
              <a:t>    </a:t>
            </a:r>
            <a:endParaRPr sz="3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400">
                <a:latin typeface="Calibri"/>
                <a:ea typeface="Calibri"/>
                <a:cs typeface="Calibri"/>
                <a:sym typeface="Calibri"/>
              </a:rPr>
              <a:t>Bresenham’s Line Algorithm</a:t>
            </a:r>
            <a:endParaRPr sz="26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 sz="3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5" name="Google Shape;325;g3ea22b26706_2_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50200" y="151200"/>
            <a:ext cx="13716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cb4883548c_0_0"/>
          <p:cNvSpPr txBox="1"/>
          <p:nvPr/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g3cb4883548c_0_0"/>
          <p:cNvSpPr txBox="1"/>
          <p:nvPr/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2" name="Google Shape;332;g3cb4883548c_0_0" title="octants.gif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8425" y="1100700"/>
            <a:ext cx="5004228" cy="5066651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g3cb4883548c_0_0"/>
          <p:cNvSpPr txBox="1"/>
          <p:nvPr>
            <p:ph type="title"/>
          </p:nvPr>
        </p:nvSpPr>
        <p:spPr>
          <a:xfrm>
            <a:off x="175500" y="151200"/>
            <a:ext cx="81135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t/>
            </a:r>
            <a:endParaRPr sz="3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400">
                <a:latin typeface="Calibri"/>
                <a:ea typeface="Calibri"/>
                <a:cs typeface="Calibri"/>
                <a:sym typeface="Calibri"/>
              </a:rPr>
              <a:t>The Bresenham Line Algorithm (cont..)</a:t>
            </a:r>
            <a:endParaRPr sz="26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 sz="3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4" name="Google Shape;334;g3cb4883548c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50200" y="151200"/>
            <a:ext cx="13716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cb4883548c_0_208"/>
          <p:cNvSpPr txBox="1"/>
          <p:nvPr/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g3cb4883548c_0_208"/>
          <p:cNvSpPr txBox="1"/>
          <p:nvPr/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1" name="Google Shape;341;g3cb4883548c_0_2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2616" y="1213838"/>
            <a:ext cx="8196800" cy="44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g3cb4883548c_0_208"/>
          <p:cNvSpPr txBox="1"/>
          <p:nvPr>
            <p:ph type="title"/>
          </p:nvPr>
        </p:nvSpPr>
        <p:spPr>
          <a:xfrm>
            <a:off x="175500" y="151200"/>
            <a:ext cx="81135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t/>
            </a:r>
            <a:endParaRPr sz="3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400">
                <a:latin typeface="Calibri"/>
                <a:ea typeface="Calibri"/>
                <a:cs typeface="Calibri"/>
                <a:sym typeface="Calibri"/>
              </a:rPr>
              <a:t>The Bresenham Line Algorithm (cont..)</a:t>
            </a:r>
            <a:endParaRPr sz="26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 sz="3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3" name="Google Shape;343;g3cb4883548c_0_20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39887" y="171826"/>
            <a:ext cx="13716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2"/>
          <p:cNvSpPr txBox="1"/>
          <p:nvPr>
            <p:ph idx="1" type="body"/>
          </p:nvPr>
        </p:nvSpPr>
        <p:spPr>
          <a:xfrm>
            <a:off x="628650" y="1415650"/>
            <a:ext cx="7660200" cy="45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the points between the starting point 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(20, 10) to the ending point (30, 18).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 off calculate all of the constants:</a:t>
            </a:r>
            <a:endParaRPr/>
          </a:p>
          <a:p>
            <a:pPr indent="0" lvl="0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10</a:t>
            </a:r>
            <a:endParaRPr/>
          </a:p>
          <a:p>
            <a:pPr indent="0" lvl="0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8</a:t>
            </a:r>
            <a:endParaRPr b="0" i="1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2Δ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16</a:t>
            </a:r>
            <a:endParaRPr b="0" i="1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2Δ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-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2Δ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-4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the initial decision parameter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0" baseline="-2500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0" lvl="0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p0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2Δ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Δ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6</a:t>
            </a:r>
            <a:endParaRPr/>
          </a:p>
        </p:txBody>
      </p:sp>
      <p:sp>
        <p:nvSpPr>
          <p:cNvPr id="349" name="Google Shape;349;p12"/>
          <p:cNvSpPr txBox="1"/>
          <p:nvPr/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2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2"/>
          <p:cNvSpPr txBox="1"/>
          <p:nvPr>
            <p:ph type="title"/>
          </p:nvPr>
        </p:nvSpPr>
        <p:spPr>
          <a:xfrm>
            <a:off x="175500" y="151200"/>
            <a:ext cx="81135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t/>
            </a:r>
            <a:endParaRPr sz="3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400">
                <a:latin typeface="Calibri"/>
                <a:ea typeface="Calibri"/>
                <a:cs typeface="Calibri"/>
                <a:sym typeface="Calibri"/>
              </a:rPr>
              <a:t>Example</a:t>
            </a:r>
            <a:endParaRPr sz="26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 sz="3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2" name="Google Shape;35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50200" y="151200"/>
            <a:ext cx="13716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3"/>
          <p:cNvSpPr txBox="1"/>
          <p:nvPr/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3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3"/>
          <p:cNvSpPr txBox="1"/>
          <p:nvPr>
            <p:ph type="title"/>
          </p:nvPr>
        </p:nvSpPr>
        <p:spPr>
          <a:xfrm>
            <a:off x="175500" y="151200"/>
            <a:ext cx="81135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t/>
            </a:r>
            <a:endParaRPr sz="3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400">
                <a:latin typeface="Calibri"/>
                <a:ea typeface="Calibri"/>
                <a:cs typeface="Calibri"/>
                <a:sym typeface="Calibri"/>
              </a:rPr>
              <a:t>Example</a:t>
            </a:r>
            <a:endParaRPr sz="26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 sz="3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0" name="Google Shape;36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50200" y="151200"/>
            <a:ext cx="1371600" cy="685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1" name="Google Shape;361;p13"/>
          <p:cNvGrpSpPr/>
          <p:nvPr/>
        </p:nvGrpSpPr>
        <p:grpSpPr>
          <a:xfrm>
            <a:off x="1432761" y="-1373724"/>
            <a:ext cx="6107928" cy="9810749"/>
            <a:chOff x="84" y="-586"/>
            <a:chExt cx="3848" cy="6180"/>
          </a:xfrm>
        </p:grpSpPr>
        <p:grpSp>
          <p:nvGrpSpPr>
            <p:cNvPr id="362" name="Google Shape;362;p13"/>
            <p:cNvGrpSpPr/>
            <p:nvPr/>
          </p:nvGrpSpPr>
          <p:grpSpPr>
            <a:xfrm>
              <a:off x="556" y="923"/>
              <a:ext cx="3211" cy="3053"/>
              <a:chOff x="2066" y="134"/>
              <a:chExt cx="3118" cy="3600"/>
            </a:xfrm>
          </p:grpSpPr>
          <p:cxnSp>
            <p:nvCxnSpPr>
              <p:cNvPr id="363" name="Google Shape;363;p13"/>
              <p:cNvCxnSpPr/>
              <p:nvPr/>
            </p:nvCxnSpPr>
            <p:spPr>
              <a:xfrm rot="10800000">
                <a:off x="2376" y="134"/>
                <a:ext cx="0" cy="36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4" name="Google Shape;364;p13"/>
              <p:cNvCxnSpPr/>
              <p:nvPr/>
            </p:nvCxnSpPr>
            <p:spPr>
              <a:xfrm rot="10800000">
                <a:off x="2690" y="134"/>
                <a:ext cx="0" cy="36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5" name="Google Shape;365;p13"/>
              <p:cNvCxnSpPr/>
              <p:nvPr/>
            </p:nvCxnSpPr>
            <p:spPr>
              <a:xfrm rot="10800000">
                <a:off x="3016" y="134"/>
                <a:ext cx="0" cy="36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6" name="Google Shape;366;p13"/>
              <p:cNvCxnSpPr/>
              <p:nvPr/>
            </p:nvCxnSpPr>
            <p:spPr>
              <a:xfrm rot="10800000">
                <a:off x="3317" y="134"/>
                <a:ext cx="0" cy="36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7" name="Google Shape;367;p13"/>
              <p:cNvCxnSpPr/>
              <p:nvPr/>
            </p:nvCxnSpPr>
            <p:spPr>
              <a:xfrm rot="10800000">
                <a:off x="3644" y="134"/>
                <a:ext cx="0" cy="36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8" name="Google Shape;368;p13"/>
              <p:cNvCxnSpPr/>
              <p:nvPr/>
            </p:nvCxnSpPr>
            <p:spPr>
              <a:xfrm rot="10800000">
                <a:off x="3957" y="134"/>
                <a:ext cx="0" cy="36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9" name="Google Shape;369;p13"/>
              <p:cNvCxnSpPr/>
              <p:nvPr/>
            </p:nvCxnSpPr>
            <p:spPr>
              <a:xfrm rot="10800000">
                <a:off x="4271" y="134"/>
                <a:ext cx="0" cy="36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0" name="Google Shape;370;p13"/>
              <p:cNvCxnSpPr/>
              <p:nvPr/>
            </p:nvCxnSpPr>
            <p:spPr>
              <a:xfrm rot="10800000">
                <a:off x="4572" y="134"/>
                <a:ext cx="0" cy="36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1" name="Google Shape;371;p13"/>
              <p:cNvCxnSpPr/>
              <p:nvPr/>
            </p:nvCxnSpPr>
            <p:spPr>
              <a:xfrm rot="10800000">
                <a:off x="2066" y="134"/>
                <a:ext cx="0" cy="36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2" name="Google Shape;372;p13"/>
              <p:cNvCxnSpPr/>
              <p:nvPr/>
            </p:nvCxnSpPr>
            <p:spPr>
              <a:xfrm rot="10800000">
                <a:off x="4879" y="134"/>
                <a:ext cx="0" cy="36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3" name="Google Shape;373;p13"/>
              <p:cNvCxnSpPr/>
              <p:nvPr/>
            </p:nvCxnSpPr>
            <p:spPr>
              <a:xfrm rot="10800000">
                <a:off x="5184" y="134"/>
                <a:ext cx="0" cy="36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374" name="Google Shape;374;p13"/>
            <p:cNvCxnSpPr/>
            <p:nvPr/>
          </p:nvCxnSpPr>
          <p:spPr>
            <a:xfrm rot="10800000">
              <a:off x="2182" y="-265"/>
              <a:ext cx="0" cy="36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5" name="Google Shape;375;p13"/>
            <p:cNvCxnSpPr/>
            <p:nvPr/>
          </p:nvCxnSpPr>
          <p:spPr>
            <a:xfrm rot="10800000">
              <a:off x="2182" y="59"/>
              <a:ext cx="0" cy="36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6" name="Google Shape;376;p13"/>
            <p:cNvCxnSpPr/>
            <p:nvPr/>
          </p:nvCxnSpPr>
          <p:spPr>
            <a:xfrm rot="10800000">
              <a:off x="2182" y="380"/>
              <a:ext cx="0" cy="36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7" name="Google Shape;377;p13"/>
            <p:cNvCxnSpPr/>
            <p:nvPr/>
          </p:nvCxnSpPr>
          <p:spPr>
            <a:xfrm rot="10800000">
              <a:off x="2182" y="704"/>
              <a:ext cx="0" cy="36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8" name="Google Shape;378;p13"/>
            <p:cNvCxnSpPr/>
            <p:nvPr/>
          </p:nvCxnSpPr>
          <p:spPr>
            <a:xfrm rot="10800000">
              <a:off x="2182" y="1024"/>
              <a:ext cx="0" cy="36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79" name="Google Shape;379;p13"/>
            <p:cNvSpPr/>
            <p:nvPr/>
          </p:nvSpPr>
          <p:spPr>
            <a:xfrm>
              <a:off x="1063" y="1982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13"/>
            <p:cNvSpPr/>
            <p:nvPr/>
          </p:nvSpPr>
          <p:spPr>
            <a:xfrm>
              <a:off x="1399" y="1982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13"/>
            <p:cNvSpPr/>
            <p:nvPr/>
          </p:nvSpPr>
          <p:spPr>
            <a:xfrm>
              <a:off x="3001" y="1975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13"/>
            <p:cNvSpPr/>
            <p:nvPr/>
          </p:nvSpPr>
          <p:spPr>
            <a:xfrm>
              <a:off x="740" y="1981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13"/>
            <p:cNvSpPr/>
            <p:nvPr/>
          </p:nvSpPr>
          <p:spPr>
            <a:xfrm>
              <a:off x="1709" y="1982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13"/>
            <p:cNvSpPr/>
            <p:nvPr/>
          </p:nvSpPr>
          <p:spPr>
            <a:xfrm>
              <a:off x="2045" y="1981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13"/>
            <p:cNvSpPr/>
            <p:nvPr/>
          </p:nvSpPr>
          <p:spPr>
            <a:xfrm>
              <a:off x="2369" y="1981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13"/>
            <p:cNvSpPr/>
            <p:nvPr/>
          </p:nvSpPr>
          <p:spPr>
            <a:xfrm>
              <a:off x="2692" y="1981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13"/>
            <p:cNvSpPr/>
            <p:nvPr/>
          </p:nvSpPr>
          <p:spPr>
            <a:xfrm>
              <a:off x="1065" y="1663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13"/>
            <p:cNvSpPr/>
            <p:nvPr/>
          </p:nvSpPr>
          <p:spPr>
            <a:xfrm>
              <a:off x="1400" y="1663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13"/>
            <p:cNvSpPr/>
            <p:nvPr/>
          </p:nvSpPr>
          <p:spPr>
            <a:xfrm>
              <a:off x="3003" y="1654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13"/>
            <p:cNvSpPr/>
            <p:nvPr/>
          </p:nvSpPr>
          <p:spPr>
            <a:xfrm>
              <a:off x="741" y="1661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13"/>
            <p:cNvSpPr/>
            <p:nvPr/>
          </p:nvSpPr>
          <p:spPr>
            <a:xfrm>
              <a:off x="1710" y="1663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13"/>
            <p:cNvSpPr/>
            <p:nvPr/>
          </p:nvSpPr>
          <p:spPr>
            <a:xfrm>
              <a:off x="2047" y="1661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13"/>
            <p:cNvSpPr/>
            <p:nvPr/>
          </p:nvSpPr>
          <p:spPr>
            <a:xfrm>
              <a:off x="2369" y="1661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13"/>
            <p:cNvSpPr/>
            <p:nvPr/>
          </p:nvSpPr>
          <p:spPr>
            <a:xfrm>
              <a:off x="2693" y="1661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13"/>
            <p:cNvSpPr/>
            <p:nvPr/>
          </p:nvSpPr>
          <p:spPr>
            <a:xfrm>
              <a:off x="1063" y="1343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13"/>
            <p:cNvSpPr/>
            <p:nvPr/>
          </p:nvSpPr>
          <p:spPr>
            <a:xfrm>
              <a:off x="1399" y="1343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13"/>
            <p:cNvSpPr/>
            <p:nvPr/>
          </p:nvSpPr>
          <p:spPr>
            <a:xfrm>
              <a:off x="3001" y="1334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13"/>
            <p:cNvSpPr/>
            <p:nvPr/>
          </p:nvSpPr>
          <p:spPr>
            <a:xfrm>
              <a:off x="740" y="1341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13"/>
            <p:cNvSpPr/>
            <p:nvPr/>
          </p:nvSpPr>
          <p:spPr>
            <a:xfrm>
              <a:off x="1709" y="1343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13"/>
            <p:cNvSpPr/>
            <p:nvPr/>
          </p:nvSpPr>
          <p:spPr>
            <a:xfrm>
              <a:off x="2045" y="1341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13"/>
            <p:cNvSpPr/>
            <p:nvPr/>
          </p:nvSpPr>
          <p:spPr>
            <a:xfrm>
              <a:off x="2369" y="1341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13"/>
            <p:cNvSpPr/>
            <p:nvPr/>
          </p:nvSpPr>
          <p:spPr>
            <a:xfrm>
              <a:off x="2692" y="1341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13"/>
            <p:cNvSpPr/>
            <p:nvPr/>
          </p:nvSpPr>
          <p:spPr>
            <a:xfrm>
              <a:off x="1065" y="1022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13"/>
            <p:cNvSpPr/>
            <p:nvPr/>
          </p:nvSpPr>
          <p:spPr>
            <a:xfrm>
              <a:off x="1400" y="1022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13"/>
            <p:cNvSpPr/>
            <p:nvPr/>
          </p:nvSpPr>
          <p:spPr>
            <a:xfrm>
              <a:off x="3003" y="1013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13"/>
            <p:cNvSpPr/>
            <p:nvPr/>
          </p:nvSpPr>
          <p:spPr>
            <a:xfrm>
              <a:off x="741" y="1020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13"/>
            <p:cNvSpPr/>
            <p:nvPr/>
          </p:nvSpPr>
          <p:spPr>
            <a:xfrm>
              <a:off x="1710" y="1022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13"/>
            <p:cNvSpPr/>
            <p:nvPr/>
          </p:nvSpPr>
          <p:spPr>
            <a:xfrm>
              <a:off x="2047" y="1020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13"/>
            <p:cNvSpPr/>
            <p:nvPr/>
          </p:nvSpPr>
          <p:spPr>
            <a:xfrm>
              <a:off x="2369" y="1020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13"/>
            <p:cNvSpPr/>
            <p:nvPr/>
          </p:nvSpPr>
          <p:spPr>
            <a:xfrm>
              <a:off x="2693" y="1020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13"/>
            <p:cNvSpPr/>
            <p:nvPr/>
          </p:nvSpPr>
          <p:spPr>
            <a:xfrm>
              <a:off x="1063" y="2632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13"/>
            <p:cNvSpPr/>
            <p:nvPr/>
          </p:nvSpPr>
          <p:spPr>
            <a:xfrm>
              <a:off x="1399" y="2632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13"/>
            <p:cNvSpPr/>
            <p:nvPr/>
          </p:nvSpPr>
          <p:spPr>
            <a:xfrm>
              <a:off x="3001" y="2623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13"/>
            <p:cNvSpPr/>
            <p:nvPr/>
          </p:nvSpPr>
          <p:spPr>
            <a:xfrm>
              <a:off x="740" y="2631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13"/>
            <p:cNvSpPr/>
            <p:nvPr/>
          </p:nvSpPr>
          <p:spPr>
            <a:xfrm>
              <a:off x="1709" y="2632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13"/>
            <p:cNvSpPr/>
            <p:nvPr/>
          </p:nvSpPr>
          <p:spPr>
            <a:xfrm>
              <a:off x="2045" y="2631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13"/>
            <p:cNvSpPr/>
            <p:nvPr/>
          </p:nvSpPr>
          <p:spPr>
            <a:xfrm>
              <a:off x="2369" y="2631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13"/>
            <p:cNvSpPr/>
            <p:nvPr/>
          </p:nvSpPr>
          <p:spPr>
            <a:xfrm>
              <a:off x="2692" y="2631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13"/>
            <p:cNvSpPr/>
            <p:nvPr/>
          </p:nvSpPr>
          <p:spPr>
            <a:xfrm>
              <a:off x="1063" y="2312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13"/>
            <p:cNvSpPr/>
            <p:nvPr/>
          </p:nvSpPr>
          <p:spPr>
            <a:xfrm>
              <a:off x="1399" y="2312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13"/>
            <p:cNvSpPr/>
            <p:nvPr/>
          </p:nvSpPr>
          <p:spPr>
            <a:xfrm>
              <a:off x="3001" y="2303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13"/>
            <p:cNvSpPr/>
            <p:nvPr/>
          </p:nvSpPr>
          <p:spPr>
            <a:xfrm>
              <a:off x="740" y="2311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13"/>
            <p:cNvSpPr/>
            <p:nvPr/>
          </p:nvSpPr>
          <p:spPr>
            <a:xfrm>
              <a:off x="1709" y="2312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13"/>
            <p:cNvSpPr/>
            <p:nvPr/>
          </p:nvSpPr>
          <p:spPr>
            <a:xfrm>
              <a:off x="2045" y="2311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13"/>
            <p:cNvSpPr/>
            <p:nvPr/>
          </p:nvSpPr>
          <p:spPr>
            <a:xfrm>
              <a:off x="2369" y="2311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13"/>
            <p:cNvSpPr/>
            <p:nvPr/>
          </p:nvSpPr>
          <p:spPr>
            <a:xfrm>
              <a:off x="2692" y="2311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13"/>
            <p:cNvSpPr/>
            <p:nvPr/>
          </p:nvSpPr>
          <p:spPr>
            <a:xfrm>
              <a:off x="421" y="1973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13"/>
            <p:cNvSpPr/>
            <p:nvPr/>
          </p:nvSpPr>
          <p:spPr>
            <a:xfrm>
              <a:off x="422" y="1652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13"/>
            <p:cNvSpPr/>
            <p:nvPr/>
          </p:nvSpPr>
          <p:spPr>
            <a:xfrm>
              <a:off x="421" y="1331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13"/>
            <p:cNvSpPr/>
            <p:nvPr/>
          </p:nvSpPr>
          <p:spPr>
            <a:xfrm>
              <a:off x="422" y="1011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13"/>
            <p:cNvSpPr/>
            <p:nvPr/>
          </p:nvSpPr>
          <p:spPr>
            <a:xfrm>
              <a:off x="421" y="2621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13"/>
            <p:cNvSpPr/>
            <p:nvPr/>
          </p:nvSpPr>
          <p:spPr>
            <a:xfrm>
              <a:off x="421" y="2301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13"/>
            <p:cNvSpPr/>
            <p:nvPr/>
          </p:nvSpPr>
          <p:spPr>
            <a:xfrm>
              <a:off x="3318" y="1983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13"/>
            <p:cNvSpPr/>
            <p:nvPr/>
          </p:nvSpPr>
          <p:spPr>
            <a:xfrm>
              <a:off x="3319" y="1664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13"/>
            <p:cNvSpPr/>
            <p:nvPr/>
          </p:nvSpPr>
          <p:spPr>
            <a:xfrm>
              <a:off x="3318" y="1343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13"/>
            <p:cNvSpPr/>
            <p:nvPr/>
          </p:nvSpPr>
          <p:spPr>
            <a:xfrm>
              <a:off x="3319" y="1023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13"/>
            <p:cNvSpPr/>
            <p:nvPr/>
          </p:nvSpPr>
          <p:spPr>
            <a:xfrm>
              <a:off x="3318" y="2634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13"/>
            <p:cNvSpPr/>
            <p:nvPr/>
          </p:nvSpPr>
          <p:spPr>
            <a:xfrm>
              <a:off x="3318" y="2313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13"/>
            <p:cNvSpPr/>
            <p:nvPr/>
          </p:nvSpPr>
          <p:spPr>
            <a:xfrm>
              <a:off x="3631" y="1990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13"/>
            <p:cNvSpPr/>
            <p:nvPr/>
          </p:nvSpPr>
          <p:spPr>
            <a:xfrm>
              <a:off x="3632" y="1669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13"/>
            <p:cNvSpPr/>
            <p:nvPr/>
          </p:nvSpPr>
          <p:spPr>
            <a:xfrm>
              <a:off x="3631" y="1348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13"/>
            <p:cNvSpPr/>
            <p:nvPr/>
          </p:nvSpPr>
          <p:spPr>
            <a:xfrm>
              <a:off x="3632" y="1028"/>
              <a:ext cx="300" cy="300"/>
            </a:xfrm>
            <a:prstGeom prst="ellipse">
              <a:avLst/>
            </a:prstGeom>
            <a:solidFill>
              <a:srgbClr val="000080"/>
            </a:solidFill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13"/>
            <p:cNvSpPr/>
            <p:nvPr/>
          </p:nvSpPr>
          <p:spPr>
            <a:xfrm>
              <a:off x="3631" y="2639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13"/>
            <p:cNvSpPr/>
            <p:nvPr/>
          </p:nvSpPr>
          <p:spPr>
            <a:xfrm>
              <a:off x="3631" y="2318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5" name="Google Shape;445;p13"/>
            <p:cNvCxnSpPr/>
            <p:nvPr/>
          </p:nvCxnSpPr>
          <p:spPr>
            <a:xfrm rot="10800000">
              <a:off x="2172" y="1350"/>
              <a:ext cx="0" cy="36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6" name="Google Shape;446;p13"/>
            <p:cNvCxnSpPr/>
            <p:nvPr/>
          </p:nvCxnSpPr>
          <p:spPr>
            <a:xfrm rot="10800000">
              <a:off x="2172" y="1675"/>
              <a:ext cx="0" cy="36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7" name="Google Shape;447;p13"/>
            <p:cNvCxnSpPr/>
            <p:nvPr/>
          </p:nvCxnSpPr>
          <p:spPr>
            <a:xfrm rot="10800000">
              <a:off x="2172" y="1994"/>
              <a:ext cx="0" cy="36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48" name="Google Shape;448;p13"/>
            <p:cNvSpPr/>
            <p:nvPr/>
          </p:nvSpPr>
          <p:spPr>
            <a:xfrm>
              <a:off x="1063" y="2954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13"/>
            <p:cNvSpPr/>
            <p:nvPr/>
          </p:nvSpPr>
          <p:spPr>
            <a:xfrm>
              <a:off x="1399" y="2954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13"/>
            <p:cNvSpPr/>
            <p:nvPr/>
          </p:nvSpPr>
          <p:spPr>
            <a:xfrm>
              <a:off x="3001" y="2946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13"/>
            <p:cNvSpPr/>
            <p:nvPr/>
          </p:nvSpPr>
          <p:spPr>
            <a:xfrm>
              <a:off x="740" y="2951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13"/>
            <p:cNvSpPr/>
            <p:nvPr/>
          </p:nvSpPr>
          <p:spPr>
            <a:xfrm>
              <a:off x="1709" y="2954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13"/>
            <p:cNvSpPr/>
            <p:nvPr/>
          </p:nvSpPr>
          <p:spPr>
            <a:xfrm>
              <a:off x="2045" y="2951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13"/>
            <p:cNvSpPr/>
            <p:nvPr/>
          </p:nvSpPr>
          <p:spPr>
            <a:xfrm>
              <a:off x="2369" y="2951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13"/>
            <p:cNvSpPr/>
            <p:nvPr/>
          </p:nvSpPr>
          <p:spPr>
            <a:xfrm>
              <a:off x="2692" y="2951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13"/>
            <p:cNvSpPr/>
            <p:nvPr/>
          </p:nvSpPr>
          <p:spPr>
            <a:xfrm>
              <a:off x="1063" y="3603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13"/>
            <p:cNvSpPr/>
            <p:nvPr/>
          </p:nvSpPr>
          <p:spPr>
            <a:xfrm>
              <a:off x="1399" y="3603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13"/>
            <p:cNvSpPr/>
            <p:nvPr/>
          </p:nvSpPr>
          <p:spPr>
            <a:xfrm>
              <a:off x="3001" y="3594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13"/>
            <p:cNvSpPr/>
            <p:nvPr/>
          </p:nvSpPr>
          <p:spPr>
            <a:xfrm>
              <a:off x="740" y="3601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13"/>
            <p:cNvSpPr/>
            <p:nvPr/>
          </p:nvSpPr>
          <p:spPr>
            <a:xfrm>
              <a:off x="1709" y="3603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13"/>
            <p:cNvSpPr/>
            <p:nvPr/>
          </p:nvSpPr>
          <p:spPr>
            <a:xfrm>
              <a:off x="2045" y="3601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13"/>
            <p:cNvSpPr/>
            <p:nvPr/>
          </p:nvSpPr>
          <p:spPr>
            <a:xfrm>
              <a:off x="2369" y="3601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13"/>
            <p:cNvSpPr/>
            <p:nvPr/>
          </p:nvSpPr>
          <p:spPr>
            <a:xfrm>
              <a:off x="2692" y="3601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13"/>
            <p:cNvSpPr/>
            <p:nvPr/>
          </p:nvSpPr>
          <p:spPr>
            <a:xfrm>
              <a:off x="1063" y="3283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13"/>
            <p:cNvSpPr/>
            <p:nvPr/>
          </p:nvSpPr>
          <p:spPr>
            <a:xfrm>
              <a:off x="1399" y="3283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13"/>
            <p:cNvSpPr/>
            <p:nvPr/>
          </p:nvSpPr>
          <p:spPr>
            <a:xfrm>
              <a:off x="3001" y="3274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13"/>
            <p:cNvSpPr/>
            <p:nvPr/>
          </p:nvSpPr>
          <p:spPr>
            <a:xfrm>
              <a:off x="740" y="3281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13"/>
            <p:cNvSpPr/>
            <p:nvPr/>
          </p:nvSpPr>
          <p:spPr>
            <a:xfrm>
              <a:off x="1709" y="3283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13"/>
            <p:cNvSpPr/>
            <p:nvPr/>
          </p:nvSpPr>
          <p:spPr>
            <a:xfrm>
              <a:off x="2045" y="3281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13"/>
            <p:cNvSpPr/>
            <p:nvPr/>
          </p:nvSpPr>
          <p:spPr>
            <a:xfrm>
              <a:off x="2369" y="3281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13"/>
            <p:cNvSpPr/>
            <p:nvPr/>
          </p:nvSpPr>
          <p:spPr>
            <a:xfrm>
              <a:off x="2692" y="3281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13"/>
            <p:cNvSpPr/>
            <p:nvPr/>
          </p:nvSpPr>
          <p:spPr>
            <a:xfrm>
              <a:off x="421" y="2943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13"/>
            <p:cNvSpPr/>
            <p:nvPr/>
          </p:nvSpPr>
          <p:spPr>
            <a:xfrm>
              <a:off x="421" y="3591"/>
              <a:ext cx="300" cy="300"/>
            </a:xfrm>
            <a:prstGeom prst="ellipse">
              <a:avLst/>
            </a:prstGeom>
            <a:solidFill>
              <a:srgbClr val="000080"/>
            </a:solidFill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13"/>
            <p:cNvSpPr/>
            <p:nvPr/>
          </p:nvSpPr>
          <p:spPr>
            <a:xfrm>
              <a:off x="421" y="3271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13"/>
            <p:cNvSpPr/>
            <p:nvPr/>
          </p:nvSpPr>
          <p:spPr>
            <a:xfrm>
              <a:off x="3318" y="2955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13"/>
            <p:cNvSpPr/>
            <p:nvPr/>
          </p:nvSpPr>
          <p:spPr>
            <a:xfrm>
              <a:off x="3318" y="3604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13"/>
            <p:cNvSpPr/>
            <p:nvPr/>
          </p:nvSpPr>
          <p:spPr>
            <a:xfrm>
              <a:off x="3318" y="3283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13"/>
            <p:cNvSpPr/>
            <p:nvPr/>
          </p:nvSpPr>
          <p:spPr>
            <a:xfrm>
              <a:off x="3631" y="2960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13"/>
            <p:cNvSpPr/>
            <p:nvPr/>
          </p:nvSpPr>
          <p:spPr>
            <a:xfrm>
              <a:off x="3631" y="3609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13"/>
            <p:cNvSpPr/>
            <p:nvPr/>
          </p:nvSpPr>
          <p:spPr>
            <a:xfrm>
              <a:off x="3631" y="3288"/>
              <a:ext cx="300" cy="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13"/>
            <p:cNvSpPr txBox="1"/>
            <p:nvPr/>
          </p:nvSpPr>
          <p:spPr>
            <a:xfrm>
              <a:off x="84" y="1356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13"/>
            <p:cNvSpPr txBox="1"/>
            <p:nvPr/>
          </p:nvSpPr>
          <p:spPr>
            <a:xfrm>
              <a:off x="84" y="1679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13"/>
            <p:cNvSpPr txBox="1"/>
            <p:nvPr/>
          </p:nvSpPr>
          <p:spPr>
            <a:xfrm>
              <a:off x="84" y="200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13"/>
            <p:cNvSpPr txBox="1"/>
            <p:nvPr/>
          </p:nvSpPr>
          <p:spPr>
            <a:xfrm>
              <a:off x="84" y="232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13"/>
            <p:cNvSpPr txBox="1"/>
            <p:nvPr/>
          </p:nvSpPr>
          <p:spPr>
            <a:xfrm>
              <a:off x="84" y="2647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13"/>
            <p:cNvSpPr txBox="1"/>
            <p:nvPr/>
          </p:nvSpPr>
          <p:spPr>
            <a:xfrm>
              <a:off x="84" y="2968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13"/>
            <p:cNvSpPr txBox="1"/>
            <p:nvPr/>
          </p:nvSpPr>
          <p:spPr>
            <a:xfrm>
              <a:off x="84" y="329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13"/>
            <p:cNvSpPr txBox="1"/>
            <p:nvPr/>
          </p:nvSpPr>
          <p:spPr>
            <a:xfrm>
              <a:off x="84" y="3615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13"/>
            <p:cNvSpPr txBox="1"/>
            <p:nvPr/>
          </p:nvSpPr>
          <p:spPr>
            <a:xfrm>
              <a:off x="84" y="103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13"/>
            <p:cNvSpPr txBox="1"/>
            <p:nvPr/>
          </p:nvSpPr>
          <p:spPr>
            <a:xfrm>
              <a:off x="3308" y="398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13"/>
            <p:cNvSpPr txBox="1"/>
            <p:nvPr/>
          </p:nvSpPr>
          <p:spPr>
            <a:xfrm>
              <a:off x="2684" y="398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13"/>
            <p:cNvSpPr txBox="1"/>
            <p:nvPr/>
          </p:nvSpPr>
          <p:spPr>
            <a:xfrm>
              <a:off x="2360" y="398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13"/>
            <p:cNvSpPr txBox="1"/>
            <p:nvPr/>
          </p:nvSpPr>
          <p:spPr>
            <a:xfrm>
              <a:off x="2036" y="398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13"/>
            <p:cNvSpPr txBox="1"/>
            <p:nvPr/>
          </p:nvSpPr>
          <p:spPr>
            <a:xfrm>
              <a:off x="1697" y="398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13"/>
            <p:cNvSpPr txBox="1"/>
            <p:nvPr/>
          </p:nvSpPr>
          <p:spPr>
            <a:xfrm>
              <a:off x="1397" y="398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13"/>
            <p:cNvSpPr txBox="1"/>
            <p:nvPr/>
          </p:nvSpPr>
          <p:spPr>
            <a:xfrm>
              <a:off x="1058" y="398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13"/>
            <p:cNvSpPr txBox="1"/>
            <p:nvPr/>
          </p:nvSpPr>
          <p:spPr>
            <a:xfrm>
              <a:off x="725" y="398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13"/>
            <p:cNvSpPr txBox="1"/>
            <p:nvPr/>
          </p:nvSpPr>
          <p:spPr>
            <a:xfrm>
              <a:off x="409" y="398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13"/>
            <p:cNvSpPr txBox="1"/>
            <p:nvPr/>
          </p:nvSpPr>
          <p:spPr>
            <a:xfrm>
              <a:off x="2991" y="398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13"/>
            <p:cNvSpPr txBox="1"/>
            <p:nvPr/>
          </p:nvSpPr>
          <p:spPr>
            <a:xfrm>
              <a:off x="3621" y="398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01" name="Google Shape;501;p13"/>
            <p:cNvCxnSpPr/>
            <p:nvPr/>
          </p:nvCxnSpPr>
          <p:spPr>
            <a:xfrm flipH="1" rot="10800000">
              <a:off x="553" y="1036"/>
              <a:ext cx="3300" cy="2700"/>
            </a:xfrm>
            <a:prstGeom prst="straightConnector1">
              <a:avLst/>
            </a:prstGeom>
            <a:noFill/>
            <a:ln cap="flat" cmpd="sng" w="50800">
              <a:solidFill>
                <a:srgbClr val="FF66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2" name="Google Shape;502;p13"/>
            <p:cNvCxnSpPr/>
            <p:nvPr/>
          </p:nvCxnSpPr>
          <p:spPr>
            <a:xfrm rot="10800000">
              <a:off x="2182" y="-586"/>
              <a:ext cx="0" cy="36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ea22b26706_0_0"/>
          <p:cNvSpPr txBox="1"/>
          <p:nvPr/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g3ea22b26706_0_0"/>
          <p:cNvSpPr txBox="1"/>
          <p:nvPr/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g3ea22b26706_0_0"/>
          <p:cNvSpPr txBox="1"/>
          <p:nvPr>
            <p:ph type="title"/>
          </p:nvPr>
        </p:nvSpPr>
        <p:spPr>
          <a:xfrm>
            <a:off x="175500" y="151200"/>
            <a:ext cx="81135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t/>
            </a:r>
            <a:endParaRPr sz="3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400">
                <a:latin typeface="Calibri"/>
                <a:ea typeface="Calibri"/>
                <a:cs typeface="Calibri"/>
                <a:sym typeface="Calibri"/>
              </a:rPr>
              <a:t>Example</a:t>
            </a:r>
            <a:endParaRPr sz="26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 sz="3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0" name="Google Shape;510;g3ea22b26706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50200" y="151200"/>
            <a:ext cx="1371600" cy="685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11" name="Google Shape;511;g3ea22b26706_0_0"/>
          <p:cNvGraphicFramePr/>
          <p:nvPr/>
        </p:nvGraphicFramePr>
        <p:xfrm>
          <a:off x="927983" y="10923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{64969D87-7905-4602-A9DE-F355D8108A63}</a:tableStyleId>
              </a:tblPr>
              <a:tblGrid>
                <a:gridCol w="1239550"/>
                <a:gridCol w="2245425"/>
                <a:gridCol w="3255475"/>
              </a:tblGrid>
              <a:tr h="812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r>
                        <a:rPr b="0" baseline="-2500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(x</a:t>
                      </a:r>
                      <a:r>
                        <a:rPr b="0" baseline="-2500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k+1</a:t>
                      </a: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,y</a:t>
                      </a:r>
                      <a:r>
                        <a:rPr b="0" baseline="-2500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k+1</a:t>
                      </a: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73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3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3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3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3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3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3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3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3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3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13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p0 =6</a:t>
                      </a:r>
                      <a:endParaRPr sz="13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p1 =2</a:t>
                      </a:r>
                      <a:endParaRPr sz="13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p2= -2</a:t>
                      </a:r>
                      <a:endParaRPr sz="13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p3=14</a:t>
                      </a:r>
                      <a:endParaRPr sz="13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p4=10</a:t>
                      </a:r>
                      <a:endParaRPr sz="13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p5 = 6</a:t>
                      </a:r>
                      <a:endParaRPr sz="13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p6 = 2</a:t>
                      </a:r>
                      <a:endParaRPr sz="13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p7= -2</a:t>
                      </a:r>
                      <a:endParaRPr sz="13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p8=14</a:t>
                      </a:r>
                      <a:endParaRPr sz="13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p9=10</a:t>
                      </a:r>
                      <a:endParaRPr sz="13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p</a:t>
                      </a: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10=6 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(20,10)</a:t>
                      </a:r>
                      <a:endParaRPr sz="13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(21,11)</a:t>
                      </a:r>
                      <a:endParaRPr sz="13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(22,12)</a:t>
                      </a:r>
                      <a:endParaRPr sz="13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(23,12)</a:t>
                      </a:r>
                      <a:endParaRPr sz="13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(24,13)</a:t>
                      </a:r>
                      <a:endParaRPr sz="13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(25,14)</a:t>
                      </a:r>
                      <a:endParaRPr sz="13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(26,15)</a:t>
                      </a:r>
                      <a:endParaRPr sz="13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(27,16)</a:t>
                      </a:r>
                      <a:endParaRPr sz="13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(28,16)</a:t>
                      </a:r>
                      <a:endParaRPr sz="13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(29,17)</a:t>
                      </a:r>
                      <a:endParaRPr sz="13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(30,18)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4"/>
          <p:cNvSpPr txBox="1"/>
          <p:nvPr>
            <p:ph idx="1" type="body"/>
          </p:nvPr>
        </p:nvSpPr>
        <p:spPr>
          <a:xfrm>
            <a:off x="628650" y="1025238"/>
            <a:ext cx="7886700" cy="51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 through the steps of the Bresenham line drawing algorithm for a line going from (21,12) to (29,16)</a:t>
            </a:r>
            <a:endParaRPr b="0" i="0" sz="21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4"/>
          <p:cNvSpPr txBox="1"/>
          <p:nvPr/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4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4"/>
          <p:cNvSpPr txBox="1"/>
          <p:nvPr>
            <p:ph type="title"/>
          </p:nvPr>
        </p:nvSpPr>
        <p:spPr>
          <a:xfrm>
            <a:off x="175500" y="151200"/>
            <a:ext cx="81135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t/>
            </a:r>
            <a:endParaRPr sz="3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400">
                <a:latin typeface="Calibri"/>
                <a:ea typeface="Calibri"/>
                <a:cs typeface="Calibri"/>
                <a:sym typeface="Calibri"/>
              </a:rPr>
              <a:t>Example</a:t>
            </a:r>
            <a:endParaRPr sz="26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 sz="3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0" name="Google Shape;52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50200" y="151200"/>
            <a:ext cx="1371600" cy="685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21" name="Google Shape;521;p14"/>
          <p:cNvGraphicFramePr/>
          <p:nvPr/>
        </p:nvGraphicFramePr>
        <p:xfrm>
          <a:off x="1742733" y="19103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{64969D87-7905-4602-A9DE-F355D8108A63}</a:tableStyleId>
              </a:tblPr>
              <a:tblGrid>
                <a:gridCol w="974025"/>
                <a:gridCol w="1764450"/>
                <a:gridCol w="2558150"/>
              </a:tblGrid>
              <a:tr h="560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r>
                        <a:rPr b="0" baseline="-25000" i="0" lang="en-US" sz="2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(x</a:t>
                      </a:r>
                      <a:r>
                        <a:rPr b="0" baseline="-2500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k+1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,y</a:t>
                      </a:r>
                      <a:r>
                        <a:rPr b="0" baseline="-2500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k+1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5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2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2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2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2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2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2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2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p0 = 0</a:t>
                      </a:r>
                      <a:endParaRPr sz="12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p1 = -8</a:t>
                      </a:r>
                      <a:endParaRPr sz="12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p2 = 0</a:t>
                      </a:r>
                      <a:endParaRPr sz="12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p3 = -8</a:t>
                      </a:r>
                      <a:endParaRPr sz="12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p4 = 0</a:t>
                      </a:r>
                      <a:endParaRPr sz="12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p5 = -8</a:t>
                      </a:r>
                      <a:endParaRPr sz="12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p6 = 0</a:t>
                      </a:r>
                      <a:endParaRPr sz="12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p7 = -8</a:t>
                      </a:r>
                      <a:endParaRPr sz="12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p8 = 0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(21,12)</a:t>
                      </a:r>
                      <a:endParaRPr sz="12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(22,13)</a:t>
                      </a:r>
                      <a:endParaRPr sz="12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(23,13)</a:t>
                      </a:r>
                      <a:endParaRPr sz="12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(24,14)</a:t>
                      </a:r>
                      <a:endParaRPr sz="12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(25,14)</a:t>
                      </a:r>
                      <a:endParaRPr sz="12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(26,15)</a:t>
                      </a:r>
                      <a:endParaRPr sz="12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(27,15)</a:t>
                      </a:r>
                      <a:endParaRPr sz="12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(28,16)</a:t>
                      </a:r>
                      <a:endParaRPr sz="12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(29,16)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6" name="Google Shape;526;p15"/>
          <p:cNvGrpSpPr/>
          <p:nvPr/>
        </p:nvGrpSpPr>
        <p:grpSpPr>
          <a:xfrm>
            <a:off x="1247131" y="-1548361"/>
            <a:ext cx="6090468" cy="10006011"/>
            <a:chOff x="84" y="-709"/>
            <a:chExt cx="3837" cy="6303"/>
          </a:xfrm>
        </p:grpSpPr>
        <p:grpSp>
          <p:nvGrpSpPr>
            <p:cNvPr id="527" name="Google Shape;527;p15"/>
            <p:cNvGrpSpPr/>
            <p:nvPr/>
          </p:nvGrpSpPr>
          <p:grpSpPr>
            <a:xfrm>
              <a:off x="556" y="886"/>
              <a:ext cx="3211" cy="3090"/>
              <a:chOff x="2066" y="90"/>
              <a:chExt cx="3118" cy="3644"/>
            </a:xfrm>
          </p:grpSpPr>
          <p:cxnSp>
            <p:nvCxnSpPr>
              <p:cNvPr id="528" name="Google Shape;528;p15"/>
              <p:cNvCxnSpPr/>
              <p:nvPr/>
            </p:nvCxnSpPr>
            <p:spPr>
              <a:xfrm rot="10800000">
                <a:off x="2376" y="90"/>
                <a:ext cx="0" cy="3644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29" name="Google Shape;529;p15"/>
              <p:cNvCxnSpPr/>
              <p:nvPr/>
            </p:nvCxnSpPr>
            <p:spPr>
              <a:xfrm rot="10800000">
                <a:off x="2690" y="90"/>
                <a:ext cx="0" cy="3644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30" name="Google Shape;530;p15"/>
              <p:cNvCxnSpPr/>
              <p:nvPr/>
            </p:nvCxnSpPr>
            <p:spPr>
              <a:xfrm rot="10800000">
                <a:off x="3016" y="90"/>
                <a:ext cx="0" cy="3644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31" name="Google Shape;531;p15"/>
              <p:cNvCxnSpPr/>
              <p:nvPr/>
            </p:nvCxnSpPr>
            <p:spPr>
              <a:xfrm rot="10800000">
                <a:off x="3317" y="90"/>
                <a:ext cx="0" cy="3644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32" name="Google Shape;532;p15"/>
              <p:cNvCxnSpPr/>
              <p:nvPr/>
            </p:nvCxnSpPr>
            <p:spPr>
              <a:xfrm rot="10800000">
                <a:off x="3644" y="90"/>
                <a:ext cx="0" cy="3644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33" name="Google Shape;533;p15"/>
              <p:cNvCxnSpPr/>
              <p:nvPr/>
            </p:nvCxnSpPr>
            <p:spPr>
              <a:xfrm rot="10800000">
                <a:off x="3957" y="90"/>
                <a:ext cx="0" cy="3644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34" name="Google Shape;534;p15"/>
              <p:cNvCxnSpPr/>
              <p:nvPr/>
            </p:nvCxnSpPr>
            <p:spPr>
              <a:xfrm rot="10800000">
                <a:off x="4271" y="90"/>
                <a:ext cx="0" cy="3644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35" name="Google Shape;535;p15"/>
              <p:cNvCxnSpPr/>
              <p:nvPr/>
            </p:nvCxnSpPr>
            <p:spPr>
              <a:xfrm rot="10800000">
                <a:off x="4572" y="90"/>
                <a:ext cx="0" cy="3644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36" name="Google Shape;536;p15"/>
              <p:cNvCxnSpPr/>
              <p:nvPr/>
            </p:nvCxnSpPr>
            <p:spPr>
              <a:xfrm rot="10800000">
                <a:off x="2066" y="90"/>
                <a:ext cx="0" cy="3644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37" name="Google Shape;537;p15"/>
              <p:cNvCxnSpPr/>
              <p:nvPr/>
            </p:nvCxnSpPr>
            <p:spPr>
              <a:xfrm rot="10800000">
                <a:off x="4879" y="90"/>
                <a:ext cx="0" cy="3644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38" name="Google Shape;538;p15"/>
              <p:cNvCxnSpPr/>
              <p:nvPr/>
            </p:nvCxnSpPr>
            <p:spPr>
              <a:xfrm rot="10800000">
                <a:off x="5184" y="90"/>
                <a:ext cx="0" cy="3644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539" name="Google Shape;539;p15"/>
            <p:cNvCxnSpPr/>
            <p:nvPr/>
          </p:nvCxnSpPr>
          <p:spPr>
            <a:xfrm rot="10800000">
              <a:off x="2182" y="-709"/>
              <a:ext cx="0" cy="372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0" name="Google Shape;540;p15"/>
            <p:cNvCxnSpPr/>
            <p:nvPr/>
          </p:nvCxnSpPr>
          <p:spPr>
            <a:xfrm rot="10800000">
              <a:off x="2182" y="-388"/>
              <a:ext cx="0" cy="372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1" name="Google Shape;541;p15"/>
            <p:cNvCxnSpPr/>
            <p:nvPr/>
          </p:nvCxnSpPr>
          <p:spPr>
            <a:xfrm rot="10800000">
              <a:off x="2182" y="-64"/>
              <a:ext cx="0" cy="372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2" name="Google Shape;542;p15"/>
            <p:cNvCxnSpPr/>
            <p:nvPr/>
          </p:nvCxnSpPr>
          <p:spPr>
            <a:xfrm rot="10800000">
              <a:off x="2182" y="257"/>
              <a:ext cx="0" cy="372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3" name="Google Shape;543;p15"/>
            <p:cNvCxnSpPr/>
            <p:nvPr/>
          </p:nvCxnSpPr>
          <p:spPr>
            <a:xfrm rot="10800000">
              <a:off x="2182" y="581"/>
              <a:ext cx="0" cy="372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4" name="Google Shape;544;p15"/>
            <p:cNvCxnSpPr/>
            <p:nvPr/>
          </p:nvCxnSpPr>
          <p:spPr>
            <a:xfrm rot="10800000">
              <a:off x="2182" y="901"/>
              <a:ext cx="0" cy="372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45" name="Google Shape;545;p15"/>
            <p:cNvSpPr/>
            <p:nvPr/>
          </p:nvSpPr>
          <p:spPr>
            <a:xfrm>
              <a:off x="1063" y="1982"/>
              <a:ext cx="270" cy="271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15"/>
            <p:cNvSpPr/>
            <p:nvPr/>
          </p:nvSpPr>
          <p:spPr>
            <a:xfrm>
              <a:off x="1399" y="1982"/>
              <a:ext cx="271" cy="271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15"/>
            <p:cNvSpPr/>
            <p:nvPr/>
          </p:nvSpPr>
          <p:spPr>
            <a:xfrm>
              <a:off x="3001" y="1975"/>
              <a:ext cx="270" cy="26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15"/>
            <p:cNvSpPr/>
            <p:nvPr/>
          </p:nvSpPr>
          <p:spPr>
            <a:xfrm>
              <a:off x="740" y="1981"/>
              <a:ext cx="270" cy="27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15"/>
            <p:cNvSpPr/>
            <p:nvPr/>
          </p:nvSpPr>
          <p:spPr>
            <a:xfrm>
              <a:off x="1709" y="1982"/>
              <a:ext cx="270" cy="271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15"/>
            <p:cNvSpPr/>
            <p:nvPr/>
          </p:nvSpPr>
          <p:spPr>
            <a:xfrm>
              <a:off x="2045" y="1981"/>
              <a:ext cx="270" cy="27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15"/>
            <p:cNvSpPr/>
            <p:nvPr/>
          </p:nvSpPr>
          <p:spPr>
            <a:xfrm>
              <a:off x="2369" y="1981"/>
              <a:ext cx="270" cy="27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15"/>
            <p:cNvSpPr/>
            <p:nvPr/>
          </p:nvSpPr>
          <p:spPr>
            <a:xfrm>
              <a:off x="2692" y="1981"/>
              <a:ext cx="269" cy="27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15"/>
            <p:cNvSpPr/>
            <p:nvPr/>
          </p:nvSpPr>
          <p:spPr>
            <a:xfrm>
              <a:off x="1065" y="1663"/>
              <a:ext cx="269" cy="26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15"/>
            <p:cNvSpPr/>
            <p:nvPr/>
          </p:nvSpPr>
          <p:spPr>
            <a:xfrm>
              <a:off x="1400" y="1663"/>
              <a:ext cx="271" cy="26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15"/>
            <p:cNvSpPr/>
            <p:nvPr/>
          </p:nvSpPr>
          <p:spPr>
            <a:xfrm>
              <a:off x="3003" y="1654"/>
              <a:ext cx="269" cy="271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15"/>
            <p:cNvSpPr/>
            <p:nvPr/>
          </p:nvSpPr>
          <p:spPr>
            <a:xfrm>
              <a:off x="741" y="1661"/>
              <a:ext cx="270" cy="26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15"/>
            <p:cNvSpPr/>
            <p:nvPr/>
          </p:nvSpPr>
          <p:spPr>
            <a:xfrm>
              <a:off x="1710" y="1663"/>
              <a:ext cx="271" cy="26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15"/>
            <p:cNvSpPr/>
            <p:nvPr/>
          </p:nvSpPr>
          <p:spPr>
            <a:xfrm>
              <a:off x="2047" y="1661"/>
              <a:ext cx="269" cy="26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15"/>
            <p:cNvSpPr/>
            <p:nvPr/>
          </p:nvSpPr>
          <p:spPr>
            <a:xfrm>
              <a:off x="2369" y="1661"/>
              <a:ext cx="271" cy="26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15"/>
            <p:cNvSpPr/>
            <p:nvPr/>
          </p:nvSpPr>
          <p:spPr>
            <a:xfrm>
              <a:off x="2693" y="1661"/>
              <a:ext cx="270" cy="26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15"/>
            <p:cNvSpPr/>
            <p:nvPr/>
          </p:nvSpPr>
          <p:spPr>
            <a:xfrm>
              <a:off x="1063" y="1343"/>
              <a:ext cx="270" cy="26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15"/>
            <p:cNvSpPr/>
            <p:nvPr/>
          </p:nvSpPr>
          <p:spPr>
            <a:xfrm>
              <a:off x="1399" y="1343"/>
              <a:ext cx="271" cy="26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15"/>
            <p:cNvSpPr/>
            <p:nvPr/>
          </p:nvSpPr>
          <p:spPr>
            <a:xfrm>
              <a:off x="3001" y="1334"/>
              <a:ext cx="270" cy="27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15"/>
            <p:cNvSpPr/>
            <p:nvPr/>
          </p:nvSpPr>
          <p:spPr>
            <a:xfrm>
              <a:off x="740" y="1341"/>
              <a:ext cx="270" cy="26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15"/>
            <p:cNvSpPr/>
            <p:nvPr/>
          </p:nvSpPr>
          <p:spPr>
            <a:xfrm>
              <a:off x="1709" y="1343"/>
              <a:ext cx="270" cy="26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15"/>
            <p:cNvSpPr/>
            <p:nvPr/>
          </p:nvSpPr>
          <p:spPr>
            <a:xfrm>
              <a:off x="2045" y="1341"/>
              <a:ext cx="270" cy="26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15"/>
            <p:cNvSpPr/>
            <p:nvPr/>
          </p:nvSpPr>
          <p:spPr>
            <a:xfrm>
              <a:off x="2369" y="1341"/>
              <a:ext cx="270" cy="26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15"/>
            <p:cNvSpPr/>
            <p:nvPr/>
          </p:nvSpPr>
          <p:spPr>
            <a:xfrm>
              <a:off x="2692" y="1341"/>
              <a:ext cx="269" cy="26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15"/>
            <p:cNvSpPr/>
            <p:nvPr/>
          </p:nvSpPr>
          <p:spPr>
            <a:xfrm>
              <a:off x="1065" y="1022"/>
              <a:ext cx="269" cy="26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15"/>
            <p:cNvSpPr/>
            <p:nvPr/>
          </p:nvSpPr>
          <p:spPr>
            <a:xfrm>
              <a:off x="1400" y="1022"/>
              <a:ext cx="271" cy="26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15"/>
            <p:cNvSpPr/>
            <p:nvPr/>
          </p:nvSpPr>
          <p:spPr>
            <a:xfrm>
              <a:off x="3003" y="1013"/>
              <a:ext cx="269" cy="27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15"/>
            <p:cNvSpPr/>
            <p:nvPr/>
          </p:nvSpPr>
          <p:spPr>
            <a:xfrm>
              <a:off x="741" y="1020"/>
              <a:ext cx="270" cy="26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15"/>
            <p:cNvSpPr/>
            <p:nvPr/>
          </p:nvSpPr>
          <p:spPr>
            <a:xfrm>
              <a:off x="1710" y="1022"/>
              <a:ext cx="271" cy="26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15"/>
            <p:cNvSpPr/>
            <p:nvPr/>
          </p:nvSpPr>
          <p:spPr>
            <a:xfrm>
              <a:off x="2047" y="1020"/>
              <a:ext cx="269" cy="26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15"/>
            <p:cNvSpPr/>
            <p:nvPr/>
          </p:nvSpPr>
          <p:spPr>
            <a:xfrm>
              <a:off x="2369" y="1020"/>
              <a:ext cx="271" cy="26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15"/>
            <p:cNvSpPr/>
            <p:nvPr/>
          </p:nvSpPr>
          <p:spPr>
            <a:xfrm>
              <a:off x="2693" y="1020"/>
              <a:ext cx="270" cy="26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15"/>
            <p:cNvSpPr/>
            <p:nvPr/>
          </p:nvSpPr>
          <p:spPr>
            <a:xfrm>
              <a:off x="1063" y="2632"/>
              <a:ext cx="270" cy="26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15"/>
            <p:cNvSpPr/>
            <p:nvPr/>
          </p:nvSpPr>
          <p:spPr>
            <a:xfrm>
              <a:off x="1399" y="2632"/>
              <a:ext cx="271" cy="26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15"/>
            <p:cNvSpPr/>
            <p:nvPr/>
          </p:nvSpPr>
          <p:spPr>
            <a:xfrm>
              <a:off x="3001" y="2623"/>
              <a:ext cx="270" cy="271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15"/>
            <p:cNvSpPr/>
            <p:nvPr/>
          </p:nvSpPr>
          <p:spPr>
            <a:xfrm>
              <a:off x="740" y="2631"/>
              <a:ext cx="270" cy="26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15"/>
            <p:cNvSpPr/>
            <p:nvPr/>
          </p:nvSpPr>
          <p:spPr>
            <a:xfrm>
              <a:off x="1709" y="2632"/>
              <a:ext cx="270" cy="26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15"/>
            <p:cNvSpPr/>
            <p:nvPr/>
          </p:nvSpPr>
          <p:spPr>
            <a:xfrm>
              <a:off x="2045" y="2631"/>
              <a:ext cx="270" cy="26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15"/>
            <p:cNvSpPr/>
            <p:nvPr/>
          </p:nvSpPr>
          <p:spPr>
            <a:xfrm>
              <a:off x="2369" y="2631"/>
              <a:ext cx="270" cy="26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15"/>
            <p:cNvSpPr/>
            <p:nvPr/>
          </p:nvSpPr>
          <p:spPr>
            <a:xfrm>
              <a:off x="2692" y="2631"/>
              <a:ext cx="269" cy="26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15"/>
            <p:cNvSpPr/>
            <p:nvPr/>
          </p:nvSpPr>
          <p:spPr>
            <a:xfrm>
              <a:off x="1063" y="2312"/>
              <a:ext cx="270" cy="26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15"/>
            <p:cNvSpPr/>
            <p:nvPr/>
          </p:nvSpPr>
          <p:spPr>
            <a:xfrm>
              <a:off x="1399" y="2312"/>
              <a:ext cx="271" cy="26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15"/>
            <p:cNvSpPr/>
            <p:nvPr/>
          </p:nvSpPr>
          <p:spPr>
            <a:xfrm>
              <a:off x="3001" y="2303"/>
              <a:ext cx="270" cy="27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15"/>
            <p:cNvSpPr/>
            <p:nvPr/>
          </p:nvSpPr>
          <p:spPr>
            <a:xfrm>
              <a:off x="740" y="2311"/>
              <a:ext cx="270" cy="26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15"/>
            <p:cNvSpPr/>
            <p:nvPr/>
          </p:nvSpPr>
          <p:spPr>
            <a:xfrm>
              <a:off x="1709" y="2312"/>
              <a:ext cx="270" cy="26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15"/>
            <p:cNvSpPr/>
            <p:nvPr/>
          </p:nvSpPr>
          <p:spPr>
            <a:xfrm>
              <a:off x="2045" y="2311"/>
              <a:ext cx="270" cy="26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15"/>
            <p:cNvSpPr/>
            <p:nvPr/>
          </p:nvSpPr>
          <p:spPr>
            <a:xfrm>
              <a:off x="2369" y="2311"/>
              <a:ext cx="270" cy="26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15"/>
            <p:cNvSpPr/>
            <p:nvPr/>
          </p:nvSpPr>
          <p:spPr>
            <a:xfrm>
              <a:off x="2692" y="2311"/>
              <a:ext cx="269" cy="26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15"/>
            <p:cNvSpPr/>
            <p:nvPr/>
          </p:nvSpPr>
          <p:spPr>
            <a:xfrm>
              <a:off x="421" y="1973"/>
              <a:ext cx="269" cy="26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15"/>
            <p:cNvSpPr/>
            <p:nvPr/>
          </p:nvSpPr>
          <p:spPr>
            <a:xfrm>
              <a:off x="422" y="1652"/>
              <a:ext cx="270" cy="26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15"/>
            <p:cNvSpPr/>
            <p:nvPr/>
          </p:nvSpPr>
          <p:spPr>
            <a:xfrm>
              <a:off x="421" y="1331"/>
              <a:ext cx="269" cy="27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15"/>
            <p:cNvSpPr/>
            <p:nvPr/>
          </p:nvSpPr>
          <p:spPr>
            <a:xfrm>
              <a:off x="422" y="1011"/>
              <a:ext cx="270" cy="27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15"/>
            <p:cNvSpPr/>
            <p:nvPr/>
          </p:nvSpPr>
          <p:spPr>
            <a:xfrm>
              <a:off x="421" y="2621"/>
              <a:ext cx="269" cy="26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15"/>
            <p:cNvSpPr/>
            <p:nvPr/>
          </p:nvSpPr>
          <p:spPr>
            <a:xfrm>
              <a:off x="421" y="2301"/>
              <a:ext cx="269" cy="26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15"/>
            <p:cNvSpPr/>
            <p:nvPr/>
          </p:nvSpPr>
          <p:spPr>
            <a:xfrm>
              <a:off x="3318" y="1983"/>
              <a:ext cx="269" cy="271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15"/>
            <p:cNvSpPr/>
            <p:nvPr/>
          </p:nvSpPr>
          <p:spPr>
            <a:xfrm>
              <a:off x="3319" y="1664"/>
              <a:ext cx="268" cy="269"/>
            </a:xfrm>
            <a:prstGeom prst="ellipse">
              <a:avLst/>
            </a:prstGeom>
            <a:solidFill>
              <a:srgbClr val="000080"/>
            </a:solidFill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15"/>
            <p:cNvSpPr/>
            <p:nvPr/>
          </p:nvSpPr>
          <p:spPr>
            <a:xfrm>
              <a:off x="3318" y="1343"/>
              <a:ext cx="269" cy="27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15"/>
            <p:cNvSpPr/>
            <p:nvPr/>
          </p:nvSpPr>
          <p:spPr>
            <a:xfrm>
              <a:off x="3319" y="1023"/>
              <a:ext cx="268" cy="26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15"/>
            <p:cNvSpPr/>
            <p:nvPr/>
          </p:nvSpPr>
          <p:spPr>
            <a:xfrm>
              <a:off x="3318" y="2634"/>
              <a:ext cx="269" cy="26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15"/>
            <p:cNvSpPr/>
            <p:nvPr/>
          </p:nvSpPr>
          <p:spPr>
            <a:xfrm>
              <a:off x="3318" y="2313"/>
              <a:ext cx="269" cy="26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15"/>
            <p:cNvSpPr/>
            <p:nvPr/>
          </p:nvSpPr>
          <p:spPr>
            <a:xfrm>
              <a:off x="3631" y="1990"/>
              <a:ext cx="270" cy="26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15"/>
            <p:cNvSpPr/>
            <p:nvPr/>
          </p:nvSpPr>
          <p:spPr>
            <a:xfrm>
              <a:off x="3632" y="1669"/>
              <a:ext cx="270" cy="27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15"/>
            <p:cNvSpPr/>
            <p:nvPr/>
          </p:nvSpPr>
          <p:spPr>
            <a:xfrm>
              <a:off x="3631" y="1348"/>
              <a:ext cx="270" cy="271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15"/>
            <p:cNvSpPr/>
            <p:nvPr/>
          </p:nvSpPr>
          <p:spPr>
            <a:xfrm>
              <a:off x="3632" y="1028"/>
              <a:ext cx="270" cy="27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15"/>
            <p:cNvSpPr/>
            <p:nvPr/>
          </p:nvSpPr>
          <p:spPr>
            <a:xfrm>
              <a:off x="3631" y="2639"/>
              <a:ext cx="270" cy="26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15"/>
            <p:cNvSpPr/>
            <p:nvPr/>
          </p:nvSpPr>
          <p:spPr>
            <a:xfrm>
              <a:off x="3631" y="2318"/>
              <a:ext cx="270" cy="27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11" name="Google Shape;611;p15"/>
            <p:cNvCxnSpPr/>
            <p:nvPr/>
          </p:nvCxnSpPr>
          <p:spPr>
            <a:xfrm rot="10800000">
              <a:off x="2172" y="1228"/>
              <a:ext cx="0" cy="372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2" name="Google Shape;612;p15"/>
            <p:cNvCxnSpPr/>
            <p:nvPr/>
          </p:nvCxnSpPr>
          <p:spPr>
            <a:xfrm rot="10800000">
              <a:off x="2172" y="1553"/>
              <a:ext cx="0" cy="372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3" name="Google Shape;613;p15"/>
            <p:cNvCxnSpPr/>
            <p:nvPr/>
          </p:nvCxnSpPr>
          <p:spPr>
            <a:xfrm rot="10800000">
              <a:off x="2172" y="1872"/>
              <a:ext cx="0" cy="372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14" name="Google Shape;614;p15"/>
            <p:cNvSpPr/>
            <p:nvPr/>
          </p:nvSpPr>
          <p:spPr>
            <a:xfrm>
              <a:off x="1063" y="2954"/>
              <a:ext cx="270" cy="26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15"/>
            <p:cNvSpPr/>
            <p:nvPr/>
          </p:nvSpPr>
          <p:spPr>
            <a:xfrm>
              <a:off x="1399" y="2954"/>
              <a:ext cx="271" cy="26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15"/>
            <p:cNvSpPr/>
            <p:nvPr/>
          </p:nvSpPr>
          <p:spPr>
            <a:xfrm>
              <a:off x="3001" y="2946"/>
              <a:ext cx="270" cy="27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15"/>
            <p:cNvSpPr/>
            <p:nvPr/>
          </p:nvSpPr>
          <p:spPr>
            <a:xfrm>
              <a:off x="740" y="2951"/>
              <a:ext cx="270" cy="271"/>
            </a:xfrm>
            <a:prstGeom prst="ellipse">
              <a:avLst/>
            </a:prstGeom>
            <a:solidFill>
              <a:srgbClr val="000080"/>
            </a:solidFill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15"/>
            <p:cNvSpPr/>
            <p:nvPr/>
          </p:nvSpPr>
          <p:spPr>
            <a:xfrm>
              <a:off x="1709" y="2954"/>
              <a:ext cx="270" cy="26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15"/>
            <p:cNvSpPr/>
            <p:nvPr/>
          </p:nvSpPr>
          <p:spPr>
            <a:xfrm>
              <a:off x="2045" y="2951"/>
              <a:ext cx="270" cy="271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15"/>
            <p:cNvSpPr/>
            <p:nvPr/>
          </p:nvSpPr>
          <p:spPr>
            <a:xfrm>
              <a:off x="2369" y="2951"/>
              <a:ext cx="270" cy="271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15"/>
            <p:cNvSpPr/>
            <p:nvPr/>
          </p:nvSpPr>
          <p:spPr>
            <a:xfrm>
              <a:off x="2692" y="2951"/>
              <a:ext cx="269" cy="271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15"/>
            <p:cNvSpPr/>
            <p:nvPr/>
          </p:nvSpPr>
          <p:spPr>
            <a:xfrm>
              <a:off x="1063" y="3603"/>
              <a:ext cx="270" cy="26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15"/>
            <p:cNvSpPr/>
            <p:nvPr/>
          </p:nvSpPr>
          <p:spPr>
            <a:xfrm>
              <a:off x="1399" y="3603"/>
              <a:ext cx="271" cy="26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15"/>
            <p:cNvSpPr/>
            <p:nvPr/>
          </p:nvSpPr>
          <p:spPr>
            <a:xfrm>
              <a:off x="3001" y="3594"/>
              <a:ext cx="270" cy="271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15"/>
            <p:cNvSpPr/>
            <p:nvPr/>
          </p:nvSpPr>
          <p:spPr>
            <a:xfrm>
              <a:off x="740" y="3601"/>
              <a:ext cx="270" cy="26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15"/>
            <p:cNvSpPr/>
            <p:nvPr/>
          </p:nvSpPr>
          <p:spPr>
            <a:xfrm>
              <a:off x="1709" y="3603"/>
              <a:ext cx="270" cy="26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15"/>
            <p:cNvSpPr/>
            <p:nvPr/>
          </p:nvSpPr>
          <p:spPr>
            <a:xfrm>
              <a:off x="2045" y="3601"/>
              <a:ext cx="270" cy="26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15"/>
            <p:cNvSpPr/>
            <p:nvPr/>
          </p:nvSpPr>
          <p:spPr>
            <a:xfrm>
              <a:off x="2369" y="3601"/>
              <a:ext cx="270" cy="26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15"/>
            <p:cNvSpPr/>
            <p:nvPr/>
          </p:nvSpPr>
          <p:spPr>
            <a:xfrm>
              <a:off x="2692" y="3601"/>
              <a:ext cx="269" cy="26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15"/>
            <p:cNvSpPr/>
            <p:nvPr/>
          </p:nvSpPr>
          <p:spPr>
            <a:xfrm>
              <a:off x="1063" y="3283"/>
              <a:ext cx="270" cy="26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15"/>
            <p:cNvSpPr/>
            <p:nvPr/>
          </p:nvSpPr>
          <p:spPr>
            <a:xfrm>
              <a:off x="1399" y="3283"/>
              <a:ext cx="271" cy="26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15"/>
            <p:cNvSpPr/>
            <p:nvPr/>
          </p:nvSpPr>
          <p:spPr>
            <a:xfrm>
              <a:off x="3001" y="3274"/>
              <a:ext cx="270" cy="26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15"/>
            <p:cNvSpPr/>
            <p:nvPr/>
          </p:nvSpPr>
          <p:spPr>
            <a:xfrm>
              <a:off x="740" y="3281"/>
              <a:ext cx="270" cy="26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15"/>
            <p:cNvSpPr/>
            <p:nvPr/>
          </p:nvSpPr>
          <p:spPr>
            <a:xfrm>
              <a:off x="1709" y="3283"/>
              <a:ext cx="270" cy="26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15"/>
            <p:cNvSpPr/>
            <p:nvPr/>
          </p:nvSpPr>
          <p:spPr>
            <a:xfrm>
              <a:off x="2045" y="3281"/>
              <a:ext cx="270" cy="26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15"/>
            <p:cNvSpPr/>
            <p:nvPr/>
          </p:nvSpPr>
          <p:spPr>
            <a:xfrm>
              <a:off x="2369" y="3281"/>
              <a:ext cx="270" cy="26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15"/>
            <p:cNvSpPr/>
            <p:nvPr/>
          </p:nvSpPr>
          <p:spPr>
            <a:xfrm>
              <a:off x="2692" y="3281"/>
              <a:ext cx="269" cy="26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15"/>
            <p:cNvSpPr/>
            <p:nvPr/>
          </p:nvSpPr>
          <p:spPr>
            <a:xfrm>
              <a:off x="421" y="2943"/>
              <a:ext cx="269" cy="26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15"/>
            <p:cNvSpPr/>
            <p:nvPr/>
          </p:nvSpPr>
          <p:spPr>
            <a:xfrm>
              <a:off x="421" y="3591"/>
              <a:ext cx="269" cy="271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15"/>
            <p:cNvSpPr/>
            <p:nvPr/>
          </p:nvSpPr>
          <p:spPr>
            <a:xfrm>
              <a:off x="421" y="3271"/>
              <a:ext cx="269" cy="27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15"/>
            <p:cNvSpPr/>
            <p:nvPr/>
          </p:nvSpPr>
          <p:spPr>
            <a:xfrm>
              <a:off x="3318" y="2955"/>
              <a:ext cx="269" cy="27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15"/>
            <p:cNvSpPr/>
            <p:nvPr/>
          </p:nvSpPr>
          <p:spPr>
            <a:xfrm>
              <a:off x="3318" y="3604"/>
              <a:ext cx="269" cy="26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15"/>
            <p:cNvSpPr/>
            <p:nvPr/>
          </p:nvSpPr>
          <p:spPr>
            <a:xfrm>
              <a:off x="3318" y="3283"/>
              <a:ext cx="269" cy="271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15"/>
            <p:cNvSpPr/>
            <p:nvPr/>
          </p:nvSpPr>
          <p:spPr>
            <a:xfrm>
              <a:off x="3631" y="2960"/>
              <a:ext cx="270" cy="27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15"/>
            <p:cNvSpPr/>
            <p:nvPr/>
          </p:nvSpPr>
          <p:spPr>
            <a:xfrm>
              <a:off x="3631" y="3609"/>
              <a:ext cx="270" cy="27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15"/>
            <p:cNvSpPr/>
            <p:nvPr/>
          </p:nvSpPr>
          <p:spPr>
            <a:xfrm>
              <a:off x="3631" y="3288"/>
              <a:ext cx="270" cy="271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15"/>
            <p:cNvSpPr txBox="1"/>
            <p:nvPr/>
          </p:nvSpPr>
          <p:spPr>
            <a:xfrm>
              <a:off x="84" y="1356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15"/>
            <p:cNvSpPr txBox="1"/>
            <p:nvPr/>
          </p:nvSpPr>
          <p:spPr>
            <a:xfrm>
              <a:off x="84" y="1679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15"/>
            <p:cNvSpPr txBox="1"/>
            <p:nvPr/>
          </p:nvSpPr>
          <p:spPr>
            <a:xfrm>
              <a:off x="84" y="200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15"/>
            <p:cNvSpPr txBox="1"/>
            <p:nvPr/>
          </p:nvSpPr>
          <p:spPr>
            <a:xfrm>
              <a:off x="84" y="232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15"/>
            <p:cNvSpPr txBox="1"/>
            <p:nvPr/>
          </p:nvSpPr>
          <p:spPr>
            <a:xfrm>
              <a:off x="84" y="2647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15"/>
            <p:cNvSpPr txBox="1"/>
            <p:nvPr/>
          </p:nvSpPr>
          <p:spPr>
            <a:xfrm>
              <a:off x="84" y="2968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15"/>
            <p:cNvSpPr txBox="1"/>
            <p:nvPr/>
          </p:nvSpPr>
          <p:spPr>
            <a:xfrm>
              <a:off x="84" y="329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15"/>
            <p:cNvSpPr txBox="1"/>
            <p:nvPr/>
          </p:nvSpPr>
          <p:spPr>
            <a:xfrm>
              <a:off x="84" y="3615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15"/>
            <p:cNvSpPr txBox="1"/>
            <p:nvPr/>
          </p:nvSpPr>
          <p:spPr>
            <a:xfrm>
              <a:off x="84" y="103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15"/>
            <p:cNvSpPr txBox="1"/>
            <p:nvPr/>
          </p:nvSpPr>
          <p:spPr>
            <a:xfrm>
              <a:off x="3308" y="398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15"/>
            <p:cNvSpPr txBox="1"/>
            <p:nvPr/>
          </p:nvSpPr>
          <p:spPr>
            <a:xfrm>
              <a:off x="2684" y="398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15"/>
            <p:cNvSpPr txBox="1"/>
            <p:nvPr/>
          </p:nvSpPr>
          <p:spPr>
            <a:xfrm>
              <a:off x="2360" y="398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15"/>
            <p:cNvSpPr txBox="1"/>
            <p:nvPr/>
          </p:nvSpPr>
          <p:spPr>
            <a:xfrm>
              <a:off x="2036" y="398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15"/>
            <p:cNvSpPr txBox="1"/>
            <p:nvPr/>
          </p:nvSpPr>
          <p:spPr>
            <a:xfrm>
              <a:off x="1697" y="398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15"/>
            <p:cNvSpPr txBox="1"/>
            <p:nvPr/>
          </p:nvSpPr>
          <p:spPr>
            <a:xfrm>
              <a:off x="1397" y="398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15"/>
            <p:cNvSpPr txBox="1"/>
            <p:nvPr/>
          </p:nvSpPr>
          <p:spPr>
            <a:xfrm>
              <a:off x="1058" y="398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15"/>
            <p:cNvSpPr txBox="1"/>
            <p:nvPr/>
          </p:nvSpPr>
          <p:spPr>
            <a:xfrm>
              <a:off x="725" y="398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15"/>
            <p:cNvSpPr txBox="1"/>
            <p:nvPr/>
          </p:nvSpPr>
          <p:spPr>
            <a:xfrm>
              <a:off x="409" y="398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15"/>
            <p:cNvSpPr txBox="1"/>
            <p:nvPr/>
          </p:nvSpPr>
          <p:spPr>
            <a:xfrm>
              <a:off x="2991" y="398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15"/>
            <p:cNvSpPr txBox="1"/>
            <p:nvPr/>
          </p:nvSpPr>
          <p:spPr>
            <a:xfrm>
              <a:off x="3621" y="398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67" name="Google Shape;667;p15"/>
            <p:cNvCxnSpPr/>
            <p:nvPr/>
          </p:nvCxnSpPr>
          <p:spPr>
            <a:xfrm flipH="1" rot="10800000">
              <a:off x="881" y="1792"/>
              <a:ext cx="2568" cy="1285"/>
            </a:xfrm>
            <a:prstGeom prst="straightConnector1">
              <a:avLst/>
            </a:prstGeom>
            <a:noFill/>
            <a:ln cap="flat" cmpd="sng" w="50800">
              <a:solidFill>
                <a:srgbClr val="FF66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668" name="Google Shape;668;p15"/>
          <p:cNvSpPr txBox="1"/>
          <p:nvPr/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15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15"/>
          <p:cNvSpPr txBox="1"/>
          <p:nvPr>
            <p:ph type="title"/>
          </p:nvPr>
        </p:nvSpPr>
        <p:spPr>
          <a:xfrm>
            <a:off x="175500" y="151200"/>
            <a:ext cx="81135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t/>
            </a:r>
            <a:endParaRPr sz="3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400">
                <a:latin typeface="Calibri"/>
                <a:ea typeface="Calibri"/>
                <a:cs typeface="Calibri"/>
                <a:sym typeface="Calibri"/>
              </a:rPr>
              <a:t>Example</a:t>
            </a:r>
            <a:endParaRPr sz="26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 sz="3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1" name="Google Shape;67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50200" y="151200"/>
            <a:ext cx="13716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e92da07caf_0_36"/>
          <p:cNvSpPr txBox="1"/>
          <p:nvPr>
            <p:ph idx="1" type="body"/>
          </p:nvPr>
        </p:nvSpPr>
        <p:spPr>
          <a:xfrm>
            <a:off x="628650" y="1825625"/>
            <a:ext cx="78867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 through the steps of the Bresenham line drawing algorithm for a line going from (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4,8</a:t>
            </a: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to (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21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Calibri"/>
              <a:buChar char="●"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 through the steps of the Bresenham line drawing algorithm for a line going from (8,7) to (3,13)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g3e92da07caf_0_36"/>
          <p:cNvSpPr txBox="1"/>
          <p:nvPr/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g3e92da07caf_0_36"/>
          <p:cNvSpPr txBox="1"/>
          <p:nvPr/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g3e92da07caf_0_36"/>
          <p:cNvSpPr txBox="1"/>
          <p:nvPr>
            <p:ph type="title"/>
          </p:nvPr>
        </p:nvSpPr>
        <p:spPr>
          <a:xfrm>
            <a:off x="175500" y="151200"/>
            <a:ext cx="81135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t/>
            </a:r>
            <a:endParaRPr sz="3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400">
                <a:latin typeface="Calibri"/>
                <a:ea typeface="Calibri"/>
                <a:cs typeface="Calibri"/>
                <a:sym typeface="Calibri"/>
              </a:rPr>
              <a:t>Home work</a:t>
            </a:r>
            <a:endParaRPr sz="26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 sz="3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0" name="Google Shape;680;g3e92da07caf_0_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50200" y="151200"/>
            <a:ext cx="13716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16"/>
          <p:cNvSpPr txBox="1"/>
          <p:nvPr>
            <p:ph idx="1" type="body"/>
          </p:nvPr>
        </p:nvSpPr>
        <p:spPr>
          <a:xfrm>
            <a:off x="457200" y="1333500"/>
            <a:ext cx="8229600" cy="5305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Bresenham line algorithm has the following advantages: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1" marL="5143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fast incremental algorithm</a:t>
            </a:r>
            <a:endParaRPr/>
          </a:p>
          <a:p>
            <a:pPr indent="-171450" lvl="1" marL="5143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 only integer calculations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Comparing this to the DDA algorithm, DDA has the following problems:</a:t>
            </a:r>
            <a:endParaRPr/>
          </a:p>
          <a:p>
            <a:pPr indent="-171450" lvl="1" marL="5143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Accumulation of round-off errors can make the pixelated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 drift away from what was intended</a:t>
            </a:r>
            <a:endParaRPr/>
          </a:p>
          <a:p>
            <a:pPr indent="-171450" lvl="1" marL="5143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rounding operations and floating point arithmetic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involved are time consuming</a:t>
            </a:r>
            <a:endParaRPr/>
          </a:p>
          <a:p>
            <a:pPr indent="-19050" lvl="0" marL="171450" marR="0" rtl="0" algn="l">
              <a:lnSpc>
                <a:spcPct val="90000"/>
              </a:lnSpc>
              <a:spcBef>
                <a:spcPts val="750"/>
              </a:spcBef>
              <a:spcAft>
                <a:spcPts val="120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6"/>
          <p:cNvSpPr txBox="1"/>
          <p:nvPr/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16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16"/>
          <p:cNvSpPr txBox="1"/>
          <p:nvPr>
            <p:ph type="title"/>
          </p:nvPr>
        </p:nvSpPr>
        <p:spPr>
          <a:xfrm>
            <a:off x="175500" y="151200"/>
            <a:ext cx="81135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>
                <a:latin typeface="Calibri"/>
                <a:ea typeface="Calibri"/>
                <a:cs typeface="Calibri"/>
                <a:sym typeface="Calibri"/>
              </a:rPr>
              <a:t>          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>
                <a:latin typeface="Calibri"/>
                <a:ea typeface="Calibri"/>
                <a:cs typeface="Calibri"/>
                <a:sym typeface="Calibri"/>
              </a:rPr>
              <a:t>Bresenham Line Algorithm Summary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 sz="3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0" name="Google Shape;69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50200" y="151200"/>
            <a:ext cx="13716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" name="Google Shape;696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1637" y="1295400"/>
            <a:ext cx="5800725" cy="4351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97" name="Google Shape;69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46262" y="73789"/>
            <a:ext cx="13716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17"/>
          <p:cNvSpPr txBox="1"/>
          <p:nvPr/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17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2006-08-22T08:27:31Z</dcterms:created>
  <dc:creator>Brian Mac Namee</dc:creator>
</cp:coreProperties>
</file>