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gPujS8/3NJsp3Esb4silU3ebw1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A5DAAF8-02EE-4494-A572-D112003C916E}">
  <a:tblStyle styleId="{1A5DAAF8-02EE-4494-A572-D112003C916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B470396-AE3E-47DD-A08C-6839B9982EA2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35cc34e92_0_11:notes"/>
          <p:cNvSpPr/>
          <p:nvPr>
            <p:ph idx="2" type="sldImg"/>
          </p:nvPr>
        </p:nvSpPr>
        <p:spPr>
          <a:xfrm>
            <a:off x="2258784" y="685316"/>
            <a:ext cx="23406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86" name="Google Shape;86;g3e35cc34e92_0_11:notes"/>
          <p:cNvSpPr txBox="1"/>
          <p:nvPr>
            <p:ph idx="1" type="body"/>
          </p:nvPr>
        </p:nvSpPr>
        <p:spPr>
          <a:xfrm>
            <a:off x="686353" y="4342491"/>
            <a:ext cx="5486400" cy="4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e35cc34e92_0_11:notes"/>
          <p:cNvSpPr txBox="1"/>
          <p:nvPr/>
        </p:nvSpPr>
        <p:spPr>
          <a:xfrm>
            <a:off x="3884182" y="8684984"/>
            <a:ext cx="29730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35cc34e92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g3e35cc34e92_0_7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35cc34e92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g3e35cc34e92_0_9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14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 rot="5400000">
            <a:off x="2396332" y="57943"/>
            <a:ext cx="4351337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0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43" name="Google Shape;43;p2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49" name="Google Shape;49;p2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0" name="Google Shape;50;p2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3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65" name="Google Shape;65;p24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67" name="Google Shape;67;p24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5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35cc34e92_0_11"/>
          <p:cNvSpPr txBox="1"/>
          <p:nvPr>
            <p:ph type="ctrTitle"/>
          </p:nvPr>
        </p:nvSpPr>
        <p:spPr>
          <a:xfrm>
            <a:off x="623450" y="1145157"/>
            <a:ext cx="7819200" cy="1296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Calibri"/>
              <a:buNone/>
            </a:pPr>
            <a:r>
              <a:rPr b="1" lang="en-US" sz="3000">
                <a:latin typeface="Cambria"/>
                <a:ea typeface="Cambria"/>
                <a:cs typeface="Cambria"/>
                <a:sym typeface="Cambria"/>
              </a:rPr>
              <a:t>Lecture 3</a:t>
            </a:r>
            <a:endParaRPr b="1" sz="30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Calibri"/>
              <a:buNone/>
            </a:pPr>
            <a:r>
              <a:rPr b="1" lang="en-US" sz="2433">
                <a:latin typeface="Cambria"/>
                <a:ea typeface="Cambria"/>
                <a:cs typeface="Cambria"/>
                <a:sym typeface="Cambria"/>
              </a:rPr>
              <a:t>Digital Differential Analyzer (DDA)</a:t>
            </a:r>
            <a:br>
              <a:rPr b="1" lang="en-US" sz="2433">
                <a:latin typeface="Cambria"/>
                <a:ea typeface="Cambria"/>
                <a:cs typeface="Cambria"/>
                <a:sym typeface="Cambria"/>
              </a:rPr>
            </a:br>
            <a:r>
              <a:rPr b="1" lang="en-US" sz="2433">
                <a:latin typeface="Cambria"/>
                <a:ea typeface="Cambria"/>
                <a:cs typeface="Cambria"/>
                <a:sym typeface="Cambria"/>
              </a:rPr>
              <a:t>Line drawing Algorithm</a:t>
            </a:r>
            <a:endParaRPr sz="1833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descr="Diu Logo PNG Images - CleanPNG" id="90" name="Google Shape;90;g3e35cc34e92_0_11"/>
          <p:cNvSpPr txBox="1"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g3e35cc34e92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3800" y="381000"/>
            <a:ext cx="13716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3e35cc34e92_0_11"/>
          <p:cNvSpPr txBox="1"/>
          <p:nvPr/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g3e35cc34e92_0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4927" y="2645486"/>
            <a:ext cx="2749050" cy="19628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4" name="Google Shape;94;g3e35cc34e92_0_11"/>
          <p:cNvGraphicFramePr/>
          <p:nvPr/>
        </p:nvGraphicFramePr>
        <p:xfrm>
          <a:off x="1468112" y="48369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{1A5DAAF8-02EE-4494-A572-D112003C916E}</a:tableStyleId>
              </a:tblPr>
              <a:tblGrid>
                <a:gridCol w="3922050"/>
                <a:gridCol w="2801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Prepared by</a:t>
                      </a:r>
                      <a:endParaRPr b="1" sz="1700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Tapasy Rabeya</a:t>
                      </a:r>
                      <a:endParaRPr sz="1700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Senior Lecturer</a:t>
                      </a:r>
                      <a:endParaRPr sz="1700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75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CSE, DIU</a:t>
                      </a:r>
                      <a:endParaRPr sz="1700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Course Teacher</a:t>
                      </a:r>
                      <a:endParaRPr b="1" sz="1700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Nushrat Jahan Oyshi</a:t>
                      </a:r>
                      <a:br>
                        <a:rPr lang="en-US" sz="17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</a:br>
                      <a:r>
                        <a:rPr lang="en-US" sz="17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Lecturer</a:t>
                      </a:r>
                      <a:endParaRPr sz="1700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CSE, DIU</a:t>
                      </a:r>
                      <a:endParaRPr sz="1700">
                        <a:solidFill>
                          <a:srgbClr val="00000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>
            <p:ph idx="1" type="body"/>
          </p:nvPr>
        </p:nvSpPr>
        <p:spPr>
          <a:xfrm>
            <a:off x="533400" y="1361887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The </a:t>
            </a:r>
            <a:r>
              <a:rPr lang="en-US" sz="1900"/>
              <a:t>line drawing algorithm is a graphical algorithm which is used to represent the line segment on discrete graphical media, i.e., pixel based media.</a:t>
            </a:r>
            <a:endParaRPr b="0" i="0" sz="19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628650" y="346225"/>
            <a:ext cx="7620000" cy="884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</a:t>
            </a:r>
            <a:r>
              <a:rPr b="1"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Drawing Algorithm</a:t>
            </a:r>
            <a:endParaRPr b="1" i="0" sz="2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03" name="Google Shape;10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14726" y="482200"/>
            <a:ext cx="1224300" cy="61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 title="Screenshot 2026-05-20 at 2.32.35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4704" y="2125522"/>
            <a:ext cx="7198654" cy="420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35cc34e92_0_73"/>
          <p:cNvSpPr txBox="1"/>
          <p:nvPr>
            <p:ph idx="1" type="body"/>
          </p:nvPr>
        </p:nvSpPr>
        <p:spPr>
          <a:xfrm>
            <a:off x="533400" y="1467678"/>
            <a:ext cx="8229600" cy="13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The Cartesian </a:t>
            </a:r>
            <a:r>
              <a:rPr lang="en-US" sz="1900"/>
              <a:t>slope 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intercept equation for a straight line is</a:t>
            </a:r>
            <a:r>
              <a:rPr lang="en-US"/>
              <a:t>, 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y= mx+</a:t>
            </a:r>
            <a:r>
              <a:rPr lang="en-US" sz="1900"/>
              <a:t>c </a:t>
            </a:r>
            <a:r>
              <a:rPr lang="en-US" sz="1900"/>
              <a:t>-------- (1)</a:t>
            </a:r>
            <a:b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m</a:t>
            </a:r>
            <a:r>
              <a:rPr lang="en-US" sz="1900"/>
              <a:t> denotes the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900" u="none" cap="none" strike="noStrike">
                <a:solidFill>
                  <a:schemeClr val="dk1"/>
                </a:solidFill>
              </a:rPr>
              <a:t>slope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900"/>
              <a:t>c denotes the</a:t>
            </a: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b="1" i="0" lang="en-US" sz="1900" u="none" cap="none" strike="noStrike">
                <a:solidFill>
                  <a:schemeClr val="dk1"/>
                </a:solidFill>
              </a:rPr>
              <a:t>intercept</a:t>
            </a:r>
            <a:r>
              <a:rPr i="0" lang="en-US" sz="1900" u="none" cap="none" strike="noStrike">
                <a:solidFill>
                  <a:schemeClr val="dk1"/>
                </a:solidFill>
              </a:rPr>
              <a:t>.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b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2 end points of a line segment are specified at a position (x1,y1) and (x2,y2).</a:t>
            </a:r>
            <a:endParaRPr b="0" i="0" sz="19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://knol.google.com/k/-/-/1lfp8o9xxpx13/ajbg7m/line.bmp" id="110" name="Google Shape;110;g3e35cc34e92_0_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2932872"/>
            <a:ext cx="5181600" cy="346868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e35cc34e92_0_73"/>
          <p:cNvSpPr txBox="1"/>
          <p:nvPr/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e35cc34e92_0_73"/>
          <p:cNvSpPr txBox="1"/>
          <p:nvPr/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e35cc34e92_0_73"/>
          <p:cNvSpPr txBox="1"/>
          <p:nvPr/>
        </p:nvSpPr>
        <p:spPr>
          <a:xfrm>
            <a:off x="628650" y="346225"/>
            <a:ext cx="7620000" cy="884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Equation</a:t>
            </a:r>
            <a:endParaRPr b="1" i="0" sz="26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14" name="Google Shape;114;g3e35cc34e92_0_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02302" y="482200"/>
            <a:ext cx="1224300" cy="61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digital differential analyzer (DDA) is a scan conversion line algorithm based on calculation either Dy or Dx.</a:t>
            </a:r>
            <a:endParaRPr/>
          </a:p>
          <a:p>
            <a:pPr indent="-171450" lvl="0" marL="171450" marR="0" rtl="0" algn="just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line at unit intervals is one coordinate and determine corresponding integer values </a:t>
            </a:r>
            <a:r>
              <a:rPr lang="en-US"/>
              <a:t>from the </a:t>
            </a: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nearest line for the other coordinate.</a:t>
            </a:r>
            <a:endParaRPr/>
          </a:p>
          <a:p>
            <a:pPr indent="-171450" lvl="0" marL="171450" marR="0" rtl="0" algn="just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first a line with positive slope.</a:t>
            </a:r>
            <a:endParaRPr/>
          </a:p>
          <a:p>
            <a:pPr indent="-3810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628650" y="346225"/>
            <a:ext cx="7620000" cy="884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DDA Algorithm</a:t>
            </a:r>
            <a:endParaRPr b="1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7150" y="482200"/>
            <a:ext cx="1224300" cy="61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35cc34e92_0_92"/>
          <p:cNvSpPr txBox="1"/>
          <p:nvPr>
            <p:ph idx="1" type="body"/>
          </p:nvPr>
        </p:nvSpPr>
        <p:spPr>
          <a:xfrm>
            <a:off x="628650" y="1559450"/>
            <a:ext cx="7886700" cy="46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Steps:</a:t>
            </a:r>
            <a:endParaRPr sz="2400"/>
          </a:p>
          <a:p>
            <a:pPr indent="-3619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400"/>
              <a:t>Calculate the slope, m from </a:t>
            </a:r>
            <a:r>
              <a:rPr lang="en-US" sz="2400"/>
              <a:t>(x</a:t>
            </a:r>
            <a:r>
              <a:rPr baseline="-25000" lang="en-US" sz="2400"/>
              <a:t>1</a:t>
            </a:r>
            <a:r>
              <a:rPr lang="en-US" sz="2400"/>
              <a:t>,y</a:t>
            </a:r>
            <a:r>
              <a:rPr baseline="-25000" lang="en-US" sz="2400"/>
              <a:t>1</a:t>
            </a:r>
            <a:r>
              <a:rPr lang="en-US" sz="2400"/>
              <a:t>)</a:t>
            </a:r>
            <a:r>
              <a:rPr baseline="-25000" lang="en-US" sz="2400"/>
              <a:t> </a:t>
            </a:r>
            <a:r>
              <a:rPr lang="en-US" sz="2400"/>
              <a:t>and (x</a:t>
            </a:r>
            <a:r>
              <a:rPr baseline="-25000" lang="en-US" sz="2400"/>
              <a:t>2</a:t>
            </a:r>
            <a:r>
              <a:rPr lang="en-US" sz="2400"/>
              <a:t>,y</a:t>
            </a:r>
            <a:r>
              <a:rPr baseline="-25000" lang="en-US" sz="2400"/>
              <a:t>2</a:t>
            </a:r>
            <a:r>
              <a:rPr lang="en-US" sz="2400"/>
              <a:t>)  </a:t>
            </a:r>
            <a:endParaRPr sz="2400"/>
          </a:p>
          <a:p>
            <a:pPr indent="-36195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 sz="2400"/>
              <a:t>Identify the </a:t>
            </a:r>
            <a:r>
              <a:rPr b="1" lang="en-US" sz="2400"/>
              <a:t>case</a:t>
            </a:r>
            <a:endParaRPr b="1" sz="2400"/>
          </a:p>
          <a:p>
            <a:pPr indent="-3810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Calculate </a:t>
            </a:r>
            <a:r>
              <a:rPr lang="en-US" sz="2400"/>
              <a:t>y</a:t>
            </a:r>
            <a:r>
              <a:rPr baseline="-25000" lang="en-US" sz="2400"/>
              <a:t>k+1</a:t>
            </a:r>
            <a:r>
              <a:rPr lang="en-US" sz="2400"/>
              <a:t> and</a:t>
            </a:r>
            <a:r>
              <a:rPr lang="en-US" sz="2400"/>
              <a:t> x</a:t>
            </a:r>
            <a:r>
              <a:rPr baseline="-25000" lang="en-US" sz="2400"/>
              <a:t>k+1</a:t>
            </a:r>
            <a:r>
              <a:rPr lang="en-US" sz="2400"/>
              <a:t> according to the identified </a:t>
            </a:r>
            <a:r>
              <a:rPr b="1" lang="en-US" sz="2400"/>
              <a:t>case</a:t>
            </a:r>
            <a:endParaRPr b="1" sz="2400"/>
          </a:p>
          <a:p>
            <a:pPr indent="-381000" lvl="0" marL="4572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Generate the iteration table from (x</a:t>
            </a:r>
            <a:r>
              <a:rPr baseline="-25000" lang="en-US" sz="2400"/>
              <a:t>1</a:t>
            </a:r>
            <a:r>
              <a:rPr lang="en-US" sz="2400"/>
              <a:t>,y</a:t>
            </a:r>
            <a:r>
              <a:rPr baseline="-25000" lang="en-US" sz="2400"/>
              <a:t>1</a:t>
            </a:r>
            <a:r>
              <a:rPr lang="en-US" sz="2400"/>
              <a:t>)</a:t>
            </a:r>
            <a:r>
              <a:rPr baseline="-25000" lang="en-US" sz="2400"/>
              <a:t> </a:t>
            </a:r>
            <a:r>
              <a:rPr lang="en-US" sz="2400"/>
              <a:t>until you reach (x</a:t>
            </a:r>
            <a:r>
              <a:rPr baseline="-25000" lang="en-US" sz="2400"/>
              <a:t>2</a:t>
            </a:r>
            <a:r>
              <a:rPr lang="en-US" sz="2400"/>
              <a:t>,y</a:t>
            </a:r>
            <a:r>
              <a:rPr baseline="-25000" lang="en-US" sz="2400"/>
              <a:t>2</a:t>
            </a:r>
            <a:r>
              <a:rPr lang="en-US" sz="2400"/>
              <a:t>) using the formula for y</a:t>
            </a:r>
            <a:r>
              <a:rPr baseline="-25000" lang="en-US" sz="2400"/>
              <a:t>k+1</a:t>
            </a:r>
            <a:r>
              <a:rPr lang="en-US" sz="2400"/>
              <a:t> and x</a:t>
            </a:r>
            <a:r>
              <a:rPr baseline="-25000" lang="en-US" sz="2400"/>
              <a:t>k+1</a:t>
            </a:r>
            <a:r>
              <a:rPr lang="en-US" sz="2400"/>
              <a:t> </a:t>
            </a:r>
            <a:endParaRPr sz="2400"/>
          </a:p>
        </p:txBody>
      </p:sp>
      <p:sp>
        <p:nvSpPr>
          <p:cNvPr id="129" name="Google Shape;129;g3e35cc34e92_0_92"/>
          <p:cNvSpPr txBox="1"/>
          <p:nvPr/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e35cc34e92_0_92"/>
          <p:cNvSpPr txBox="1"/>
          <p:nvPr/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e35cc34e92_0_92"/>
          <p:cNvSpPr txBox="1"/>
          <p:nvPr/>
        </p:nvSpPr>
        <p:spPr>
          <a:xfrm>
            <a:off x="628650" y="346225"/>
            <a:ext cx="7620000" cy="884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DDA Algorithm</a:t>
            </a:r>
            <a:endParaRPr b="1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g3e35cc34e92_0_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7150" y="482200"/>
            <a:ext cx="1224300" cy="61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Case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1</a:t>
            </a:r>
            <a:endParaRPr b="1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just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 the slope is less than or equal to 1 or |</a:t>
            </a:r>
            <a:r>
              <a:rPr lang="en-US" sz="2400"/>
              <a:t>D</a:t>
            </a:r>
            <a:r>
              <a:rPr baseline="-25000" lang="en-US" sz="2400"/>
              <a:t>x</a:t>
            </a:r>
            <a:r>
              <a:rPr lang="en-US" sz="2400"/>
              <a:t>|&gt;=|D</a:t>
            </a:r>
            <a:r>
              <a:rPr baseline="-25000" lang="en-US" sz="2400"/>
              <a:t>y</a:t>
            </a:r>
            <a:r>
              <a:rPr lang="en-US" sz="2400"/>
              <a:t>|</a:t>
            </a:r>
            <a:endParaRPr baseline="-25000" sz="2400"/>
          </a:p>
          <a:p>
            <a:pPr indent="-171450" lvl="0" marL="171450" marR="0" rtl="0" algn="just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aseline="-25000" lang="en-US" sz="2400"/>
              <a:t>  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</a:t>
            </a:r>
            <a:r>
              <a:rPr lang="en-US" sz="2400"/>
              <a:t>assign 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1</a:t>
            </a:r>
            <a:r>
              <a:rPr lang="en-US" sz="2400"/>
              <a:t>. Using D</a:t>
            </a:r>
            <a:r>
              <a:rPr baseline="-25000" lang="en-US" sz="2400"/>
              <a:t>x 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each successive y values.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  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1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m = D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 D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b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 = ( y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y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) / 1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m = (y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k+1 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y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)/ 1 </a:t>
            </a:r>
            <a:b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k+1 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y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 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 m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  <a:p>
            <a:pPr indent="-3810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                                                                                  </a:t>
            </a:r>
            <a:endParaRPr/>
          </a:p>
          <a:p>
            <a:pPr indent="-3810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628650" y="346225"/>
            <a:ext cx="7620000" cy="884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DDA Algorithm cont..</a:t>
            </a:r>
            <a:endParaRPr b="1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7150" y="482200"/>
            <a:ext cx="1224300" cy="61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Case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2</a:t>
            </a:r>
            <a:endParaRPr b="1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 the slope is greater than 1</a:t>
            </a:r>
            <a:r>
              <a:rPr lang="en-US" sz="2400"/>
              <a:t> or </a:t>
            </a:r>
            <a:r>
              <a:rPr lang="en-US" sz="2400"/>
              <a:t>or |D</a:t>
            </a:r>
            <a:r>
              <a:rPr baseline="-25000" lang="en-US" sz="2400"/>
              <a:t>x</a:t>
            </a:r>
            <a:r>
              <a:rPr lang="en-US" sz="2400"/>
              <a:t>|&lt;|D</a:t>
            </a:r>
            <a:r>
              <a:rPr baseline="-25000" lang="en-US" sz="2400"/>
              <a:t>y</a:t>
            </a:r>
            <a:r>
              <a:rPr lang="en-US" sz="2400"/>
              <a:t>|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the</a:t>
            </a:r>
            <a:r>
              <a:rPr lang="en-US" sz="2400"/>
              <a:t>n assign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1  and </a:t>
            </a:r>
            <a:r>
              <a:rPr lang="en-US" sz="2400"/>
              <a:t>u</a:t>
            </a:r>
            <a:r>
              <a:rPr lang="en-US" sz="2400"/>
              <a:t>sing D</a:t>
            </a:r>
            <a:r>
              <a:rPr baseline="-25000" lang="en-US" sz="2400"/>
              <a:t>y 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each successive x values.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1</a:t>
            </a:r>
            <a:b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 = D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 D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</a:t>
            </a:r>
            <a:b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 = 1 / (x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x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)</a:t>
            </a:r>
            <a:b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 = 1 / (x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k+1 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x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k+1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x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(1/m)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                                                                    </a:t>
            </a:r>
            <a:endParaRPr/>
          </a:p>
          <a:p>
            <a:pPr indent="-3810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1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628650" y="346225"/>
            <a:ext cx="7620000" cy="884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DDA Algorithm cont..</a:t>
            </a:r>
            <a:endParaRPr b="1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7150" y="482200"/>
            <a:ext cx="1224300" cy="61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Case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3</a:t>
            </a:r>
            <a:endParaRPr b="1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If the processing is reversed for Case 1, the starting point at the right    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-1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m = D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 D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b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 = ( y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y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) / -1</a:t>
            </a:r>
            <a:b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k+1 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y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 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br>
              <a:rPr b="0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156" name="Google Shape;156;p6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 txBox="1"/>
          <p:nvPr/>
        </p:nvSpPr>
        <p:spPr>
          <a:xfrm>
            <a:off x="628650" y="346225"/>
            <a:ext cx="7620000" cy="884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DDA Algorithm cont..</a:t>
            </a:r>
            <a:endParaRPr b="1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7150" y="482200"/>
            <a:ext cx="1224300" cy="61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 txBox="1"/>
          <p:nvPr>
            <p:ph idx="1" type="body"/>
          </p:nvPr>
        </p:nvSpPr>
        <p:spPr>
          <a:xfrm>
            <a:off x="628650" y="1825625"/>
            <a:ext cx="78867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Case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4</a:t>
            </a:r>
            <a:endParaRPr b="0" i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If the processing is reversed for Case 2, the starting point at the right</a:t>
            </a:r>
            <a:endParaRPr sz="2800"/>
          </a:p>
          <a:p>
            <a:pPr indent="-171450" lvl="0" marL="17145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Here,  D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-1</a:t>
            </a:r>
            <a:b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m= D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/ D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</a:t>
            </a:r>
            <a:b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 = -1 / (x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x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)</a:t>
            </a:r>
            <a:b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 = -1 / (x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k+1 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x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x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k+1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x</a:t>
            </a:r>
            <a:r>
              <a:rPr b="0" baseline="-2500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(1/m)</a:t>
            </a:r>
            <a:b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165" name="Google Shape;165;p7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628650" y="346225"/>
            <a:ext cx="7620000" cy="884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 DDA Algorithm cont..</a:t>
            </a:r>
            <a:endParaRPr b="1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7150" y="482200"/>
            <a:ext cx="1224300" cy="61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"/>
          <p:cNvSpPr txBox="1"/>
          <p:nvPr>
            <p:ph idx="1" type="body"/>
          </p:nvPr>
        </p:nvSpPr>
        <p:spPr>
          <a:xfrm>
            <a:off x="628650" y="1617750"/>
            <a:ext cx="76200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Draw a line using </a:t>
            </a:r>
            <a:r>
              <a:rPr b="1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DDA algorithm</a:t>
            </a: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between points (5,4)</a:t>
            </a:r>
            <a:r>
              <a:rPr lang="en-US" sz="1800"/>
              <a:t> </a:t>
            </a: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-US" sz="1800"/>
              <a:t> </a:t>
            </a: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(12,7)</a:t>
            </a:r>
            <a:endParaRPr sz="1800"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800"/>
              <a:t>Step 1: </a:t>
            </a: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</a:t>
            </a:r>
            <a:r>
              <a:rPr lang="en-US" sz="1800"/>
              <a:t>e</a:t>
            </a: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Δx and Δy,</a:t>
            </a:r>
            <a:endParaRPr sz="1800"/>
          </a:p>
          <a:p>
            <a:pPr indent="0" lvl="0" marL="4572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Δx = 12 − 5 = 7</a:t>
            </a:r>
            <a:endParaRPr sz="1800"/>
          </a:p>
          <a:p>
            <a:pPr indent="0" lvl="0" marL="4572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Δy = 7 − 4 = 3</a:t>
            </a:r>
            <a:endParaRPr sz="1800"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800"/>
              <a:t>Step 2: Calculate the n</a:t>
            </a: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umber of </a:t>
            </a:r>
            <a:r>
              <a:rPr lang="en-US" sz="1800"/>
              <a:t>s</a:t>
            </a: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teps,</a:t>
            </a:r>
            <a:endParaRPr sz="1800"/>
          </a:p>
          <a:p>
            <a:pPr indent="0" lvl="0" marL="4572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Steps = max(|Δx|, |Δy|)</a:t>
            </a:r>
            <a:endParaRPr sz="1800"/>
          </a:p>
          <a:p>
            <a:pPr indent="0" lvl="0" marL="4572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Steps = max(7,3) = 7</a:t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1800"/>
              <a:t>Step 3: </a:t>
            </a:r>
            <a:r>
              <a:rPr lang="en-US" sz="1800"/>
              <a:t>Calculate the x_inc and y_inc values,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x_inc = Δx / Steps = 1</a:t>
            </a:r>
            <a:endParaRPr sz="1800"/>
          </a:p>
          <a:p>
            <a:pPr indent="0" lvl="0" marL="45720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y_inc = Δy / Steps = 3/7 ≈ 0.43</a:t>
            </a:r>
            <a:endParaRPr sz="1800"/>
          </a:p>
          <a:p>
            <a:pPr indent="-1905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8"/>
          <p:cNvSpPr txBox="1"/>
          <p:nvPr/>
        </p:nvSpPr>
        <p:spPr>
          <a:xfrm>
            <a:off x="628650" y="346225"/>
            <a:ext cx="7620000" cy="884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1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7150" y="482200"/>
            <a:ext cx="1224300" cy="61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0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4" name="Google Shape;184;p10"/>
          <p:cNvGraphicFramePr/>
          <p:nvPr/>
        </p:nvGraphicFramePr>
        <p:xfrm>
          <a:off x="600489" y="1806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{6B470396-AE3E-47DD-A08C-6839B9982EA2}</a:tableStyleId>
              </a:tblPr>
              <a:tblGrid>
                <a:gridCol w="1971675"/>
                <a:gridCol w="1673500"/>
                <a:gridCol w="1536825"/>
                <a:gridCol w="27047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Step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Rounded Pixel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5.00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4.00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(5,4)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6.00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4.43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(6,4)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7.00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4.86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(7,5)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8.00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5.29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(8,5)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9.00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5.72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(9,6)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10.00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6.15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(10,6)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11.00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6.58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(11,7)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12.00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7.00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(12,7)</a:t>
                      </a:r>
                      <a:endParaRPr sz="12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5" name="Google Shape;185;p10"/>
          <p:cNvSpPr txBox="1"/>
          <p:nvPr/>
        </p:nvSpPr>
        <p:spPr>
          <a:xfrm>
            <a:off x="628650" y="346225"/>
            <a:ext cx="7620000" cy="884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Iteration</a:t>
            </a:r>
            <a:r>
              <a:rPr b="1"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Table using Round-off Function</a:t>
            </a:r>
            <a:endParaRPr b="1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7150" y="482200"/>
            <a:ext cx="1224300" cy="61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1489075"/>
            <a:ext cx="5316537" cy="53244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1"/>
          <p:cNvSpPr txBox="1"/>
          <p:nvPr/>
        </p:nvSpPr>
        <p:spPr>
          <a:xfrm>
            <a:off x="3333750" y="6483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1"/>
          <p:cNvSpPr txBox="1"/>
          <p:nvPr/>
        </p:nvSpPr>
        <p:spPr>
          <a:xfrm>
            <a:off x="6762750" y="6483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1"/>
          <p:cNvSpPr txBox="1"/>
          <p:nvPr/>
        </p:nvSpPr>
        <p:spPr>
          <a:xfrm>
            <a:off x="628650" y="346225"/>
            <a:ext cx="7620000" cy="884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1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150" y="482200"/>
            <a:ext cx="1224300" cy="61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"/>
          <p:cNvSpPr txBox="1"/>
          <p:nvPr>
            <p:ph idx="1" type="body"/>
          </p:nvPr>
        </p:nvSpPr>
        <p:spPr>
          <a:xfrm>
            <a:off x="628650" y="1747693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and Easy to Understand</a:t>
            </a:r>
            <a:endParaRPr b="0" i="0" sz="21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is straightforward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Easy to implement and explain in exams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Faster Than Naive Line Drawing</a:t>
            </a:r>
            <a:endParaRPr b="0" i="0" sz="21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efficient than directly evaluating the line equation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Works for All Slopes</a:t>
            </a:r>
            <a:endParaRPr b="0" i="0" sz="21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draw lines with any slope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Handles horizontal, vertical, and diagonal lines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Uniform Pixel Generation</a:t>
            </a:r>
            <a:endParaRPr b="0" i="0" sz="21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Generates pixels at equal intervals</a:t>
            </a:r>
            <a:endParaRPr/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Produces reasonably smooth lines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Good for Software Implementation</a:t>
            </a:r>
            <a:endParaRPr b="0" i="0" sz="21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1" marL="51435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Suitable for learning and basic graphics programs</a:t>
            </a:r>
            <a:endParaRPr/>
          </a:p>
          <a:p>
            <a:pPr indent="-5715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2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2"/>
          <p:cNvSpPr txBox="1"/>
          <p:nvPr/>
        </p:nvSpPr>
        <p:spPr>
          <a:xfrm>
            <a:off x="628650" y="346225"/>
            <a:ext cx="7620000" cy="884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Advantage</a:t>
            </a:r>
            <a:endParaRPr b="1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7150" y="482200"/>
            <a:ext cx="1224300" cy="61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"/>
          <p:cNvSpPr txBox="1"/>
          <p:nvPr>
            <p:ph idx="1" type="body"/>
          </p:nvPr>
        </p:nvSpPr>
        <p:spPr>
          <a:xfrm>
            <a:off x="628650" y="1765011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Floating-Point Arithmetic</a:t>
            </a:r>
            <a:endParaRPr b="0" i="0" sz="21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1" marL="51435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Requires real (fractional) calculations</a:t>
            </a:r>
            <a:endParaRPr/>
          </a:p>
          <a:p>
            <a:pPr indent="-171450" lvl="1" marL="51435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Slower compared to integer-based algorithms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Rounding Errors Accumulate</a:t>
            </a:r>
            <a:endParaRPr b="0" i="0" sz="21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1" marL="51435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Repeated rounding of coordinates can cause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slight deviation from the ideal line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Lower Efficiency</a:t>
            </a:r>
            <a:endParaRPr b="0" i="0" sz="21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1" marL="51435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computation per pixel</a:t>
            </a:r>
            <a:endParaRPr/>
          </a:p>
          <a:p>
            <a:pPr indent="-171450" lvl="1" marL="51435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suitable for high-performance graphics systems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 Accurate Than Bresenham’s Algorithm</a:t>
            </a:r>
            <a:endParaRPr b="0" i="0" sz="21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1" marL="51435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Bresenham uses integer arithmetic</a:t>
            </a:r>
            <a:endParaRPr/>
          </a:p>
          <a:p>
            <a:pPr indent="-171450" lvl="1" marL="51435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Produces more precise pixel placement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1" i="0" lang="en-US" sz="21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Hardware Friendly</a:t>
            </a:r>
            <a:endParaRPr b="0" i="0" sz="21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1" marL="51435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Floating-point operations are expensive in hardware implementation</a:t>
            </a:r>
            <a:endParaRPr/>
          </a:p>
          <a:p>
            <a:pPr indent="-57150" lvl="0" marL="17145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3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3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3"/>
          <p:cNvSpPr txBox="1"/>
          <p:nvPr/>
        </p:nvSpPr>
        <p:spPr>
          <a:xfrm>
            <a:off x="628650" y="346225"/>
            <a:ext cx="7620000" cy="8841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Disadvantage</a:t>
            </a:r>
            <a:endParaRPr b="1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7150" y="482200"/>
            <a:ext cx="1224300" cy="61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 txBox="1"/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0" i="0" lang="en-US" sz="33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220" name="Google Shape;220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1637" y="1295400"/>
            <a:ext cx="5800725" cy="4351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77200" y="22225"/>
            <a:ext cx="13716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4"/>
          <p:cNvSpPr txBox="1"/>
          <p:nvPr/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Department of CSE, Daffodil International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4"/>
          <p:cNvSpPr txBox="1"/>
          <p:nvPr/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Tapasy Rabeya</dc:creator>
</cp:coreProperties>
</file>