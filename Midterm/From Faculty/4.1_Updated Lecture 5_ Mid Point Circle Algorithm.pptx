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image/gif" Extension="gif"/>
  <Default ContentType="application/vnd.openxmlformats-officedocument.oleObject" Extension="bin"/>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oleObject" PartName="/ppt/embeddings/oleObject3.bin"/>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6858000" cx="9144000"/>
  <p:notesSz cx="9296400" cy="7010400"/>
  <p:embeddedFontLst>
    <p:embeddedFont>
      <p:font typeface="Noto Sans Symbols"/>
      <p:regular r:id="rId36"/>
      <p:bold r:id="rId37"/>
    </p:embeddedFont>
    <p:embeddedFont>
      <p:font typeface="Century Gothic"/>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2" roundtripDataSignature="AMtx7mj6JuNJnWzvLlrc41zcC1NwAy1lG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80FA592-5146-4103-BE9B-DB1DB1EFDCB5}">
  <a:tblStyle styleId="{780FA592-5146-4103-BE9B-DB1DB1EFDCB5}"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9FFF64B3-177B-4AA5-BD0D-BB17B5897C80}" styleName="Table_1">
    <a:wholeTbl>
      <a:tcTxStyle b="off" i="off">
        <a:font>
          <a:latin typeface="Calibri"/>
          <a:ea typeface="Calibri"/>
          <a:cs typeface="Calibri"/>
        </a:font>
        <a:schemeClr val="dk1"/>
      </a:tcTxStyle>
      <a:tcStyle>
        <a:tcBdr>
          <a:left>
            <a:ln cap="flat" cmpd="sng" w="12700">
              <a:solidFill>
                <a:schemeClr val="accent5"/>
              </a:solidFill>
              <a:prstDash val="solid"/>
              <a:round/>
              <a:headEnd len="sm" w="sm" type="none"/>
              <a:tailEnd len="sm" w="sm" type="none"/>
            </a:ln>
          </a:left>
          <a:right>
            <a:ln cap="flat" cmpd="sng" w="12700">
              <a:solidFill>
                <a:schemeClr val="accent5"/>
              </a:solidFill>
              <a:prstDash val="solid"/>
              <a:round/>
              <a:headEnd len="sm" w="sm" type="none"/>
              <a:tailEnd len="sm" w="sm" type="none"/>
            </a:ln>
          </a:right>
          <a:top>
            <a:ln cap="flat" cmpd="sng" w="12700">
              <a:solidFill>
                <a:schemeClr val="accent5"/>
              </a:solidFill>
              <a:prstDash val="solid"/>
              <a:round/>
              <a:headEnd len="sm" w="sm" type="none"/>
              <a:tailEnd len="sm" w="sm" type="none"/>
            </a:ln>
          </a:top>
          <a:bottom>
            <a:ln cap="flat" cmpd="sng" w="12700">
              <a:solidFill>
                <a:schemeClr val="accent5"/>
              </a:solidFill>
              <a:prstDash val="solid"/>
              <a:round/>
              <a:headEnd len="sm" w="sm" type="none"/>
              <a:tailEnd len="sm" w="sm" type="none"/>
            </a:ln>
          </a:bottom>
          <a:insideH>
            <a:ln cap="flat" cmpd="sng" w="12700">
              <a:solidFill>
                <a:schemeClr val="accent5"/>
              </a:solidFill>
              <a:prstDash val="solid"/>
              <a:round/>
              <a:headEnd len="sm" w="sm" type="none"/>
              <a:tailEnd len="sm" w="sm" type="none"/>
            </a:ln>
          </a:insideH>
          <a:insideV>
            <a:ln cap="flat" cmpd="sng" w="12700">
              <a:solidFill>
                <a:schemeClr val="accent5"/>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lastCol>
    <a:firstCol>
      <a:tcTxStyle b="on" i="off"/>
    </a:firstCol>
    <a:lastRow>
      <a:tcTxStyle b="on" i="off"/>
      <a:tcStyle>
        <a:tcBdr>
          <a:top>
            <a:ln cap="flat" cmpd="sng" w="25400">
              <a:solidFill>
                <a:schemeClr val="accent5"/>
              </a:solidFill>
              <a:prstDash val="solid"/>
              <a:round/>
              <a:headEnd len="sm" w="sm" type="none"/>
              <a:tailEnd len="sm" w="sm" type="none"/>
            </a:ln>
          </a:top>
        </a:tcBdr>
        <a:fill>
          <a:solidFill>
            <a:srgbClr val="E8EBF5"/>
          </a:solidFill>
        </a:fill>
      </a:tcStyle>
    </a:lastRow>
    <a:seCell>
      <a:tcTxStyle b="off" i="off"/>
    </a:seCell>
    <a:swCell>
      <a:tcTxStyle b="off" i="off"/>
    </a:swCell>
    <a:firstRow>
      <a:tcTxStyle b="on" i="off"/>
      <a:tcStyle>
        <a:fill>
          <a:solidFill>
            <a:srgbClr val="E8EBF5"/>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CenturyGothic-italic.fntdata"/><Relationship Id="rId20" Type="http://schemas.openxmlformats.org/officeDocument/2006/relationships/slide" Target="slides/slide14.xml"/><Relationship Id="rId42" Type="http://customschemas.google.com/relationships/presentationmetadata" Target="metadata"/><Relationship Id="rId41" Type="http://schemas.openxmlformats.org/officeDocument/2006/relationships/font" Target="fonts/CenturyGothic-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NotoSansSymbols-bold.fntdata"/><Relationship Id="rId14" Type="http://schemas.openxmlformats.org/officeDocument/2006/relationships/slide" Target="slides/slide8.xml"/><Relationship Id="rId36" Type="http://schemas.openxmlformats.org/officeDocument/2006/relationships/font" Target="fonts/NotoSansSymbols-regular.fntdata"/><Relationship Id="rId17" Type="http://schemas.openxmlformats.org/officeDocument/2006/relationships/slide" Target="slides/slide11.xml"/><Relationship Id="rId39" Type="http://schemas.openxmlformats.org/officeDocument/2006/relationships/font" Target="fonts/CenturyGothic-bold.fntdata"/><Relationship Id="rId16" Type="http://schemas.openxmlformats.org/officeDocument/2006/relationships/slide" Target="slides/slide10.xml"/><Relationship Id="rId38" Type="http://schemas.openxmlformats.org/officeDocument/2006/relationships/font" Target="fonts/CenturyGothic-regular.fntdata"/><Relationship Id="rId19" Type="http://schemas.openxmlformats.org/officeDocument/2006/relationships/slide" Target="slides/slide13.xml"/><Relationship Id="rId18" Type="http://schemas.openxmlformats.org/officeDocument/2006/relationships/slide" Target="slides/slide1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9.png"/><Relationship Id="rId3" Type="http://schemas.openxmlformats.org/officeDocument/2006/relationships/image" Target="../media/image1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029075" cy="350838"/>
          </a:xfrm>
          <a:prstGeom prst="rect">
            <a:avLst/>
          </a:prstGeom>
          <a:noFill/>
          <a:ln>
            <a:noFill/>
          </a:ln>
        </p:spPr>
        <p:txBody>
          <a:bodyPr anchorCtr="0" anchor="t" bIns="46575" lIns="93175" spcFirstLastPara="1" rIns="93175" wrap="square" tIns="46575">
            <a:noAutofit/>
          </a:bodyPr>
          <a:lstStyle>
            <a:lvl1pPr lvl="0" marR="0" rtl="0" algn="l">
              <a:lnSpc>
                <a:spcPct val="100000"/>
              </a:lnSpc>
              <a:spcBef>
                <a:spcPts val="0"/>
              </a:spcBef>
              <a:spcAft>
                <a:spcPts val="0"/>
              </a:spcAft>
              <a:buClr>
                <a:schemeClr val="lt1"/>
              </a:buClr>
              <a:buSzPts val="1200"/>
              <a:buFont typeface="Arial"/>
              <a:buNone/>
              <a:defRPr b="0" i="0" sz="12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9pPr>
          </a:lstStyle>
          <a:p/>
        </p:txBody>
      </p:sp>
      <p:sp>
        <p:nvSpPr>
          <p:cNvPr id="4" name="Google Shape;4;n"/>
          <p:cNvSpPr txBox="1"/>
          <p:nvPr>
            <p:ph idx="10" type="dt"/>
          </p:nvPr>
        </p:nvSpPr>
        <p:spPr>
          <a:xfrm>
            <a:off x="5265738" y="0"/>
            <a:ext cx="4029075" cy="350838"/>
          </a:xfrm>
          <a:prstGeom prst="rect">
            <a:avLst/>
          </a:prstGeom>
          <a:noFill/>
          <a:ln>
            <a:noFill/>
          </a:ln>
        </p:spPr>
        <p:txBody>
          <a:bodyPr anchorCtr="0" anchor="t" bIns="46575" lIns="93175" spcFirstLastPara="1" rIns="93175" wrap="square" tIns="46575">
            <a:noAutofit/>
          </a:bodyPr>
          <a:lstStyle>
            <a:lvl1pPr lvl="0" marR="0" rtl="0" algn="r">
              <a:lnSpc>
                <a:spcPct val="100000"/>
              </a:lnSpc>
              <a:spcBef>
                <a:spcPts val="0"/>
              </a:spcBef>
              <a:spcAft>
                <a:spcPts val="0"/>
              </a:spcAft>
              <a:buClr>
                <a:schemeClr val="lt1"/>
              </a:buClr>
              <a:buSzPts val="1200"/>
              <a:buFont typeface="Arial"/>
              <a:buNone/>
              <a:defRPr b="0" i="0" sz="12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9pPr>
          </a:lstStyle>
          <a:p/>
        </p:txBody>
      </p:sp>
      <p:sp>
        <p:nvSpPr>
          <p:cNvPr id="5" name="Google Shape;5;n"/>
          <p:cNvSpPr/>
          <p:nvPr>
            <p:ph idx="3"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30275" y="3330575"/>
            <a:ext cx="7435850" cy="3154363"/>
          </a:xfrm>
          <a:prstGeom prst="rect">
            <a:avLst/>
          </a:prstGeom>
          <a:noFill/>
          <a:ln>
            <a:noFill/>
          </a:ln>
        </p:spPr>
        <p:txBody>
          <a:bodyPr anchorCtr="0" anchor="t" bIns="46575" lIns="93175" spcFirstLastPara="1" rIns="93175" wrap="square" tIns="46575">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36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36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36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36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6657975"/>
            <a:ext cx="4029075" cy="350838"/>
          </a:xfrm>
          <a:prstGeom prst="rect">
            <a:avLst/>
          </a:prstGeom>
          <a:noFill/>
          <a:ln>
            <a:noFill/>
          </a:ln>
        </p:spPr>
        <p:txBody>
          <a:bodyPr anchorCtr="0" anchor="b" bIns="46575" lIns="93175" spcFirstLastPara="1" rIns="93175" wrap="square" tIns="46575">
            <a:noAutofit/>
          </a:bodyPr>
          <a:lstStyle>
            <a:lvl1pPr lvl="0" marR="0" rtl="0" algn="l">
              <a:lnSpc>
                <a:spcPct val="100000"/>
              </a:lnSpc>
              <a:spcBef>
                <a:spcPts val="0"/>
              </a:spcBef>
              <a:spcAft>
                <a:spcPts val="0"/>
              </a:spcAft>
              <a:buClr>
                <a:schemeClr val="lt1"/>
              </a:buClr>
              <a:buSzPts val="1200"/>
              <a:buFont typeface="Arial"/>
              <a:buNone/>
              <a:defRPr b="0" i="0" sz="12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9pPr>
          </a:lstStyle>
          <a:p/>
        </p:txBody>
      </p:sp>
      <p:sp>
        <p:nvSpPr>
          <p:cNvPr id="8" name="Google Shape;8;n"/>
          <p:cNvSpPr txBox="1"/>
          <p:nvPr>
            <p:ph idx="12" type="sldNum"/>
          </p:nvPr>
        </p:nvSpPr>
        <p:spPr>
          <a:xfrm>
            <a:off x="5265738" y="6657975"/>
            <a:ext cx="4029075" cy="350838"/>
          </a:xfrm>
          <a:prstGeom prst="rect">
            <a:avLst/>
          </a:prstGeom>
          <a:noFill/>
          <a:ln>
            <a:noFill/>
          </a:ln>
        </p:spPr>
        <p:txBody>
          <a:bodyPr anchorCtr="0" anchor="b" bIns="46575" lIns="93175" spcFirstLastPara="1" rIns="93175" wrap="square" tIns="46575">
            <a:noAutofit/>
          </a:bodyPr>
          <a:lstStyle/>
          <a:p>
            <a:pPr indent="0" lvl="0" marL="0" marR="0" rtl="0" algn="r">
              <a:lnSpc>
                <a:spcPct val="100000"/>
              </a:lnSpc>
              <a:spcBef>
                <a:spcPts val="0"/>
              </a:spcBef>
              <a:spcAft>
                <a:spcPts val="0"/>
              </a:spcAft>
              <a:buClr>
                <a:schemeClr val="lt1"/>
              </a:buClr>
              <a:buSzPts val="1200"/>
              <a:buFont typeface="Arial"/>
              <a:buNone/>
            </a:pPr>
            <a:fld id="{00000000-1234-1234-1234-123412341234}" type="slidenum">
              <a:rPr b="0" i="0" lang="en-US" sz="1200" u="none" cap="none" strike="noStrike">
                <a:solidFill>
                  <a:schemeClr val="lt1"/>
                </a:solidFill>
                <a:latin typeface="Arial"/>
                <a:ea typeface="Arial"/>
                <a:cs typeface="Arial"/>
                <a:sym typeface="Arial"/>
              </a:rPr>
              <a:t>‹#›</a:t>
            </a:fld>
            <a:endParaRPr b="0" i="0" sz="1200" u="none" cap="none" strike="noStrike">
              <a:solidFill>
                <a:schemeClr val="lt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1: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 name="Google Shape;101;p1:notes"/>
          <p:cNvSpPr txBox="1"/>
          <p:nvPr>
            <p:ph idx="1" type="body"/>
          </p:nvPr>
        </p:nvSpPr>
        <p:spPr>
          <a:xfrm>
            <a:off x="930275" y="3330575"/>
            <a:ext cx="7435850" cy="3154363"/>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2:notes"/>
          <p:cNvSpPr txBox="1"/>
          <p:nvPr>
            <p:ph idx="1" type="body"/>
          </p:nvPr>
        </p:nvSpPr>
        <p:spPr>
          <a:xfrm>
            <a:off x="930275" y="3330575"/>
            <a:ext cx="7435850" cy="3154363"/>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3: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9" name="Google Shape;119;p3:notes"/>
          <p:cNvSpPr txBox="1"/>
          <p:nvPr>
            <p:ph idx="1" type="body"/>
          </p:nvPr>
        </p:nvSpPr>
        <p:spPr>
          <a:xfrm>
            <a:off x="930275" y="3330575"/>
            <a:ext cx="7435850" cy="3154363"/>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txBox="1"/>
          <p:nvPr>
            <p:ph idx="1" type="body"/>
          </p:nvPr>
        </p:nvSpPr>
        <p:spPr>
          <a:xfrm>
            <a:off x="930275" y="3330575"/>
            <a:ext cx="7435850" cy="3154363"/>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360"/>
              </a:spcBef>
              <a:spcAft>
                <a:spcPts val="0"/>
              </a:spcAft>
              <a:buSzPts val="1400"/>
              <a:buNone/>
            </a:pPr>
            <a:r>
              <a:t/>
            </a:r>
            <a:endParaRPr/>
          </a:p>
        </p:txBody>
      </p:sp>
      <p:sp>
        <p:nvSpPr>
          <p:cNvPr id="128" name="Google Shape;128;p4: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5:notes"/>
          <p:cNvSpPr txBox="1"/>
          <p:nvPr>
            <p:ph idx="1" type="body"/>
          </p:nvPr>
        </p:nvSpPr>
        <p:spPr>
          <a:xfrm>
            <a:off x="-2147483648" y="-2147483648"/>
            <a:ext cx="0" cy="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37" name="Google Shape;137;p5: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txBox="1"/>
          <p:nvPr>
            <p:ph idx="1" type="body"/>
          </p:nvPr>
        </p:nvSpPr>
        <p:spPr>
          <a:xfrm>
            <a:off x="930275" y="3330575"/>
            <a:ext cx="7435850" cy="3154363"/>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360"/>
              </a:spcBef>
              <a:spcAft>
                <a:spcPts val="0"/>
              </a:spcAft>
              <a:buSzPts val="1400"/>
              <a:buNone/>
            </a:pPr>
            <a:r>
              <a:t/>
            </a:r>
            <a:endParaRPr/>
          </a:p>
        </p:txBody>
      </p:sp>
      <p:sp>
        <p:nvSpPr>
          <p:cNvPr id="164" name="Google Shape;164;p6: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8:notes"/>
          <p:cNvSpPr txBox="1"/>
          <p:nvPr>
            <p:ph idx="1" type="body"/>
          </p:nvPr>
        </p:nvSpPr>
        <p:spPr>
          <a:xfrm>
            <a:off x="-2147483648" y="-2147483648"/>
            <a:ext cx="0" cy="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73" name="Google Shape;173;p8: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9:notes"/>
          <p:cNvSpPr txBox="1"/>
          <p:nvPr>
            <p:ph idx="1" type="body"/>
          </p:nvPr>
        </p:nvSpPr>
        <p:spPr>
          <a:xfrm>
            <a:off x="-2147483648" y="-2147483648"/>
            <a:ext cx="0" cy="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10" name="Google Shape;210;p9: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0:notes"/>
          <p:cNvSpPr txBox="1"/>
          <p:nvPr>
            <p:ph idx="1" type="body"/>
          </p:nvPr>
        </p:nvSpPr>
        <p:spPr>
          <a:xfrm>
            <a:off x="-2147483648" y="-2147483648"/>
            <a:ext cx="0" cy="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95" name="Google Shape;295;p10: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1:notes"/>
          <p:cNvSpPr txBox="1"/>
          <p:nvPr>
            <p:ph idx="1" type="body"/>
          </p:nvPr>
        </p:nvSpPr>
        <p:spPr>
          <a:xfrm>
            <a:off x="-2147483648" y="-2147483648"/>
            <a:ext cx="0" cy="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06" name="Google Shape;306;p11: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2:notes"/>
          <p:cNvSpPr txBox="1"/>
          <p:nvPr>
            <p:ph idx="1" type="body"/>
          </p:nvPr>
        </p:nvSpPr>
        <p:spPr>
          <a:xfrm>
            <a:off x="-2147483648" y="-2147483648"/>
            <a:ext cx="0" cy="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15" name="Google Shape;315;p12: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3: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2" name="Google Shape;362;p13:notes"/>
          <p:cNvSpPr txBox="1"/>
          <p:nvPr>
            <p:ph idx="1" type="body"/>
          </p:nvPr>
        </p:nvSpPr>
        <p:spPr>
          <a:xfrm>
            <a:off x="930275" y="3330575"/>
            <a:ext cx="7435850" cy="3154363"/>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14: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2" name="Google Shape;372;p14:notes"/>
          <p:cNvSpPr txBox="1"/>
          <p:nvPr>
            <p:ph idx="1" type="body"/>
          </p:nvPr>
        </p:nvSpPr>
        <p:spPr>
          <a:xfrm>
            <a:off x="930275" y="3330575"/>
            <a:ext cx="7435850" cy="3154363"/>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15: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4" name="Google Shape;384;p15:notes"/>
          <p:cNvSpPr txBox="1"/>
          <p:nvPr>
            <p:ph idx="1" type="body"/>
          </p:nvPr>
        </p:nvSpPr>
        <p:spPr>
          <a:xfrm>
            <a:off x="930275" y="3330575"/>
            <a:ext cx="7435850" cy="3154363"/>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16:notes"/>
          <p:cNvSpPr txBox="1"/>
          <p:nvPr>
            <p:ph idx="1" type="body"/>
          </p:nvPr>
        </p:nvSpPr>
        <p:spPr>
          <a:xfrm>
            <a:off x="-2147483648" y="-2147483648"/>
            <a:ext cx="0" cy="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395" name="Google Shape;395;p16: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17:notes"/>
          <p:cNvSpPr txBox="1"/>
          <p:nvPr>
            <p:ph idx="1" type="body"/>
          </p:nvPr>
        </p:nvSpPr>
        <p:spPr>
          <a:xfrm>
            <a:off x="-2147483648" y="-2147483648"/>
            <a:ext cx="0" cy="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411" name="Google Shape;411;p17: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18:notes"/>
          <p:cNvSpPr txBox="1"/>
          <p:nvPr>
            <p:ph idx="1" type="body"/>
          </p:nvPr>
        </p:nvSpPr>
        <p:spPr>
          <a:xfrm>
            <a:off x="-2147483648" y="-2147483648"/>
            <a:ext cx="0" cy="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421" name="Google Shape;421;p18: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19:notes"/>
          <p:cNvSpPr txBox="1"/>
          <p:nvPr>
            <p:ph idx="1" type="body"/>
          </p:nvPr>
        </p:nvSpPr>
        <p:spPr>
          <a:xfrm>
            <a:off x="-2147483648" y="-2147483648"/>
            <a:ext cx="0" cy="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431" name="Google Shape;431;p19: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20: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1" name="Google Shape;441;p20:notes"/>
          <p:cNvSpPr txBox="1"/>
          <p:nvPr>
            <p:ph idx="1" type="body"/>
          </p:nvPr>
        </p:nvSpPr>
        <p:spPr>
          <a:xfrm>
            <a:off x="930275" y="3330575"/>
            <a:ext cx="7435850" cy="3154363"/>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21: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2" name="Google Shape;452;p21:notes"/>
          <p:cNvSpPr txBox="1"/>
          <p:nvPr>
            <p:ph idx="1" type="body"/>
          </p:nvPr>
        </p:nvSpPr>
        <p:spPr>
          <a:xfrm>
            <a:off x="930275" y="3330575"/>
            <a:ext cx="7435850" cy="3154363"/>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22: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3" name="Google Shape;463;p22:notes"/>
          <p:cNvSpPr txBox="1"/>
          <p:nvPr>
            <p:ph idx="1" type="body"/>
          </p:nvPr>
        </p:nvSpPr>
        <p:spPr>
          <a:xfrm>
            <a:off x="930275" y="3330575"/>
            <a:ext cx="7435850" cy="3154363"/>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23: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8" name="Google Shape;478;p23:notes"/>
          <p:cNvSpPr txBox="1"/>
          <p:nvPr>
            <p:ph idx="1" type="body"/>
          </p:nvPr>
        </p:nvSpPr>
        <p:spPr>
          <a:xfrm>
            <a:off x="930275" y="3330575"/>
            <a:ext cx="7435850" cy="3154363"/>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24: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0" name="Google Shape;490;p24:notes"/>
          <p:cNvSpPr txBox="1"/>
          <p:nvPr>
            <p:ph idx="1" type="body"/>
          </p:nvPr>
        </p:nvSpPr>
        <p:spPr>
          <a:xfrm>
            <a:off x="930275" y="3330575"/>
            <a:ext cx="7435850" cy="3154363"/>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ebec7c2c95_0_0: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0" name="Google Shape;500;g3ebec7c2c95_0_0: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25: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0" name="Google Shape;510;p25:notes"/>
          <p:cNvSpPr txBox="1"/>
          <p:nvPr>
            <p:ph idx="1" type="body"/>
          </p:nvPr>
        </p:nvSpPr>
        <p:spPr>
          <a:xfrm>
            <a:off x="930275" y="3330575"/>
            <a:ext cx="7435850" cy="3154363"/>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eeafb2e8e4_0_8: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360"/>
              </a:spcBef>
              <a:spcAft>
                <a:spcPts val="0"/>
              </a:spcAft>
              <a:buSzPts val="1400"/>
              <a:buNone/>
            </a:pPr>
            <a:r>
              <a:t/>
            </a:r>
            <a:endParaRPr/>
          </a:p>
        </p:txBody>
      </p:sp>
      <p:sp>
        <p:nvSpPr>
          <p:cNvPr id="519" name="Google Shape;519;g3eeafb2e8e4_0_8: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26:notes"/>
          <p:cNvSpPr txBox="1"/>
          <p:nvPr>
            <p:ph idx="1" type="body"/>
          </p:nvPr>
        </p:nvSpPr>
        <p:spPr>
          <a:xfrm>
            <a:off x="930275" y="3330575"/>
            <a:ext cx="7435850" cy="3154363"/>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360"/>
              </a:spcBef>
              <a:spcAft>
                <a:spcPts val="0"/>
              </a:spcAft>
              <a:buSzPts val="1400"/>
              <a:buNone/>
            </a:pPr>
            <a:r>
              <a:t/>
            </a:r>
            <a:endParaRPr/>
          </a:p>
        </p:txBody>
      </p:sp>
      <p:sp>
        <p:nvSpPr>
          <p:cNvPr id="530" name="Google Shape;530;p26: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27: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1" name="Google Shape;541;p27:notes"/>
          <p:cNvSpPr txBox="1"/>
          <p:nvPr>
            <p:ph idx="1" type="body"/>
          </p:nvPr>
        </p:nvSpPr>
        <p:spPr>
          <a:xfrm>
            <a:off x="930275" y="3330575"/>
            <a:ext cx="7435850" cy="3154363"/>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28:notes"/>
          <p:cNvSpPr txBox="1"/>
          <p:nvPr>
            <p:ph idx="1" type="body"/>
          </p:nvPr>
        </p:nvSpPr>
        <p:spPr>
          <a:xfrm>
            <a:off x="930275" y="3330575"/>
            <a:ext cx="7435850" cy="3154363"/>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360"/>
              </a:spcBef>
              <a:spcAft>
                <a:spcPts val="0"/>
              </a:spcAft>
              <a:buSzPts val="1400"/>
              <a:buNone/>
            </a:pPr>
            <a:r>
              <a:t/>
            </a:r>
            <a:endParaRPr/>
          </a:p>
        </p:txBody>
      </p:sp>
      <p:sp>
        <p:nvSpPr>
          <p:cNvPr id="551" name="Google Shape;551;p28:notes"/>
          <p:cNvSpPr/>
          <p:nvPr>
            <p:ph idx="2" type="sldImg"/>
          </p:nvPr>
        </p:nvSpPr>
        <p:spPr>
          <a:xfrm>
            <a:off x="2895600" y="525463"/>
            <a:ext cx="35052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0"/>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45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7" name="Google Shape;17;p30"/>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8" name="Google Shape;18;p30"/>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9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0"/>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9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0"/>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1" name="Shape 21"/>
        <p:cNvGrpSpPr/>
        <p:nvPr/>
      </p:nvGrpSpPr>
      <p:grpSpPr>
        <a:xfrm>
          <a:off x="0" y="0"/>
          <a:ext cx="0" cy="0"/>
          <a:chOff x="0" y="0"/>
          <a:chExt cx="0" cy="0"/>
        </a:xfrm>
      </p:grpSpPr>
      <p:sp>
        <p:nvSpPr>
          <p:cNvPr id="22" name="Google Shape;22;p31"/>
          <p:cNvSpPr txBox="1"/>
          <p:nvPr>
            <p:ph type="title"/>
          </p:nvPr>
        </p:nvSpPr>
        <p:spPr>
          <a:xfrm>
            <a:off x="628650" y="365125"/>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3" name="Google Shape;23;p31"/>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4" name="Google Shape;24;p31"/>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5" name="Google Shape;25;p31"/>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9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31"/>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9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31"/>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32"/>
          <p:cNvSpPr txBox="1"/>
          <p:nvPr>
            <p:ph type="title"/>
          </p:nvPr>
        </p:nvSpPr>
        <p:spPr>
          <a:xfrm>
            <a:off x="628650" y="365125"/>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0" name="Google Shape;30;p32"/>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1" name="Google Shape;31;p32"/>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9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2"/>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9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2"/>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33"/>
          <p:cNvSpPr txBox="1"/>
          <p:nvPr>
            <p:ph type="title"/>
          </p:nvPr>
        </p:nvSpPr>
        <p:spPr>
          <a:xfrm>
            <a:off x="628650" y="365125"/>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6" name="Google Shape;36;p33"/>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7" name="Google Shape;37;p33"/>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8" name="Google Shape;38;p33"/>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9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3"/>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9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3"/>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1" name="Shape 41"/>
        <p:cNvGrpSpPr/>
        <p:nvPr/>
      </p:nvGrpSpPr>
      <p:grpSpPr>
        <a:xfrm>
          <a:off x="0" y="0"/>
          <a:ext cx="0" cy="0"/>
          <a:chOff x="0" y="0"/>
          <a:chExt cx="0" cy="0"/>
        </a:xfrm>
      </p:grpSpPr>
      <p:sp>
        <p:nvSpPr>
          <p:cNvPr id="42" name="Google Shape;42;p34"/>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9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4"/>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9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34"/>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type="txAndTwoObj">
  <p:cSld name="TEXT_AND_TWO_OBJECTS">
    <p:spTree>
      <p:nvGrpSpPr>
        <p:cNvPr id="45" name="Shape 45"/>
        <p:cNvGrpSpPr/>
        <p:nvPr/>
      </p:nvGrpSpPr>
      <p:grpSpPr>
        <a:xfrm>
          <a:off x="0" y="0"/>
          <a:ext cx="0" cy="0"/>
          <a:chOff x="0" y="0"/>
          <a:chExt cx="0" cy="0"/>
        </a:xfrm>
      </p:grpSpPr>
      <p:sp>
        <p:nvSpPr>
          <p:cNvPr id="46" name="Google Shape;46;p35"/>
          <p:cNvSpPr txBox="1"/>
          <p:nvPr>
            <p:ph type="title"/>
          </p:nvPr>
        </p:nvSpPr>
        <p:spPr>
          <a:xfrm>
            <a:off x="628650" y="365125"/>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7" name="Google Shape;47;p35"/>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8" name="Google Shape;48;p35"/>
          <p:cNvSpPr txBox="1"/>
          <p:nvPr>
            <p:ph idx="2" type="body"/>
          </p:nvPr>
        </p:nvSpPr>
        <p:spPr>
          <a:xfrm>
            <a:off x="4629150" y="1825625"/>
            <a:ext cx="3886200" cy="209867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9" name="Google Shape;49;p35"/>
          <p:cNvSpPr txBox="1"/>
          <p:nvPr>
            <p:ph idx="3" type="body"/>
          </p:nvPr>
        </p:nvSpPr>
        <p:spPr>
          <a:xfrm>
            <a:off x="4629150" y="4076700"/>
            <a:ext cx="3886200" cy="2100263"/>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0" name="Google Shape;50;p35"/>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9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5"/>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9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5"/>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3" name="Shape 53"/>
        <p:cNvGrpSpPr/>
        <p:nvPr/>
      </p:nvGrpSpPr>
      <p:grpSpPr>
        <a:xfrm>
          <a:off x="0" y="0"/>
          <a:ext cx="0" cy="0"/>
          <a:chOff x="0" y="0"/>
          <a:chExt cx="0" cy="0"/>
        </a:xfrm>
      </p:grpSpPr>
      <p:sp>
        <p:nvSpPr>
          <p:cNvPr id="54" name="Google Shape;54;p36"/>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45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5" name="Google Shape;55;p36"/>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56" name="Google Shape;56;p36"/>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9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6"/>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9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36"/>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9" name="Shape 59"/>
        <p:cNvGrpSpPr/>
        <p:nvPr/>
      </p:nvGrpSpPr>
      <p:grpSpPr>
        <a:xfrm>
          <a:off x="0" y="0"/>
          <a:ext cx="0" cy="0"/>
          <a:chOff x="0" y="0"/>
          <a:chExt cx="0" cy="0"/>
        </a:xfrm>
      </p:grpSpPr>
      <p:sp>
        <p:nvSpPr>
          <p:cNvPr id="60" name="Google Shape;60;p37"/>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1" name="Google Shape;61;p37"/>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62" name="Google Shape;62;p37"/>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3" name="Google Shape;63;p37"/>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64" name="Google Shape;64;p37"/>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5" name="Google Shape;65;p37"/>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9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7"/>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9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7"/>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8" name="Shape 68"/>
        <p:cNvGrpSpPr/>
        <p:nvPr/>
      </p:nvGrpSpPr>
      <p:grpSpPr>
        <a:xfrm>
          <a:off x="0" y="0"/>
          <a:ext cx="0" cy="0"/>
          <a:chOff x="0" y="0"/>
          <a:chExt cx="0" cy="0"/>
        </a:xfrm>
      </p:grpSpPr>
      <p:sp>
        <p:nvSpPr>
          <p:cNvPr id="69" name="Google Shape;69;p38"/>
          <p:cNvSpPr txBox="1"/>
          <p:nvPr>
            <p:ph type="title"/>
          </p:nvPr>
        </p:nvSpPr>
        <p:spPr>
          <a:xfrm>
            <a:off x="628650" y="365125"/>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0" name="Google Shape;70;p38"/>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9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8"/>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9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3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3" name="Shape 73"/>
        <p:cNvGrpSpPr/>
        <p:nvPr/>
      </p:nvGrpSpPr>
      <p:grpSpPr>
        <a:xfrm>
          <a:off x="0" y="0"/>
          <a:ext cx="0" cy="0"/>
          <a:chOff x="0" y="0"/>
          <a:chExt cx="0" cy="0"/>
        </a:xfrm>
      </p:grpSpPr>
      <p:sp>
        <p:nvSpPr>
          <p:cNvPr id="74" name="Google Shape;74;p39"/>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2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5" name="Google Shape;75;p39"/>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76" name="Google Shape;76;p39"/>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77" name="Google Shape;77;p39"/>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9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9"/>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9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39"/>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0" name="Shape 80"/>
        <p:cNvGrpSpPr/>
        <p:nvPr/>
      </p:nvGrpSpPr>
      <p:grpSpPr>
        <a:xfrm>
          <a:off x="0" y="0"/>
          <a:ext cx="0" cy="0"/>
          <a:chOff x="0" y="0"/>
          <a:chExt cx="0" cy="0"/>
        </a:xfrm>
      </p:grpSpPr>
      <p:sp>
        <p:nvSpPr>
          <p:cNvPr id="81" name="Google Shape;81;p40"/>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2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82" name="Google Shape;82;p40"/>
          <p:cNvSpPr/>
          <p:nvPr>
            <p:ph idx="2" type="pic"/>
          </p:nvPr>
        </p:nvSpPr>
        <p:spPr>
          <a:xfrm>
            <a:off x="3887391" y="987426"/>
            <a:ext cx="4629150" cy="4873625"/>
          </a:xfrm>
          <a:prstGeom prst="rect">
            <a:avLst/>
          </a:prstGeom>
          <a:noFill/>
          <a:ln>
            <a:noFill/>
          </a:ln>
        </p:spPr>
      </p:sp>
      <p:sp>
        <p:nvSpPr>
          <p:cNvPr id="83" name="Google Shape;83;p40"/>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84" name="Google Shape;84;p40"/>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9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40"/>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9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40"/>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7" name="Shape 87"/>
        <p:cNvGrpSpPr/>
        <p:nvPr/>
      </p:nvGrpSpPr>
      <p:grpSpPr>
        <a:xfrm>
          <a:off x="0" y="0"/>
          <a:ext cx="0" cy="0"/>
          <a:chOff x="0" y="0"/>
          <a:chExt cx="0" cy="0"/>
        </a:xfrm>
      </p:grpSpPr>
      <p:sp>
        <p:nvSpPr>
          <p:cNvPr id="88" name="Google Shape;88;p41"/>
          <p:cNvSpPr txBox="1"/>
          <p:nvPr>
            <p:ph type="title"/>
          </p:nvPr>
        </p:nvSpPr>
        <p:spPr>
          <a:xfrm>
            <a:off x="628650" y="365125"/>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89" name="Google Shape;89;p41"/>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90" name="Google Shape;90;p41"/>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9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41"/>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9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41"/>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3" name="Shape 93"/>
        <p:cNvGrpSpPr/>
        <p:nvPr/>
      </p:nvGrpSpPr>
      <p:grpSpPr>
        <a:xfrm>
          <a:off x="0" y="0"/>
          <a:ext cx="0" cy="0"/>
          <a:chOff x="0" y="0"/>
          <a:chExt cx="0" cy="0"/>
        </a:xfrm>
      </p:grpSpPr>
      <p:sp>
        <p:nvSpPr>
          <p:cNvPr id="94" name="Google Shape;94;p42"/>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95" name="Google Shape;95;p42"/>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96" name="Google Shape;96;p42"/>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9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42"/>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9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42"/>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9"/>
          <p:cNvSpPr txBox="1"/>
          <p:nvPr>
            <p:ph type="title"/>
          </p:nvPr>
        </p:nvSpPr>
        <p:spPr>
          <a:xfrm>
            <a:off x="628650" y="365125"/>
            <a:ext cx="7886700" cy="1325563"/>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9pPr>
          </a:lstStyle>
          <a:p/>
        </p:txBody>
      </p:sp>
      <p:sp>
        <p:nvSpPr>
          <p:cNvPr id="11" name="Google Shape;11;p2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1150" lvl="3" marL="18288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4pPr>
            <a:lvl5pPr indent="-311150" lvl="4" marL="2286000" marR="0" rtl="0" algn="l">
              <a:lnSpc>
                <a:spcPct val="90000"/>
              </a:lnSpc>
              <a:spcBef>
                <a:spcPts val="375"/>
              </a:spcBef>
              <a:spcAft>
                <a:spcPts val="0"/>
              </a:spcAft>
              <a:buClr>
                <a:schemeClr val="dk1"/>
              </a:buClr>
              <a:buSzPts val="1300"/>
              <a:buFont typeface="Arial"/>
              <a:buChar char="•"/>
              <a:defRPr b="0" i="0" sz="130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29"/>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888888"/>
              </a:buClr>
              <a:buSzPts val="900"/>
              <a:buFont typeface="Arial"/>
              <a:buNone/>
              <a:defRPr b="1" i="0" sz="900" u="sng"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9pPr>
          </a:lstStyle>
          <a:p/>
        </p:txBody>
      </p:sp>
      <p:sp>
        <p:nvSpPr>
          <p:cNvPr id="13" name="Google Shape;13;p29"/>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888888"/>
              </a:buClr>
              <a:buSzPts val="900"/>
              <a:buFont typeface="Arial"/>
              <a:buNone/>
              <a:defRPr b="1" i="0" sz="900" u="sng"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1" i="0" sz="2600" u="sng" cap="none" strike="noStrike">
                <a:solidFill>
                  <a:schemeClr val="lt1"/>
                </a:solidFill>
                <a:latin typeface="Arial"/>
                <a:ea typeface="Arial"/>
                <a:cs typeface="Arial"/>
                <a:sym typeface="Arial"/>
              </a:defRPr>
            </a:lvl9pPr>
          </a:lstStyle>
          <a:p/>
        </p:txBody>
      </p:sp>
      <p:sp>
        <p:nvSpPr>
          <p:cNvPr id="14" name="Google Shape;14;p29"/>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900"/>
              <a:buFont typeface="Arial"/>
              <a:buNone/>
              <a:defRPr b="1" i="0" sz="900" u="sng"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7.jp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1.jpg"/><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8.jpg"/><Relationship Id="rId4" Type="http://schemas.openxmlformats.org/officeDocument/2006/relationships/image" Target="../media/image7.png"/><Relationship Id="rId5"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9.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0.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8.jpg"/><Relationship Id="rId4" Type="http://schemas.openxmlformats.org/officeDocument/2006/relationships/image" Target="../media/image12.png"/><Relationship Id="rId5"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12.png"/><Relationship Id="rId4" Type="http://schemas.openxmlformats.org/officeDocument/2006/relationships/image" Target="../media/image18.jpg"/><Relationship Id="rId5" Type="http://schemas.openxmlformats.org/officeDocument/2006/relationships/image" Target="../media/image1.png"/></Relationships>
</file>

<file path=ppt/slides/_rels/slide21.xml.rels><?xml version="1.0" encoding="UTF-8" standalone="yes"?><Relationships xmlns="http://schemas.openxmlformats.org/package/2006/relationships"><Relationship Id="rId11" Type="http://schemas.openxmlformats.org/officeDocument/2006/relationships/oleObject" Target="../embeddings/oleObject3.bin"/><Relationship Id="rId10" Type="http://schemas.openxmlformats.org/officeDocument/2006/relationships/image" Target="../media/image9.png"/><Relationship Id="rId13" Type="http://schemas.openxmlformats.org/officeDocument/2006/relationships/image" Target="../media/image15.png"/><Relationship Id="rId12" Type="http://schemas.openxmlformats.org/officeDocument/2006/relationships/oleObject" Target="../embeddings/oleObject3.bin"/><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vmlDrawing" Target="../drawings/vmlDrawing1.vml"/><Relationship Id="rId4" Type="http://schemas.openxmlformats.org/officeDocument/2006/relationships/oleObject" Target="../embeddings/oleObject1.bin"/><Relationship Id="rId9" Type="http://schemas.openxmlformats.org/officeDocument/2006/relationships/oleObject" Target="../embeddings/oleObject2.bin"/><Relationship Id="rId14" Type="http://schemas.openxmlformats.org/officeDocument/2006/relationships/image" Target="../media/image1.png"/><Relationship Id="rId5" Type="http://schemas.openxmlformats.org/officeDocument/2006/relationships/oleObject" Target="../embeddings/oleObject1.bin"/><Relationship Id="rId6" Type="http://schemas.openxmlformats.org/officeDocument/2006/relationships/image" Target="../media/image6.png"/><Relationship Id="rId7" Type="http://schemas.openxmlformats.org/officeDocument/2006/relationships/image" Target="../media/image12.png"/><Relationship Id="rId8" Type="http://schemas.openxmlformats.org/officeDocument/2006/relationships/oleObject" Target="../embeddings/oleObject2.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png"/><Relationship Id="rId6" Type="http://schemas.openxmlformats.org/officeDocument/2006/relationships/image" Target="../media/image22.png"/><Relationship Id="rId7"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12.png"/><Relationship Id="rId4" Type="http://schemas.openxmlformats.org/officeDocument/2006/relationships/image" Target="../media/image1.png"/><Relationship Id="rId5"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12.png"/><Relationship Id="rId4" Type="http://schemas.openxmlformats.org/officeDocument/2006/relationships/image" Target="../media/image1.png"/><Relationship Id="rId5" Type="http://schemas.openxmlformats.org/officeDocument/2006/relationships/hyperlink" Target="https://getsetcg.blogspot.com/2018/10/mid-point-circle-drawing-derivation.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4.png"/><Relationship Id="rId4"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1.png"/><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0.gif"/><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
          <p:cNvSpPr txBox="1"/>
          <p:nvPr>
            <p:ph type="ctrTitle"/>
          </p:nvPr>
        </p:nvSpPr>
        <p:spPr>
          <a:xfrm>
            <a:off x="990600" y="959662"/>
            <a:ext cx="7010400" cy="20214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SzPct val="34568"/>
              <a:buNone/>
            </a:pPr>
            <a:br>
              <a:rPr lang="en-US"/>
            </a:br>
            <a:r>
              <a:rPr b="1" lang="en-US" sz="3300">
                <a:latin typeface="Times New Roman"/>
                <a:ea typeface="Times New Roman"/>
                <a:cs typeface="Times New Roman"/>
                <a:sym typeface="Times New Roman"/>
              </a:rPr>
              <a:t>Lecture 5</a:t>
            </a:r>
            <a:br>
              <a:rPr b="1" lang="en-US" sz="3300">
                <a:latin typeface="Times New Roman"/>
                <a:ea typeface="Times New Roman"/>
                <a:cs typeface="Times New Roman"/>
                <a:sym typeface="Times New Roman"/>
              </a:rPr>
            </a:br>
            <a:r>
              <a:rPr b="1" lang="en-US" sz="3300">
                <a:latin typeface="Times New Roman"/>
                <a:ea typeface="Times New Roman"/>
                <a:cs typeface="Times New Roman"/>
                <a:sym typeface="Times New Roman"/>
              </a:rPr>
              <a:t>Mid Point Circle Drawing Algorithm</a:t>
            </a:r>
            <a:br>
              <a:rPr lang="en-US"/>
            </a:br>
            <a:endParaRPr/>
          </a:p>
        </p:txBody>
      </p:sp>
      <p:sp>
        <p:nvSpPr>
          <p:cNvPr descr="Diu Logo PNG Images - CleanPNG" id="104" name="Google Shape;104;p1"/>
          <p:cNvSpPr/>
          <p:nvPr/>
        </p:nvSpPr>
        <p:spPr>
          <a:xfrm>
            <a:off x="155575" y="-144463"/>
            <a:ext cx="304800" cy="30480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600"/>
              <a:buFont typeface="Arial"/>
              <a:buNone/>
            </a:pPr>
            <a:r>
              <a:t/>
            </a:r>
            <a:endParaRPr b="1" i="0" sz="2600" u="sng" cap="none" strike="noStrike">
              <a:solidFill>
                <a:schemeClr val="dk1"/>
              </a:solidFill>
              <a:latin typeface="Arial"/>
              <a:ea typeface="Arial"/>
              <a:cs typeface="Arial"/>
              <a:sym typeface="Arial"/>
            </a:endParaRPr>
          </a:p>
        </p:txBody>
      </p:sp>
      <p:pic>
        <p:nvPicPr>
          <p:cNvPr id="105" name="Google Shape;105;p1"/>
          <p:cNvPicPr preferRelativeResize="0"/>
          <p:nvPr/>
        </p:nvPicPr>
        <p:blipFill rotWithShape="1">
          <a:blip r:embed="rId3">
            <a:alphaModFix/>
          </a:blip>
          <a:srcRect b="0" l="0" r="0" t="0"/>
          <a:stretch/>
        </p:blipFill>
        <p:spPr>
          <a:xfrm>
            <a:off x="3810000" y="609600"/>
            <a:ext cx="1371600" cy="685800"/>
          </a:xfrm>
          <a:prstGeom prst="rect">
            <a:avLst/>
          </a:prstGeom>
          <a:noFill/>
          <a:ln>
            <a:noFill/>
          </a:ln>
        </p:spPr>
      </p:pic>
      <p:pic>
        <p:nvPicPr>
          <p:cNvPr id="106" name="Google Shape;106;p1"/>
          <p:cNvPicPr preferRelativeResize="0"/>
          <p:nvPr/>
        </p:nvPicPr>
        <p:blipFill rotWithShape="1">
          <a:blip r:embed="rId4">
            <a:alphaModFix/>
          </a:blip>
          <a:srcRect b="0" l="0" r="0" t="0"/>
          <a:stretch/>
        </p:blipFill>
        <p:spPr>
          <a:xfrm>
            <a:off x="3321099" y="2677125"/>
            <a:ext cx="2573831" cy="2316175"/>
          </a:xfrm>
          <a:prstGeom prst="rect">
            <a:avLst/>
          </a:prstGeom>
          <a:noFill/>
          <a:ln>
            <a:noFill/>
          </a:ln>
        </p:spPr>
      </p:pic>
      <p:graphicFrame>
        <p:nvGraphicFramePr>
          <p:cNvPr id="107" name="Google Shape;107;p1"/>
          <p:cNvGraphicFramePr/>
          <p:nvPr/>
        </p:nvGraphicFramePr>
        <p:xfrm>
          <a:off x="1551262" y="4682283"/>
          <a:ext cx="3000000" cy="3000000"/>
        </p:xfrm>
        <a:graphic>
          <a:graphicData uri="http://schemas.openxmlformats.org/drawingml/2006/table">
            <a:tbl>
              <a:tblPr>
                <a:noFill/>
                <a:tableStyleId>{780FA592-5146-4103-BE9B-DB1DB1EFDCB5}</a:tableStyleId>
              </a:tblPr>
              <a:tblGrid>
                <a:gridCol w="3873550"/>
                <a:gridCol w="2766750"/>
              </a:tblGrid>
              <a:tr h="381000">
                <a:tc>
                  <a:txBody>
                    <a:bodyPr/>
                    <a:lstStyle/>
                    <a:p>
                      <a:pPr indent="0" lvl="0" marL="0" rtl="0" algn="l">
                        <a:lnSpc>
                          <a:spcPct val="90000"/>
                        </a:lnSpc>
                        <a:spcBef>
                          <a:spcPts val="700"/>
                        </a:spcBef>
                        <a:spcAft>
                          <a:spcPts val="0"/>
                        </a:spcAft>
                        <a:buClr>
                          <a:srgbClr val="000000"/>
                        </a:buClr>
                        <a:buSzPts val="1800"/>
                        <a:buFont typeface="Arial"/>
                        <a:buNone/>
                      </a:pPr>
                      <a:r>
                        <a:rPr b="1" lang="en-US" sz="1700">
                          <a:solidFill>
                            <a:srgbClr val="000000"/>
                          </a:solidFill>
                          <a:latin typeface="Cambria"/>
                          <a:ea typeface="Cambria"/>
                          <a:cs typeface="Cambria"/>
                          <a:sym typeface="Cambria"/>
                        </a:rPr>
                        <a:t>Prepared by</a:t>
                      </a:r>
                      <a:endParaRPr b="1" sz="1700">
                        <a:solidFill>
                          <a:srgbClr val="000000"/>
                        </a:solidFill>
                        <a:latin typeface="Cambria"/>
                        <a:ea typeface="Cambria"/>
                        <a:cs typeface="Cambria"/>
                        <a:sym typeface="Cambria"/>
                      </a:endParaRPr>
                    </a:p>
                    <a:p>
                      <a:pPr indent="0" lvl="0" marL="0" rtl="0" algn="l">
                        <a:lnSpc>
                          <a:spcPct val="90000"/>
                        </a:lnSpc>
                        <a:spcBef>
                          <a:spcPts val="750"/>
                        </a:spcBef>
                        <a:spcAft>
                          <a:spcPts val="0"/>
                        </a:spcAft>
                        <a:buNone/>
                      </a:pPr>
                      <a:r>
                        <a:rPr lang="en-US" sz="1700">
                          <a:solidFill>
                            <a:srgbClr val="000000"/>
                          </a:solidFill>
                          <a:latin typeface="Cambria"/>
                          <a:ea typeface="Cambria"/>
                          <a:cs typeface="Cambria"/>
                          <a:sym typeface="Cambria"/>
                        </a:rPr>
                        <a:t>Tapasy Rabeya</a:t>
                      </a:r>
                      <a:endParaRPr sz="1700">
                        <a:solidFill>
                          <a:srgbClr val="000000"/>
                        </a:solidFill>
                        <a:latin typeface="Cambria"/>
                        <a:ea typeface="Cambria"/>
                        <a:cs typeface="Cambria"/>
                        <a:sym typeface="Cambria"/>
                      </a:endParaRPr>
                    </a:p>
                    <a:p>
                      <a:pPr indent="0" lvl="0" marL="0" rtl="0" algn="l">
                        <a:lnSpc>
                          <a:spcPct val="90000"/>
                        </a:lnSpc>
                        <a:spcBef>
                          <a:spcPts val="750"/>
                        </a:spcBef>
                        <a:spcAft>
                          <a:spcPts val="0"/>
                        </a:spcAft>
                        <a:buNone/>
                      </a:pPr>
                      <a:r>
                        <a:rPr lang="en-US" sz="1700">
                          <a:solidFill>
                            <a:srgbClr val="000000"/>
                          </a:solidFill>
                          <a:latin typeface="Cambria"/>
                          <a:ea typeface="Cambria"/>
                          <a:cs typeface="Cambria"/>
                          <a:sym typeface="Cambria"/>
                        </a:rPr>
                        <a:t>Senior Lecturer</a:t>
                      </a:r>
                      <a:endParaRPr sz="1700">
                        <a:solidFill>
                          <a:srgbClr val="000000"/>
                        </a:solidFill>
                        <a:latin typeface="Cambria"/>
                        <a:ea typeface="Cambria"/>
                        <a:cs typeface="Cambria"/>
                        <a:sym typeface="Cambria"/>
                      </a:endParaRPr>
                    </a:p>
                    <a:p>
                      <a:pPr indent="0" lvl="0" marL="0" rtl="0" algn="l">
                        <a:lnSpc>
                          <a:spcPct val="90000"/>
                        </a:lnSpc>
                        <a:spcBef>
                          <a:spcPts val="750"/>
                        </a:spcBef>
                        <a:spcAft>
                          <a:spcPts val="0"/>
                        </a:spcAft>
                        <a:buClr>
                          <a:srgbClr val="000000"/>
                        </a:buClr>
                        <a:buSzPts val="1800"/>
                        <a:buFont typeface="Arial"/>
                        <a:buNone/>
                      </a:pPr>
                      <a:r>
                        <a:rPr lang="en-US" sz="1700">
                          <a:solidFill>
                            <a:srgbClr val="000000"/>
                          </a:solidFill>
                          <a:latin typeface="Cambria"/>
                          <a:ea typeface="Cambria"/>
                          <a:cs typeface="Cambria"/>
                          <a:sym typeface="Cambria"/>
                        </a:rPr>
                        <a:t>CSE, DIU</a:t>
                      </a:r>
                      <a:endParaRPr sz="1700">
                        <a:solidFill>
                          <a:srgbClr val="000000"/>
                        </a:solidFill>
                        <a:latin typeface="Cambria"/>
                        <a:ea typeface="Cambria"/>
                        <a:cs typeface="Cambria"/>
                        <a:sym typeface="Cambri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c>
                  <a:txBody>
                    <a:bodyPr/>
                    <a:lstStyle/>
                    <a:p>
                      <a:pPr indent="0" lvl="0" marL="0" rtl="0" algn="l">
                        <a:lnSpc>
                          <a:spcPct val="90000"/>
                        </a:lnSpc>
                        <a:spcBef>
                          <a:spcPts val="700"/>
                        </a:spcBef>
                        <a:spcAft>
                          <a:spcPts val="0"/>
                        </a:spcAft>
                        <a:buClr>
                          <a:srgbClr val="000000"/>
                        </a:buClr>
                        <a:buSzPts val="1800"/>
                        <a:buFont typeface="Arial"/>
                        <a:buNone/>
                      </a:pPr>
                      <a:r>
                        <a:rPr b="1" lang="en-US" sz="1700">
                          <a:latin typeface="Cambria"/>
                          <a:ea typeface="Cambria"/>
                          <a:cs typeface="Cambria"/>
                          <a:sym typeface="Cambria"/>
                        </a:rPr>
                        <a:t>Updated by</a:t>
                      </a:r>
                      <a:endParaRPr b="1" sz="1700">
                        <a:solidFill>
                          <a:srgbClr val="000000"/>
                        </a:solidFill>
                        <a:latin typeface="Cambria"/>
                        <a:ea typeface="Cambria"/>
                        <a:cs typeface="Cambria"/>
                        <a:sym typeface="Cambria"/>
                      </a:endParaRPr>
                    </a:p>
                    <a:p>
                      <a:pPr indent="0" lvl="0" marL="0" rtl="0" algn="l">
                        <a:lnSpc>
                          <a:spcPct val="90000"/>
                        </a:lnSpc>
                        <a:spcBef>
                          <a:spcPts val="700"/>
                        </a:spcBef>
                        <a:spcAft>
                          <a:spcPts val="0"/>
                        </a:spcAft>
                        <a:buNone/>
                      </a:pPr>
                      <a:r>
                        <a:rPr lang="en-US" sz="1700">
                          <a:solidFill>
                            <a:srgbClr val="000000"/>
                          </a:solidFill>
                          <a:latin typeface="Cambria"/>
                          <a:ea typeface="Cambria"/>
                          <a:cs typeface="Cambria"/>
                          <a:sym typeface="Cambria"/>
                        </a:rPr>
                        <a:t>Nushrat Jahan Oyshi</a:t>
                      </a:r>
                      <a:br>
                        <a:rPr lang="en-US" sz="1700">
                          <a:solidFill>
                            <a:srgbClr val="000000"/>
                          </a:solidFill>
                          <a:latin typeface="Cambria"/>
                          <a:ea typeface="Cambria"/>
                          <a:cs typeface="Cambria"/>
                          <a:sym typeface="Cambria"/>
                        </a:rPr>
                      </a:br>
                      <a:r>
                        <a:rPr lang="en-US" sz="1700">
                          <a:solidFill>
                            <a:srgbClr val="000000"/>
                          </a:solidFill>
                          <a:latin typeface="Cambria"/>
                          <a:ea typeface="Cambria"/>
                          <a:cs typeface="Cambria"/>
                          <a:sym typeface="Cambria"/>
                        </a:rPr>
                        <a:t>Lecturer</a:t>
                      </a:r>
                      <a:endParaRPr sz="1700">
                        <a:solidFill>
                          <a:srgbClr val="000000"/>
                        </a:solidFill>
                        <a:latin typeface="Cambria"/>
                        <a:ea typeface="Cambria"/>
                        <a:cs typeface="Cambria"/>
                        <a:sym typeface="Cambria"/>
                      </a:endParaRPr>
                    </a:p>
                    <a:p>
                      <a:pPr indent="0" lvl="0" marL="0" rtl="0" algn="l">
                        <a:lnSpc>
                          <a:spcPct val="90000"/>
                        </a:lnSpc>
                        <a:spcBef>
                          <a:spcPts val="700"/>
                        </a:spcBef>
                        <a:spcAft>
                          <a:spcPts val="0"/>
                        </a:spcAft>
                        <a:buClr>
                          <a:srgbClr val="000000"/>
                        </a:buClr>
                        <a:buSzPts val="1800"/>
                        <a:buFont typeface="Arial"/>
                        <a:buNone/>
                      </a:pPr>
                      <a:r>
                        <a:rPr lang="en-US" sz="1700">
                          <a:solidFill>
                            <a:srgbClr val="000000"/>
                          </a:solidFill>
                          <a:latin typeface="Cambria"/>
                          <a:ea typeface="Cambria"/>
                          <a:cs typeface="Cambria"/>
                          <a:sym typeface="Cambria"/>
                        </a:rPr>
                        <a:t>CSE, DIU</a:t>
                      </a:r>
                      <a:endParaRPr sz="1700">
                        <a:solidFill>
                          <a:srgbClr val="000000"/>
                        </a:solidFill>
                        <a:latin typeface="Cambria"/>
                        <a:ea typeface="Cambria"/>
                        <a:cs typeface="Cambria"/>
                        <a:sym typeface="Cambria"/>
                      </a:endParaRPr>
                    </a:p>
                  </a:txBody>
                  <a:tcPr marT="91425" marB="91425" marR="91425" marL="91425">
                    <a:lnL cap="flat" cmpd="sng" w="9525">
                      <a:solidFill>
                        <a:srgbClr val="FFFFFF"/>
                      </a:solidFill>
                      <a:prstDash val="solid"/>
                      <a:round/>
                      <a:headEnd len="sm" w="sm" type="none"/>
                      <a:tailEnd len="sm" w="sm" type="none"/>
                    </a:lnL>
                    <a:lnR cap="flat" cmpd="sng" w="9525">
                      <a:solidFill>
                        <a:srgbClr val="FFFFFF"/>
                      </a:solidFill>
                      <a:prstDash val="solid"/>
                      <a:round/>
                      <a:headEnd len="sm" w="sm" type="none"/>
                      <a:tailEnd len="sm" w="sm" type="none"/>
                    </a:lnR>
                    <a:lnT cap="flat" cmpd="sng" w="9525">
                      <a:solidFill>
                        <a:srgbClr val="FFFFFF"/>
                      </a:solidFill>
                      <a:prstDash val="solid"/>
                      <a:round/>
                      <a:headEnd len="sm" w="sm" type="none"/>
                      <a:tailEnd len="sm" w="sm" type="none"/>
                    </a:lnT>
                    <a:lnB cap="flat" cmpd="sng" w="9525">
                      <a:solidFill>
                        <a:srgbClr val="FFFFFF"/>
                      </a:solidFill>
                      <a:prstDash val="solid"/>
                      <a:round/>
                      <a:headEnd len="sm" w="sm" type="none"/>
                      <a:tailEnd len="sm" w="sm" type="none"/>
                    </a:lnB>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
          <p:cNvSpPr txBox="1"/>
          <p:nvPr>
            <p:ph idx="1" type="body"/>
          </p:nvPr>
        </p:nvSpPr>
        <p:spPr>
          <a:xfrm>
            <a:off x="390513" y="1277938"/>
            <a:ext cx="8363100" cy="5078400"/>
          </a:xfrm>
          <a:prstGeom prst="rect">
            <a:avLst/>
          </a:prstGeom>
          <a:noFill/>
          <a:ln>
            <a:noFill/>
          </a:ln>
        </p:spPr>
        <p:txBody>
          <a:bodyPr anchorCtr="0" anchor="t" bIns="45700" lIns="91425" spcFirstLastPara="1" rIns="91425" wrap="square" tIns="45700">
            <a:normAutofit/>
          </a:bodyPr>
          <a:lstStyle/>
          <a:p>
            <a:pPr indent="-571500" lvl="0" marL="571500" rtl="0" algn="just">
              <a:lnSpc>
                <a:spcPct val="90000"/>
              </a:lnSpc>
              <a:spcBef>
                <a:spcPts val="0"/>
              </a:spcBef>
              <a:spcAft>
                <a:spcPts val="0"/>
              </a:spcAft>
              <a:buClr>
                <a:schemeClr val="dk1"/>
              </a:buClr>
              <a:buSzPts val="2400"/>
              <a:buChar char="•"/>
            </a:pPr>
            <a:r>
              <a:rPr b="1" lang="en-US" sz="2400">
                <a:latin typeface="Times New Roman"/>
                <a:ea typeface="Times New Roman"/>
                <a:cs typeface="Times New Roman"/>
                <a:sym typeface="Times New Roman"/>
              </a:rPr>
              <a:t>Output Primitives:</a:t>
            </a:r>
            <a:r>
              <a:rPr lang="en-US" sz="2400">
                <a:latin typeface="Times New Roman"/>
                <a:ea typeface="Times New Roman"/>
                <a:cs typeface="Times New Roman"/>
                <a:sym typeface="Times New Roman"/>
              </a:rPr>
              <a:t> Basic geometric structures (points, straight line segment, circles and other conic sections, quadric surfaces, spline curve and surfaces, polygon color areas, and character strings)</a:t>
            </a:r>
            <a:endParaRPr/>
          </a:p>
          <a:p>
            <a:pPr indent="-571500" lvl="0" marL="571500" rtl="0" algn="just">
              <a:lnSpc>
                <a:spcPct val="90000"/>
              </a:lnSpc>
              <a:spcBef>
                <a:spcPts val="750"/>
              </a:spcBef>
              <a:spcAft>
                <a:spcPts val="0"/>
              </a:spcAft>
              <a:buClr>
                <a:schemeClr val="dk1"/>
              </a:buClr>
              <a:buSzPts val="2400"/>
              <a:buChar char="•"/>
            </a:pPr>
            <a:r>
              <a:rPr lang="en-US" sz="2400">
                <a:latin typeface="Times New Roman"/>
                <a:ea typeface="Times New Roman"/>
                <a:cs typeface="Times New Roman"/>
                <a:sym typeface="Times New Roman"/>
              </a:rPr>
              <a:t>These picture components are often defined in a continuous space.</a:t>
            </a:r>
            <a:endParaRPr/>
          </a:p>
          <a:p>
            <a:pPr indent="-571500" lvl="0" marL="571500" rtl="0" algn="l">
              <a:lnSpc>
                <a:spcPct val="90000"/>
              </a:lnSpc>
              <a:spcBef>
                <a:spcPts val="750"/>
              </a:spcBef>
              <a:spcAft>
                <a:spcPts val="0"/>
              </a:spcAft>
              <a:buClr>
                <a:schemeClr val="dk1"/>
              </a:buClr>
              <a:buSzPts val="2400"/>
              <a:buChar char="•"/>
            </a:pPr>
            <a:r>
              <a:rPr lang="en-US" sz="2400">
                <a:latin typeface="Times New Roman"/>
                <a:ea typeface="Times New Roman"/>
                <a:cs typeface="Times New Roman"/>
                <a:sym typeface="Times New Roman"/>
              </a:rPr>
              <a:t>In order to draw the primitive objects, one has to first </a:t>
            </a:r>
            <a:r>
              <a:rPr b="1" lang="en-US" sz="2400">
                <a:latin typeface="Times New Roman"/>
                <a:ea typeface="Times New Roman"/>
                <a:cs typeface="Times New Roman"/>
                <a:sym typeface="Times New Roman"/>
              </a:rPr>
              <a:t>scan convert</a:t>
            </a:r>
            <a:r>
              <a:rPr lang="en-US" sz="2400">
                <a:latin typeface="Times New Roman"/>
                <a:ea typeface="Times New Roman"/>
                <a:cs typeface="Times New Roman"/>
                <a:sym typeface="Times New Roman"/>
              </a:rPr>
              <a:t> the object.</a:t>
            </a:r>
            <a:endParaRPr b="1" sz="2400">
              <a:latin typeface="Times New Roman"/>
              <a:ea typeface="Times New Roman"/>
              <a:cs typeface="Times New Roman"/>
              <a:sym typeface="Times New Roman"/>
            </a:endParaRPr>
          </a:p>
          <a:p>
            <a:pPr indent="-571500" lvl="0" marL="571500" rtl="0" algn="l">
              <a:lnSpc>
                <a:spcPct val="90000"/>
              </a:lnSpc>
              <a:spcBef>
                <a:spcPts val="750"/>
              </a:spcBef>
              <a:spcAft>
                <a:spcPts val="0"/>
              </a:spcAft>
              <a:buClr>
                <a:schemeClr val="dk1"/>
              </a:buClr>
              <a:buSzPts val="2400"/>
              <a:buChar char="•"/>
            </a:pPr>
            <a:r>
              <a:rPr b="1" lang="en-US" sz="2400">
                <a:latin typeface="Times New Roman"/>
                <a:ea typeface="Times New Roman"/>
                <a:cs typeface="Times New Roman"/>
                <a:sym typeface="Times New Roman"/>
              </a:rPr>
              <a:t>Scan convert:</a:t>
            </a:r>
            <a:r>
              <a:rPr lang="en-US" sz="2400">
                <a:latin typeface="Times New Roman"/>
                <a:ea typeface="Times New Roman"/>
                <a:cs typeface="Times New Roman"/>
                <a:sym typeface="Times New Roman"/>
              </a:rPr>
              <a:t> Refers to be operation of finding out the location of pixels to the intensified and then setting the values of corresponding bits, in the graphic memory, to the desired intensity code.</a:t>
            </a:r>
            <a:endParaRPr/>
          </a:p>
          <a:p>
            <a:pPr indent="0" lvl="0" marL="0" rtl="0" algn="just">
              <a:lnSpc>
                <a:spcPct val="90000"/>
              </a:lnSpc>
              <a:spcBef>
                <a:spcPts val="750"/>
              </a:spcBef>
              <a:spcAft>
                <a:spcPts val="0"/>
              </a:spcAft>
              <a:buClr>
                <a:schemeClr val="dk1"/>
              </a:buClr>
              <a:buSzPts val="2400"/>
              <a:buFont typeface="Arial"/>
              <a:buNone/>
            </a:pPr>
            <a:r>
              <a:t/>
            </a:r>
            <a:endParaRPr sz="2400">
              <a:latin typeface="Times New Roman"/>
              <a:ea typeface="Times New Roman"/>
              <a:cs typeface="Times New Roman"/>
              <a:sym typeface="Times New Roman"/>
            </a:endParaRPr>
          </a:p>
        </p:txBody>
      </p:sp>
      <p:sp>
        <p:nvSpPr>
          <p:cNvPr id="113" name="Google Shape;113;p2"/>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88888"/>
              </a:buClr>
              <a:buSzPts val="900"/>
              <a:buNone/>
            </a:pPr>
            <a:r>
              <a:rPr lang="en-US" u="none"/>
              <a:t>Department of CSE, Daffodil International University</a:t>
            </a:r>
            <a:endParaRPr u="none"/>
          </a:p>
        </p:txBody>
      </p:sp>
      <p:sp>
        <p:nvSpPr>
          <p:cNvPr id="114" name="Google Shape;114;p2"/>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900"/>
              <a:buNone/>
            </a:pPr>
            <a:fld id="{00000000-1234-1234-1234-123412341234}" type="slidenum">
              <a:rPr b="1" i="0" lang="en-US" sz="900" u="none" cap="none" strike="noStrike">
                <a:solidFill>
                  <a:srgbClr val="898989"/>
                </a:solidFill>
                <a:latin typeface="Arial"/>
                <a:ea typeface="Arial"/>
                <a:cs typeface="Arial"/>
                <a:sym typeface="Arial"/>
              </a:rPr>
              <a:t>‹#›</a:t>
            </a:fld>
            <a:endParaRPr b="1" i="0" sz="900" u="none" cap="none" strike="noStrike">
              <a:solidFill>
                <a:srgbClr val="898989"/>
              </a:solidFill>
              <a:latin typeface="Arial"/>
              <a:ea typeface="Arial"/>
              <a:cs typeface="Arial"/>
              <a:sym typeface="Arial"/>
            </a:endParaRPr>
          </a:p>
        </p:txBody>
      </p:sp>
      <p:sp>
        <p:nvSpPr>
          <p:cNvPr id="115" name="Google Shape;115;p2"/>
          <p:cNvSpPr txBox="1"/>
          <p:nvPr/>
        </p:nvSpPr>
        <p:spPr>
          <a:xfrm>
            <a:off x="175500" y="151200"/>
            <a:ext cx="8113500" cy="685800"/>
          </a:xfrm>
          <a:prstGeom prst="rect">
            <a:avLst/>
          </a:prstGeom>
          <a:solidFill>
            <a:srgbClr val="4285F4"/>
          </a:solidFill>
          <a:ln>
            <a:noFill/>
          </a:ln>
        </p:spPr>
        <p:txBody>
          <a:bodyPr anchorCtr="0" anchor="ctr" bIns="45700" lIns="91425" spcFirstLastPara="1" rIns="91425" wrap="square" tIns="45700">
            <a:noAutofit/>
          </a:bodyPr>
          <a:lstStyle/>
          <a:p>
            <a:pPr indent="0" lvl="0" marL="484188" marR="0" rtl="0" algn="ctr">
              <a:lnSpc>
                <a:spcPct val="90000"/>
              </a:lnSpc>
              <a:spcBef>
                <a:spcPts val="0"/>
              </a:spcBef>
              <a:spcAft>
                <a:spcPts val="0"/>
              </a:spcAft>
              <a:buClr>
                <a:srgbClr val="000000"/>
              </a:buClr>
              <a:buSzPts val="3300"/>
              <a:buFont typeface="Arial"/>
              <a:buNone/>
            </a:pPr>
            <a:r>
              <a:t/>
            </a:r>
            <a:endParaRPr b="1" i="0" sz="3300" u="none" cap="none" strike="noStrike">
              <a:solidFill>
                <a:schemeClr val="dk1"/>
              </a:solidFill>
              <a:latin typeface="Times New Roman"/>
              <a:ea typeface="Times New Roman"/>
              <a:cs typeface="Times New Roman"/>
              <a:sym typeface="Times New Roman"/>
            </a:endParaRPr>
          </a:p>
          <a:p>
            <a:pPr indent="0" lvl="0" marL="484188" marR="0" rtl="0" algn="l">
              <a:lnSpc>
                <a:spcPct val="90000"/>
              </a:lnSpc>
              <a:spcBef>
                <a:spcPts val="0"/>
              </a:spcBef>
              <a:spcAft>
                <a:spcPts val="0"/>
              </a:spcAft>
              <a:buClr>
                <a:schemeClr val="dk1"/>
              </a:buClr>
              <a:buSzPts val="3300"/>
              <a:buFont typeface="Arial"/>
              <a:buNone/>
            </a:pPr>
            <a:r>
              <a:rPr b="1" i="0" lang="en-US" sz="3300" u="none" cap="none" strike="noStrike">
                <a:solidFill>
                  <a:schemeClr val="dk1"/>
                </a:solidFill>
                <a:latin typeface="Times New Roman"/>
                <a:ea typeface="Times New Roman"/>
                <a:cs typeface="Times New Roman"/>
                <a:sym typeface="Times New Roman"/>
              </a:rPr>
              <a:t>Output Primitives</a:t>
            </a:r>
            <a:endParaRPr b="0"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400"/>
              <a:buFont typeface="Arial"/>
              <a:buNone/>
            </a:pPr>
            <a:r>
              <a:t/>
            </a:r>
            <a:endParaRPr b="0" i="0" sz="3400" u="none" cap="none" strike="noStrike">
              <a:solidFill>
                <a:srgbClr val="000000"/>
              </a:solidFill>
              <a:latin typeface="Calibri"/>
              <a:ea typeface="Calibri"/>
              <a:cs typeface="Calibri"/>
              <a:sym typeface="Calibri"/>
            </a:endParaRPr>
          </a:p>
        </p:txBody>
      </p:sp>
      <p:pic>
        <p:nvPicPr>
          <p:cNvPr id="116" name="Google Shape;116;p2"/>
          <p:cNvPicPr preferRelativeResize="0"/>
          <p:nvPr/>
        </p:nvPicPr>
        <p:blipFill rotWithShape="1">
          <a:blip r:embed="rId3">
            <a:alphaModFix/>
          </a:blip>
          <a:srcRect b="0" l="0" r="0" t="0"/>
          <a:stretch/>
        </p:blipFill>
        <p:spPr>
          <a:xfrm>
            <a:off x="8050200" y="151200"/>
            <a:ext cx="1371600" cy="685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3"/>
          <p:cNvSpPr txBox="1"/>
          <p:nvPr>
            <p:ph idx="1" type="body"/>
          </p:nvPr>
        </p:nvSpPr>
        <p:spPr>
          <a:xfrm>
            <a:off x="390525" y="1277938"/>
            <a:ext cx="8363100" cy="5078400"/>
          </a:xfrm>
          <a:prstGeom prst="rect">
            <a:avLst/>
          </a:prstGeom>
          <a:noFill/>
          <a:ln>
            <a:noFill/>
          </a:ln>
        </p:spPr>
        <p:txBody>
          <a:bodyPr anchorCtr="0" anchor="t" bIns="45700" lIns="91425" spcFirstLastPara="1" rIns="91425" wrap="square" tIns="45700">
            <a:normAutofit/>
          </a:bodyPr>
          <a:lstStyle/>
          <a:p>
            <a:pPr indent="-571500" lvl="0" marL="571500" rtl="0" algn="l">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Each pixel on the display surface has a finite size depending on the screen resolution and hence a pixel </a:t>
            </a:r>
            <a:r>
              <a:rPr i="1" lang="en-US" sz="2400">
                <a:latin typeface="Times New Roman"/>
                <a:ea typeface="Times New Roman"/>
                <a:cs typeface="Times New Roman"/>
                <a:sym typeface="Times New Roman"/>
              </a:rPr>
              <a:t>cannot represent</a:t>
            </a:r>
            <a:r>
              <a:rPr lang="en-US" sz="2400">
                <a:latin typeface="Times New Roman"/>
                <a:ea typeface="Times New Roman"/>
                <a:cs typeface="Times New Roman"/>
                <a:sym typeface="Times New Roman"/>
              </a:rPr>
              <a:t> a single mathematical point.</a:t>
            </a:r>
            <a:endParaRPr/>
          </a:p>
          <a:p>
            <a:pPr indent="-419100" lvl="0" marL="571500" rtl="0" algn="l">
              <a:lnSpc>
                <a:spcPct val="90000"/>
              </a:lnSpc>
              <a:spcBef>
                <a:spcPts val="750"/>
              </a:spcBef>
              <a:spcAft>
                <a:spcPts val="0"/>
              </a:spcAft>
              <a:buClr>
                <a:schemeClr val="dk1"/>
              </a:buClr>
              <a:buSzPts val="2400"/>
              <a:buNone/>
            </a:pPr>
            <a:r>
              <a:t/>
            </a:r>
            <a:endParaRPr sz="2400">
              <a:latin typeface="Times New Roman"/>
              <a:ea typeface="Times New Roman"/>
              <a:cs typeface="Times New Roman"/>
              <a:sym typeface="Times New Roman"/>
            </a:endParaRPr>
          </a:p>
        </p:txBody>
      </p:sp>
      <p:sp>
        <p:nvSpPr>
          <p:cNvPr id="122" name="Google Shape;122;p3"/>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88888"/>
              </a:buClr>
              <a:buSzPts val="900"/>
              <a:buNone/>
            </a:pPr>
            <a:r>
              <a:rPr lang="en-US" u="none"/>
              <a:t>Department of CSE, Daffodil International University</a:t>
            </a:r>
            <a:endParaRPr u="none"/>
          </a:p>
        </p:txBody>
      </p:sp>
      <p:sp>
        <p:nvSpPr>
          <p:cNvPr id="123" name="Google Shape;123;p3"/>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900"/>
              <a:buNone/>
            </a:pPr>
            <a:fld id="{00000000-1234-1234-1234-123412341234}" type="slidenum">
              <a:rPr b="1" i="0" lang="en-US" sz="900" u="none" cap="none" strike="noStrike">
                <a:solidFill>
                  <a:srgbClr val="898989"/>
                </a:solidFill>
                <a:latin typeface="Arial"/>
                <a:ea typeface="Arial"/>
                <a:cs typeface="Arial"/>
                <a:sym typeface="Arial"/>
              </a:rPr>
              <a:t>‹#›</a:t>
            </a:fld>
            <a:endParaRPr b="1" i="0" sz="900" u="none" cap="none" strike="noStrike">
              <a:solidFill>
                <a:srgbClr val="898989"/>
              </a:solidFill>
              <a:latin typeface="Arial"/>
              <a:ea typeface="Arial"/>
              <a:cs typeface="Arial"/>
              <a:sym typeface="Arial"/>
            </a:endParaRPr>
          </a:p>
        </p:txBody>
      </p:sp>
      <p:sp>
        <p:nvSpPr>
          <p:cNvPr id="124" name="Google Shape;124;p3"/>
          <p:cNvSpPr txBox="1"/>
          <p:nvPr/>
        </p:nvSpPr>
        <p:spPr>
          <a:xfrm>
            <a:off x="175500" y="151200"/>
            <a:ext cx="8113500" cy="685800"/>
          </a:xfrm>
          <a:prstGeom prst="rect">
            <a:avLst/>
          </a:prstGeom>
          <a:solidFill>
            <a:srgbClr val="4285F4"/>
          </a:solidFill>
          <a:ln>
            <a:noFill/>
          </a:ln>
        </p:spPr>
        <p:txBody>
          <a:bodyPr anchorCtr="0" anchor="ctr" bIns="45700" lIns="91425" spcFirstLastPara="1" rIns="91425" wrap="square" tIns="45700">
            <a:noAutofit/>
          </a:bodyPr>
          <a:lstStyle/>
          <a:p>
            <a:pPr indent="0" lvl="0" marL="484188" marR="0" rtl="0" algn="ctr">
              <a:lnSpc>
                <a:spcPct val="90000"/>
              </a:lnSpc>
              <a:spcBef>
                <a:spcPts val="0"/>
              </a:spcBef>
              <a:spcAft>
                <a:spcPts val="0"/>
              </a:spcAft>
              <a:buClr>
                <a:srgbClr val="000000"/>
              </a:buClr>
              <a:buSzPts val="3300"/>
              <a:buFont typeface="Arial"/>
              <a:buNone/>
            </a:pPr>
            <a:r>
              <a:t/>
            </a:r>
            <a:endParaRPr b="1" i="0" sz="3300" u="none" cap="none" strike="noStrike">
              <a:solidFill>
                <a:schemeClr val="dk1"/>
              </a:solidFill>
              <a:latin typeface="Times New Roman"/>
              <a:ea typeface="Times New Roman"/>
              <a:cs typeface="Times New Roman"/>
              <a:sym typeface="Times New Roman"/>
            </a:endParaRPr>
          </a:p>
          <a:p>
            <a:pPr indent="0" lvl="0" marL="484188"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Times New Roman"/>
                <a:ea typeface="Times New Roman"/>
                <a:cs typeface="Times New Roman"/>
                <a:sym typeface="Times New Roman"/>
              </a:rPr>
              <a:t>Output Primitives</a:t>
            </a:r>
            <a:endParaRPr b="0"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400"/>
              <a:buFont typeface="Arial"/>
              <a:buNone/>
            </a:pPr>
            <a:r>
              <a:t/>
            </a:r>
            <a:endParaRPr b="0" i="0" sz="3400" u="none" cap="none" strike="noStrike">
              <a:solidFill>
                <a:srgbClr val="000000"/>
              </a:solidFill>
              <a:latin typeface="Calibri"/>
              <a:ea typeface="Calibri"/>
              <a:cs typeface="Calibri"/>
              <a:sym typeface="Calibri"/>
            </a:endParaRPr>
          </a:p>
        </p:txBody>
      </p:sp>
      <p:pic>
        <p:nvPicPr>
          <p:cNvPr id="125" name="Google Shape;125;p3"/>
          <p:cNvPicPr preferRelativeResize="0"/>
          <p:nvPr/>
        </p:nvPicPr>
        <p:blipFill rotWithShape="1">
          <a:blip r:embed="rId3">
            <a:alphaModFix/>
          </a:blip>
          <a:srcRect b="0" l="0" r="0" t="0"/>
          <a:stretch/>
        </p:blipFill>
        <p:spPr>
          <a:xfrm>
            <a:off x="8050200" y="151200"/>
            <a:ext cx="1371600" cy="685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171450" lvl="0" marL="171450" rtl="0" algn="l">
              <a:lnSpc>
                <a:spcPct val="90000"/>
              </a:lnSpc>
              <a:spcBef>
                <a:spcPts val="0"/>
              </a:spcBef>
              <a:spcAft>
                <a:spcPts val="0"/>
              </a:spcAft>
              <a:buClr>
                <a:srgbClr val="FF0000"/>
              </a:buClr>
              <a:buSzPts val="2400"/>
              <a:buFont typeface="Georgia"/>
              <a:buChar char="•"/>
            </a:pPr>
            <a:r>
              <a:rPr lang="en-US" sz="2400">
                <a:solidFill>
                  <a:srgbClr val="FF0000"/>
                </a:solidFill>
                <a:latin typeface="Georgia"/>
                <a:ea typeface="Georgia"/>
                <a:cs typeface="Georgia"/>
                <a:sym typeface="Georgia"/>
              </a:rPr>
              <a:t> </a:t>
            </a:r>
            <a:r>
              <a:rPr lang="en-US" sz="2400">
                <a:solidFill>
                  <a:srgbClr val="FF0000"/>
                </a:solidFill>
                <a:latin typeface="Georgia"/>
                <a:ea typeface="Georgia"/>
                <a:cs typeface="Georgia"/>
                <a:sym typeface="Georgia"/>
              </a:rPr>
              <a:t>Circles</a:t>
            </a:r>
            <a:r>
              <a:rPr lang="en-US" sz="2400">
                <a:solidFill>
                  <a:srgbClr val="FF0000"/>
                </a:solidFill>
                <a:latin typeface="Times New Roman"/>
                <a:ea typeface="Times New Roman"/>
                <a:cs typeface="Times New Roman"/>
                <a:sym typeface="Times New Roman"/>
              </a:rPr>
              <a:t> </a:t>
            </a:r>
            <a:r>
              <a:rPr lang="en-US" sz="2400">
                <a:solidFill>
                  <a:srgbClr val="FF0000"/>
                </a:solidFill>
                <a:latin typeface="Georgia"/>
                <a:ea typeface="Georgia"/>
                <a:cs typeface="Georgia"/>
                <a:sym typeface="Georgia"/>
              </a:rPr>
              <a:t>and</a:t>
            </a:r>
            <a:r>
              <a:rPr lang="en-US" sz="2400">
                <a:solidFill>
                  <a:srgbClr val="FF0000"/>
                </a:solidFill>
                <a:latin typeface="Times New Roman"/>
                <a:ea typeface="Times New Roman"/>
                <a:cs typeface="Times New Roman"/>
                <a:sym typeface="Times New Roman"/>
              </a:rPr>
              <a:t> </a:t>
            </a:r>
            <a:r>
              <a:rPr lang="en-US" sz="2400">
                <a:solidFill>
                  <a:srgbClr val="FF0000"/>
                </a:solidFill>
                <a:latin typeface="Georgia"/>
                <a:ea typeface="Georgia"/>
                <a:cs typeface="Georgia"/>
                <a:sym typeface="Georgia"/>
              </a:rPr>
              <a:t>ellipses</a:t>
            </a:r>
            <a:r>
              <a:rPr lang="en-US" sz="2400">
                <a:solidFill>
                  <a:srgbClr val="FF0000"/>
                </a:solidFill>
                <a:latin typeface="Times New Roman"/>
                <a:ea typeface="Times New Roman"/>
                <a:cs typeface="Times New Roman"/>
                <a:sym typeface="Times New Roman"/>
              </a:rPr>
              <a:t> </a:t>
            </a:r>
            <a:r>
              <a:rPr lang="en-US" sz="2400">
                <a:latin typeface="Georgia"/>
                <a:ea typeface="Georgia"/>
                <a:cs typeface="Georgia"/>
                <a:sym typeface="Georgia"/>
              </a:rPr>
              <a:t>are</a:t>
            </a:r>
            <a:r>
              <a:rPr lang="en-US" sz="2400">
                <a:latin typeface="Times New Roman"/>
                <a:ea typeface="Times New Roman"/>
                <a:cs typeface="Times New Roman"/>
                <a:sym typeface="Times New Roman"/>
              </a:rPr>
              <a:t> </a:t>
            </a:r>
            <a:r>
              <a:rPr lang="en-US" sz="2400">
                <a:latin typeface="Georgia"/>
                <a:ea typeface="Georgia"/>
                <a:cs typeface="Georgia"/>
                <a:sym typeface="Georgia"/>
              </a:rPr>
              <a:t>common</a:t>
            </a:r>
            <a:r>
              <a:rPr lang="en-US" sz="2400">
                <a:latin typeface="Times New Roman"/>
                <a:ea typeface="Times New Roman"/>
                <a:cs typeface="Times New Roman"/>
                <a:sym typeface="Times New Roman"/>
              </a:rPr>
              <a:t> </a:t>
            </a:r>
            <a:r>
              <a:rPr lang="en-US" sz="2400">
                <a:latin typeface="Georgia"/>
                <a:ea typeface="Georgia"/>
                <a:cs typeface="Georgia"/>
                <a:sym typeface="Georgia"/>
              </a:rPr>
              <a:t>components</a:t>
            </a:r>
            <a:r>
              <a:rPr lang="en-US" sz="2400">
                <a:latin typeface="Times New Roman"/>
                <a:ea typeface="Times New Roman"/>
                <a:cs typeface="Times New Roman"/>
                <a:sym typeface="Times New Roman"/>
              </a:rPr>
              <a:t> </a:t>
            </a:r>
            <a:r>
              <a:rPr lang="en-US" sz="2400">
                <a:latin typeface="Georgia"/>
                <a:ea typeface="Georgia"/>
                <a:cs typeface="Georgia"/>
                <a:sym typeface="Georgia"/>
              </a:rPr>
              <a:t>in many pictures.</a:t>
            </a:r>
            <a:endParaRPr/>
          </a:p>
          <a:p>
            <a:pPr indent="-171450" lvl="0" marL="171450" rtl="0" algn="l">
              <a:lnSpc>
                <a:spcPct val="90000"/>
              </a:lnSpc>
              <a:spcBef>
                <a:spcPts val="675"/>
              </a:spcBef>
              <a:spcAft>
                <a:spcPts val="0"/>
              </a:spcAft>
              <a:buClr>
                <a:srgbClr val="FF0000"/>
              </a:buClr>
              <a:buSzPts val="2400"/>
              <a:buFont typeface="Georgia"/>
              <a:buChar char="•"/>
            </a:pPr>
            <a:r>
              <a:rPr lang="en-US" sz="2400">
                <a:latin typeface="Georgia"/>
                <a:ea typeface="Georgia"/>
                <a:cs typeface="Georgia"/>
                <a:sym typeface="Georgia"/>
              </a:rPr>
              <a:t> </a:t>
            </a:r>
            <a:r>
              <a:rPr lang="en-US" sz="2400">
                <a:latin typeface="Georgia"/>
                <a:ea typeface="Georgia"/>
                <a:cs typeface="Georgia"/>
                <a:sym typeface="Georgia"/>
              </a:rPr>
              <a:t>Circle</a:t>
            </a:r>
            <a:r>
              <a:rPr lang="en-US" sz="2400">
                <a:latin typeface="Times New Roman"/>
                <a:ea typeface="Times New Roman"/>
                <a:cs typeface="Times New Roman"/>
                <a:sym typeface="Times New Roman"/>
              </a:rPr>
              <a:t> </a:t>
            </a:r>
            <a:r>
              <a:rPr lang="en-US" sz="2400">
                <a:latin typeface="Georgia"/>
                <a:ea typeface="Georgia"/>
                <a:cs typeface="Georgia"/>
                <a:sym typeface="Georgia"/>
              </a:rPr>
              <a:t>generation</a:t>
            </a:r>
            <a:r>
              <a:rPr lang="en-US" sz="2400">
                <a:latin typeface="Times New Roman"/>
                <a:ea typeface="Times New Roman"/>
                <a:cs typeface="Times New Roman"/>
                <a:sym typeface="Times New Roman"/>
              </a:rPr>
              <a:t> </a:t>
            </a:r>
            <a:r>
              <a:rPr lang="en-US" sz="2400">
                <a:latin typeface="Georgia"/>
                <a:ea typeface="Georgia"/>
                <a:cs typeface="Georgia"/>
                <a:sym typeface="Georgia"/>
              </a:rPr>
              <a:t>routines</a:t>
            </a:r>
            <a:r>
              <a:rPr lang="en-US" sz="2400">
                <a:latin typeface="Times New Roman"/>
                <a:ea typeface="Times New Roman"/>
                <a:cs typeface="Times New Roman"/>
                <a:sym typeface="Times New Roman"/>
              </a:rPr>
              <a:t> </a:t>
            </a:r>
            <a:r>
              <a:rPr lang="en-US" sz="2400">
                <a:latin typeface="Georgia"/>
                <a:ea typeface="Georgia"/>
                <a:cs typeface="Georgia"/>
                <a:sym typeface="Georgia"/>
              </a:rPr>
              <a:t>are</a:t>
            </a:r>
            <a:r>
              <a:rPr lang="en-US" sz="2400">
                <a:latin typeface="Times New Roman"/>
                <a:ea typeface="Times New Roman"/>
                <a:cs typeface="Times New Roman"/>
                <a:sym typeface="Times New Roman"/>
              </a:rPr>
              <a:t> </a:t>
            </a:r>
            <a:r>
              <a:rPr lang="en-US" sz="2400">
                <a:latin typeface="Georgia"/>
                <a:ea typeface="Georgia"/>
                <a:cs typeface="Georgia"/>
                <a:sym typeface="Georgia"/>
              </a:rPr>
              <a:t>often</a:t>
            </a:r>
            <a:r>
              <a:rPr lang="en-US" sz="2400">
                <a:latin typeface="Times New Roman"/>
                <a:ea typeface="Times New Roman"/>
                <a:cs typeface="Times New Roman"/>
                <a:sym typeface="Times New Roman"/>
              </a:rPr>
              <a:t> </a:t>
            </a:r>
            <a:r>
              <a:rPr lang="en-US" sz="2400">
                <a:latin typeface="Georgia"/>
                <a:ea typeface="Georgia"/>
                <a:cs typeface="Georgia"/>
                <a:sym typeface="Georgia"/>
              </a:rPr>
              <a:t>included</a:t>
            </a:r>
            <a:r>
              <a:rPr lang="en-US" sz="2400">
                <a:latin typeface="Times New Roman"/>
                <a:ea typeface="Times New Roman"/>
                <a:cs typeface="Times New Roman"/>
                <a:sym typeface="Times New Roman"/>
              </a:rPr>
              <a:t> </a:t>
            </a:r>
            <a:r>
              <a:rPr lang="en-US" sz="2400">
                <a:latin typeface="Georgia"/>
                <a:ea typeface="Georgia"/>
                <a:cs typeface="Georgia"/>
                <a:sym typeface="Georgia"/>
              </a:rPr>
              <a:t>in</a:t>
            </a:r>
            <a:r>
              <a:rPr lang="en-US" sz="2400">
                <a:latin typeface="Times New Roman"/>
                <a:ea typeface="Times New Roman"/>
                <a:cs typeface="Times New Roman"/>
                <a:sym typeface="Times New Roman"/>
              </a:rPr>
              <a:t> </a:t>
            </a:r>
            <a:r>
              <a:rPr lang="en-US" sz="2400">
                <a:latin typeface="Georgia"/>
                <a:ea typeface="Georgia"/>
                <a:cs typeface="Georgia"/>
                <a:sym typeface="Georgia"/>
              </a:rPr>
              <a:t>packages.</a:t>
            </a:r>
            <a:endParaRPr/>
          </a:p>
          <a:p>
            <a:pPr indent="-38100" lvl="0" marL="171450" rtl="0" algn="l">
              <a:lnSpc>
                <a:spcPct val="90000"/>
              </a:lnSpc>
              <a:spcBef>
                <a:spcPts val="750"/>
              </a:spcBef>
              <a:spcAft>
                <a:spcPts val="0"/>
              </a:spcAft>
              <a:buClr>
                <a:schemeClr val="dk1"/>
              </a:buClr>
              <a:buSzPts val="2100"/>
              <a:buNone/>
            </a:pPr>
            <a:r>
              <a:t/>
            </a:r>
            <a:endParaRPr/>
          </a:p>
        </p:txBody>
      </p:sp>
      <p:sp>
        <p:nvSpPr>
          <p:cNvPr id="131" name="Google Shape;131;p4"/>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88888"/>
              </a:buClr>
              <a:buSzPts val="900"/>
              <a:buNone/>
            </a:pPr>
            <a:r>
              <a:rPr lang="en-US" u="none"/>
              <a:t>Department of CSE, Daffodil International University</a:t>
            </a:r>
            <a:endParaRPr u="none"/>
          </a:p>
        </p:txBody>
      </p:sp>
      <p:sp>
        <p:nvSpPr>
          <p:cNvPr id="132" name="Google Shape;132;p4"/>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900"/>
              <a:buNone/>
            </a:pPr>
            <a:fld id="{00000000-1234-1234-1234-123412341234}" type="slidenum">
              <a:rPr b="1" i="0" lang="en-US" sz="900" u="sng" cap="none" strike="noStrike">
                <a:solidFill>
                  <a:srgbClr val="898989"/>
                </a:solidFill>
                <a:latin typeface="Arial"/>
                <a:ea typeface="Arial"/>
                <a:cs typeface="Arial"/>
                <a:sym typeface="Arial"/>
              </a:rPr>
              <a:t>‹#›</a:t>
            </a:fld>
            <a:endParaRPr b="1" i="0" sz="900" u="sng" cap="none" strike="noStrike">
              <a:solidFill>
                <a:srgbClr val="898989"/>
              </a:solidFill>
              <a:latin typeface="Arial"/>
              <a:ea typeface="Arial"/>
              <a:cs typeface="Arial"/>
              <a:sym typeface="Arial"/>
            </a:endParaRPr>
          </a:p>
        </p:txBody>
      </p:sp>
      <p:sp>
        <p:nvSpPr>
          <p:cNvPr id="133" name="Google Shape;133;p4"/>
          <p:cNvSpPr txBox="1"/>
          <p:nvPr/>
        </p:nvSpPr>
        <p:spPr>
          <a:xfrm>
            <a:off x="175500" y="151200"/>
            <a:ext cx="8113500" cy="685800"/>
          </a:xfrm>
          <a:prstGeom prst="rect">
            <a:avLst/>
          </a:prstGeom>
          <a:solidFill>
            <a:srgbClr val="4285F4"/>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Calibri"/>
                <a:ea typeface="Calibri"/>
                <a:cs typeface="Calibri"/>
                <a:sym typeface="Calibri"/>
              </a:rPr>
              <a:t>			</a:t>
            </a:r>
            <a:endParaRPr b="1"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3300"/>
              <a:buFont typeface="Arial"/>
              <a:buNone/>
            </a:pPr>
            <a:r>
              <a:rPr b="1" i="0" lang="en-US" sz="3300" u="none" cap="none" strike="noStrike">
                <a:solidFill>
                  <a:schemeClr val="dk1"/>
                </a:solidFill>
                <a:latin typeface="Times New Roman"/>
                <a:ea typeface="Times New Roman"/>
                <a:cs typeface="Times New Roman"/>
                <a:sym typeface="Times New Roman"/>
              </a:rPr>
              <a:t>Circle Drawing Algorithm</a:t>
            </a:r>
            <a:endParaRPr b="0"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t/>
            </a:r>
            <a:endParaRPr b="1" i="0" sz="3300" u="none" cap="none" strike="noStrike">
              <a:solidFill>
                <a:schemeClr val="dk1"/>
              </a:solidFill>
              <a:latin typeface="Times New Roman"/>
              <a:ea typeface="Times New Roman"/>
              <a:cs typeface="Times New Roman"/>
              <a:sym typeface="Times New Roman"/>
            </a:endParaRPr>
          </a:p>
        </p:txBody>
      </p:sp>
      <p:pic>
        <p:nvPicPr>
          <p:cNvPr id="134" name="Google Shape;134;p4"/>
          <p:cNvPicPr preferRelativeResize="0"/>
          <p:nvPr/>
        </p:nvPicPr>
        <p:blipFill rotWithShape="1">
          <a:blip r:embed="rId3">
            <a:alphaModFix/>
          </a:blip>
          <a:srcRect b="0" l="0" r="0" t="0"/>
          <a:stretch/>
        </p:blipFill>
        <p:spPr>
          <a:xfrm>
            <a:off x="8050200" y="151200"/>
            <a:ext cx="1371600" cy="685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5"/>
          <p:cNvSpPr txBox="1"/>
          <p:nvPr/>
        </p:nvSpPr>
        <p:spPr>
          <a:xfrm>
            <a:off x="854075" y="1506538"/>
            <a:ext cx="3656013" cy="1106487"/>
          </a:xfrm>
          <a:prstGeom prst="rect">
            <a:avLst/>
          </a:prstGeom>
          <a:noFill/>
          <a:ln>
            <a:noFill/>
          </a:ln>
        </p:spPr>
        <p:txBody>
          <a:bodyPr anchorCtr="0" anchor="t" bIns="0" lIns="0" spcFirstLastPara="1" rIns="0" wrap="square" tIns="0">
            <a:spAutoFit/>
          </a:bodyPr>
          <a:lstStyle/>
          <a:p>
            <a:pPr indent="-342900" lvl="0" marL="355600" marR="0" rtl="0" algn="l">
              <a:lnSpc>
                <a:spcPct val="100000"/>
              </a:lnSpc>
              <a:spcBef>
                <a:spcPts val="0"/>
              </a:spcBef>
              <a:spcAft>
                <a:spcPts val="0"/>
              </a:spcAft>
              <a:buClr>
                <a:schemeClr val="dk1"/>
              </a:buClr>
              <a:buSzPts val="2400"/>
              <a:buFont typeface="Georgia"/>
              <a:buChar char="•"/>
            </a:pPr>
            <a:r>
              <a:rPr b="1" i="0" lang="en-US" sz="2400" u="sng" cap="none" strike="noStrike">
                <a:solidFill>
                  <a:schemeClr val="dk1"/>
                </a:solidFill>
                <a:latin typeface="Georgia"/>
                <a:ea typeface="Georgia"/>
                <a:cs typeface="Georgia"/>
                <a:sym typeface="Georgia"/>
              </a:rPr>
              <a:t>Polar</a:t>
            </a:r>
            <a:r>
              <a:rPr b="1" i="0" lang="en-US" sz="2400" u="sng" cap="none" strike="noStrike">
                <a:solidFill>
                  <a:schemeClr val="dk1"/>
                </a:solidFill>
                <a:latin typeface="Times New Roman"/>
                <a:ea typeface="Times New Roman"/>
                <a:cs typeface="Times New Roman"/>
                <a:sym typeface="Times New Roman"/>
              </a:rPr>
              <a:t> </a:t>
            </a:r>
            <a:r>
              <a:rPr b="1" i="0" lang="en-US" sz="2400" u="sng" cap="none" strike="noStrike">
                <a:solidFill>
                  <a:schemeClr val="dk1"/>
                </a:solidFill>
                <a:latin typeface="Georgia"/>
                <a:ea typeface="Georgia"/>
                <a:cs typeface="Georgia"/>
                <a:sym typeface="Georgia"/>
              </a:rPr>
              <a:t>form</a:t>
            </a:r>
            <a:endParaRPr b="0" i="0" sz="1400" u="none" cap="none" strike="noStrike">
              <a:solidFill>
                <a:srgbClr val="000000"/>
              </a:solidFill>
              <a:latin typeface="Arial"/>
              <a:ea typeface="Arial"/>
              <a:cs typeface="Arial"/>
              <a:sym typeface="Arial"/>
            </a:endParaRPr>
          </a:p>
          <a:p>
            <a:pPr indent="-342900" lvl="0" marL="355600" marR="0" rtl="0" algn="l">
              <a:lnSpc>
                <a:spcPct val="114000"/>
              </a:lnSpc>
              <a:spcBef>
                <a:spcPts val="25"/>
              </a:spcBef>
              <a:spcAft>
                <a:spcPts val="0"/>
              </a:spcAft>
              <a:buClr>
                <a:srgbClr val="000000"/>
              </a:buClr>
              <a:buSzPts val="2000"/>
              <a:buFont typeface="Arial"/>
              <a:buNone/>
            </a:pPr>
            <a:r>
              <a:rPr b="1" i="1" lang="en-US" sz="2000" u="none" cap="none" strike="noStrike">
                <a:solidFill>
                  <a:srgbClr val="3816FF"/>
                </a:solidFill>
                <a:latin typeface="Georgia"/>
                <a:ea typeface="Georgia"/>
                <a:cs typeface="Georgia"/>
                <a:sym typeface="Georgia"/>
              </a:rPr>
              <a:t>x</a:t>
            </a:r>
            <a:r>
              <a:rPr b="1" i="1" lang="en-US" sz="2000" u="none" cap="none" strike="noStrike">
                <a:solidFill>
                  <a:srgbClr val="3816FF"/>
                </a:solidFill>
                <a:latin typeface="Times New Roman"/>
                <a:ea typeface="Times New Roman"/>
                <a:cs typeface="Times New Roman"/>
                <a:sym typeface="Times New Roman"/>
              </a:rPr>
              <a:t> </a:t>
            </a:r>
            <a:r>
              <a:rPr b="1" i="0" lang="en-US" sz="2000" u="none" cap="none" strike="noStrike">
                <a:solidFill>
                  <a:srgbClr val="3816FF"/>
                </a:solidFill>
                <a:latin typeface="Georgia"/>
                <a:ea typeface="Georgia"/>
                <a:cs typeface="Georgia"/>
                <a:sym typeface="Georgia"/>
              </a:rPr>
              <a:t>=</a:t>
            </a:r>
            <a:r>
              <a:rPr b="1" i="0" lang="en-US" sz="2000" u="none" cap="none" strike="noStrike">
                <a:solidFill>
                  <a:srgbClr val="3816FF"/>
                </a:solidFill>
                <a:latin typeface="Times New Roman"/>
                <a:ea typeface="Times New Roman"/>
                <a:cs typeface="Times New Roman"/>
                <a:sym typeface="Times New Roman"/>
              </a:rPr>
              <a:t> </a:t>
            </a:r>
            <a:r>
              <a:rPr b="1" i="1" lang="en-US" sz="2000" u="none" cap="none" strike="noStrike">
                <a:solidFill>
                  <a:srgbClr val="3816FF"/>
                </a:solidFill>
                <a:latin typeface="Georgia"/>
                <a:ea typeface="Georgia"/>
                <a:cs typeface="Georgia"/>
                <a:sym typeface="Georgia"/>
              </a:rPr>
              <a:t>r</a:t>
            </a:r>
            <a:r>
              <a:rPr b="1" i="0" lang="en-US" sz="2000" u="none" cap="none" strike="noStrike">
                <a:solidFill>
                  <a:srgbClr val="3816FF"/>
                </a:solidFill>
                <a:latin typeface="Georgia"/>
                <a:ea typeface="Georgia"/>
                <a:cs typeface="Georgia"/>
                <a:sym typeface="Georgia"/>
              </a:rPr>
              <a:t>Cos</a:t>
            </a:r>
            <a:r>
              <a:rPr b="1" i="1" lang="en-US" sz="2100" u="none" cap="none" strike="noStrike">
                <a:solidFill>
                  <a:srgbClr val="3816FF"/>
                </a:solidFill>
                <a:latin typeface="Noto Sans Symbols"/>
                <a:ea typeface="Noto Sans Symbols"/>
                <a:cs typeface="Noto Sans Symbols"/>
                <a:sym typeface="Noto Sans Symbols"/>
              </a:rPr>
              <a:t>θ</a:t>
            </a:r>
            <a:r>
              <a:rPr b="1" i="1" lang="en-US" sz="2100" u="none" cap="none" strike="noStrike">
                <a:solidFill>
                  <a:srgbClr val="3816FF"/>
                </a:solidFill>
                <a:latin typeface="Times New Roman"/>
                <a:ea typeface="Times New Roman"/>
                <a:cs typeface="Times New Roman"/>
                <a:sym typeface="Times New Roman"/>
              </a:rPr>
              <a:t>  </a:t>
            </a:r>
            <a:endParaRPr b="0" i="0" sz="1400" u="none" cap="none" strike="noStrike">
              <a:solidFill>
                <a:srgbClr val="000000"/>
              </a:solidFill>
              <a:latin typeface="Arial"/>
              <a:ea typeface="Arial"/>
              <a:cs typeface="Arial"/>
              <a:sym typeface="Arial"/>
            </a:endParaRPr>
          </a:p>
          <a:p>
            <a:pPr indent="-342900" lvl="0" marL="355600" marR="0" rtl="0" algn="l">
              <a:lnSpc>
                <a:spcPct val="114000"/>
              </a:lnSpc>
              <a:spcBef>
                <a:spcPts val="25"/>
              </a:spcBef>
              <a:spcAft>
                <a:spcPts val="0"/>
              </a:spcAft>
              <a:buClr>
                <a:srgbClr val="000000"/>
              </a:buClr>
              <a:buSzPts val="2000"/>
              <a:buFont typeface="Arial"/>
              <a:buNone/>
            </a:pPr>
            <a:r>
              <a:rPr b="1" i="1" lang="en-US" sz="2000" u="none" cap="none" strike="noStrike">
                <a:solidFill>
                  <a:srgbClr val="3816FF"/>
                </a:solidFill>
                <a:latin typeface="Georgia"/>
                <a:ea typeface="Georgia"/>
                <a:cs typeface="Georgia"/>
                <a:sym typeface="Georgia"/>
              </a:rPr>
              <a:t>y</a:t>
            </a:r>
            <a:r>
              <a:rPr b="1" i="1" lang="en-US" sz="2000" u="none" cap="none" strike="noStrike">
                <a:solidFill>
                  <a:srgbClr val="3816FF"/>
                </a:solidFill>
                <a:latin typeface="Times New Roman"/>
                <a:ea typeface="Times New Roman"/>
                <a:cs typeface="Times New Roman"/>
                <a:sym typeface="Times New Roman"/>
              </a:rPr>
              <a:t> </a:t>
            </a:r>
            <a:r>
              <a:rPr b="1" i="0" lang="en-US" sz="2000" u="none" cap="none" strike="noStrike">
                <a:solidFill>
                  <a:srgbClr val="3816FF"/>
                </a:solidFill>
                <a:latin typeface="Georgia"/>
                <a:ea typeface="Georgia"/>
                <a:cs typeface="Georgia"/>
                <a:sym typeface="Georgia"/>
              </a:rPr>
              <a:t>=</a:t>
            </a:r>
            <a:r>
              <a:rPr b="1" i="0" lang="en-US" sz="2000" u="none" cap="none" strike="noStrike">
                <a:solidFill>
                  <a:srgbClr val="3816FF"/>
                </a:solidFill>
                <a:latin typeface="Times New Roman"/>
                <a:ea typeface="Times New Roman"/>
                <a:cs typeface="Times New Roman"/>
                <a:sym typeface="Times New Roman"/>
              </a:rPr>
              <a:t> </a:t>
            </a:r>
            <a:r>
              <a:rPr b="1" i="1" lang="en-US" sz="2000" u="none" cap="none" strike="noStrike">
                <a:solidFill>
                  <a:srgbClr val="3816FF"/>
                </a:solidFill>
                <a:latin typeface="Georgia"/>
                <a:ea typeface="Georgia"/>
                <a:cs typeface="Georgia"/>
                <a:sym typeface="Georgia"/>
              </a:rPr>
              <a:t>r</a:t>
            </a:r>
            <a:r>
              <a:rPr b="1" i="0" lang="en-US" sz="2000" u="none" cap="none" strike="noStrike">
                <a:solidFill>
                  <a:srgbClr val="3816FF"/>
                </a:solidFill>
                <a:latin typeface="Georgia"/>
                <a:ea typeface="Georgia"/>
                <a:cs typeface="Georgia"/>
                <a:sym typeface="Georgia"/>
              </a:rPr>
              <a:t>Sin</a:t>
            </a:r>
            <a:r>
              <a:rPr b="1" i="1" lang="en-US" sz="2100" u="none" cap="none" strike="noStrike">
                <a:solidFill>
                  <a:srgbClr val="3816FF"/>
                </a:solidFill>
                <a:latin typeface="Noto Sans Symbols"/>
                <a:ea typeface="Noto Sans Symbols"/>
                <a:cs typeface="Noto Sans Symbols"/>
                <a:sym typeface="Noto Sans Symbols"/>
              </a:rPr>
              <a:t>θ</a:t>
            </a:r>
            <a:endParaRPr b="1" i="0" sz="2100" u="none" cap="none" strike="noStrike">
              <a:solidFill>
                <a:schemeClr val="dk1"/>
              </a:solidFill>
              <a:latin typeface="Noto Sans Symbols"/>
              <a:ea typeface="Noto Sans Symbols"/>
              <a:cs typeface="Noto Sans Symbols"/>
              <a:sym typeface="Noto Sans Symbols"/>
            </a:endParaRPr>
          </a:p>
        </p:txBody>
      </p:sp>
      <p:sp>
        <p:nvSpPr>
          <p:cNvPr id="140" name="Google Shape;140;p5"/>
          <p:cNvSpPr txBox="1"/>
          <p:nvPr/>
        </p:nvSpPr>
        <p:spPr>
          <a:xfrm>
            <a:off x="4270375" y="1935163"/>
            <a:ext cx="2279650" cy="2794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Clr>
                <a:srgbClr val="000000"/>
              </a:buClr>
              <a:buSzPts val="2000"/>
              <a:buFont typeface="Arial"/>
              <a:buNone/>
            </a:pPr>
            <a:r>
              <a:rPr b="1" i="0" lang="en-US" sz="2000" u="sng" cap="none" strike="noStrike">
                <a:solidFill>
                  <a:schemeClr val="lt1"/>
                </a:solidFill>
                <a:latin typeface="Georgia"/>
                <a:ea typeface="Georgia"/>
                <a:cs typeface="Georgia"/>
                <a:sym typeface="Georgia"/>
              </a:rPr>
              <a:t>(</a:t>
            </a:r>
            <a:r>
              <a:rPr b="1" i="1" lang="en-US" sz="2000" u="sng" cap="none" strike="noStrike">
                <a:solidFill>
                  <a:schemeClr val="lt1"/>
                </a:solidFill>
                <a:latin typeface="Georgia"/>
                <a:ea typeface="Georgia"/>
                <a:cs typeface="Georgia"/>
                <a:sym typeface="Georgia"/>
              </a:rPr>
              <a:t>r</a:t>
            </a:r>
            <a:r>
              <a:rPr b="1" i="1" lang="en-US" sz="2000" u="sng" cap="none" strike="noStrike">
                <a:solidFill>
                  <a:schemeClr val="lt1"/>
                </a:solidFill>
                <a:latin typeface="Times New Roman"/>
                <a:ea typeface="Times New Roman"/>
                <a:cs typeface="Times New Roman"/>
                <a:sym typeface="Times New Roman"/>
              </a:rPr>
              <a:t> </a:t>
            </a:r>
            <a:r>
              <a:rPr b="1" i="0" lang="en-US" sz="2000" u="sng" cap="none" strike="noStrike">
                <a:solidFill>
                  <a:schemeClr val="lt1"/>
                </a:solidFill>
                <a:latin typeface="Georgia"/>
                <a:ea typeface="Georgia"/>
                <a:cs typeface="Georgia"/>
                <a:sym typeface="Georgia"/>
              </a:rPr>
              <a:t>=</a:t>
            </a:r>
            <a:r>
              <a:rPr b="1" i="0" lang="en-US" sz="2000" u="sng" cap="none" strike="noStrike">
                <a:solidFill>
                  <a:schemeClr val="lt1"/>
                </a:solidFill>
                <a:latin typeface="Times New Roman"/>
                <a:ea typeface="Times New Roman"/>
                <a:cs typeface="Times New Roman"/>
                <a:sym typeface="Times New Roman"/>
              </a:rPr>
              <a:t> </a:t>
            </a:r>
            <a:r>
              <a:rPr b="1" i="0" lang="en-US" sz="2000" u="sng" cap="none" strike="noStrike">
                <a:solidFill>
                  <a:schemeClr val="lt1"/>
                </a:solidFill>
                <a:latin typeface="Georgia"/>
                <a:ea typeface="Georgia"/>
                <a:cs typeface="Georgia"/>
                <a:sym typeface="Georgia"/>
              </a:rPr>
              <a:t>radius</a:t>
            </a:r>
            <a:r>
              <a:rPr b="1" i="0" lang="en-US" sz="2000" u="sng" cap="none" strike="noStrike">
                <a:solidFill>
                  <a:schemeClr val="lt1"/>
                </a:solidFill>
                <a:latin typeface="Times New Roman"/>
                <a:ea typeface="Times New Roman"/>
                <a:cs typeface="Times New Roman"/>
                <a:sym typeface="Times New Roman"/>
              </a:rPr>
              <a:t> </a:t>
            </a:r>
            <a:r>
              <a:rPr b="1" i="0" lang="en-US" sz="2000" u="sng" cap="none" strike="noStrike">
                <a:solidFill>
                  <a:schemeClr val="lt1"/>
                </a:solidFill>
                <a:latin typeface="Georgia"/>
                <a:ea typeface="Georgia"/>
                <a:cs typeface="Georgia"/>
                <a:sym typeface="Georgia"/>
              </a:rPr>
              <a:t>of</a:t>
            </a:r>
            <a:r>
              <a:rPr b="1" i="0" lang="en-US" sz="2000" u="sng" cap="none" strike="noStrike">
                <a:solidFill>
                  <a:schemeClr val="lt1"/>
                </a:solidFill>
                <a:latin typeface="Times New Roman"/>
                <a:ea typeface="Times New Roman"/>
                <a:cs typeface="Times New Roman"/>
                <a:sym typeface="Times New Roman"/>
              </a:rPr>
              <a:t> </a:t>
            </a:r>
            <a:r>
              <a:rPr b="1" i="0" lang="en-US" sz="2000" u="sng" cap="none" strike="noStrike">
                <a:solidFill>
                  <a:schemeClr val="lt1"/>
                </a:solidFill>
                <a:latin typeface="Georgia"/>
                <a:ea typeface="Georgia"/>
                <a:cs typeface="Georgia"/>
                <a:sym typeface="Georgia"/>
              </a:rPr>
              <a:t>circle)</a:t>
            </a:r>
            <a:endParaRPr b="0" i="0" sz="1400" u="none" cap="none" strike="noStrike">
              <a:solidFill>
                <a:srgbClr val="000000"/>
              </a:solidFill>
              <a:latin typeface="Arial"/>
              <a:ea typeface="Arial"/>
              <a:cs typeface="Arial"/>
              <a:sym typeface="Arial"/>
            </a:endParaRPr>
          </a:p>
        </p:txBody>
      </p:sp>
      <p:sp>
        <p:nvSpPr>
          <p:cNvPr id="141" name="Google Shape;141;p5"/>
          <p:cNvSpPr/>
          <p:nvPr/>
        </p:nvSpPr>
        <p:spPr>
          <a:xfrm>
            <a:off x="2397125" y="3508375"/>
            <a:ext cx="2232025" cy="2087563"/>
          </a:xfrm>
          <a:custGeom>
            <a:rect b="b" l="l" r="r" t="t"/>
            <a:pathLst>
              <a:path extrusionOk="0" h="2087879" w="2232025">
                <a:moveTo>
                  <a:pt x="1116095" y="0"/>
                </a:moveTo>
                <a:lnTo>
                  <a:pt x="1024548" y="3460"/>
                </a:lnTo>
                <a:lnTo>
                  <a:pt x="935041" y="13662"/>
                </a:lnTo>
                <a:lnTo>
                  <a:pt x="847861" y="30337"/>
                </a:lnTo>
                <a:lnTo>
                  <a:pt x="763295" y="53217"/>
                </a:lnTo>
                <a:lnTo>
                  <a:pt x="681630" y="82032"/>
                </a:lnTo>
                <a:lnTo>
                  <a:pt x="603154" y="116515"/>
                </a:lnTo>
                <a:lnTo>
                  <a:pt x="528152" y="156395"/>
                </a:lnTo>
                <a:lnTo>
                  <a:pt x="456913" y="201405"/>
                </a:lnTo>
                <a:lnTo>
                  <a:pt x="389723" y="251276"/>
                </a:lnTo>
                <a:lnTo>
                  <a:pt x="326870" y="305739"/>
                </a:lnTo>
                <a:lnTo>
                  <a:pt x="268640" y="364525"/>
                </a:lnTo>
                <a:lnTo>
                  <a:pt x="215321" y="427366"/>
                </a:lnTo>
                <a:lnTo>
                  <a:pt x="167199" y="493993"/>
                </a:lnTo>
                <a:lnTo>
                  <a:pt x="124563" y="564137"/>
                </a:lnTo>
                <a:lnTo>
                  <a:pt x="87698" y="637530"/>
                </a:lnTo>
                <a:lnTo>
                  <a:pt x="56892" y="713903"/>
                </a:lnTo>
                <a:lnTo>
                  <a:pt x="32432" y="792986"/>
                </a:lnTo>
                <a:lnTo>
                  <a:pt x="14605" y="874513"/>
                </a:lnTo>
                <a:lnTo>
                  <a:pt x="3699" y="958213"/>
                </a:lnTo>
                <a:lnTo>
                  <a:pt x="0" y="1043818"/>
                </a:lnTo>
                <a:lnTo>
                  <a:pt x="3699" y="1129422"/>
                </a:lnTo>
                <a:lnTo>
                  <a:pt x="14605" y="1213121"/>
                </a:lnTo>
                <a:lnTo>
                  <a:pt x="32432" y="1294645"/>
                </a:lnTo>
                <a:lnTo>
                  <a:pt x="56892" y="1373725"/>
                </a:lnTo>
                <a:lnTo>
                  <a:pt x="87698" y="1450094"/>
                </a:lnTo>
                <a:lnTo>
                  <a:pt x="124563" y="1523483"/>
                </a:lnTo>
                <a:lnTo>
                  <a:pt x="167199" y="1593622"/>
                </a:lnTo>
                <a:lnTo>
                  <a:pt x="215321" y="1660245"/>
                </a:lnTo>
                <a:lnTo>
                  <a:pt x="268640" y="1723080"/>
                </a:lnTo>
                <a:lnTo>
                  <a:pt x="326870" y="1781861"/>
                </a:lnTo>
                <a:lnTo>
                  <a:pt x="389723" y="1836319"/>
                </a:lnTo>
                <a:lnTo>
                  <a:pt x="456913" y="1886185"/>
                </a:lnTo>
                <a:lnTo>
                  <a:pt x="528152" y="1931190"/>
                </a:lnTo>
                <a:lnTo>
                  <a:pt x="603154" y="1971066"/>
                </a:lnTo>
                <a:lnTo>
                  <a:pt x="681630" y="2005544"/>
                </a:lnTo>
                <a:lnTo>
                  <a:pt x="763295" y="2034355"/>
                </a:lnTo>
                <a:lnTo>
                  <a:pt x="847861" y="2057232"/>
                </a:lnTo>
                <a:lnTo>
                  <a:pt x="935041" y="2073905"/>
                </a:lnTo>
                <a:lnTo>
                  <a:pt x="1024548" y="2084106"/>
                </a:lnTo>
                <a:lnTo>
                  <a:pt x="1116095" y="2087566"/>
                </a:lnTo>
                <a:lnTo>
                  <a:pt x="1207618" y="2084106"/>
                </a:lnTo>
                <a:lnTo>
                  <a:pt x="1297103" y="2073905"/>
                </a:lnTo>
                <a:lnTo>
                  <a:pt x="1384264" y="2057232"/>
                </a:lnTo>
                <a:lnTo>
                  <a:pt x="1468813" y="2034355"/>
                </a:lnTo>
                <a:lnTo>
                  <a:pt x="1550463" y="2005544"/>
                </a:lnTo>
                <a:lnTo>
                  <a:pt x="1628927" y="1971066"/>
                </a:lnTo>
                <a:lnTo>
                  <a:pt x="1703918" y="1931190"/>
                </a:lnTo>
                <a:lnTo>
                  <a:pt x="1775147" y="1886185"/>
                </a:lnTo>
                <a:lnTo>
                  <a:pt x="1842329" y="1836319"/>
                </a:lnTo>
                <a:lnTo>
                  <a:pt x="1905176" y="1781861"/>
                </a:lnTo>
                <a:lnTo>
                  <a:pt x="1963401" y="1723080"/>
                </a:lnTo>
                <a:lnTo>
                  <a:pt x="2016716" y="1660245"/>
                </a:lnTo>
                <a:lnTo>
                  <a:pt x="2064834" y="1593622"/>
                </a:lnTo>
                <a:lnTo>
                  <a:pt x="2107469" y="1523483"/>
                </a:lnTo>
                <a:lnTo>
                  <a:pt x="2144332" y="1450094"/>
                </a:lnTo>
                <a:lnTo>
                  <a:pt x="2175137" y="1373725"/>
                </a:lnTo>
                <a:lnTo>
                  <a:pt x="2199596" y="1294645"/>
                </a:lnTo>
                <a:lnTo>
                  <a:pt x="2217423" y="1213121"/>
                </a:lnTo>
                <a:lnTo>
                  <a:pt x="2228329" y="1129422"/>
                </a:lnTo>
                <a:lnTo>
                  <a:pt x="2232029" y="1043818"/>
                </a:lnTo>
                <a:lnTo>
                  <a:pt x="2228329" y="958213"/>
                </a:lnTo>
                <a:lnTo>
                  <a:pt x="2217423" y="874513"/>
                </a:lnTo>
                <a:lnTo>
                  <a:pt x="2199596" y="792986"/>
                </a:lnTo>
                <a:lnTo>
                  <a:pt x="2175137" y="713903"/>
                </a:lnTo>
                <a:lnTo>
                  <a:pt x="2144332" y="637530"/>
                </a:lnTo>
                <a:lnTo>
                  <a:pt x="2107469" y="564137"/>
                </a:lnTo>
                <a:lnTo>
                  <a:pt x="2064834" y="493993"/>
                </a:lnTo>
                <a:lnTo>
                  <a:pt x="2016716" y="427366"/>
                </a:lnTo>
                <a:lnTo>
                  <a:pt x="1963401" y="364525"/>
                </a:lnTo>
                <a:lnTo>
                  <a:pt x="1905176" y="305739"/>
                </a:lnTo>
                <a:lnTo>
                  <a:pt x="1842329" y="251276"/>
                </a:lnTo>
                <a:lnTo>
                  <a:pt x="1775147" y="201405"/>
                </a:lnTo>
                <a:lnTo>
                  <a:pt x="1703918" y="156395"/>
                </a:lnTo>
                <a:lnTo>
                  <a:pt x="1628927" y="116515"/>
                </a:lnTo>
                <a:lnTo>
                  <a:pt x="1550463" y="82032"/>
                </a:lnTo>
                <a:lnTo>
                  <a:pt x="1468813" y="53217"/>
                </a:lnTo>
                <a:lnTo>
                  <a:pt x="1384264" y="30337"/>
                </a:lnTo>
                <a:lnTo>
                  <a:pt x="1297103" y="13662"/>
                </a:lnTo>
                <a:lnTo>
                  <a:pt x="1207618" y="3460"/>
                </a:lnTo>
                <a:lnTo>
                  <a:pt x="1116095" y="0"/>
                </a:lnTo>
                <a:close/>
              </a:path>
            </a:pathLst>
          </a:custGeom>
          <a:solidFill>
            <a:srgbClr val="00CC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142" name="Google Shape;142;p5"/>
          <p:cNvSpPr/>
          <p:nvPr/>
        </p:nvSpPr>
        <p:spPr>
          <a:xfrm>
            <a:off x="2397125" y="3508375"/>
            <a:ext cx="2232025" cy="2087563"/>
          </a:xfrm>
          <a:custGeom>
            <a:rect b="b" l="l" r="r" t="t"/>
            <a:pathLst>
              <a:path extrusionOk="0" h="2087879" w="2232025">
                <a:moveTo>
                  <a:pt x="0" y="1043818"/>
                </a:moveTo>
                <a:lnTo>
                  <a:pt x="3699" y="958213"/>
                </a:lnTo>
                <a:lnTo>
                  <a:pt x="14605" y="874513"/>
                </a:lnTo>
                <a:lnTo>
                  <a:pt x="32432" y="792986"/>
                </a:lnTo>
                <a:lnTo>
                  <a:pt x="56892" y="713903"/>
                </a:lnTo>
                <a:lnTo>
                  <a:pt x="87698" y="637530"/>
                </a:lnTo>
                <a:lnTo>
                  <a:pt x="124563" y="564137"/>
                </a:lnTo>
                <a:lnTo>
                  <a:pt x="167199" y="493993"/>
                </a:lnTo>
                <a:lnTo>
                  <a:pt x="215321" y="427366"/>
                </a:lnTo>
                <a:lnTo>
                  <a:pt x="268640" y="364525"/>
                </a:lnTo>
                <a:lnTo>
                  <a:pt x="326870" y="305739"/>
                </a:lnTo>
                <a:lnTo>
                  <a:pt x="389723" y="251276"/>
                </a:lnTo>
                <a:lnTo>
                  <a:pt x="456913" y="201405"/>
                </a:lnTo>
                <a:lnTo>
                  <a:pt x="528152" y="156395"/>
                </a:lnTo>
                <a:lnTo>
                  <a:pt x="603154" y="116515"/>
                </a:lnTo>
                <a:lnTo>
                  <a:pt x="681630" y="82032"/>
                </a:lnTo>
                <a:lnTo>
                  <a:pt x="763295" y="53217"/>
                </a:lnTo>
                <a:lnTo>
                  <a:pt x="847861" y="30337"/>
                </a:lnTo>
                <a:lnTo>
                  <a:pt x="935041" y="13662"/>
                </a:lnTo>
                <a:lnTo>
                  <a:pt x="1024548" y="3460"/>
                </a:lnTo>
                <a:lnTo>
                  <a:pt x="1116095" y="0"/>
                </a:lnTo>
                <a:lnTo>
                  <a:pt x="1207618" y="3460"/>
                </a:lnTo>
                <a:lnTo>
                  <a:pt x="1297103" y="13662"/>
                </a:lnTo>
                <a:lnTo>
                  <a:pt x="1384264" y="30337"/>
                </a:lnTo>
                <a:lnTo>
                  <a:pt x="1468813" y="53217"/>
                </a:lnTo>
                <a:lnTo>
                  <a:pt x="1550463" y="82032"/>
                </a:lnTo>
                <a:lnTo>
                  <a:pt x="1628927" y="116515"/>
                </a:lnTo>
                <a:lnTo>
                  <a:pt x="1703918" y="156395"/>
                </a:lnTo>
                <a:lnTo>
                  <a:pt x="1775147" y="201405"/>
                </a:lnTo>
                <a:lnTo>
                  <a:pt x="1842329" y="251276"/>
                </a:lnTo>
                <a:lnTo>
                  <a:pt x="1905176" y="305739"/>
                </a:lnTo>
                <a:lnTo>
                  <a:pt x="1963401" y="364525"/>
                </a:lnTo>
                <a:lnTo>
                  <a:pt x="2016716" y="427366"/>
                </a:lnTo>
                <a:lnTo>
                  <a:pt x="2064834" y="493993"/>
                </a:lnTo>
                <a:lnTo>
                  <a:pt x="2107469" y="564137"/>
                </a:lnTo>
                <a:lnTo>
                  <a:pt x="2144332" y="637530"/>
                </a:lnTo>
                <a:lnTo>
                  <a:pt x="2175137" y="713903"/>
                </a:lnTo>
                <a:lnTo>
                  <a:pt x="2199596" y="792986"/>
                </a:lnTo>
                <a:lnTo>
                  <a:pt x="2217423" y="874513"/>
                </a:lnTo>
                <a:lnTo>
                  <a:pt x="2228329" y="958213"/>
                </a:lnTo>
                <a:lnTo>
                  <a:pt x="2232029" y="1043818"/>
                </a:lnTo>
                <a:lnTo>
                  <a:pt x="2228329" y="1129422"/>
                </a:lnTo>
                <a:lnTo>
                  <a:pt x="2217423" y="1213121"/>
                </a:lnTo>
                <a:lnTo>
                  <a:pt x="2199596" y="1294645"/>
                </a:lnTo>
                <a:lnTo>
                  <a:pt x="2175137" y="1373725"/>
                </a:lnTo>
                <a:lnTo>
                  <a:pt x="2144332" y="1450094"/>
                </a:lnTo>
                <a:lnTo>
                  <a:pt x="2107469" y="1523483"/>
                </a:lnTo>
                <a:lnTo>
                  <a:pt x="2064834" y="1593622"/>
                </a:lnTo>
                <a:lnTo>
                  <a:pt x="2016716" y="1660245"/>
                </a:lnTo>
                <a:lnTo>
                  <a:pt x="1963401" y="1723080"/>
                </a:lnTo>
                <a:lnTo>
                  <a:pt x="1905176" y="1781861"/>
                </a:lnTo>
                <a:lnTo>
                  <a:pt x="1842329" y="1836319"/>
                </a:lnTo>
                <a:lnTo>
                  <a:pt x="1775147" y="1886185"/>
                </a:lnTo>
                <a:lnTo>
                  <a:pt x="1703918" y="1931190"/>
                </a:lnTo>
                <a:lnTo>
                  <a:pt x="1628927" y="1971066"/>
                </a:lnTo>
                <a:lnTo>
                  <a:pt x="1550463" y="2005544"/>
                </a:lnTo>
                <a:lnTo>
                  <a:pt x="1468813" y="2034355"/>
                </a:lnTo>
                <a:lnTo>
                  <a:pt x="1384264" y="2057232"/>
                </a:lnTo>
                <a:lnTo>
                  <a:pt x="1297103" y="2073905"/>
                </a:lnTo>
                <a:lnTo>
                  <a:pt x="1207618" y="2084106"/>
                </a:lnTo>
                <a:lnTo>
                  <a:pt x="1116095" y="2087566"/>
                </a:lnTo>
                <a:lnTo>
                  <a:pt x="1024548" y="2084106"/>
                </a:lnTo>
                <a:lnTo>
                  <a:pt x="935041" y="2073905"/>
                </a:lnTo>
                <a:lnTo>
                  <a:pt x="847861" y="2057232"/>
                </a:lnTo>
                <a:lnTo>
                  <a:pt x="763295" y="2034355"/>
                </a:lnTo>
                <a:lnTo>
                  <a:pt x="681630" y="2005544"/>
                </a:lnTo>
                <a:lnTo>
                  <a:pt x="603154" y="1971066"/>
                </a:lnTo>
                <a:lnTo>
                  <a:pt x="528152" y="1931190"/>
                </a:lnTo>
                <a:lnTo>
                  <a:pt x="456913" y="1886185"/>
                </a:lnTo>
                <a:lnTo>
                  <a:pt x="389723" y="1836319"/>
                </a:lnTo>
                <a:lnTo>
                  <a:pt x="326870" y="1781861"/>
                </a:lnTo>
                <a:lnTo>
                  <a:pt x="268640" y="1723080"/>
                </a:lnTo>
                <a:lnTo>
                  <a:pt x="215321" y="1660245"/>
                </a:lnTo>
                <a:lnTo>
                  <a:pt x="167199" y="1593622"/>
                </a:lnTo>
                <a:lnTo>
                  <a:pt x="124563" y="1523483"/>
                </a:lnTo>
                <a:lnTo>
                  <a:pt x="87698" y="1450094"/>
                </a:lnTo>
                <a:lnTo>
                  <a:pt x="56892" y="1373725"/>
                </a:lnTo>
                <a:lnTo>
                  <a:pt x="32432" y="1294645"/>
                </a:lnTo>
                <a:lnTo>
                  <a:pt x="14605" y="1213121"/>
                </a:lnTo>
                <a:lnTo>
                  <a:pt x="3699" y="1129422"/>
                </a:lnTo>
                <a:lnTo>
                  <a:pt x="0" y="1043818"/>
                </a:lnTo>
                <a:close/>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143" name="Google Shape;143;p5"/>
          <p:cNvSpPr/>
          <p:nvPr/>
        </p:nvSpPr>
        <p:spPr>
          <a:xfrm>
            <a:off x="1454150" y="4524375"/>
            <a:ext cx="4183063" cy="127000"/>
          </a:xfrm>
          <a:custGeom>
            <a:rect b="b" l="l" r="r" t="t"/>
            <a:pathLst>
              <a:path extrusionOk="0" h="127000" w="4183379">
                <a:moveTo>
                  <a:pt x="4106808" y="0"/>
                </a:moveTo>
                <a:lnTo>
                  <a:pt x="4106808" y="127004"/>
                </a:lnTo>
                <a:lnTo>
                  <a:pt x="4175379" y="69853"/>
                </a:lnTo>
                <a:lnTo>
                  <a:pt x="4119646" y="69853"/>
                </a:lnTo>
                <a:lnTo>
                  <a:pt x="4119646" y="57149"/>
                </a:lnTo>
                <a:lnTo>
                  <a:pt x="4175392" y="57149"/>
                </a:lnTo>
                <a:lnTo>
                  <a:pt x="4106808" y="0"/>
                </a:lnTo>
                <a:close/>
              </a:path>
              <a:path extrusionOk="0" h="127000" w="4183379">
                <a:moveTo>
                  <a:pt x="4106808" y="57149"/>
                </a:moveTo>
                <a:lnTo>
                  <a:pt x="0" y="57149"/>
                </a:lnTo>
                <a:lnTo>
                  <a:pt x="0" y="69853"/>
                </a:lnTo>
                <a:lnTo>
                  <a:pt x="4106808" y="69853"/>
                </a:lnTo>
                <a:lnTo>
                  <a:pt x="4106808" y="57149"/>
                </a:lnTo>
                <a:close/>
              </a:path>
              <a:path extrusionOk="0" h="127000" w="4183379">
                <a:moveTo>
                  <a:pt x="4175392" y="57149"/>
                </a:moveTo>
                <a:lnTo>
                  <a:pt x="4119646" y="57149"/>
                </a:lnTo>
                <a:lnTo>
                  <a:pt x="4119646" y="69853"/>
                </a:lnTo>
                <a:lnTo>
                  <a:pt x="4175379" y="69853"/>
                </a:lnTo>
                <a:lnTo>
                  <a:pt x="4183008" y="63495"/>
                </a:lnTo>
                <a:lnTo>
                  <a:pt x="4175392" y="57149"/>
                </a:lnTo>
                <a:close/>
              </a:path>
            </a:pathLst>
          </a:custGeom>
          <a:solidFill>
            <a:srgbClr val="FF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144" name="Google Shape;144;p5"/>
          <p:cNvSpPr/>
          <p:nvPr/>
        </p:nvSpPr>
        <p:spPr>
          <a:xfrm>
            <a:off x="3455988" y="2643188"/>
            <a:ext cx="127000" cy="3579812"/>
          </a:xfrm>
          <a:custGeom>
            <a:rect b="b" l="l" r="r" t="t"/>
            <a:pathLst>
              <a:path extrusionOk="0" h="3580129" w="127000">
                <a:moveTo>
                  <a:pt x="69829" y="63489"/>
                </a:moveTo>
                <a:lnTo>
                  <a:pt x="57149" y="63489"/>
                </a:lnTo>
                <a:lnTo>
                  <a:pt x="56997" y="3579869"/>
                </a:lnTo>
                <a:lnTo>
                  <a:pt x="69707" y="3579869"/>
                </a:lnTo>
                <a:lnTo>
                  <a:pt x="69829" y="63489"/>
                </a:lnTo>
                <a:close/>
              </a:path>
              <a:path extrusionOk="0" h="3580129" w="127000">
                <a:moveTo>
                  <a:pt x="63489" y="0"/>
                </a:moveTo>
                <a:lnTo>
                  <a:pt x="0" y="76199"/>
                </a:lnTo>
                <a:lnTo>
                  <a:pt x="57149" y="76199"/>
                </a:lnTo>
                <a:lnTo>
                  <a:pt x="57149" y="63489"/>
                </a:lnTo>
                <a:lnTo>
                  <a:pt x="116389" y="63489"/>
                </a:lnTo>
                <a:lnTo>
                  <a:pt x="63489" y="0"/>
                </a:lnTo>
                <a:close/>
              </a:path>
              <a:path extrusionOk="0" h="3580129" w="127000">
                <a:moveTo>
                  <a:pt x="116389" y="63489"/>
                </a:moveTo>
                <a:lnTo>
                  <a:pt x="69829" y="63489"/>
                </a:lnTo>
                <a:lnTo>
                  <a:pt x="69829" y="76199"/>
                </a:lnTo>
                <a:lnTo>
                  <a:pt x="126979" y="76199"/>
                </a:lnTo>
                <a:lnTo>
                  <a:pt x="116389" y="63489"/>
                </a:lnTo>
                <a:close/>
              </a:path>
            </a:pathLst>
          </a:custGeom>
          <a:solidFill>
            <a:srgbClr val="FF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145" name="Google Shape;145;p5"/>
          <p:cNvSpPr/>
          <p:nvPr/>
        </p:nvSpPr>
        <p:spPr>
          <a:xfrm>
            <a:off x="4124325" y="3665538"/>
            <a:ext cx="144463" cy="144462"/>
          </a:xfrm>
          <a:custGeom>
            <a:rect b="b" l="l" r="r" t="t"/>
            <a:pathLst>
              <a:path extrusionOk="0" h="144779" w="144779">
                <a:moveTo>
                  <a:pt x="71658" y="0"/>
                </a:moveTo>
                <a:lnTo>
                  <a:pt x="31582" y="12502"/>
                </a:lnTo>
                <a:lnTo>
                  <a:pt x="5627" y="44177"/>
                </a:lnTo>
                <a:lnTo>
                  <a:pt x="0" y="72143"/>
                </a:lnTo>
                <a:lnTo>
                  <a:pt x="27" y="74136"/>
                </a:lnTo>
                <a:lnTo>
                  <a:pt x="13094" y="113487"/>
                </a:lnTo>
                <a:lnTo>
                  <a:pt x="45249" y="138901"/>
                </a:lnTo>
                <a:lnTo>
                  <a:pt x="73832" y="144394"/>
                </a:lnTo>
                <a:lnTo>
                  <a:pt x="88113" y="142656"/>
                </a:lnTo>
                <a:lnTo>
                  <a:pt x="123853" y="122560"/>
                </a:lnTo>
                <a:lnTo>
                  <a:pt x="143069" y="85778"/>
                </a:lnTo>
                <a:lnTo>
                  <a:pt x="144497" y="71062"/>
                </a:lnTo>
                <a:lnTo>
                  <a:pt x="142846" y="56705"/>
                </a:lnTo>
                <a:lnTo>
                  <a:pt x="122902" y="20767"/>
                </a:lnTo>
                <a:lnTo>
                  <a:pt x="86280" y="1438"/>
                </a:lnTo>
                <a:lnTo>
                  <a:pt x="71658" y="0"/>
                </a:lnTo>
                <a:close/>
              </a:path>
            </a:pathLst>
          </a:custGeom>
          <a:solidFill>
            <a:srgbClr val="FF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146" name="Google Shape;146;p5"/>
          <p:cNvSpPr/>
          <p:nvPr/>
        </p:nvSpPr>
        <p:spPr>
          <a:xfrm>
            <a:off x="4124325" y="3665538"/>
            <a:ext cx="144463" cy="144462"/>
          </a:xfrm>
          <a:custGeom>
            <a:rect b="b" l="l" r="r" t="t"/>
            <a:pathLst>
              <a:path extrusionOk="0" h="144779" w="144779">
                <a:moveTo>
                  <a:pt x="0" y="72143"/>
                </a:moveTo>
                <a:lnTo>
                  <a:pt x="12231" y="31963"/>
                </a:lnTo>
                <a:lnTo>
                  <a:pt x="43754" y="5824"/>
                </a:lnTo>
                <a:lnTo>
                  <a:pt x="71658" y="0"/>
                </a:lnTo>
                <a:lnTo>
                  <a:pt x="86280" y="1438"/>
                </a:lnTo>
                <a:lnTo>
                  <a:pt x="122902" y="20767"/>
                </a:lnTo>
                <a:lnTo>
                  <a:pt x="142846" y="56705"/>
                </a:lnTo>
                <a:lnTo>
                  <a:pt x="144497" y="71062"/>
                </a:lnTo>
                <a:lnTo>
                  <a:pt x="143069" y="85778"/>
                </a:lnTo>
                <a:lnTo>
                  <a:pt x="123853" y="122560"/>
                </a:lnTo>
                <a:lnTo>
                  <a:pt x="88113" y="142656"/>
                </a:lnTo>
                <a:lnTo>
                  <a:pt x="73832" y="144394"/>
                </a:lnTo>
                <a:lnTo>
                  <a:pt x="58999" y="142978"/>
                </a:lnTo>
                <a:lnTo>
                  <a:pt x="22037" y="123877"/>
                </a:lnTo>
                <a:lnTo>
                  <a:pt x="1829" y="88338"/>
                </a:lnTo>
                <a:lnTo>
                  <a:pt x="0" y="72143"/>
                </a:lnTo>
                <a:close/>
              </a:path>
            </a:pathLst>
          </a:custGeom>
          <a:noFill/>
          <a:ln cap="flat" cmpd="sng" w="12700">
            <a:solidFill>
              <a:srgbClr val="FF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147" name="Google Shape;147;p5"/>
          <p:cNvSpPr/>
          <p:nvPr/>
        </p:nvSpPr>
        <p:spPr>
          <a:xfrm>
            <a:off x="4197350" y="3724275"/>
            <a:ext cx="0" cy="863600"/>
          </a:xfrm>
          <a:custGeom>
            <a:rect b="b" l="l" r="r" t="t"/>
            <a:pathLst>
              <a:path extrusionOk="0" h="863600" w="120000">
                <a:moveTo>
                  <a:pt x="0" y="0"/>
                </a:moveTo>
                <a:lnTo>
                  <a:pt x="0" y="863611"/>
                </a:lnTo>
              </a:path>
            </a:pathLst>
          </a:custGeom>
          <a:noFill/>
          <a:ln cap="flat" cmpd="sng" w="12700">
            <a:solidFill>
              <a:srgbClr val="000000"/>
            </a:solidFill>
            <a:prstDash val="lg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148" name="Google Shape;148;p5"/>
          <p:cNvSpPr/>
          <p:nvPr/>
        </p:nvSpPr>
        <p:spPr>
          <a:xfrm>
            <a:off x="3505200" y="3724275"/>
            <a:ext cx="692150" cy="863600"/>
          </a:xfrm>
          <a:custGeom>
            <a:rect b="b" l="l" r="r" t="t"/>
            <a:pathLst>
              <a:path extrusionOk="0" h="863600" w="692150">
                <a:moveTo>
                  <a:pt x="692139" y="0"/>
                </a:moveTo>
                <a:lnTo>
                  <a:pt x="0" y="863611"/>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149" name="Google Shape;149;p5"/>
          <p:cNvSpPr/>
          <p:nvPr/>
        </p:nvSpPr>
        <p:spPr>
          <a:xfrm>
            <a:off x="3621088" y="4443413"/>
            <a:ext cx="71437" cy="144462"/>
          </a:xfrm>
          <a:custGeom>
            <a:rect b="b" l="l" r="r" t="t"/>
            <a:pathLst>
              <a:path extrusionOk="0" h="144779" w="71754">
                <a:moveTo>
                  <a:pt x="0" y="0"/>
                </a:moveTo>
                <a:lnTo>
                  <a:pt x="71384" y="144517"/>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150" name="Google Shape;150;p5"/>
          <p:cNvSpPr/>
          <p:nvPr/>
        </p:nvSpPr>
        <p:spPr>
          <a:xfrm>
            <a:off x="4268788" y="3781425"/>
            <a:ext cx="279400" cy="792163"/>
          </a:xfrm>
          <a:custGeom>
            <a:rect b="b" l="l" r="r" t="t"/>
            <a:pathLst>
              <a:path extrusionOk="0" h="792479" w="279400">
                <a:moveTo>
                  <a:pt x="0" y="0"/>
                </a:moveTo>
                <a:lnTo>
                  <a:pt x="54116" y="4797"/>
                </a:lnTo>
                <a:lnTo>
                  <a:pt x="98908" y="17933"/>
                </a:lnTo>
                <a:lnTo>
                  <a:pt x="137032" y="45161"/>
                </a:lnTo>
                <a:lnTo>
                  <a:pt x="144414" y="330092"/>
                </a:lnTo>
                <a:lnTo>
                  <a:pt x="145628" y="338688"/>
                </a:lnTo>
                <a:lnTo>
                  <a:pt x="172239" y="369053"/>
                </a:lnTo>
                <a:lnTo>
                  <a:pt x="210797" y="385652"/>
                </a:lnTo>
                <a:lnTo>
                  <a:pt x="260753" y="394870"/>
                </a:lnTo>
                <a:lnTo>
                  <a:pt x="279231" y="395978"/>
                </a:lnTo>
                <a:lnTo>
                  <a:pt x="261585" y="396630"/>
                </a:lnTo>
                <a:lnTo>
                  <a:pt x="212212" y="405330"/>
                </a:lnTo>
                <a:lnTo>
                  <a:pt x="172693" y="422451"/>
                </a:lnTo>
                <a:lnTo>
                  <a:pt x="145340" y="454616"/>
                </a:lnTo>
                <a:lnTo>
                  <a:pt x="144414" y="726201"/>
                </a:lnTo>
                <a:lnTo>
                  <a:pt x="143198" y="734802"/>
                </a:lnTo>
                <a:lnTo>
                  <a:pt x="116551" y="765147"/>
                </a:lnTo>
                <a:lnTo>
                  <a:pt x="77954" y="781707"/>
                </a:lnTo>
                <a:lnTo>
                  <a:pt x="27970" y="790880"/>
                </a:lnTo>
                <a:lnTo>
                  <a:pt x="9489" y="791974"/>
                </a:lnTo>
              </a:path>
            </a:pathLst>
          </a:custGeom>
          <a:noFill/>
          <a:ln cap="flat" cmpd="sng" w="12700">
            <a:solidFill>
              <a:srgbClr val="FF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151" name="Google Shape;151;p5"/>
          <p:cNvSpPr/>
          <p:nvPr/>
        </p:nvSpPr>
        <p:spPr>
          <a:xfrm>
            <a:off x="3549650" y="4657725"/>
            <a:ext cx="649288" cy="287338"/>
          </a:xfrm>
          <a:custGeom>
            <a:rect b="b" l="l" r="r" t="t"/>
            <a:pathLst>
              <a:path extrusionOk="0" h="286385" w="649604">
                <a:moveTo>
                  <a:pt x="649212" y="0"/>
                </a:moveTo>
                <a:lnTo>
                  <a:pt x="645078" y="55584"/>
                </a:lnTo>
                <a:lnTo>
                  <a:pt x="633772" y="101191"/>
                </a:lnTo>
                <a:lnTo>
                  <a:pt x="610387" y="138714"/>
                </a:lnTo>
                <a:lnTo>
                  <a:pt x="378702" y="144530"/>
                </a:lnTo>
                <a:lnTo>
                  <a:pt x="371453" y="145817"/>
                </a:lnTo>
                <a:lnTo>
                  <a:pt x="340806" y="185907"/>
                </a:lnTo>
                <a:lnTo>
                  <a:pt x="329150" y="230907"/>
                </a:lnTo>
                <a:lnTo>
                  <a:pt x="324610" y="286139"/>
                </a:lnTo>
                <a:lnTo>
                  <a:pt x="324109" y="267085"/>
                </a:lnTo>
                <a:lnTo>
                  <a:pt x="317140" y="214883"/>
                </a:lnTo>
                <a:lnTo>
                  <a:pt x="303351" y="173998"/>
                </a:lnTo>
                <a:lnTo>
                  <a:pt x="277417" y="145698"/>
                </a:lnTo>
                <a:lnTo>
                  <a:pt x="54090" y="144530"/>
                </a:lnTo>
                <a:lnTo>
                  <a:pt x="46822" y="143241"/>
                </a:lnTo>
                <a:lnTo>
                  <a:pt x="16171" y="103149"/>
                </a:lnTo>
                <a:lnTo>
                  <a:pt x="4540" y="58164"/>
                </a:lnTo>
                <a:lnTo>
                  <a:pt x="623" y="22228"/>
                </a:lnTo>
                <a:lnTo>
                  <a:pt x="0" y="2976"/>
                </a:lnTo>
              </a:path>
            </a:pathLst>
          </a:custGeom>
          <a:noFill/>
          <a:ln cap="flat" cmpd="sng" w="12700">
            <a:solidFill>
              <a:srgbClr val="FF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152" name="Google Shape;152;p5"/>
          <p:cNvSpPr txBox="1"/>
          <p:nvPr/>
        </p:nvSpPr>
        <p:spPr>
          <a:xfrm>
            <a:off x="3671888" y="3898900"/>
            <a:ext cx="185737" cy="71755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Clr>
                <a:srgbClr val="000000"/>
              </a:buClr>
              <a:buSzPts val="2400"/>
              <a:buFont typeface="Arial"/>
              <a:buNone/>
            </a:pPr>
            <a:r>
              <a:rPr b="1" i="1" lang="en-US" sz="2400" u="sng" cap="none" strike="noStrike">
                <a:solidFill>
                  <a:srgbClr val="3816FF"/>
                </a:solidFill>
                <a:latin typeface="Century Gothic"/>
                <a:ea typeface="Century Gothic"/>
                <a:cs typeface="Century Gothic"/>
                <a:sym typeface="Century Gothic"/>
              </a:rPr>
              <a:t>r</a:t>
            </a:r>
            <a:endParaRPr b="1" i="0" sz="2400" u="sng" cap="none" strike="noStrike">
              <a:solidFill>
                <a:schemeClr val="lt1"/>
              </a:solidFill>
              <a:latin typeface="Century Gothic"/>
              <a:ea typeface="Century Gothic"/>
              <a:cs typeface="Century Gothic"/>
              <a:sym typeface="Century Gothic"/>
            </a:endParaRPr>
          </a:p>
          <a:p>
            <a:pPr indent="0" lvl="0" marL="12700" marR="0" rtl="0" algn="l">
              <a:lnSpc>
                <a:spcPct val="100000"/>
              </a:lnSpc>
              <a:spcBef>
                <a:spcPts val="45"/>
              </a:spcBef>
              <a:spcAft>
                <a:spcPts val="0"/>
              </a:spcAft>
              <a:buClr>
                <a:srgbClr val="000000"/>
              </a:buClr>
              <a:buSzPts val="2500"/>
              <a:buFont typeface="Arial"/>
              <a:buNone/>
            </a:pPr>
            <a:r>
              <a:rPr b="1" i="1" lang="en-US" sz="2500" u="sng" cap="none" strike="noStrike">
                <a:solidFill>
                  <a:srgbClr val="3816FF"/>
                </a:solidFill>
                <a:latin typeface="Noto Sans Symbols"/>
                <a:ea typeface="Noto Sans Symbols"/>
                <a:cs typeface="Noto Sans Symbols"/>
                <a:sym typeface="Noto Sans Symbols"/>
              </a:rPr>
              <a:t>θ</a:t>
            </a:r>
            <a:endParaRPr b="1" i="0" sz="2500" u="sng" cap="none" strike="noStrike">
              <a:solidFill>
                <a:schemeClr val="lt1"/>
              </a:solidFill>
              <a:latin typeface="Noto Sans Symbols"/>
              <a:ea typeface="Noto Sans Symbols"/>
              <a:cs typeface="Noto Sans Symbols"/>
              <a:sym typeface="Noto Sans Symbols"/>
            </a:endParaRPr>
          </a:p>
        </p:txBody>
      </p:sp>
      <p:sp>
        <p:nvSpPr>
          <p:cNvPr id="153" name="Google Shape;153;p5"/>
          <p:cNvSpPr txBox="1"/>
          <p:nvPr/>
        </p:nvSpPr>
        <p:spPr>
          <a:xfrm>
            <a:off x="4408488" y="3340100"/>
            <a:ext cx="3154362" cy="384175"/>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Clr>
                <a:srgbClr val="000000"/>
              </a:buClr>
              <a:buSzPts val="2400"/>
              <a:buFont typeface="Arial"/>
              <a:buNone/>
            </a:pPr>
            <a:r>
              <a:rPr b="1" i="1" lang="en-US" sz="2400" u="sng" cap="none" strike="noStrike">
                <a:solidFill>
                  <a:srgbClr val="3816FF"/>
                </a:solidFill>
                <a:latin typeface="Century Gothic"/>
                <a:ea typeface="Century Gothic"/>
                <a:cs typeface="Century Gothic"/>
                <a:sym typeface="Century Gothic"/>
              </a:rPr>
              <a:t>P</a:t>
            </a:r>
            <a:r>
              <a:rPr b="1" i="0" lang="en-US" sz="2400" u="sng" cap="none" strike="noStrike">
                <a:solidFill>
                  <a:srgbClr val="3816FF"/>
                </a:solidFill>
                <a:latin typeface="Century Gothic"/>
                <a:ea typeface="Century Gothic"/>
                <a:cs typeface="Century Gothic"/>
                <a:sym typeface="Century Gothic"/>
              </a:rPr>
              <a:t>=(</a:t>
            </a:r>
            <a:r>
              <a:rPr b="1" i="1" lang="en-US" sz="2400" u="sng" cap="none" strike="noStrike">
                <a:solidFill>
                  <a:srgbClr val="3816FF"/>
                </a:solidFill>
                <a:latin typeface="Century Gothic"/>
                <a:ea typeface="Century Gothic"/>
                <a:cs typeface="Century Gothic"/>
                <a:sym typeface="Century Gothic"/>
              </a:rPr>
              <a:t>r</a:t>
            </a:r>
            <a:r>
              <a:rPr b="1" i="0" lang="en-US" sz="2400" u="sng" cap="none" strike="noStrike">
                <a:solidFill>
                  <a:srgbClr val="3816FF"/>
                </a:solidFill>
                <a:latin typeface="Century Gothic"/>
                <a:ea typeface="Century Gothic"/>
                <a:cs typeface="Century Gothic"/>
                <a:sym typeface="Century Gothic"/>
              </a:rPr>
              <a:t>Cos</a:t>
            </a:r>
            <a:r>
              <a:rPr b="1" i="1" lang="en-US" sz="2500" u="sng" cap="none" strike="noStrike">
                <a:solidFill>
                  <a:srgbClr val="3816FF"/>
                </a:solidFill>
                <a:latin typeface="Noto Sans Symbols"/>
                <a:ea typeface="Noto Sans Symbols"/>
                <a:cs typeface="Noto Sans Symbols"/>
                <a:sym typeface="Noto Sans Symbols"/>
              </a:rPr>
              <a:t>θ</a:t>
            </a:r>
            <a:r>
              <a:rPr b="1" i="0" lang="en-US" sz="2400" u="sng" cap="none" strike="noStrike">
                <a:solidFill>
                  <a:srgbClr val="3816FF"/>
                </a:solidFill>
                <a:latin typeface="Century Gothic"/>
                <a:ea typeface="Century Gothic"/>
                <a:cs typeface="Century Gothic"/>
                <a:sym typeface="Century Gothic"/>
              </a:rPr>
              <a:t>,</a:t>
            </a:r>
            <a:r>
              <a:rPr b="1" i="0" lang="en-US" sz="2400" u="sng" cap="none" strike="noStrike">
                <a:solidFill>
                  <a:srgbClr val="3816FF"/>
                </a:solidFill>
                <a:latin typeface="Times New Roman"/>
                <a:ea typeface="Times New Roman"/>
                <a:cs typeface="Times New Roman"/>
                <a:sym typeface="Times New Roman"/>
              </a:rPr>
              <a:t> </a:t>
            </a:r>
            <a:r>
              <a:rPr b="1" i="1" lang="en-US" sz="2400" u="sng" cap="none" strike="noStrike">
                <a:solidFill>
                  <a:srgbClr val="3816FF"/>
                </a:solidFill>
                <a:latin typeface="Century Gothic"/>
                <a:ea typeface="Century Gothic"/>
                <a:cs typeface="Century Gothic"/>
                <a:sym typeface="Century Gothic"/>
              </a:rPr>
              <a:t>r</a:t>
            </a:r>
            <a:r>
              <a:rPr b="1" i="0" lang="en-US" sz="2400" u="sng" cap="none" strike="noStrike">
                <a:solidFill>
                  <a:srgbClr val="3816FF"/>
                </a:solidFill>
                <a:latin typeface="Century Gothic"/>
                <a:ea typeface="Century Gothic"/>
                <a:cs typeface="Century Gothic"/>
                <a:sym typeface="Century Gothic"/>
              </a:rPr>
              <a:t>Sin</a:t>
            </a:r>
            <a:r>
              <a:rPr b="1" i="1" lang="en-US" sz="2500" u="sng" cap="none" strike="noStrike">
                <a:solidFill>
                  <a:srgbClr val="3816FF"/>
                </a:solidFill>
                <a:latin typeface="Noto Sans Symbols"/>
                <a:ea typeface="Noto Sans Symbols"/>
                <a:cs typeface="Noto Sans Symbols"/>
                <a:sym typeface="Noto Sans Symbols"/>
              </a:rPr>
              <a:t>θ</a:t>
            </a:r>
            <a:r>
              <a:rPr b="1" i="0" lang="en-US" sz="2400" u="sng" cap="none" strike="noStrike">
                <a:solidFill>
                  <a:srgbClr val="3816FF"/>
                </a:solidFill>
                <a:latin typeface="Century Gothic"/>
                <a:ea typeface="Century Gothic"/>
                <a:cs typeface="Century Gothic"/>
                <a:sym typeface="Century Gothic"/>
              </a:rPr>
              <a:t>)</a:t>
            </a:r>
            <a:endParaRPr b="1" i="0" sz="2400" u="sng" cap="none" strike="noStrike">
              <a:solidFill>
                <a:schemeClr val="lt1"/>
              </a:solidFill>
              <a:latin typeface="Century Gothic"/>
              <a:ea typeface="Century Gothic"/>
              <a:cs typeface="Century Gothic"/>
              <a:sym typeface="Century Gothic"/>
            </a:endParaRPr>
          </a:p>
        </p:txBody>
      </p:sp>
      <p:sp>
        <p:nvSpPr>
          <p:cNvPr id="154" name="Google Shape;154;p5"/>
          <p:cNvSpPr txBox="1"/>
          <p:nvPr/>
        </p:nvSpPr>
        <p:spPr>
          <a:xfrm>
            <a:off x="4630738" y="4025900"/>
            <a:ext cx="684212" cy="32385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Clr>
                <a:srgbClr val="000000"/>
              </a:buClr>
              <a:buSzPts val="2000"/>
              <a:buFont typeface="Arial"/>
              <a:buNone/>
            </a:pPr>
            <a:r>
              <a:rPr b="1" i="1" lang="en-US" sz="2000" u="sng" cap="none" strike="noStrike">
                <a:solidFill>
                  <a:srgbClr val="FF0000"/>
                </a:solidFill>
                <a:latin typeface="Century Gothic"/>
                <a:ea typeface="Century Gothic"/>
                <a:cs typeface="Century Gothic"/>
                <a:sym typeface="Century Gothic"/>
              </a:rPr>
              <a:t>r</a:t>
            </a:r>
            <a:r>
              <a:rPr b="1" i="0" lang="en-US" sz="2000" u="sng" cap="none" strike="noStrike">
                <a:solidFill>
                  <a:srgbClr val="FF0000"/>
                </a:solidFill>
                <a:latin typeface="Century Gothic"/>
                <a:ea typeface="Century Gothic"/>
                <a:cs typeface="Century Gothic"/>
                <a:sym typeface="Century Gothic"/>
              </a:rPr>
              <a:t>Sin</a:t>
            </a:r>
            <a:r>
              <a:rPr b="1" i="1" lang="en-US" sz="2100" u="sng" cap="none" strike="noStrike">
                <a:solidFill>
                  <a:srgbClr val="FF0000"/>
                </a:solidFill>
                <a:latin typeface="Noto Sans Symbols"/>
                <a:ea typeface="Noto Sans Symbols"/>
                <a:cs typeface="Noto Sans Symbols"/>
                <a:sym typeface="Noto Sans Symbols"/>
              </a:rPr>
              <a:t>θ</a:t>
            </a:r>
            <a:endParaRPr b="1" i="0" sz="2000" u="sng" cap="none" strike="noStrike">
              <a:solidFill>
                <a:schemeClr val="lt1"/>
              </a:solidFill>
              <a:latin typeface="Century Gothic"/>
              <a:ea typeface="Century Gothic"/>
              <a:cs typeface="Century Gothic"/>
              <a:sym typeface="Century Gothic"/>
            </a:endParaRPr>
          </a:p>
        </p:txBody>
      </p:sp>
      <p:sp>
        <p:nvSpPr>
          <p:cNvPr id="155" name="Google Shape;155;p5"/>
          <p:cNvSpPr txBox="1"/>
          <p:nvPr/>
        </p:nvSpPr>
        <p:spPr>
          <a:xfrm>
            <a:off x="3606800" y="4867275"/>
            <a:ext cx="809625" cy="32385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Clr>
                <a:srgbClr val="000000"/>
              </a:buClr>
              <a:buSzPts val="2000"/>
              <a:buFont typeface="Arial"/>
              <a:buNone/>
            </a:pPr>
            <a:r>
              <a:rPr b="1" i="1" lang="en-US" sz="2000" u="sng" cap="none" strike="noStrike">
                <a:solidFill>
                  <a:srgbClr val="FF0000"/>
                </a:solidFill>
                <a:latin typeface="Century Gothic"/>
                <a:ea typeface="Century Gothic"/>
                <a:cs typeface="Century Gothic"/>
                <a:sym typeface="Century Gothic"/>
              </a:rPr>
              <a:t>r</a:t>
            </a:r>
            <a:r>
              <a:rPr b="1" i="0" lang="en-US" sz="2000" u="sng" cap="none" strike="noStrike">
                <a:solidFill>
                  <a:srgbClr val="FF0000"/>
                </a:solidFill>
                <a:latin typeface="Century Gothic"/>
                <a:ea typeface="Century Gothic"/>
                <a:cs typeface="Century Gothic"/>
                <a:sym typeface="Century Gothic"/>
              </a:rPr>
              <a:t>Cos</a:t>
            </a:r>
            <a:r>
              <a:rPr b="1" i="1" lang="en-US" sz="2100" u="sng" cap="none" strike="noStrike">
                <a:solidFill>
                  <a:srgbClr val="FF0000"/>
                </a:solidFill>
                <a:latin typeface="Noto Sans Symbols"/>
                <a:ea typeface="Noto Sans Symbols"/>
                <a:cs typeface="Noto Sans Symbols"/>
                <a:sym typeface="Noto Sans Symbols"/>
              </a:rPr>
              <a:t>θ</a:t>
            </a:r>
            <a:endParaRPr b="1" i="0" sz="2000" u="sng" cap="none" strike="noStrike">
              <a:solidFill>
                <a:schemeClr val="lt1"/>
              </a:solidFill>
              <a:latin typeface="Century Gothic"/>
              <a:ea typeface="Century Gothic"/>
              <a:cs typeface="Century Gothic"/>
              <a:sym typeface="Century Gothic"/>
            </a:endParaRPr>
          </a:p>
        </p:txBody>
      </p:sp>
      <p:sp>
        <p:nvSpPr>
          <p:cNvPr id="156" name="Google Shape;156;p5"/>
          <p:cNvSpPr txBox="1"/>
          <p:nvPr/>
        </p:nvSpPr>
        <p:spPr>
          <a:xfrm>
            <a:off x="5484813" y="4618038"/>
            <a:ext cx="173037" cy="3302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Clr>
                <a:srgbClr val="000000"/>
              </a:buClr>
              <a:buSzPts val="2400"/>
              <a:buFont typeface="Arial"/>
              <a:buNone/>
            </a:pPr>
            <a:r>
              <a:rPr b="1" i="1" lang="en-US" sz="2400" u="sng" cap="none" strike="noStrike">
                <a:solidFill>
                  <a:srgbClr val="FD2918"/>
                </a:solidFill>
                <a:latin typeface="Century Gothic"/>
                <a:ea typeface="Century Gothic"/>
                <a:cs typeface="Century Gothic"/>
                <a:sym typeface="Century Gothic"/>
              </a:rPr>
              <a:t>x</a:t>
            </a:r>
            <a:endParaRPr b="1" i="0" sz="2400" u="sng" cap="none" strike="noStrike">
              <a:solidFill>
                <a:schemeClr val="lt1"/>
              </a:solidFill>
              <a:latin typeface="Century Gothic"/>
              <a:ea typeface="Century Gothic"/>
              <a:cs typeface="Century Gothic"/>
              <a:sym typeface="Century Gothic"/>
            </a:endParaRPr>
          </a:p>
        </p:txBody>
      </p:sp>
      <p:sp>
        <p:nvSpPr>
          <p:cNvPr id="157" name="Google Shape;157;p5"/>
          <p:cNvSpPr txBox="1"/>
          <p:nvPr/>
        </p:nvSpPr>
        <p:spPr>
          <a:xfrm>
            <a:off x="3627438" y="2582863"/>
            <a:ext cx="188912" cy="3302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Clr>
                <a:srgbClr val="000000"/>
              </a:buClr>
              <a:buSzPts val="2400"/>
              <a:buFont typeface="Arial"/>
              <a:buNone/>
            </a:pPr>
            <a:r>
              <a:rPr b="1" i="1" lang="en-US" sz="2400" u="sng" cap="none" strike="noStrike">
                <a:solidFill>
                  <a:srgbClr val="FD2918"/>
                </a:solidFill>
                <a:latin typeface="Century Gothic"/>
                <a:ea typeface="Century Gothic"/>
                <a:cs typeface="Century Gothic"/>
                <a:sym typeface="Century Gothic"/>
              </a:rPr>
              <a:t>y</a:t>
            </a:r>
            <a:endParaRPr b="1" i="0" sz="2400" u="sng" cap="none" strike="noStrike">
              <a:solidFill>
                <a:schemeClr val="dk1"/>
              </a:solidFill>
              <a:latin typeface="Century Gothic"/>
              <a:ea typeface="Century Gothic"/>
              <a:cs typeface="Century Gothic"/>
              <a:sym typeface="Century Gothic"/>
            </a:endParaRPr>
          </a:p>
        </p:txBody>
      </p:sp>
      <p:sp>
        <p:nvSpPr>
          <p:cNvPr id="158" name="Google Shape;158;p5"/>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88888"/>
              </a:buClr>
              <a:buSzPts val="900"/>
              <a:buNone/>
            </a:pPr>
            <a:r>
              <a:rPr lang="en-US" u="none"/>
              <a:t>Department of CSE, Daffodil International University</a:t>
            </a:r>
            <a:endParaRPr u="none"/>
          </a:p>
        </p:txBody>
      </p:sp>
      <p:sp>
        <p:nvSpPr>
          <p:cNvPr id="159" name="Google Shape;159;p5"/>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900"/>
              <a:buNone/>
            </a:pPr>
            <a:fld id="{00000000-1234-1234-1234-123412341234}" type="slidenum">
              <a:rPr b="1" i="0" lang="en-US" sz="900" u="sng" cap="none" strike="noStrike">
                <a:solidFill>
                  <a:srgbClr val="898989"/>
                </a:solidFill>
                <a:latin typeface="Arial"/>
                <a:ea typeface="Arial"/>
                <a:cs typeface="Arial"/>
                <a:sym typeface="Arial"/>
              </a:rPr>
              <a:t>‹#›</a:t>
            </a:fld>
            <a:endParaRPr b="1" i="0" sz="900" u="sng" cap="none" strike="noStrike">
              <a:solidFill>
                <a:srgbClr val="898989"/>
              </a:solidFill>
              <a:latin typeface="Arial"/>
              <a:ea typeface="Arial"/>
              <a:cs typeface="Arial"/>
              <a:sym typeface="Arial"/>
            </a:endParaRPr>
          </a:p>
        </p:txBody>
      </p:sp>
      <p:sp>
        <p:nvSpPr>
          <p:cNvPr id="160" name="Google Shape;160;p5"/>
          <p:cNvSpPr txBox="1"/>
          <p:nvPr/>
        </p:nvSpPr>
        <p:spPr>
          <a:xfrm>
            <a:off x="175500" y="151200"/>
            <a:ext cx="8113500" cy="685800"/>
          </a:xfrm>
          <a:prstGeom prst="rect">
            <a:avLst/>
          </a:prstGeom>
          <a:solidFill>
            <a:srgbClr val="4285F4"/>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Calibri"/>
                <a:ea typeface="Calibri"/>
                <a:cs typeface="Calibri"/>
                <a:sym typeface="Calibri"/>
              </a:rPr>
              <a:t>			</a:t>
            </a:r>
            <a:endParaRPr b="1"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Times New Roman"/>
                <a:ea typeface="Times New Roman"/>
                <a:cs typeface="Times New Roman"/>
                <a:sym typeface="Times New Roman"/>
              </a:rPr>
              <a:t>Circle Equation</a:t>
            </a:r>
            <a:endParaRPr b="0"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t/>
            </a:r>
            <a:endParaRPr b="1" i="0" sz="3300" u="none" cap="none" strike="noStrike">
              <a:solidFill>
                <a:schemeClr val="dk1"/>
              </a:solidFill>
              <a:latin typeface="Times New Roman"/>
              <a:ea typeface="Times New Roman"/>
              <a:cs typeface="Times New Roman"/>
              <a:sym typeface="Times New Roman"/>
            </a:endParaRPr>
          </a:p>
        </p:txBody>
      </p:sp>
      <p:pic>
        <p:nvPicPr>
          <p:cNvPr id="161" name="Google Shape;161;p5"/>
          <p:cNvPicPr preferRelativeResize="0"/>
          <p:nvPr/>
        </p:nvPicPr>
        <p:blipFill rotWithShape="1">
          <a:blip r:embed="rId3">
            <a:alphaModFix/>
          </a:blip>
          <a:srcRect b="0" l="0" r="0" t="0"/>
          <a:stretch/>
        </p:blipFill>
        <p:spPr>
          <a:xfrm>
            <a:off x="8050200" y="151200"/>
            <a:ext cx="1371600" cy="685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6"/>
          <p:cNvSpPr txBox="1"/>
          <p:nvPr>
            <p:ph idx="1" type="body"/>
          </p:nvPr>
        </p:nvSpPr>
        <p:spPr>
          <a:xfrm>
            <a:off x="628650" y="1825625"/>
            <a:ext cx="7886700" cy="3830400"/>
          </a:xfrm>
          <a:prstGeom prst="rect">
            <a:avLst/>
          </a:prstGeom>
          <a:noFill/>
          <a:ln>
            <a:noFill/>
          </a:ln>
        </p:spPr>
        <p:txBody>
          <a:bodyPr anchorCtr="0" anchor="t" bIns="0" lIns="0" spcFirstLastPara="1" rIns="0" wrap="square" tIns="0">
            <a:spAutoFit/>
          </a:bodyPr>
          <a:lstStyle/>
          <a:p>
            <a:pPr indent="-152400" lvl="0" marL="12700" marR="0" rtl="0" algn="l">
              <a:lnSpc>
                <a:spcPct val="110416"/>
              </a:lnSpc>
              <a:spcBef>
                <a:spcPts val="0"/>
              </a:spcBef>
              <a:spcAft>
                <a:spcPts val="0"/>
              </a:spcAft>
              <a:buClr>
                <a:schemeClr val="dk1"/>
              </a:buClr>
              <a:buSzPts val="2400"/>
              <a:buFont typeface="Arial"/>
              <a:buChar char="•"/>
            </a:pPr>
            <a:r>
              <a:rPr lang="en-US" sz="2400">
                <a:latin typeface="Noto Sans Symbols"/>
                <a:ea typeface="Noto Sans Symbols"/>
                <a:cs typeface="Noto Sans Symbols"/>
                <a:sym typeface="Noto Sans Symbols"/>
              </a:rPr>
              <a:t> </a:t>
            </a:r>
            <a:r>
              <a:rPr b="0" i="0" lang="en-US" sz="2400" u="none" cap="none" strike="noStrike">
                <a:solidFill>
                  <a:schemeClr val="dk1"/>
                </a:solidFill>
                <a:latin typeface="Noto Sans Symbols"/>
                <a:ea typeface="Noto Sans Symbols"/>
                <a:cs typeface="Noto Sans Symbols"/>
                <a:sym typeface="Noto Sans Symbols"/>
              </a:rPr>
              <a:t>θ</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Century Gothic"/>
                <a:ea typeface="Century Gothic"/>
                <a:cs typeface="Century Gothic"/>
                <a:sym typeface="Century Gothic"/>
              </a:rPr>
              <a:t>=</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Century Gothic"/>
                <a:ea typeface="Century Gothic"/>
                <a:cs typeface="Century Gothic"/>
                <a:sym typeface="Century Gothic"/>
              </a:rPr>
              <a:t>0</a:t>
            </a:r>
            <a:r>
              <a:rPr b="0" i="0" lang="en-US" sz="2400" u="none" cap="none" strike="noStrike">
                <a:solidFill>
                  <a:schemeClr val="dk1"/>
                </a:solidFill>
                <a:latin typeface="Gulim"/>
                <a:ea typeface="Gulim"/>
                <a:cs typeface="Gulim"/>
                <a:sym typeface="Gulim"/>
              </a:rPr>
              <a:t>°</a:t>
            </a:r>
            <a:endParaRPr/>
          </a:p>
          <a:p>
            <a:pPr indent="-152400" lvl="0" marL="12700" marR="0" rtl="0" algn="l">
              <a:lnSpc>
                <a:spcPct val="95833"/>
              </a:lnSpc>
              <a:spcBef>
                <a:spcPts val="750"/>
              </a:spcBef>
              <a:spcAft>
                <a:spcPts val="0"/>
              </a:spcAft>
              <a:buClr>
                <a:schemeClr val="dk1"/>
              </a:buClr>
              <a:buSzPts val="2400"/>
              <a:buFont typeface="Arial"/>
              <a:buChar char="•"/>
            </a:pPr>
            <a:r>
              <a:rPr lang="en-US" sz="2400">
                <a:latin typeface="Century Gothic"/>
                <a:ea typeface="Century Gothic"/>
                <a:cs typeface="Century Gothic"/>
                <a:sym typeface="Century Gothic"/>
              </a:rPr>
              <a:t> </a:t>
            </a:r>
            <a:r>
              <a:rPr b="0" i="0" lang="en-US" sz="2400" u="none" cap="none" strike="noStrike">
                <a:solidFill>
                  <a:schemeClr val="dk1"/>
                </a:solidFill>
                <a:latin typeface="Century Gothic"/>
                <a:ea typeface="Century Gothic"/>
                <a:cs typeface="Century Gothic"/>
                <a:sym typeface="Century Gothic"/>
              </a:rPr>
              <a:t>while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Century Gothic"/>
                <a:ea typeface="Century Gothic"/>
                <a:cs typeface="Century Gothic"/>
                <a:sym typeface="Century Gothic"/>
              </a:rPr>
              <a:t>(</a:t>
            </a:r>
            <a:r>
              <a:rPr b="0" i="0" lang="en-US" sz="2400" u="none" cap="none" strike="noStrike">
                <a:solidFill>
                  <a:schemeClr val="dk1"/>
                </a:solidFill>
                <a:latin typeface="Noto Sans Symbols"/>
                <a:ea typeface="Noto Sans Symbols"/>
                <a:cs typeface="Noto Sans Symbols"/>
                <a:sym typeface="Noto Sans Symbols"/>
              </a:rPr>
              <a:t>θ</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Century Gothic"/>
                <a:ea typeface="Century Gothic"/>
                <a:cs typeface="Century Gothic"/>
                <a:sym typeface="Century Gothic"/>
              </a:rPr>
              <a:t>&lt;</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Century Gothic"/>
                <a:ea typeface="Century Gothic"/>
                <a:cs typeface="Century Gothic"/>
                <a:sym typeface="Century Gothic"/>
              </a:rPr>
              <a:t>360</a:t>
            </a:r>
            <a:r>
              <a:rPr b="0" i="0" lang="en-US" sz="2400" u="none" cap="none" strike="noStrike">
                <a:solidFill>
                  <a:schemeClr val="dk1"/>
                </a:solidFill>
                <a:latin typeface="Gulim"/>
                <a:ea typeface="Gulim"/>
                <a:cs typeface="Gulim"/>
                <a:sym typeface="Gulim"/>
              </a:rPr>
              <a:t>°</a:t>
            </a:r>
            <a:r>
              <a:rPr b="0" i="0" lang="en-US" sz="2400" u="none" cap="none" strike="noStrike">
                <a:solidFill>
                  <a:schemeClr val="dk1"/>
                </a:solidFill>
                <a:latin typeface="Century Gothic"/>
                <a:ea typeface="Century Gothic"/>
                <a:cs typeface="Century Gothic"/>
                <a:sym typeface="Century Gothic"/>
              </a:rPr>
              <a:t>)</a:t>
            </a:r>
            <a:endParaRPr/>
          </a:p>
          <a:p>
            <a:pPr indent="-152400" lvl="0" marL="12700" marR="0" rtl="0" algn="l">
              <a:lnSpc>
                <a:spcPct val="77000"/>
              </a:lnSpc>
              <a:spcBef>
                <a:spcPts val="338"/>
              </a:spcBef>
              <a:spcAft>
                <a:spcPts val="0"/>
              </a:spcAft>
              <a:buClr>
                <a:schemeClr val="dk1"/>
              </a:buClr>
              <a:buSzPts val="2400"/>
              <a:buFont typeface="Arial"/>
              <a:buChar char="•"/>
            </a:pPr>
            <a:r>
              <a:rPr lang="en-US" sz="2400">
                <a:latin typeface="Century Gothic"/>
                <a:ea typeface="Century Gothic"/>
                <a:cs typeface="Century Gothic"/>
                <a:sym typeface="Century Gothic"/>
              </a:rPr>
              <a:t> </a:t>
            </a:r>
            <a:r>
              <a:rPr b="0" i="0" lang="en-US" sz="2400" u="none" cap="none" strike="noStrike">
                <a:solidFill>
                  <a:schemeClr val="dk1"/>
                </a:solidFill>
                <a:latin typeface="Century Gothic"/>
                <a:ea typeface="Century Gothic"/>
                <a:cs typeface="Century Gothic"/>
                <a:sym typeface="Century Gothic"/>
              </a:rPr>
              <a:t>x</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Century Gothic"/>
                <a:ea typeface="Century Gothic"/>
                <a:cs typeface="Century Gothic"/>
                <a:sym typeface="Century Gothic"/>
              </a:rPr>
              <a:t>=</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Century Gothic"/>
                <a:ea typeface="Century Gothic"/>
                <a:cs typeface="Century Gothic"/>
                <a:sym typeface="Century Gothic"/>
              </a:rPr>
              <a:t>rCos</a:t>
            </a:r>
            <a:r>
              <a:rPr b="0" i="0" lang="en-US" sz="2400" u="none" cap="none" strike="noStrike">
                <a:solidFill>
                  <a:schemeClr val="dk1"/>
                </a:solidFill>
                <a:latin typeface="Noto Sans Symbols"/>
                <a:ea typeface="Noto Sans Symbols"/>
                <a:cs typeface="Noto Sans Symbols"/>
                <a:sym typeface="Noto Sans Symbols"/>
              </a:rPr>
              <a:t>θ</a:t>
            </a:r>
            <a:r>
              <a:rPr lang="en-US" sz="2400">
                <a:latin typeface="Times New Roman"/>
                <a:ea typeface="Times New Roman"/>
                <a:cs typeface="Times New Roman"/>
                <a:sym typeface="Times New Roman"/>
              </a:rPr>
              <a:t>, </a:t>
            </a:r>
            <a:r>
              <a:rPr b="0" i="0" lang="en-US" sz="2400" u="none" cap="none" strike="noStrike">
                <a:solidFill>
                  <a:schemeClr val="dk1"/>
                </a:solidFill>
                <a:latin typeface="Century Gothic"/>
                <a:ea typeface="Century Gothic"/>
                <a:cs typeface="Century Gothic"/>
                <a:sym typeface="Century Gothic"/>
              </a:rPr>
              <a:t>y</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Century Gothic"/>
                <a:ea typeface="Century Gothic"/>
                <a:cs typeface="Century Gothic"/>
                <a:sym typeface="Century Gothic"/>
              </a:rPr>
              <a:t>=</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Century Gothic"/>
                <a:ea typeface="Century Gothic"/>
                <a:cs typeface="Century Gothic"/>
                <a:sym typeface="Century Gothic"/>
              </a:rPr>
              <a:t>rSin</a:t>
            </a:r>
            <a:r>
              <a:rPr b="0" i="0" lang="en-US" sz="2400" u="none" cap="none" strike="noStrike">
                <a:solidFill>
                  <a:schemeClr val="dk1"/>
                </a:solidFill>
                <a:latin typeface="Noto Sans Symbols"/>
                <a:ea typeface="Noto Sans Symbols"/>
                <a:cs typeface="Noto Sans Symbols"/>
                <a:sym typeface="Noto Sans Symbols"/>
              </a:rPr>
              <a:t>θ</a:t>
            </a:r>
            <a:endParaRPr/>
          </a:p>
          <a:p>
            <a:pPr indent="-152400" lvl="0" marL="12700" marR="0" rtl="0" algn="l">
              <a:lnSpc>
                <a:spcPct val="81250"/>
              </a:lnSpc>
              <a:spcBef>
                <a:spcPts val="750"/>
              </a:spcBef>
              <a:spcAft>
                <a:spcPts val="0"/>
              </a:spcAft>
              <a:buClr>
                <a:schemeClr val="dk1"/>
              </a:buClr>
              <a:buSzPts val="2400"/>
              <a:buFont typeface="Arial"/>
              <a:buChar char="•"/>
            </a:pPr>
            <a:r>
              <a:rPr lang="en-US" sz="2400">
                <a:latin typeface="Century Gothic"/>
                <a:ea typeface="Century Gothic"/>
                <a:cs typeface="Century Gothic"/>
                <a:sym typeface="Century Gothic"/>
              </a:rPr>
              <a:t> </a:t>
            </a:r>
            <a:r>
              <a:rPr b="0" i="0" lang="en-US" sz="2400" u="none" cap="none" strike="noStrike">
                <a:solidFill>
                  <a:schemeClr val="dk1"/>
                </a:solidFill>
                <a:latin typeface="Century Gothic"/>
                <a:ea typeface="Century Gothic"/>
                <a:cs typeface="Century Gothic"/>
                <a:sym typeface="Century Gothic"/>
              </a:rPr>
              <a:t>setPixel(x,y)</a:t>
            </a:r>
            <a:endParaRPr/>
          </a:p>
          <a:p>
            <a:pPr indent="-152400" lvl="0" marL="12700" marR="0" rtl="0" algn="l">
              <a:lnSpc>
                <a:spcPct val="80000"/>
              </a:lnSpc>
              <a:spcBef>
                <a:spcPts val="275"/>
              </a:spcBef>
              <a:spcAft>
                <a:spcPts val="0"/>
              </a:spcAft>
              <a:buClr>
                <a:schemeClr val="dk1"/>
              </a:buClr>
              <a:buSzPts val="2400"/>
              <a:buFont typeface="Arial"/>
              <a:buChar char="•"/>
            </a:pPr>
            <a:r>
              <a:rPr lang="en-US" sz="2400">
                <a:latin typeface="Noto Sans Symbols"/>
                <a:ea typeface="Noto Sans Symbols"/>
                <a:cs typeface="Noto Sans Symbols"/>
                <a:sym typeface="Noto Sans Symbols"/>
              </a:rPr>
              <a:t> </a:t>
            </a:r>
            <a:r>
              <a:rPr b="0" i="0" lang="en-US" sz="2400" u="none" cap="none" strike="noStrike">
                <a:solidFill>
                  <a:schemeClr val="dk1"/>
                </a:solidFill>
                <a:latin typeface="Noto Sans Symbols"/>
                <a:ea typeface="Noto Sans Symbols"/>
                <a:cs typeface="Noto Sans Symbols"/>
                <a:sym typeface="Noto Sans Symbols"/>
              </a:rPr>
              <a:t>θ</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Century Gothic"/>
                <a:ea typeface="Century Gothic"/>
                <a:cs typeface="Century Gothic"/>
                <a:sym typeface="Century Gothic"/>
              </a:rPr>
              <a:t>=</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Noto Sans Symbols"/>
                <a:ea typeface="Noto Sans Symbols"/>
                <a:cs typeface="Noto Sans Symbols"/>
                <a:sym typeface="Noto Sans Symbols"/>
              </a:rPr>
              <a:t>θ</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Century Gothic"/>
                <a:ea typeface="Century Gothic"/>
                <a:cs typeface="Century Gothic"/>
                <a:sym typeface="Century Gothic"/>
              </a:rPr>
              <a:t>+</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Century Gothic"/>
                <a:ea typeface="Century Gothic"/>
                <a:cs typeface="Century Gothic"/>
                <a:sym typeface="Century Gothic"/>
              </a:rPr>
              <a:t>1</a:t>
            </a:r>
            <a:r>
              <a:rPr b="0" i="0" lang="en-US" sz="2400" u="none" cap="none" strike="noStrike">
                <a:solidFill>
                  <a:schemeClr val="dk1"/>
                </a:solidFill>
                <a:latin typeface="Gulim"/>
                <a:ea typeface="Gulim"/>
                <a:cs typeface="Gulim"/>
                <a:sym typeface="Gulim"/>
              </a:rPr>
              <a:t>°</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Century Gothic"/>
                <a:ea typeface="Century Gothic"/>
                <a:cs typeface="Century Gothic"/>
                <a:sym typeface="Century Gothic"/>
              </a:rPr>
              <a:t>end</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Century Gothic"/>
                <a:ea typeface="Century Gothic"/>
                <a:cs typeface="Century Gothic"/>
                <a:sym typeface="Century Gothic"/>
              </a:rPr>
              <a:t>while</a:t>
            </a:r>
            <a:endParaRPr/>
          </a:p>
          <a:p>
            <a:pPr indent="0" lvl="0" marL="0" marR="0" rtl="0" algn="l">
              <a:lnSpc>
                <a:spcPct val="80000"/>
              </a:lnSpc>
              <a:spcBef>
                <a:spcPts val="275"/>
              </a:spcBef>
              <a:spcAft>
                <a:spcPts val="0"/>
              </a:spcAft>
              <a:buClr>
                <a:schemeClr val="dk1"/>
              </a:buClr>
              <a:buSzPts val="2400"/>
              <a:buFont typeface="Arial"/>
              <a:buNone/>
            </a:pPr>
            <a:r>
              <a:t/>
            </a:r>
            <a:endParaRPr b="0" i="0" sz="2400" u="none" cap="none" strike="noStrike">
              <a:solidFill>
                <a:schemeClr val="dk1"/>
              </a:solidFill>
              <a:latin typeface="Century Gothic"/>
              <a:ea typeface="Century Gothic"/>
              <a:cs typeface="Century Gothic"/>
              <a:sym typeface="Century Gothic"/>
            </a:endParaRPr>
          </a:p>
          <a:p>
            <a:pPr indent="0" lvl="0" marL="0" marR="0" rtl="0" algn="l">
              <a:lnSpc>
                <a:spcPct val="90000"/>
              </a:lnSpc>
              <a:spcBef>
                <a:spcPts val="750"/>
              </a:spcBef>
              <a:spcAft>
                <a:spcPts val="0"/>
              </a:spcAft>
              <a:buNone/>
            </a:pPr>
            <a:r>
              <a:rPr b="1" i="0" lang="en-US" sz="2400" u="sng" cap="none" strike="noStrike">
                <a:solidFill>
                  <a:srgbClr val="FD2918"/>
                </a:solidFill>
                <a:latin typeface="Georgia"/>
                <a:ea typeface="Georgia"/>
                <a:cs typeface="Georgia"/>
                <a:sym typeface="Georgia"/>
              </a:rPr>
              <a:t>Disadvantages</a:t>
            </a:r>
            <a:endParaRPr b="0" i="0" sz="2400" u="none" cap="none" strike="noStrike">
              <a:solidFill>
                <a:schemeClr val="dk1"/>
              </a:solidFill>
              <a:latin typeface="Georgia"/>
              <a:ea typeface="Georgia"/>
              <a:cs typeface="Georgia"/>
              <a:sym typeface="Georgia"/>
            </a:endParaRPr>
          </a:p>
          <a:p>
            <a:pPr indent="-152400" lvl="0" marL="12700" marR="0" rtl="0" algn="l">
              <a:lnSpc>
                <a:spcPct val="90000"/>
              </a:lnSpc>
              <a:spcBef>
                <a:spcPts val="675"/>
              </a:spcBef>
              <a:spcAft>
                <a:spcPts val="0"/>
              </a:spcAft>
              <a:buClr>
                <a:schemeClr val="dk1"/>
              </a:buClr>
              <a:buSzPts val="2400"/>
              <a:buFont typeface="Georgia"/>
              <a:buChar char="•"/>
            </a:pPr>
            <a:r>
              <a:rPr lang="en-US" sz="2400">
                <a:latin typeface="Georgia"/>
                <a:ea typeface="Georgia"/>
                <a:cs typeface="Georgia"/>
                <a:sym typeface="Georgia"/>
              </a:rPr>
              <a:t> </a:t>
            </a:r>
            <a:r>
              <a:rPr b="0" i="0" lang="en-US" sz="2400" u="none" cap="none" strike="noStrike">
                <a:solidFill>
                  <a:schemeClr val="dk1"/>
                </a:solidFill>
                <a:latin typeface="Georgia"/>
                <a:ea typeface="Georgia"/>
                <a:cs typeface="Georgia"/>
                <a:sym typeface="Georgia"/>
              </a:rPr>
              <a:t>To</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find</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a</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complete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circle</a:t>
            </a:r>
            <a:r>
              <a:rPr b="0" i="0" lang="en-US" sz="2400" u="none" cap="none" strike="noStrike">
                <a:solidFill>
                  <a:schemeClr val="dk1"/>
                </a:solidFill>
                <a:latin typeface="Times New Roman"/>
                <a:ea typeface="Times New Roman"/>
                <a:cs typeface="Times New Roman"/>
                <a:sym typeface="Times New Roman"/>
              </a:rPr>
              <a:t> </a:t>
            </a:r>
            <a:r>
              <a:rPr b="0" i="1" lang="en-US" sz="2400" u="none" cap="none" strike="noStrike">
                <a:solidFill>
                  <a:schemeClr val="dk1"/>
                </a:solidFill>
                <a:latin typeface="Noto Sans Symbols"/>
                <a:ea typeface="Noto Sans Symbols"/>
                <a:cs typeface="Noto Sans Symbols"/>
                <a:sym typeface="Noto Sans Symbols"/>
              </a:rPr>
              <a:t>θ</a:t>
            </a:r>
            <a:r>
              <a:rPr b="0" i="1"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varies</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from</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0</a:t>
            </a:r>
            <a:r>
              <a:rPr b="0" i="0" lang="en-US" sz="2400" u="none" cap="none" strike="noStrike">
                <a:solidFill>
                  <a:schemeClr val="dk1"/>
                </a:solidFill>
                <a:latin typeface="Gulim"/>
                <a:ea typeface="Gulim"/>
                <a:cs typeface="Gulim"/>
                <a:sym typeface="Gulim"/>
              </a:rPr>
              <a:t>°</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to</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360</a:t>
            </a:r>
            <a:r>
              <a:rPr b="0" i="0" lang="en-US" sz="2400" u="none" cap="none" strike="noStrike">
                <a:solidFill>
                  <a:schemeClr val="dk1"/>
                </a:solidFill>
                <a:latin typeface="Gulim"/>
                <a:ea typeface="Gulim"/>
                <a:cs typeface="Gulim"/>
                <a:sym typeface="Gulim"/>
              </a:rPr>
              <a:t>°</a:t>
            </a:r>
            <a:endParaRPr/>
          </a:p>
          <a:p>
            <a:pPr indent="-152400" lvl="0" marL="12700" marR="0" rtl="0" algn="l">
              <a:lnSpc>
                <a:spcPct val="90000"/>
              </a:lnSpc>
              <a:spcBef>
                <a:spcPts val="588"/>
              </a:spcBef>
              <a:spcAft>
                <a:spcPts val="0"/>
              </a:spcAft>
              <a:buClr>
                <a:schemeClr val="dk1"/>
              </a:buClr>
              <a:buSzPts val="2400"/>
              <a:buFont typeface="Georgia"/>
              <a:buChar char="•"/>
            </a:pPr>
            <a:r>
              <a:rPr lang="en-US" sz="2400">
                <a:latin typeface="Georgia"/>
                <a:ea typeface="Georgia"/>
                <a:cs typeface="Georgia"/>
                <a:sym typeface="Georgia"/>
              </a:rPr>
              <a:t> </a:t>
            </a:r>
            <a:r>
              <a:rPr b="0" i="0" lang="en-US" sz="2400" u="none" cap="none" strike="noStrike">
                <a:solidFill>
                  <a:schemeClr val="dk1"/>
                </a:solidFill>
                <a:latin typeface="Georgia"/>
                <a:ea typeface="Georgia"/>
                <a:cs typeface="Georgia"/>
                <a:sym typeface="Georgia"/>
              </a:rPr>
              <a:t>The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calculation</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of</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trigonometric</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functions</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is</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very</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slow.</a:t>
            </a:r>
            <a:endParaRPr/>
          </a:p>
          <a:p>
            <a:pPr indent="0" lvl="0" marL="0" marR="0" rtl="0" algn="l">
              <a:lnSpc>
                <a:spcPct val="80000"/>
              </a:lnSpc>
              <a:spcBef>
                <a:spcPts val="275"/>
              </a:spcBef>
              <a:spcAft>
                <a:spcPts val="0"/>
              </a:spcAft>
              <a:buClr>
                <a:schemeClr val="dk1"/>
              </a:buClr>
              <a:buSzPts val="2400"/>
              <a:buFont typeface="Arial"/>
              <a:buNone/>
            </a:pPr>
            <a:r>
              <a:t/>
            </a:r>
            <a:endParaRPr b="0" i="0" sz="2400" u="none" cap="none" strike="noStrike">
              <a:solidFill>
                <a:schemeClr val="dk1"/>
              </a:solidFill>
              <a:latin typeface="Century Gothic"/>
              <a:ea typeface="Century Gothic"/>
              <a:cs typeface="Century Gothic"/>
              <a:sym typeface="Century Gothic"/>
            </a:endParaRPr>
          </a:p>
        </p:txBody>
      </p:sp>
      <p:sp>
        <p:nvSpPr>
          <p:cNvPr id="167" name="Google Shape;167;p6"/>
          <p:cNvSpPr txBox="1"/>
          <p:nvPr>
            <p:ph idx="11" type="ftr"/>
          </p:nvPr>
        </p:nvSpPr>
        <p:spPr>
          <a:xfrm>
            <a:off x="2987824" y="6309320"/>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88888"/>
              </a:buClr>
              <a:buSzPts val="900"/>
              <a:buNone/>
            </a:pPr>
            <a:r>
              <a:rPr lang="en-US" u="none"/>
              <a:t>Department of CSE, Daffodil International University</a:t>
            </a:r>
            <a:endParaRPr u="none"/>
          </a:p>
        </p:txBody>
      </p:sp>
      <p:sp>
        <p:nvSpPr>
          <p:cNvPr id="168" name="Google Shape;168;p6"/>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900"/>
              <a:buNone/>
            </a:pPr>
            <a:fld id="{00000000-1234-1234-1234-123412341234}" type="slidenum">
              <a:rPr b="1" lang="en-US" sz="900" u="sng">
                <a:solidFill>
                  <a:srgbClr val="898989"/>
                </a:solidFill>
                <a:latin typeface="Arial"/>
                <a:ea typeface="Arial"/>
                <a:cs typeface="Arial"/>
                <a:sym typeface="Arial"/>
              </a:rPr>
              <a:t>‹#›</a:t>
            </a:fld>
            <a:endParaRPr b="1" sz="900" u="sng">
              <a:solidFill>
                <a:srgbClr val="898989"/>
              </a:solidFill>
              <a:latin typeface="Arial"/>
              <a:ea typeface="Arial"/>
              <a:cs typeface="Arial"/>
              <a:sym typeface="Arial"/>
            </a:endParaRPr>
          </a:p>
        </p:txBody>
      </p:sp>
      <p:sp>
        <p:nvSpPr>
          <p:cNvPr id="169" name="Google Shape;169;p6"/>
          <p:cNvSpPr txBox="1"/>
          <p:nvPr/>
        </p:nvSpPr>
        <p:spPr>
          <a:xfrm>
            <a:off x="175500" y="151200"/>
            <a:ext cx="8113500" cy="685800"/>
          </a:xfrm>
          <a:prstGeom prst="rect">
            <a:avLst/>
          </a:prstGeom>
          <a:solidFill>
            <a:srgbClr val="4285F4"/>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Calibri"/>
                <a:ea typeface="Calibri"/>
                <a:cs typeface="Calibri"/>
                <a:sym typeface="Calibri"/>
              </a:rPr>
              <a:t>			</a:t>
            </a:r>
            <a:endParaRPr b="1"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Times New Roman"/>
                <a:ea typeface="Times New Roman"/>
                <a:cs typeface="Times New Roman"/>
                <a:sym typeface="Times New Roman"/>
              </a:rPr>
              <a:t>Circle Drawing Algorithm</a:t>
            </a:r>
            <a:endParaRPr b="0"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t/>
            </a:r>
            <a:endParaRPr b="1" i="0" sz="3300" u="none" cap="none" strike="noStrike">
              <a:solidFill>
                <a:schemeClr val="dk1"/>
              </a:solidFill>
              <a:latin typeface="Times New Roman"/>
              <a:ea typeface="Times New Roman"/>
              <a:cs typeface="Times New Roman"/>
              <a:sym typeface="Times New Roman"/>
            </a:endParaRPr>
          </a:p>
        </p:txBody>
      </p:sp>
      <p:pic>
        <p:nvPicPr>
          <p:cNvPr id="170" name="Google Shape;170;p6"/>
          <p:cNvPicPr preferRelativeResize="0"/>
          <p:nvPr/>
        </p:nvPicPr>
        <p:blipFill rotWithShape="1">
          <a:blip r:embed="rId3">
            <a:alphaModFix/>
          </a:blip>
          <a:srcRect b="0" l="0" r="0" t="0"/>
          <a:stretch/>
        </p:blipFill>
        <p:spPr>
          <a:xfrm>
            <a:off x="8050200" y="151200"/>
            <a:ext cx="1371600" cy="685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8"/>
          <p:cNvSpPr/>
          <p:nvPr/>
        </p:nvSpPr>
        <p:spPr>
          <a:xfrm>
            <a:off x="3355975" y="119063"/>
            <a:ext cx="709613" cy="1011237"/>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dk1"/>
              </a:solidFill>
              <a:latin typeface="Calibri"/>
              <a:ea typeface="Calibri"/>
              <a:cs typeface="Calibri"/>
              <a:sym typeface="Calibri"/>
            </a:endParaRPr>
          </a:p>
        </p:txBody>
      </p:sp>
      <p:sp>
        <p:nvSpPr>
          <p:cNvPr id="176" name="Google Shape;176;p8"/>
          <p:cNvSpPr txBox="1"/>
          <p:nvPr/>
        </p:nvSpPr>
        <p:spPr>
          <a:xfrm>
            <a:off x="612775" y="1149350"/>
            <a:ext cx="5175250" cy="2436813"/>
          </a:xfrm>
          <a:prstGeom prst="rect">
            <a:avLst/>
          </a:prstGeom>
          <a:noFill/>
          <a:ln>
            <a:noFill/>
          </a:ln>
        </p:spPr>
        <p:txBody>
          <a:bodyPr anchorCtr="0" anchor="t" bIns="0" lIns="0" spcFirstLastPara="1" rIns="0" wrap="square" tIns="0">
            <a:spAutoFit/>
          </a:bodyPr>
          <a:lstStyle/>
          <a:p>
            <a:pPr indent="-342900" lvl="0" marL="355600" marR="0" rtl="0" algn="l">
              <a:lnSpc>
                <a:spcPct val="100000"/>
              </a:lnSpc>
              <a:spcBef>
                <a:spcPts val="0"/>
              </a:spcBef>
              <a:spcAft>
                <a:spcPts val="0"/>
              </a:spcAft>
              <a:buClr>
                <a:schemeClr val="dk1"/>
              </a:buClr>
              <a:buSzPts val="2400"/>
              <a:buFont typeface="Georgia"/>
              <a:buChar char="•"/>
            </a:pPr>
            <a:r>
              <a:rPr b="0" i="0" lang="en-US" sz="2400" u="none" cap="none" strike="noStrike">
                <a:solidFill>
                  <a:schemeClr val="dk1"/>
                </a:solidFill>
                <a:latin typeface="Georgia"/>
                <a:ea typeface="Georgia"/>
                <a:cs typeface="Georgia"/>
                <a:sym typeface="Georgia"/>
              </a:rPr>
              <a:t>Use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Pythagoras</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theorem</a:t>
            </a:r>
            <a:endParaRPr b="0" i="0" sz="1400" u="none" cap="none" strike="noStrike">
              <a:solidFill>
                <a:srgbClr val="000000"/>
              </a:solidFill>
              <a:latin typeface="Arial"/>
              <a:ea typeface="Arial"/>
              <a:cs typeface="Arial"/>
              <a:sym typeface="Arial"/>
            </a:endParaRPr>
          </a:p>
          <a:p>
            <a:pPr indent="-342900" lvl="0" marL="355600" marR="0" rtl="0" algn="ctr">
              <a:lnSpc>
                <a:spcPct val="100000"/>
              </a:lnSpc>
              <a:spcBef>
                <a:spcPts val="963"/>
              </a:spcBef>
              <a:spcAft>
                <a:spcPts val="0"/>
              </a:spcAft>
              <a:buClr>
                <a:srgbClr val="000000"/>
              </a:buClr>
              <a:buSzPts val="2000"/>
              <a:buFont typeface="Arial"/>
              <a:buNone/>
            </a:pPr>
            <a:r>
              <a:rPr b="0" i="1" lang="en-US" sz="2000" u="none" cap="none" strike="noStrike">
                <a:solidFill>
                  <a:srgbClr val="3816FF"/>
                </a:solidFill>
                <a:latin typeface="Georgia"/>
                <a:ea typeface="Georgia"/>
                <a:cs typeface="Georgia"/>
                <a:sym typeface="Georgia"/>
              </a:rPr>
              <a:t>x</a:t>
            </a:r>
            <a:r>
              <a:rPr b="0" baseline="30000" i="1" lang="en-US" sz="1900" u="none" cap="none" strike="noStrike">
                <a:solidFill>
                  <a:srgbClr val="3816FF"/>
                </a:solidFill>
                <a:latin typeface="Georgia"/>
                <a:ea typeface="Georgia"/>
                <a:cs typeface="Georgia"/>
                <a:sym typeface="Georgia"/>
              </a:rPr>
              <a:t>2</a:t>
            </a:r>
            <a:r>
              <a:rPr b="0" baseline="30000" i="1" lang="en-US" sz="1900" u="none" cap="none" strike="noStrike">
                <a:solidFill>
                  <a:srgbClr val="3816FF"/>
                </a:solidFill>
                <a:latin typeface="Times New Roman"/>
                <a:ea typeface="Times New Roman"/>
                <a:cs typeface="Times New Roman"/>
                <a:sym typeface="Times New Roman"/>
              </a:rPr>
              <a:t> </a:t>
            </a:r>
            <a:r>
              <a:rPr b="0" i="1" lang="en-US" sz="2000" u="none" cap="none" strike="noStrike">
                <a:solidFill>
                  <a:srgbClr val="3816FF"/>
                </a:solidFill>
                <a:latin typeface="Georgia"/>
                <a:ea typeface="Georgia"/>
                <a:cs typeface="Georgia"/>
                <a:sym typeface="Georgia"/>
              </a:rPr>
              <a:t>+</a:t>
            </a:r>
            <a:r>
              <a:rPr b="0" i="1" lang="en-US" sz="2000" u="none" cap="none" strike="noStrike">
                <a:solidFill>
                  <a:srgbClr val="3816FF"/>
                </a:solidFill>
                <a:latin typeface="Times New Roman"/>
                <a:ea typeface="Times New Roman"/>
                <a:cs typeface="Times New Roman"/>
                <a:sym typeface="Times New Roman"/>
              </a:rPr>
              <a:t> </a:t>
            </a:r>
            <a:r>
              <a:rPr b="0" i="1" lang="en-US" sz="2000" u="none" cap="none" strike="noStrike">
                <a:solidFill>
                  <a:srgbClr val="3816FF"/>
                </a:solidFill>
                <a:latin typeface="Georgia"/>
                <a:ea typeface="Georgia"/>
                <a:cs typeface="Georgia"/>
                <a:sym typeface="Georgia"/>
              </a:rPr>
              <a:t>y</a:t>
            </a:r>
            <a:r>
              <a:rPr b="0" baseline="30000" i="1" lang="en-US" sz="1900" u="none" cap="none" strike="noStrike">
                <a:solidFill>
                  <a:srgbClr val="3816FF"/>
                </a:solidFill>
                <a:latin typeface="Georgia"/>
                <a:ea typeface="Georgia"/>
                <a:cs typeface="Georgia"/>
                <a:sym typeface="Georgia"/>
              </a:rPr>
              <a:t>2</a:t>
            </a:r>
            <a:r>
              <a:rPr b="0" baseline="30000" i="1" lang="en-US" sz="1900" u="none" cap="none" strike="noStrike">
                <a:solidFill>
                  <a:srgbClr val="3816FF"/>
                </a:solidFill>
                <a:latin typeface="Times New Roman"/>
                <a:ea typeface="Times New Roman"/>
                <a:cs typeface="Times New Roman"/>
                <a:sym typeface="Times New Roman"/>
              </a:rPr>
              <a:t>  </a:t>
            </a:r>
            <a:r>
              <a:rPr b="0" i="1" lang="en-US" sz="2000" u="none" cap="none" strike="noStrike">
                <a:solidFill>
                  <a:srgbClr val="3816FF"/>
                </a:solidFill>
                <a:latin typeface="Georgia"/>
                <a:ea typeface="Georgia"/>
                <a:cs typeface="Georgia"/>
                <a:sym typeface="Georgia"/>
              </a:rPr>
              <a:t>=</a:t>
            </a:r>
            <a:r>
              <a:rPr b="0" i="1" lang="en-US" sz="2000" u="none" cap="none" strike="noStrike">
                <a:solidFill>
                  <a:srgbClr val="3816FF"/>
                </a:solidFill>
                <a:latin typeface="Times New Roman"/>
                <a:ea typeface="Times New Roman"/>
                <a:cs typeface="Times New Roman"/>
                <a:sym typeface="Times New Roman"/>
              </a:rPr>
              <a:t> </a:t>
            </a:r>
            <a:r>
              <a:rPr b="0" i="1" lang="en-US" sz="2000" u="none" cap="none" strike="noStrike">
                <a:solidFill>
                  <a:srgbClr val="3816FF"/>
                </a:solidFill>
                <a:latin typeface="Georgia"/>
                <a:ea typeface="Georgia"/>
                <a:cs typeface="Georgia"/>
                <a:sym typeface="Georgia"/>
              </a:rPr>
              <a:t>r</a:t>
            </a:r>
            <a:r>
              <a:rPr b="0" baseline="30000" i="1" lang="en-US" sz="1900" u="none" cap="none" strike="noStrike">
                <a:solidFill>
                  <a:srgbClr val="3816FF"/>
                </a:solidFill>
                <a:latin typeface="Georgia"/>
                <a:ea typeface="Georgia"/>
                <a:cs typeface="Georgia"/>
                <a:sym typeface="Georgia"/>
              </a:rPr>
              <a:t>2</a:t>
            </a:r>
            <a:endParaRPr b="0" baseline="30000" i="0" sz="1900" u="none" cap="none" strike="noStrike">
              <a:solidFill>
                <a:schemeClr val="dk1"/>
              </a:solidFill>
              <a:latin typeface="Georgia"/>
              <a:ea typeface="Georgia"/>
              <a:cs typeface="Georgia"/>
              <a:sym typeface="Georgia"/>
            </a:endParaRPr>
          </a:p>
          <a:p>
            <a:pPr indent="-342900" lvl="0" marL="355600" marR="0" rtl="0" algn="l">
              <a:lnSpc>
                <a:spcPct val="100000"/>
              </a:lnSpc>
              <a:spcBef>
                <a:spcPts val="1150"/>
              </a:spcBef>
              <a:spcAft>
                <a:spcPts val="0"/>
              </a:spcAft>
              <a:buClr>
                <a:schemeClr val="dk1"/>
              </a:buClr>
              <a:buSzPts val="2400"/>
              <a:buFont typeface="Georgia"/>
              <a:buChar char="•"/>
            </a:pPr>
            <a:r>
              <a:rPr b="0" i="0" lang="en-US" sz="2400" u="none" cap="none" strike="noStrike">
                <a:solidFill>
                  <a:schemeClr val="dk1"/>
                </a:solidFill>
                <a:latin typeface="Georgia"/>
                <a:ea typeface="Georgia"/>
                <a:cs typeface="Georgia"/>
                <a:sym typeface="Georgia"/>
              </a:rPr>
              <a:t>So,</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we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can</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write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a</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simple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circle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drawing</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algorithm</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by</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solving</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the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equation</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for</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y</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at</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unit</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x</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intervals</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using:</a:t>
            </a:r>
            <a:endParaRPr b="0" i="0" sz="1400" u="none" cap="none" strike="noStrike">
              <a:solidFill>
                <a:srgbClr val="000000"/>
              </a:solidFill>
              <a:latin typeface="Arial"/>
              <a:ea typeface="Arial"/>
              <a:cs typeface="Arial"/>
              <a:sym typeface="Arial"/>
            </a:endParaRPr>
          </a:p>
        </p:txBody>
      </p:sp>
      <p:sp>
        <p:nvSpPr>
          <p:cNvPr id="177" name="Google Shape;177;p8"/>
          <p:cNvSpPr/>
          <p:nvPr/>
        </p:nvSpPr>
        <p:spPr>
          <a:xfrm>
            <a:off x="7348538" y="1166813"/>
            <a:ext cx="0" cy="863600"/>
          </a:xfrm>
          <a:custGeom>
            <a:rect b="b" l="l" r="r" t="t"/>
            <a:pathLst>
              <a:path extrusionOk="0" h="864235" w="120000">
                <a:moveTo>
                  <a:pt x="0" y="0"/>
                </a:moveTo>
                <a:lnTo>
                  <a:pt x="0" y="86362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178" name="Google Shape;178;p8"/>
          <p:cNvSpPr/>
          <p:nvPr/>
        </p:nvSpPr>
        <p:spPr>
          <a:xfrm>
            <a:off x="6656388" y="1166813"/>
            <a:ext cx="692150" cy="863600"/>
          </a:xfrm>
          <a:custGeom>
            <a:rect b="b" l="l" r="r" t="t"/>
            <a:pathLst>
              <a:path extrusionOk="0" h="864235" w="692150">
                <a:moveTo>
                  <a:pt x="692139" y="0"/>
                </a:moveTo>
                <a:lnTo>
                  <a:pt x="0" y="86362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179" name="Google Shape;179;p8"/>
          <p:cNvSpPr txBox="1"/>
          <p:nvPr/>
        </p:nvSpPr>
        <p:spPr>
          <a:xfrm>
            <a:off x="6948488" y="1984375"/>
            <a:ext cx="196850" cy="369888"/>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Clr>
                <a:srgbClr val="000000"/>
              </a:buClr>
              <a:buSzPts val="2400"/>
              <a:buFont typeface="Arial"/>
              <a:buNone/>
            </a:pPr>
            <a:r>
              <a:rPr b="1" i="1" lang="en-US" sz="2400" u="none" cap="none" strike="noStrike">
                <a:solidFill>
                  <a:srgbClr val="3816FF"/>
                </a:solidFill>
                <a:latin typeface="Century Gothic"/>
                <a:ea typeface="Century Gothic"/>
                <a:cs typeface="Century Gothic"/>
                <a:sym typeface="Century Gothic"/>
              </a:rPr>
              <a:t>x</a:t>
            </a:r>
            <a:endParaRPr b="1" i="0" sz="2400" u="none" cap="none" strike="noStrike">
              <a:solidFill>
                <a:schemeClr val="dk1"/>
              </a:solidFill>
              <a:latin typeface="Century Gothic"/>
              <a:ea typeface="Century Gothic"/>
              <a:cs typeface="Century Gothic"/>
              <a:sym typeface="Century Gothic"/>
            </a:endParaRPr>
          </a:p>
        </p:txBody>
      </p:sp>
      <p:sp>
        <p:nvSpPr>
          <p:cNvPr id="180" name="Google Shape;180;p8"/>
          <p:cNvSpPr txBox="1"/>
          <p:nvPr/>
        </p:nvSpPr>
        <p:spPr>
          <a:xfrm>
            <a:off x="6823075" y="1341438"/>
            <a:ext cx="123825" cy="369887"/>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Clr>
                <a:srgbClr val="000000"/>
              </a:buClr>
              <a:buSzPts val="2400"/>
              <a:buFont typeface="Arial"/>
              <a:buNone/>
            </a:pPr>
            <a:r>
              <a:rPr b="1" i="1" lang="en-US" sz="2400" u="none" cap="none" strike="noStrike">
                <a:solidFill>
                  <a:srgbClr val="3816FF"/>
                </a:solidFill>
                <a:latin typeface="Century Gothic"/>
                <a:ea typeface="Century Gothic"/>
                <a:cs typeface="Century Gothic"/>
                <a:sym typeface="Century Gothic"/>
              </a:rPr>
              <a:t>r</a:t>
            </a:r>
            <a:endParaRPr b="1" i="0" sz="2400" u="none" cap="none" strike="noStrike">
              <a:solidFill>
                <a:schemeClr val="lt1"/>
              </a:solidFill>
              <a:latin typeface="Century Gothic"/>
              <a:ea typeface="Century Gothic"/>
              <a:cs typeface="Century Gothic"/>
              <a:sym typeface="Century Gothic"/>
            </a:endParaRPr>
          </a:p>
        </p:txBody>
      </p:sp>
      <p:sp>
        <p:nvSpPr>
          <p:cNvPr id="181" name="Google Shape;181;p8"/>
          <p:cNvSpPr/>
          <p:nvPr/>
        </p:nvSpPr>
        <p:spPr>
          <a:xfrm>
            <a:off x="6643688" y="2043113"/>
            <a:ext cx="719137" cy="0"/>
          </a:xfrm>
          <a:custGeom>
            <a:rect b="b" l="l" r="r" t="t"/>
            <a:pathLst>
              <a:path extrusionOk="0" h="120000" w="719454">
                <a:moveTo>
                  <a:pt x="0" y="0"/>
                </a:moveTo>
                <a:lnTo>
                  <a:pt x="719084"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182" name="Google Shape;182;p8"/>
          <p:cNvSpPr txBox="1"/>
          <p:nvPr/>
        </p:nvSpPr>
        <p:spPr>
          <a:xfrm>
            <a:off x="7397750" y="1479550"/>
            <a:ext cx="203200" cy="369888"/>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Clr>
                <a:srgbClr val="000000"/>
              </a:buClr>
              <a:buSzPts val="2400"/>
              <a:buFont typeface="Arial"/>
              <a:buNone/>
            </a:pPr>
            <a:r>
              <a:rPr b="1" i="1" lang="en-US" sz="2400" u="none" cap="none" strike="noStrike">
                <a:solidFill>
                  <a:srgbClr val="3816FF"/>
                </a:solidFill>
                <a:latin typeface="Century Gothic"/>
                <a:ea typeface="Century Gothic"/>
                <a:cs typeface="Century Gothic"/>
                <a:sym typeface="Century Gothic"/>
              </a:rPr>
              <a:t>y</a:t>
            </a:r>
            <a:endParaRPr b="1" i="0" sz="2400" u="none" cap="none" strike="noStrike">
              <a:solidFill>
                <a:schemeClr val="dk1"/>
              </a:solidFill>
              <a:latin typeface="Century Gothic"/>
              <a:ea typeface="Century Gothic"/>
              <a:cs typeface="Century Gothic"/>
              <a:sym typeface="Century Gothic"/>
            </a:endParaRPr>
          </a:p>
        </p:txBody>
      </p:sp>
      <p:sp>
        <p:nvSpPr>
          <p:cNvPr id="183" name="Google Shape;183;p8"/>
          <p:cNvSpPr/>
          <p:nvPr/>
        </p:nvSpPr>
        <p:spPr>
          <a:xfrm>
            <a:off x="7205663" y="1900238"/>
            <a:ext cx="142875" cy="0"/>
          </a:xfrm>
          <a:custGeom>
            <a:rect b="b" l="l" r="r" t="t"/>
            <a:pathLst>
              <a:path extrusionOk="0" h="120000" w="143509">
                <a:moveTo>
                  <a:pt x="142890" y="0"/>
                </a:moveTo>
                <a:lnTo>
                  <a:pt x="0"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184" name="Google Shape;184;p8"/>
          <p:cNvSpPr/>
          <p:nvPr/>
        </p:nvSpPr>
        <p:spPr>
          <a:xfrm>
            <a:off x="7205663" y="1900238"/>
            <a:ext cx="0" cy="142875"/>
          </a:xfrm>
          <a:custGeom>
            <a:rect b="b" l="l" r="r" t="t"/>
            <a:pathLst>
              <a:path extrusionOk="0" h="142875" w="120000">
                <a:moveTo>
                  <a:pt x="0" y="0"/>
                </a:moveTo>
                <a:lnTo>
                  <a:pt x="0" y="142859"/>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185" name="Google Shape;185;p8"/>
          <p:cNvSpPr/>
          <p:nvPr/>
        </p:nvSpPr>
        <p:spPr>
          <a:xfrm>
            <a:off x="5651500" y="2766607"/>
            <a:ext cx="2232025" cy="2087879"/>
          </a:xfrm>
          <a:custGeom>
            <a:rect b="b" l="l" r="r" t="t"/>
            <a:pathLst>
              <a:path extrusionOk="0" h="2087879" w="2232025">
                <a:moveTo>
                  <a:pt x="1116055" y="0"/>
                </a:moveTo>
                <a:lnTo>
                  <a:pt x="1024511" y="3459"/>
                </a:lnTo>
                <a:lnTo>
                  <a:pt x="935006" y="13659"/>
                </a:lnTo>
                <a:lnTo>
                  <a:pt x="847829" y="30331"/>
                </a:lnTo>
                <a:lnTo>
                  <a:pt x="763266" y="53205"/>
                </a:lnTo>
                <a:lnTo>
                  <a:pt x="681603" y="82015"/>
                </a:lnTo>
                <a:lnTo>
                  <a:pt x="603129" y="116490"/>
                </a:lnTo>
                <a:lnTo>
                  <a:pt x="528130" y="156363"/>
                </a:lnTo>
                <a:lnTo>
                  <a:pt x="456894" y="201365"/>
                </a:lnTo>
                <a:lnTo>
                  <a:pt x="389706" y="251228"/>
                </a:lnTo>
                <a:lnTo>
                  <a:pt x="326856" y="305682"/>
                </a:lnTo>
                <a:lnTo>
                  <a:pt x="268628" y="364460"/>
                </a:lnTo>
                <a:lnTo>
                  <a:pt x="215311" y="427293"/>
                </a:lnTo>
                <a:lnTo>
                  <a:pt x="167192" y="493912"/>
                </a:lnTo>
                <a:lnTo>
                  <a:pt x="124557" y="564049"/>
                </a:lnTo>
                <a:lnTo>
                  <a:pt x="87694" y="637435"/>
                </a:lnTo>
                <a:lnTo>
                  <a:pt x="56889" y="713801"/>
                </a:lnTo>
                <a:lnTo>
                  <a:pt x="32431" y="792880"/>
                </a:lnTo>
                <a:lnTo>
                  <a:pt x="14605" y="874403"/>
                </a:lnTo>
                <a:lnTo>
                  <a:pt x="3699" y="958101"/>
                </a:lnTo>
                <a:lnTo>
                  <a:pt x="0" y="1043705"/>
                </a:lnTo>
                <a:lnTo>
                  <a:pt x="3699" y="1129310"/>
                </a:lnTo>
                <a:lnTo>
                  <a:pt x="14605" y="1213010"/>
                </a:lnTo>
                <a:lnTo>
                  <a:pt x="32431" y="1294535"/>
                </a:lnTo>
                <a:lnTo>
                  <a:pt x="56889" y="1373619"/>
                </a:lnTo>
                <a:lnTo>
                  <a:pt x="87694" y="1449991"/>
                </a:lnTo>
                <a:lnTo>
                  <a:pt x="124557" y="1523383"/>
                </a:lnTo>
                <a:lnTo>
                  <a:pt x="167192" y="1593527"/>
                </a:lnTo>
                <a:lnTo>
                  <a:pt x="215311" y="1660153"/>
                </a:lnTo>
                <a:lnTo>
                  <a:pt x="268628" y="1722994"/>
                </a:lnTo>
                <a:lnTo>
                  <a:pt x="326856" y="1781779"/>
                </a:lnTo>
                <a:lnTo>
                  <a:pt x="389706" y="1836241"/>
                </a:lnTo>
                <a:lnTo>
                  <a:pt x="456894" y="1886111"/>
                </a:lnTo>
                <a:lnTo>
                  <a:pt x="528130" y="1931121"/>
                </a:lnTo>
                <a:lnTo>
                  <a:pt x="603129" y="1971001"/>
                </a:lnTo>
                <a:lnTo>
                  <a:pt x="681603" y="2005482"/>
                </a:lnTo>
                <a:lnTo>
                  <a:pt x="763266" y="2034297"/>
                </a:lnTo>
                <a:lnTo>
                  <a:pt x="847829" y="2057176"/>
                </a:lnTo>
                <a:lnTo>
                  <a:pt x="935006" y="2073851"/>
                </a:lnTo>
                <a:lnTo>
                  <a:pt x="1024511" y="2084053"/>
                </a:lnTo>
                <a:lnTo>
                  <a:pt x="1116055" y="2087514"/>
                </a:lnTo>
                <a:lnTo>
                  <a:pt x="1207582" y="2084053"/>
                </a:lnTo>
                <a:lnTo>
                  <a:pt x="1297072" y="2073851"/>
                </a:lnTo>
                <a:lnTo>
                  <a:pt x="1384236" y="2057176"/>
                </a:lnTo>
                <a:lnTo>
                  <a:pt x="1468788" y="2034297"/>
                </a:lnTo>
                <a:lnTo>
                  <a:pt x="1550441" y="2005482"/>
                </a:lnTo>
                <a:lnTo>
                  <a:pt x="1628908" y="1971001"/>
                </a:lnTo>
                <a:lnTo>
                  <a:pt x="1703900" y="1931121"/>
                </a:lnTo>
                <a:lnTo>
                  <a:pt x="1775132" y="1886111"/>
                </a:lnTo>
                <a:lnTo>
                  <a:pt x="1842315" y="1836241"/>
                </a:lnTo>
                <a:lnTo>
                  <a:pt x="1905163" y="1781779"/>
                </a:lnTo>
                <a:lnTo>
                  <a:pt x="1963389" y="1722994"/>
                </a:lnTo>
                <a:lnTo>
                  <a:pt x="2016705" y="1660153"/>
                </a:lnTo>
                <a:lnTo>
                  <a:pt x="2064824" y="1593527"/>
                </a:lnTo>
                <a:lnTo>
                  <a:pt x="2107459" y="1523383"/>
                </a:lnTo>
                <a:lnTo>
                  <a:pt x="2144322" y="1449991"/>
                </a:lnTo>
                <a:lnTo>
                  <a:pt x="2175127" y="1373619"/>
                </a:lnTo>
                <a:lnTo>
                  <a:pt x="2199587" y="1294535"/>
                </a:lnTo>
                <a:lnTo>
                  <a:pt x="2217413" y="1213010"/>
                </a:lnTo>
                <a:lnTo>
                  <a:pt x="2228320" y="1129310"/>
                </a:lnTo>
                <a:lnTo>
                  <a:pt x="2232019" y="1043705"/>
                </a:lnTo>
                <a:lnTo>
                  <a:pt x="2228320" y="958101"/>
                </a:lnTo>
                <a:lnTo>
                  <a:pt x="2217413" y="874403"/>
                </a:lnTo>
                <a:lnTo>
                  <a:pt x="2199587" y="792880"/>
                </a:lnTo>
                <a:lnTo>
                  <a:pt x="2175127" y="713801"/>
                </a:lnTo>
                <a:lnTo>
                  <a:pt x="2144322" y="637435"/>
                </a:lnTo>
                <a:lnTo>
                  <a:pt x="2107459" y="564049"/>
                </a:lnTo>
                <a:lnTo>
                  <a:pt x="2064824" y="493912"/>
                </a:lnTo>
                <a:lnTo>
                  <a:pt x="2016705" y="427293"/>
                </a:lnTo>
                <a:lnTo>
                  <a:pt x="1963389" y="364460"/>
                </a:lnTo>
                <a:lnTo>
                  <a:pt x="1905163" y="305682"/>
                </a:lnTo>
                <a:lnTo>
                  <a:pt x="1842315" y="251228"/>
                </a:lnTo>
                <a:lnTo>
                  <a:pt x="1775132" y="201365"/>
                </a:lnTo>
                <a:lnTo>
                  <a:pt x="1703900" y="156363"/>
                </a:lnTo>
                <a:lnTo>
                  <a:pt x="1628908" y="116490"/>
                </a:lnTo>
                <a:lnTo>
                  <a:pt x="1550441" y="82015"/>
                </a:lnTo>
                <a:lnTo>
                  <a:pt x="1468788" y="53205"/>
                </a:lnTo>
                <a:lnTo>
                  <a:pt x="1384236" y="30331"/>
                </a:lnTo>
                <a:lnTo>
                  <a:pt x="1297072" y="13659"/>
                </a:lnTo>
                <a:lnTo>
                  <a:pt x="1207582" y="3459"/>
                </a:lnTo>
                <a:lnTo>
                  <a:pt x="1116055" y="0"/>
                </a:lnTo>
                <a:close/>
              </a:path>
            </a:pathLst>
          </a:custGeom>
          <a:solidFill>
            <a:srgbClr val="00CC9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186" name="Google Shape;186;p8"/>
          <p:cNvSpPr/>
          <p:nvPr/>
        </p:nvSpPr>
        <p:spPr>
          <a:xfrm>
            <a:off x="5651500" y="2766607"/>
            <a:ext cx="2232025" cy="2087879"/>
          </a:xfrm>
          <a:custGeom>
            <a:rect b="b" l="l" r="r" t="t"/>
            <a:pathLst>
              <a:path extrusionOk="0" h="2087879" w="2232025">
                <a:moveTo>
                  <a:pt x="0" y="1043705"/>
                </a:moveTo>
                <a:lnTo>
                  <a:pt x="3699" y="958101"/>
                </a:lnTo>
                <a:lnTo>
                  <a:pt x="14605" y="874403"/>
                </a:lnTo>
                <a:lnTo>
                  <a:pt x="32431" y="792880"/>
                </a:lnTo>
                <a:lnTo>
                  <a:pt x="56889" y="713801"/>
                </a:lnTo>
                <a:lnTo>
                  <a:pt x="87694" y="637435"/>
                </a:lnTo>
                <a:lnTo>
                  <a:pt x="124557" y="564049"/>
                </a:lnTo>
                <a:lnTo>
                  <a:pt x="167192" y="493912"/>
                </a:lnTo>
                <a:lnTo>
                  <a:pt x="215311" y="427293"/>
                </a:lnTo>
                <a:lnTo>
                  <a:pt x="268628" y="364460"/>
                </a:lnTo>
                <a:lnTo>
                  <a:pt x="326856" y="305682"/>
                </a:lnTo>
                <a:lnTo>
                  <a:pt x="389706" y="251228"/>
                </a:lnTo>
                <a:lnTo>
                  <a:pt x="456894" y="201365"/>
                </a:lnTo>
                <a:lnTo>
                  <a:pt x="528130" y="156363"/>
                </a:lnTo>
                <a:lnTo>
                  <a:pt x="603129" y="116490"/>
                </a:lnTo>
                <a:lnTo>
                  <a:pt x="681603" y="82015"/>
                </a:lnTo>
                <a:lnTo>
                  <a:pt x="763266" y="53205"/>
                </a:lnTo>
                <a:lnTo>
                  <a:pt x="847829" y="30331"/>
                </a:lnTo>
                <a:lnTo>
                  <a:pt x="935006" y="13659"/>
                </a:lnTo>
                <a:lnTo>
                  <a:pt x="1024511" y="3459"/>
                </a:lnTo>
                <a:lnTo>
                  <a:pt x="1116055" y="0"/>
                </a:lnTo>
                <a:lnTo>
                  <a:pt x="1207582" y="3459"/>
                </a:lnTo>
                <a:lnTo>
                  <a:pt x="1297072" y="13659"/>
                </a:lnTo>
                <a:lnTo>
                  <a:pt x="1384236" y="30331"/>
                </a:lnTo>
                <a:lnTo>
                  <a:pt x="1468788" y="53205"/>
                </a:lnTo>
                <a:lnTo>
                  <a:pt x="1550441" y="82015"/>
                </a:lnTo>
                <a:lnTo>
                  <a:pt x="1628908" y="116490"/>
                </a:lnTo>
                <a:lnTo>
                  <a:pt x="1703900" y="156363"/>
                </a:lnTo>
                <a:lnTo>
                  <a:pt x="1775132" y="201365"/>
                </a:lnTo>
                <a:lnTo>
                  <a:pt x="1842315" y="251228"/>
                </a:lnTo>
                <a:lnTo>
                  <a:pt x="1905163" y="305682"/>
                </a:lnTo>
                <a:lnTo>
                  <a:pt x="1963389" y="364460"/>
                </a:lnTo>
                <a:lnTo>
                  <a:pt x="2016705" y="427293"/>
                </a:lnTo>
                <a:lnTo>
                  <a:pt x="2064824" y="493912"/>
                </a:lnTo>
                <a:lnTo>
                  <a:pt x="2107459" y="564049"/>
                </a:lnTo>
                <a:lnTo>
                  <a:pt x="2144322" y="637435"/>
                </a:lnTo>
                <a:lnTo>
                  <a:pt x="2175127" y="713801"/>
                </a:lnTo>
                <a:lnTo>
                  <a:pt x="2199587" y="792880"/>
                </a:lnTo>
                <a:lnTo>
                  <a:pt x="2217413" y="874403"/>
                </a:lnTo>
                <a:lnTo>
                  <a:pt x="2228320" y="958101"/>
                </a:lnTo>
                <a:lnTo>
                  <a:pt x="2232019" y="1043705"/>
                </a:lnTo>
                <a:lnTo>
                  <a:pt x="2228320" y="1129310"/>
                </a:lnTo>
                <a:lnTo>
                  <a:pt x="2217413" y="1213010"/>
                </a:lnTo>
                <a:lnTo>
                  <a:pt x="2199587" y="1294535"/>
                </a:lnTo>
                <a:lnTo>
                  <a:pt x="2175127" y="1373619"/>
                </a:lnTo>
                <a:lnTo>
                  <a:pt x="2144322" y="1449991"/>
                </a:lnTo>
                <a:lnTo>
                  <a:pt x="2107459" y="1523383"/>
                </a:lnTo>
                <a:lnTo>
                  <a:pt x="2064824" y="1593527"/>
                </a:lnTo>
                <a:lnTo>
                  <a:pt x="2016705" y="1660153"/>
                </a:lnTo>
                <a:lnTo>
                  <a:pt x="1963389" y="1722994"/>
                </a:lnTo>
                <a:lnTo>
                  <a:pt x="1905163" y="1781779"/>
                </a:lnTo>
                <a:lnTo>
                  <a:pt x="1842315" y="1836241"/>
                </a:lnTo>
                <a:lnTo>
                  <a:pt x="1775132" y="1886111"/>
                </a:lnTo>
                <a:lnTo>
                  <a:pt x="1703900" y="1931121"/>
                </a:lnTo>
                <a:lnTo>
                  <a:pt x="1628908" y="1971001"/>
                </a:lnTo>
                <a:lnTo>
                  <a:pt x="1550441" y="2005482"/>
                </a:lnTo>
                <a:lnTo>
                  <a:pt x="1468788" y="2034297"/>
                </a:lnTo>
                <a:lnTo>
                  <a:pt x="1384236" y="2057176"/>
                </a:lnTo>
                <a:lnTo>
                  <a:pt x="1297072" y="2073851"/>
                </a:lnTo>
                <a:lnTo>
                  <a:pt x="1207582" y="2084053"/>
                </a:lnTo>
                <a:lnTo>
                  <a:pt x="1116055" y="2087514"/>
                </a:lnTo>
                <a:lnTo>
                  <a:pt x="1024511" y="2084053"/>
                </a:lnTo>
                <a:lnTo>
                  <a:pt x="935006" y="2073851"/>
                </a:lnTo>
                <a:lnTo>
                  <a:pt x="847829" y="2057176"/>
                </a:lnTo>
                <a:lnTo>
                  <a:pt x="763266" y="2034297"/>
                </a:lnTo>
                <a:lnTo>
                  <a:pt x="681603" y="2005482"/>
                </a:lnTo>
                <a:lnTo>
                  <a:pt x="603129" y="1971001"/>
                </a:lnTo>
                <a:lnTo>
                  <a:pt x="528130" y="1931121"/>
                </a:lnTo>
                <a:lnTo>
                  <a:pt x="456894" y="1886111"/>
                </a:lnTo>
                <a:lnTo>
                  <a:pt x="389706" y="1836241"/>
                </a:lnTo>
                <a:lnTo>
                  <a:pt x="326856" y="1781779"/>
                </a:lnTo>
                <a:lnTo>
                  <a:pt x="268628" y="1722994"/>
                </a:lnTo>
                <a:lnTo>
                  <a:pt x="215311" y="1660153"/>
                </a:lnTo>
                <a:lnTo>
                  <a:pt x="167192" y="1593527"/>
                </a:lnTo>
                <a:lnTo>
                  <a:pt x="124557" y="1523383"/>
                </a:lnTo>
                <a:lnTo>
                  <a:pt x="87694" y="1449991"/>
                </a:lnTo>
                <a:lnTo>
                  <a:pt x="56889" y="1373619"/>
                </a:lnTo>
                <a:lnTo>
                  <a:pt x="32431" y="1294535"/>
                </a:lnTo>
                <a:lnTo>
                  <a:pt x="14605" y="1213010"/>
                </a:lnTo>
                <a:lnTo>
                  <a:pt x="3699" y="1129310"/>
                </a:lnTo>
                <a:lnTo>
                  <a:pt x="0" y="1043705"/>
                </a:lnTo>
                <a:close/>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187" name="Google Shape;187;p8"/>
          <p:cNvSpPr/>
          <p:nvPr/>
        </p:nvSpPr>
        <p:spPr>
          <a:xfrm>
            <a:off x="4708525" y="3782607"/>
            <a:ext cx="4183379" cy="127000"/>
          </a:xfrm>
          <a:custGeom>
            <a:rect b="b" l="l" r="r" t="t"/>
            <a:pathLst>
              <a:path extrusionOk="0" h="127000" w="4183379">
                <a:moveTo>
                  <a:pt x="4106814" y="69853"/>
                </a:moveTo>
                <a:lnTo>
                  <a:pt x="4106814" y="127004"/>
                </a:lnTo>
                <a:lnTo>
                  <a:pt x="4175398" y="69854"/>
                </a:lnTo>
                <a:lnTo>
                  <a:pt x="4106814" y="69853"/>
                </a:lnTo>
                <a:close/>
              </a:path>
              <a:path extrusionOk="0" h="127000" w="4183379">
                <a:moveTo>
                  <a:pt x="4106814" y="57149"/>
                </a:moveTo>
                <a:lnTo>
                  <a:pt x="4106814" y="69853"/>
                </a:lnTo>
                <a:lnTo>
                  <a:pt x="4119646" y="69854"/>
                </a:lnTo>
                <a:lnTo>
                  <a:pt x="4119646" y="57149"/>
                </a:lnTo>
                <a:lnTo>
                  <a:pt x="4106814" y="57149"/>
                </a:lnTo>
                <a:close/>
              </a:path>
              <a:path extrusionOk="0" h="127000" w="4183379">
                <a:moveTo>
                  <a:pt x="4106814" y="0"/>
                </a:moveTo>
                <a:lnTo>
                  <a:pt x="4106814" y="57149"/>
                </a:lnTo>
                <a:lnTo>
                  <a:pt x="4119646" y="57149"/>
                </a:lnTo>
                <a:lnTo>
                  <a:pt x="4119646" y="69854"/>
                </a:lnTo>
                <a:lnTo>
                  <a:pt x="4175399" y="69853"/>
                </a:lnTo>
                <a:lnTo>
                  <a:pt x="4183014" y="63508"/>
                </a:lnTo>
                <a:lnTo>
                  <a:pt x="4106814" y="0"/>
                </a:lnTo>
                <a:close/>
              </a:path>
              <a:path extrusionOk="0" h="127000" w="4183379">
                <a:moveTo>
                  <a:pt x="0" y="57031"/>
                </a:moveTo>
                <a:lnTo>
                  <a:pt x="0" y="69722"/>
                </a:lnTo>
                <a:lnTo>
                  <a:pt x="4106814" y="69853"/>
                </a:lnTo>
                <a:lnTo>
                  <a:pt x="4106814" y="57149"/>
                </a:lnTo>
                <a:lnTo>
                  <a:pt x="0" y="57031"/>
                </a:lnTo>
                <a:close/>
              </a:path>
            </a:pathLst>
          </a:custGeom>
          <a:solidFill>
            <a:srgbClr val="FF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188" name="Google Shape;188;p8"/>
          <p:cNvSpPr/>
          <p:nvPr/>
        </p:nvSpPr>
        <p:spPr>
          <a:xfrm>
            <a:off x="6710363" y="1901419"/>
            <a:ext cx="126996" cy="3580129"/>
          </a:xfrm>
          <a:custGeom>
            <a:rect b="b" l="l" r="r" t="t"/>
            <a:pathLst>
              <a:path extrusionOk="0" h="3580129" w="127634">
                <a:moveTo>
                  <a:pt x="69982" y="63489"/>
                </a:moveTo>
                <a:lnTo>
                  <a:pt x="57149" y="63489"/>
                </a:lnTo>
                <a:lnTo>
                  <a:pt x="57149" y="3579814"/>
                </a:lnTo>
                <a:lnTo>
                  <a:pt x="69860" y="3579814"/>
                </a:lnTo>
                <a:lnTo>
                  <a:pt x="69982" y="63489"/>
                </a:lnTo>
                <a:close/>
              </a:path>
              <a:path extrusionOk="0" h="3580129" w="127634">
                <a:moveTo>
                  <a:pt x="63642" y="0"/>
                </a:moveTo>
                <a:lnTo>
                  <a:pt x="0" y="76199"/>
                </a:lnTo>
                <a:lnTo>
                  <a:pt x="57149" y="76199"/>
                </a:lnTo>
                <a:lnTo>
                  <a:pt x="57149" y="63489"/>
                </a:lnTo>
                <a:lnTo>
                  <a:pt x="116541" y="63489"/>
                </a:lnTo>
                <a:lnTo>
                  <a:pt x="63642" y="0"/>
                </a:lnTo>
                <a:close/>
              </a:path>
              <a:path extrusionOk="0" h="3580129" w="127634">
                <a:moveTo>
                  <a:pt x="116541" y="63489"/>
                </a:moveTo>
                <a:lnTo>
                  <a:pt x="69982" y="63489"/>
                </a:lnTo>
                <a:lnTo>
                  <a:pt x="69981" y="76199"/>
                </a:lnTo>
                <a:lnTo>
                  <a:pt x="127132" y="76199"/>
                </a:lnTo>
                <a:lnTo>
                  <a:pt x="116541" y="63489"/>
                </a:lnTo>
                <a:close/>
              </a:path>
            </a:pathLst>
          </a:custGeom>
          <a:solidFill>
            <a:srgbClr val="FF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189" name="Google Shape;189;p8"/>
          <p:cNvSpPr/>
          <p:nvPr/>
        </p:nvSpPr>
        <p:spPr>
          <a:xfrm>
            <a:off x="7378700" y="2923769"/>
            <a:ext cx="144417" cy="144417"/>
          </a:xfrm>
          <a:custGeom>
            <a:rect b="b" l="l" r="r" t="t"/>
            <a:pathLst>
              <a:path extrusionOk="0" h="144779" w="144779">
                <a:moveTo>
                  <a:pt x="71588" y="0"/>
                </a:moveTo>
                <a:lnTo>
                  <a:pt x="31554" y="12563"/>
                </a:lnTo>
                <a:lnTo>
                  <a:pt x="5623" y="44275"/>
                </a:lnTo>
                <a:lnTo>
                  <a:pt x="0" y="72234"/>
                </a:lnTo>
                <a:lnTo>
                  <a:pt x="30" y="74359"/>
                </a:lnTo>
                <a:lnTo>
                  <a:pt x="13156" y="113653"/>
                </a:lnTo>
                <a:lnTo>
                  <a:pt x="45360" y="139006"/>
                </a:lnTo>
                <a:lnTo>
                  <a:pt x="73991" y="144482"/>
                </a:lnTo>
                <a:lnTo>
                  <a:pt x="88249" y="142724"/>
                </a:lnTo>
                <a:lnTo>
                  <a:pt x="123926" y="122599"/>
                </a:lnTo>
                <a:lnTo>
                  <a:pt x="143101" y="85756"/>
                </a:lnTo>
                <a:lnTo>
                  <a:pt x="144525" y="70996"/>
                </a:lnTo>
                <a:lnTo>
                  <a:pt x="142848" y="56663"/>
                </a:lnTo>
                <a:lnTo>
                  <a:pt x="122867" y="20760"/>
                </a:lnTo>
                <a:lnTo>
                  <a:pt x="86225" y="1437"/>
                </a:lnTo>
                <a:lnTo>
                  <a:pt x="71588" y="0"/>
                </a:lnTo>
                <a:close/>
              </a:path>
            </a:pathLst>
          </a:custGeom>
          <a:solidFill>
            <a:srgbClr val="FF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190" name="Google Shape;190;p8"/>
          <p:cNvSpPr/>
          <p:nvPr/>
        </p:nvSpPr>
        <p:spPr>
          <a:xfrm>
            <a:off x="7378700" y="2923769"/>
            <a:ext cx="144417" cy="144417"/>
          </a:xfrm>
          <a:custGeom>
            <a:rect b="b" l="l" r="r" t="t"/>
            <a:pathLst>
              <a:path extrusionOk="0" h="144779" w="144779">
                <a:moveTo>
                  <a:pt x="0" y="72234"/>
                </a:moveTo>
                <a:lnTo>
                  <a:pt x="12221" y="32054"/>
                </a:lnTo>
                <a:lnTo>
                  <a:pt x="43715" y="5866"/>
                </a:lnTo>
                <a:lnTo>
                  <a:pt x="71588" y="0"/>
                </a:lnTo>
                <a:lnTo>
                  <a:pt x="86225" y="1437"/>
                </a:lnTo>
                <a:lnTo>
                  <a:pt x="122867" y="20760"/>
                </a:lnTo>
                <a:lnTo>
                  <a:pt x="142848" y="56663"/>
                </a:lnTo>
                <a:lnTo>
                  <a:pt x="144525" y="70996"/>
                </a:lnTo>
                <a:lnTo>
                  <a:pt x="143101" y="85756"/>
                </a:lnTo>
                <a:lnTo>
                  <a:pt x="123926" y="122599"/>
                </a:lnTo>
                <a:lnTo>
                  <a:pt x="88249" y="142724"/>
                </a:lnTo>
                <a:lnTo>
                  <a:pt x="73991" y="144482"/>
                </a:lnTo>
                <a:lnTo>
                  <a:pt x="59131" y="143071"/>
                </a:lnTo>
                <a:lnTo>
                  <a:pt x="22114" y="124021"/>
                </a:lnTo>
                <a:lnTo>
                  <a:pt x="1856" y="88546"/>
                </a:lnTo>
                <a:lnTo>
                  <a:pt x="0" y="72234"/>
                </a:lnTo>
                <a:close/>
              </a:path>
            </a:pathLst>
          </a:custGeom>
          <a:noFill/>
          <a:ln cap="flat" cmpd="sng" w="12700">
            <a:solidFill>
              <a:srgbClr val="FF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191" name="Google Shape;191;p8"/>
          <p:cNvSpPr/>
          <p:nvPr/>
        </p:nvSpPr>
        <p:spPr>
          <a:xfrm>
            <a:off x="7451725" y="2982507"/>
            <a:ext cx="0" cy="863600"/>
          </a:xfrm>
          <a:custGeom>
            <a:rect b="b" l="l" r="r" t="t"/>
            <a:pathLst>
              <a:path extrusionOk="0" h="863600" w="120000">
                <a:moveTo>
                  <a:pt x="0" y="0"/>
                </a:moveTo>
                <a:lnTo>
                  <a:pt x="0" y="863589"/>
                </a:lnTo>
              </a:path>
            </a:pathLst>
          </a:custGeom>
          <a:noFill/>
          <a:ln cap="flat" cmpd="sng" w="12700">
            <a:solidFill>
              <a:srgbClr val="000000"/>
            </a:solidFill>
            <a:prstDash val="lgDash"/>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192" name="Google Shape;192;p8"/>
          <p:cNvSpPr/>
          <p:nvPr/>
        </p:nvSpPr>
        <p:spPr>
          <a:xfrm>
            <a:off x="6759575" y="2982507"/>
            <a:ext cx="692150" cy="863600"/>
          </a:xfrm>
          <a:custGeom>
            <a:rect b="b" l="l" r="r" t="t"/>
            <a:pathLst>
              <a:path extrusionOk="0" h="863600" w="692150">
                <a:moveTo>
                  <a:pt x="692139" y="0"/>
                </a:moveTo>
                <a:lnTo>
                  <a:pt x="0" y="863589"/>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193" name="Google Shape;193;p8"/>
          <p:cNvSpPr txBox="1"/>
          <p:nvPr/>
        </p:nvSpPr>
        <p:spPr>
          <a:xfrm>
            <a:off x="7508875" y="3263494"/>
            <a:ext cx="203100" cy="3693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Clr>
                <a:srgbClr val="000000"/>
              </a:buClr>
              <a:buSzPts val="2400"/>
              <a:buFont typeface="Arial"/>
              <a:buNone/>
            </a:pPr>
            <a:r>
              <a:rPr b="1" i="1" lang="en-US" sz="2400" u="none" cap="none" strike="noStrike">
                <a:solidFill>
                  <a:srgbClr val="3816FF"/>
                </a:solidFill>
                <a:latin typeface="Century Gothic"/>
                <a:ea typeface="Century Gothic"/>
                <a:cs typeface="Century Gothic"/>
                <a:sym typeface="Century Gothic"/>
              </a:rPr>
              <a:t>y</a:t>
            </a:r>
            <a:endParaRPr b="1" i="0" sz="2400" u="none" cap="none" strike="noStrike">
              <a:solidFill>
                <a:schemeClr val="dk1"/>
              </a:solidFill>
              <a:latin typeface="Century Gothic"/>
              <a:ea typeface="Century Gothic"/>
              <a:cs typeface="Century Gothic"/>
              <a:sym typeface="Century Gothic"/>
            </a:endParaRPr>
          </a:p>
        </p:txBody>
      </p:sp>
      <p:sp>
        <p:nvSpPr>
          <p:cNvPr id="194" name="Google Shape;194;p8"/>
          <p:cNvSpPr txBox="1"/>
          <p:nvPr/>
        </p:nvSpPr>
        <p:spPr>
          <a:xfrm>
            <a:off x="7053263" y="3806419"/>
            <a:ext cx="196800" cy="3693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Clr>
                <a:srgbClr val="000000"/>
              </a:buClr>
              <a:buSzPts val="2400"/>
              <a:buFont typeface="Arial"/>
              <a:buNone/>
            </a:pPr>
            <a:r>
              <a:rPr b="1" i="1" lang="en-US" sz="2400" u="none" cap="none" strike="noStrike">
                <a:solidFill>
                  <a:srgbClr val="3816FF"/>
                </a:solidFill>
                <a:latin typeface="Century Gothic"/>
                <a:ea typeface="Century Gothic"/>
                <a:cs typeface="Century Gothic"/>
                <a:sym typeface="Century Gothic"/>
              </a:rPr>
              <a:t>x</a:t>
            </a:r>
            <a:endParaRPr b="1" i="0" sz="2400" u="none" cap="none" strike="noStrike">
              <a:solidFill>
                <a:schemeClr val="dk1"/>
              </a:solidFill>
              <a:latin typeface="Century Gothic"/>
              <a:ea typeface="Century Gothic"/>
              <a:cs typeface="Century Gothic"/>
              <a:sym typeface="Century Gothic"/>
            </a:endParaRPr>
          </a:p>
        </p:txBody>
      </p:sp>
      <p:sp>
        <p:nvSpPr>
          <p:cNvPr id="195" name="Google Shape;195;p8"/>
          <p:cNvSpPr txBox="1"/>
          <p:nvPr/>
        </p:nvSpPr>
        <p:spPr>
          <a:xfrm>
            <a:off x="8739188" y="3876269"/>
            <a:ext cx="173100" cy="3693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Clr>
                <a:srgbClr val="000000"/>
              </a:buClr>
              <a:buSzPts val="2400"/>
              <a:buFont typeface="Arial"/>
              <a:buNone/>
            </a:pPr>
            <a:r>
              <a:rPr b="1" i="1" lang="en-US" sz="2400" u="none" cap="none" strike="noStrike">
                <a:solidFill>
                  <a:srgbClr val="FD2918"/>
                </a:solidFill>
                <a:latin typeface="Century Gothic"/>
                <a:ea typeface="Century Gothic"/>
                <a:cs typeface="Century Gothic"/>
                <a:sym typeface="Century Gothic"/>
              </a:rPr>
              <a:t>x</a:t>
            </a:r>
            <a:endParaRPr b="1" i="0" sz="2400" u="none" cap="none" strike="noStrike">
              <a:solidFill>
                <a:schemeClr val="dk1"/>
              </a:solidFill>
              <a:latin typeface="Century Gothic"/>
              <a:ea typeface="Century Gothic"/>
              <a:cs typeface="Century Gothic"/>
              <a:sym typeface="Century Gothic"/>
            </a:endParaRPr>
          </a:p>
        </p:txBody>
      </p:sp>
      <p:sp>
        <p:nvSpPr>
          <p:cNvPr id="196" name="Google Shape;196;p8"/>
          <p:cNvSpPr txBox="1"/>
          <p:nvPr/>
        </p:nvSpPr>
        <p:spPr>
          <a:xfrm>
            <a:off x="6881813" y="1841094"/>
            <a:ext cx="190500" cy="3693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Clr>
                <a:srgbClr val="000000"/>
              </a:buClr>
              <a:buSzPts val="2400"/>
              <a:buFont typeface="Arial"/>
              <a:buNone/>
            </a:pPr>
            <a:r>
              <a:rPr b="1" i="1" lang="en-US" sz="2400" u="none" cap="none" strike="noStrike">
                <a:solidFill>
                  <a:srgbClr val="FD2918"/>
                </a:solidFill>
                <a:latin typeface="Century Gothic"/>
                <a:ea typeface="Century Gothic"/>
                <a:cs typeface="Century Gothic"/>
                <a:sym typeface="Century Gothic"/>
              </a:rPr>
              <a:t>y</a:t>
            </a:r>
            <a:endParaRPr b="1" i="0" sz="2400" u="none" cap="none" strike="noStrike">
              <a:solidFill>
                <a:schemeClr val="dk1"/>
              </a:solidFill>
              <a:latin typeface="Century Gothic"/>
              <a:ea typeface="Century Gothic"/>
              <a:cs typeface="Century Gothic"/>
              <a:sym typeface="Century Gothic"/>
            </a:endParaRPr>
          </a:p>
        </p:txBody>
      </p:sp>
      <p:sp>
        <p:nvSpPr>
          <p:cNvPr id="197" name="Google Shape;197;p8"/>
          <p:cNvSpPr txBox="1"/>
          <p:nvPr/>
        </p:nvSpPr>
        <p:spPr>
          <a:xfrm>
            <a:off x="6926263" y="3157132"/>
            <a:ext cx="123900" cy="3693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Clr>
                <a:srgbClr val="000000"/>
              </a:buClr>
              <a:buSzPts val="2400"/>
              <a:buFont typeface="Arial"/>
              <a:buNone/>
            </a:pPr>
            <a:r>
              <a:rPr b="1" i="1" lang="en-US" sz="2400" u="none" cap="none" strike="noStrike">
                <a:solidFill>
                  <a:srgbClr val="3816FF"/>
                </a:solidFill>
                <a:latin typeface="Century Gothic"/>
                <a:ea typeface="Century Gothic"/>
                <a:cs typeface="Century Gothic"/>
                <a:sym typeface="Century Gothic"/>
              </a:rPr>
              <a:t>r</a:t>
            </a:r>
            <a:endParaRPr b="1" i="0" sz="2400" u="none" cap="none" strike="noStrike">
              <a:solidFill>
                <a:schemeClr val="dk1"/>
              </a:solidFill>
              <a:latin typeface="Century Gothic"/>
              <a:ea typeface="Century Gothic"/>
              <a:cs typeface="Century Gothic"/>
              <a:sym typeface="Century Gothic"/>
            </a:endParaRPr>
          </a:p>
        </p:txBody>
      </p:sp>
      <p:sp>
        <p:nvSpPr>
          <p:cNvPr id="198" name="Google Shape;198;p8"/>
          <p:cNvSpPr/>
          <p:nvPr/>
        </p:nvSpPr>
        <p:spPr>
          <a:xfrm>
            <a:off x="2362200" y="3983038"/>
            <a:ext cx="50800" cy="28575"/>
          </a:xfrm>
          <a:custGeom>
            <a:rect b="b" l="l" r="r" t="t"/>
            <a:pathLst>
              <a:path extrusionOk="0" h="29210" w="51435">
                <a:moveTo>
                  <a:pt x="0" y="29038"/>
                </a:moveTo>
                <a:lnTo>
                  <a:pt x="50970" y="0"/>
                </a:lnTo>
              </a:path>
            </a:pathLst>
          </a:custGeom>
          <a:noFill/>
          <a:ln cap="flat" cmpd="sng" w="158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199" name="Google Shape;199;p8"/>
          <p:cNvSpPr/>
          <p:nvPr/>
        </p:nvSpPr>
        <p:spPr>
          <a:xfrm>
            <a:off x="2413000" y="3990975"/>
            <a:ext cx="73025" cy="155575"/>
          </a:xfrm>
          <a:custGeom>
            <a:rect b="b" l="l" r="r" t="t"/>
            <a:pathLst>
              <a:path extrusionOk="0" h="156210" w="73025">
                <a:moveTo>
                  <a:pt x="0" y="0"/>
                </a:moveTo>
                <a:lnTo>
                  <a:pt x="72866" y="156175"/>
                </a:lnTo>
              </a:path>
            </a:pathLst>
          </a:custGeom>
          <a:noFill/>
          <a:ln cap="flat" cmpd="sng" w="330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00" name="Google Shape;200;p8"/>
          <p:cNvSpPr/>
          <p:nvPr/>
        </p:nvSpPr>
        <p:spPr>
          <a:xfrm>
            <a:off x="2493963" y="3692525"/>
            <a:ext cx="96837" cy="454025"/>
          </a:xfrm>
          <a:custGeom>
            <a:rect b="b" l="l" r="r" t="t"/>
            <a:pathLst>
              <a:path extrusionOk="0" h="454025" w="97155">
                <a:moveTo>
                  <a:pt x="0" y="453614"/>
                </a:moveTo>
                <a:lnTo>
                  <a:pt x="97107" y="0"/>
                </a:lnTo>
              </a:path>
            </a:pathLst>
          </a:custGeom>
          <a:noFill/>
          <a:ln cap="flat" cmpd="sng" w="161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01" name="Google Shape;201;p8"/>
          <p:cNvSpPr/>
          <p:nvPr/>
        </p:nvSpPr>
        <p:spPr>
          <a:xfrm>
            <a:off x="2590800" y="3692525"/>
            <a:ext cx="1119188" cy="0"/>
          </a:xfrm>
          <a:custGeom>
            <a:rect b="b" l="l" r="r" t="t"/>
            <a:pathLst>
              <a:path extrusionOk="0" h="120000" w="1118870">
                <a:moveTo>
                  <a:pt x="0" y="0"/>
                </a:moveTo>
                <a:lnTo>
                  <a:pt x="1118634" y="0"/>
                </a:lnTo>
              </a:path>
            </a:pathLst>
          </a:custGeom>
          <a:noFill/>
          <a:ln cap="flat" cmpd="sng" w="1575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02" name="Google Shape;202;p8"/>
          <p:cNvSpPr txBox="1"/>
          <p:nvPr/>
        </p:nvSpPr>
        <p:spPr>
          <a:xfrm>
            <a:off x="1512888" y="3756025"/>
            <a:ext cx="2155800" cy="4848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Clr>
                <a:srgbClr val="000000"/>
              </a:buClr>
              <a:buSzPts val="3150"/>
              <a:buFont typeface="Arial"/>
              <a:buNone/>
            </a:pPr>
            <a:r>
              <a:rPr b="0" i="1" lang="en-US" sz="3150" u="none" cap="none" strike="noStrike">
                <a:solidFill>
                  <a:schemeClr val="dk1"/>
                </a:solidFill>
                <a:latin typeface="Times New Roman"/>
                <a:ea typeface="Times New Roman"/>
                <a:cs typeface="Times New Roman"/>
                <a:sym typeface="Times New Roman"/>
              </a:rPr>
              <a:t>y </a:t>
            </a:r>
            <a:r>
              <a:rPr b="0" i="0" lang="en-US" sz="3150" u="none" cap="none" strike="noStrike">
                <a:solidFill>
                  <a:schemeClr val="dk1"/>
                </a:solidFill>
                <a:latin typeface="Noto Sans Symbols"/>
                <a:ea typeface="Noto Sans Symbols"/>
                <a:cs typeface="Noto Sans Symbols"/>
                <a:sym typeface="Noto Sans Symbols"/>
              </a:rPr>
              <a:t>=</a:t>
            </a:r>
            <a:r>
              <a:rPr b="0" i="0" lang="en-US" sz="3150" u="none" cap="none" strike="noStrike">
                <a:solidFill>
                  <a:schemeClr val="dk1"/>
                </a:solidFill>
                <a:latin typeface="Times New Roman"/>
                <a:ea typeface="Times New Roman"/>
                <a:cs typeface="Times New Roman"/>
                <a:sym typeface="Times New Roman"/>
              </a:rPr>
              <a:t> </a:t>
            </a:r>
            <a:r>
              <a:rPr b="0" i="0" lang="en-US" sz="3150" u="none" cap="none" strike="noStrike">
                <a:solidFill>
                  <a:schemeClr val="dk1"/>
                </a:solidFill>
                <a:latin typeface="Noto Sans Symbols"/>
                <a:ea typeface="Noto Sans Symbols"/>
                <a:cs typeface="Noto Sans Symbols"/>
                <a:sym typeface="Noto Sans Symbols"/>
              </a:rPr>
              <a:t>±</a:t>
            </a:r>
            <a:r>
              <a:rPr b="0" i="0" lang="en-US" sz="3150" u="none" cap="none" strike="noStrike">
                <a:solidFill>
                  <a:schemeClr val="dk1"/>
                </a:solidFill>
                <a:latin typeface="Times New Roman"/>
                <a:ea typeface="Times New Roman"/>
                <a:cs typeface="Times New Roman"/>
                <a:sym typeface="Times New Roman"/>
              </a:rPr>
              <a:t>	  </a:t>
            </a:r>
            <a:r>
              <a:rPr b="0" i="1" lang="en-US" sz="3150" u="none" cap="none" strike="noStrike">
                <a:solidFill>
                  <a:schemeClr val="dk1"/>
                </a:solidFill>
                <a:latin typeface="Times New Roman"/>
                <a:ea typeface="Times New Roman"/>
                <a:cs typeface="Times New Roman"/>
                <a:sym typeface="Times New Roman"/>
              </a:rPr>
              <a:t>r </a:t>
            </a:r>
            <a:r>
              <a:rPr b="0" baseline="30000" i="0" lang="en-US" sz="2700" u="none" cap="none" strike="noStrike">
                <a:solidFill>
                  <a:schemeClr val="dk1"/>
                </a:solidFill>
                <a:latin typeface="Times New Roman"/>
                <a:ea typeface="Times New Roman"/>
                <a:cs typeface="Times New Roman"/>
                <a:sym typeface="Times New Roman"/>
              </a:rPr>
              <a:t>2  </a:t>
            </a:r>
            <a:r>
              <a:rPr b="0" i="0" lang="en-US" sz="3150" u="none" cap="none" strike="noStrike">
                <a:solidFill>
                  <a:schemeClr val="dk1"/>
                </a:solidFill>
                <a:latin typeface="Noto Sans Symbols"/>
                <a:ea typeface="Noto Sans Symbols"/>
                <a:cs typeface="Noto Sans Symbols"/>
                <a:sym typeface="Noto Sans Symbols"/>
              </a:rPr>
              <a:t>−</a:t>
            </a:r>
            <a:r>
              <a:rPr b="0" i="0" lang="en-US" sz="3150" u="none" cap="none" strike="noStrike">
                <a:solidFill>
                  <a:schemeClr val="dk1"/>
                </a:solidFill>
                <a:latin typeface="Times New Roman"/>
                <a:ea typeface="Times New Roman"/>
                <a:cs typeface="Times New Roman"/>
                <a:sym typeface="Times New Roman"/>
              </a:rPr>
              <a:t> </a:t>
            </a:r>
            <a:r>
              <a:rPr b="0" i="1" lang="en-US" sz="3150" u="none" cap="none" strike="noStrike">
                <a:solidFill>
                  <a:schemeClr val="dk1"/>
                </a:solidFill>
                <a:latin typeface="Times New Roman"/>
                <a:ea typeface="Times New Roman"/>
                <a:cs typeface="Times New Roman"/>
                <a:sym typeface="Times New Roman"/>
              </a:rPr>
              <a:t>x</a:t>
            </a:r>
            <a:r>
              <a:rPr b="0" baseline="30000" i="0" lang="en-US" sz="2700" u="none" cap="none" strike="noStrike">
                <a:solidFill>
                  <a:schemeClr val="dk1"/>
                </a:solidFill>
                <a:latin typeface="Times New Roman"/>
                <a:ea typeface="Times New Roman"/>
                <a:cs typeface="Times New Roman"/>
                <a:sym typeface="Times New Roman"/>
              </a:rPr>
              <a:t>2</a:t>
            </a:r>
            <a:endParaRPr b="0" baseline="30000" i="0" sz="2700" u="none" cap="none" strike="noStrike">
              <a:solidFill>
                <a:schemeClr val="dk1"/>
              </a:solidFill>
              <a:latin typeface="Times New Roman"/>
              <a:ea typeface="Times New Roman"/>
              <a:cs typeface="Times New Roman"/>
              <a:sym typeface="Times New Roman"/>
            </a:endParaRPr>
          </a:p>
        </p:txBody>
      </p:sp>
      <p:sp>
        <p:nvSpPr>
          <p:cNvPr id="203" name="Google Shape;203;p8"/>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88888"/>
              </a:buClr>
              <a:buSzPts val="900"/>
              <a:buNone/>
            </a:pPr>
            <a:r>
              <a:rPr lang="en-US" u="none"/>
              <a:t>Department of CSE, Daffodil International University</a:t>
            </a:r>
            <a:endParaRPr u="none"/>
          </a:p>
        </p:txBody>
      </p:sp>
      <p:sp>
        <p:nvSpPr>
          <p:cNvPr id="204" name="Google Shape;204;p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900"/>
              <a:buNone/>
            </a:pPr>
            <a:fld id="{00000000-1234-1234-1234-123412341234}" type="slidenum">
              <a:rPr b="1" lang="en-US" sz="900" u="none">
                <a:solidFill>
                  <a:srgbClr val="898989"/>
                </a:solidFill>
                <a:latin typeface="Arial"/>
                <a:ea typeface="Arial"/>
                <a:cs typeface="Arial"/>
                <a:sym typeface="Arial"/>
              </a:rPr>
              <a:t>‹#›</a:t>
            </a:fld>
            <a:endParaRPr b="1" sz="900" u="none">
              <a:solidFill>
                <a:srgbClr val="898989"/>
              </a:solidFill>
              <a:latin typeface="Arial"/>
              <a:ea typeface="Arial"/>
              <a:cs typeface="Arial"/>
              <a:sym typeface="Arial"/>
            </a:endParaRPr>
          </a:p>
        </p:txBody>
      </p:sp>
      <p:sp>
        <p:nvSpPr>
          <p:cNvPr id="205" name="Google Shape;205;p8"/>
          <p:cNvSpPr txBox="1"/>
          <p:nvPr/>
        </p:nvSpPr>
        <p:spPr>
          <a:xfrm>
            <a:off x="175500" y="151200"/>
            <a:ext cx="8113500" cy="685800"/>
          </a:xfrm>
          <a:prstGeom prst="rect">
            <a:avLst/>
          </a:prstGeom>
          <a:solidFill>
            <a:srgbClr val="4285F4"/>
          </a:solidFill>
          <a:ln>
            <a:noFill/>
          </a:ln>
        </p:spPr>
        <p:txBody>
          <a:bodyPr anchorCtr="0" anchor="ctr" bIns="45700" lIns="91425" spcFirstLastPara="1" rIns="91425" wrap="square" tIns="45700">
            <a:noAutofit/>
          </a:bodyPr>
          <a:lstStyle/>
          <a:p>
            <a:pPr indent="0" lvl="0" marL="294640" marR="0" rtl="0" algn="l">
              <a:lnSpc>
                <a:spcPct val="90000"/>
              </a:lnSpc>
              <a:spcBef>
                <a:spcPts val="0"/>
              </a:spcBef>
              <a:spcAft>
                <a:spcPts val="0"/>
              </a:spcAft>
              <a:buClr>
                <a:srgbClr val="000000"/>
              </a:buClr>
              <a:buSzPts val="3800"/>
              <a:buFont typeface="Arial"/>
              <a:buNone/>
            </a:pPr>
            <a:r>
              <a:rPr b="0" i="0" lang="en-US" sz="3800" u="none" cap="none" strike="noStrike">
                <a:solidFill>
                  <a:schemeClr val="dk1"/>
                </a:solidFill>
                <a:latin typeface="Times New Roman"/>
                <a:ea typeface="Times New Roman"/>
                <a:cs typeface="Times New Roman"/>
                <a:sym typeface="Times New Roman"/>
              </a:rPr>
              <a:t>				</a:t>
            </a:r>
            <a:endParaRPr b="0" i="0" sz="3800" u="none" cap="none" strike="noStrike">
              <a:solidFill>
                <a:schemeClr val="dk1"/>
              </a:solidFill>
              <a:latin typeface="Times New Roman"/>
              <a:ea typeface="Times New Roman"/>
              <a:cs typeface="Times New Roman"/>
              <a:sym typeface="Times New Roman"/>
            </a:endParaRPr>
          </a:p>
          <a:p>
            <a:pPr indent="0" lvl="0" marL="294640" marR="0" rtl="0" algn="l">
              <a:lnSpc>
                <a:spcPct val="90000"/>
              </a:lnSpc>
              <a:spcBef>
                <a:spcPts val="0"/>
              </a:spcBef>
              <a:spcAft>
                <a:spcPts val="0"/>
              </a:spcAft>
              <a:buClr>
                <a:srgbClr val="000000"/>
              </a:buClr>
              <a:buSzPts val="3800"/>
              <a:buFont typeface="Arial"/>
              <a:buNone/>
            </a:pPr>
            <a:r>
              <a:t/>
            </a:r>
            <a:endParaRPr b="1" i="0" sz="3800" u="none" cap="none" strike="noStrike">
              <a:solidFill>
                <a:schemeClr val="dk1"/>
              </a:solidFill>
              <a:latin typeface="Times New Roman"/>
              <a:ea typeface="Times New Roman"/>
              <a:cs typeface="Times New Roman"/>
              <a:sym typeface="Times New Roman"/>
            </a:endParaRPr>
          </a:p>
          <a:p>
            <a:pPr indent="0" lvl="0" marL="294640" marR="0" rtl="0" algn="l">
              <a:lnSpc>
                <a:spcPct val="90000"/>
              </a:lnSpc>
              <a:spcBef>
                <a:spcPts val="0"/>
              </a:spcBef>
              <a:spcAft>
                <a:spcPts val="0"/>
              </a:spcAft>
              <a:buClr>
                <a:schemeClr val="dk1"/>
              </a:buClr>
              <a:buSzPts val="3800"/>
              <a:buFont typeface="Arial"/>
              <a:buNone/>
            </a:pPr>
            <a:r>
              <a:rPr b="1" i="0" lang="en-US" sz="3800" u="none" cap="none" strike="noStrike">
                <a:solidFill>
                  <a:schemeClr val="dk1"/>
                </a:solidFill>
                <a:latin typeface="Times New Roman"/>
                <a:ea typeface="Times New Roman"/>
                <a:cs typeface="Times New Roman"/>
                <a:sym typeface="Times New Roman"/>
              </a:rPr>
              <a:t>Cartesian form</a:t>
            </a:r>
            <a:br>
              <a:rPr b="1" i="0" lang="en-US" sz="3800" u="none" cap="none" strike="noStrike">
                <a:solidFill>
                  <a:schemeClr val="dk1"/>
                </a:solidFill>
                <a:latin typeface="Times New Roman"/>
                <a:ea typeface="Times New Roman"/>
                <a:cs typeface="Times New Roman"/>
                <a:sym typeface="Times New Roman"/>
              </a:rPr>
            </a:br>
            <a:endParaRPr b="1" i="0" sz="3800" u="none" cap="none" strike="noStrike">
              <a:solidFill>
                <a:schemeClr val="dk1"/>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rgbClr val="000000"/>
              </a:buClr>
              <a:buSzPts val="3300"/>
              <a:buFont typeface="Arial"/>
              <a:buNone/>
            </a:pPr>
            <a:r>
              <a:t/>
            </a:r>
            <a:endParaRPr b="1" i="0" sz="3300" u="none" cap="none" strike="noStrike">
              <a:solidFill>
                <a:schemeClr val="dk1"/>
              </a:solidFill>
              <a:latin typeface="Calibri"/>
              <a:ea typeface="Calibri"/>
              <a:cs typeface="Calibri"/>
              <a:sym typeface="Calibri"/>
            </a:endParaRPr>
          </a:p>
        </p:txBody>
      </p:sp>
      <p:pic>
        <p:nvPicPr>
          <p:cNvPr id="206" name="Google Shape;206;p8"/>
          <p:cNvPicPr preferRelativeResize="0"/>
          <p:nvPr/>
        </p:nvPicPr>
        <p:blipFill rotWithShape="1">
          <a:blip r:embed="rId4">
            <a:alphaModFix/>
          </a:blip>
          <a:srcRect b="0" l="0" r="0" t="0"/>
          <a:stretch/>
        </p:blipFill>
        <p:spPr>
          <a:xfrm>
            <a:off x="8050200" y="151200"/>
            <a:ext cx="1371600" cy="685800"/>
          </a:xfrm>
          <a:prstGeom prst="rect">
            <a:avLst/>
          </a:prstGeom>
          <a:noFill/>
          <a:ln>
            <a:noFill/>
          </a:ln>
        </p:spPr>
      </p:pic>
      <p:sp>
        <p:nvSpPr>
          <p:cNvPr id="207" name="Google Shape;207;p8"/>
          <p:cNvSpPr txBox="1"/>
          <p:nvPr/>
        </p:nvSpPr>
        <p:spPr>
          <a:xfrm>
            <a:off x="721905" y="4970782"/>
            <a:ext cx="7790700" cy="1268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750"/>
              </a:spcBef>
              <a:spcAft>
                <a:spcPts val="0"/>
              </a:spcAft>
              <a:buNone/>
            </a:pPr>
            <a:r>
              <a:rPr b="1" lang="en-US" sz="2400" u="sng">
                <a:solidFill>
                  <a:srgbClr val="FD2918"/>
                </a:solidFill>
                <a:latin typeface="Georgia"/>
                <a:ea typeface="Georgia"/>
                <a:cs typeface="Georgia"/>
                <a:sym typeface="Georgia"/>
              </a:rPr>
              <a:t>Disadvantages</a:t>
            </a:r>
            <a:endParaRPr sz="2400">
              <a:solidFill>
                <a:schemeClr val="dk1"/>
              </a:solidFill>
              <a:latin typeface="Georgia"/>
              <a:ea typeface="Georgia"/>
              <a:cs typeface="Georgia"/>
              <a:sym typeface="Georgia"/>
            </a:endParaRPr>
          </a:p>
          <a:p>
            <a:pPr indent="-152400" lvl="0" marL="12700" rtl="0" algn="l">
              <a:lnSpc>
                <a:spcPct val="90000"/>
              </a:lnSpc>
              <a:spcBef>
                <a:spcPts val="675"/>
              </a:spcBef>
              <a:spcAft>
                <a:spcPts val="0"/>
              </a:spcAft>
              <a:buClr>
                <a:schemeClr val="dk1"/>
              </a:buClr>
              <a:buSzPts val="2400"/>
              <a:buFont typeface="Georgia"/>
              <a:buChar char="•"/>
            </a:pPr>
            <a:r>
              <a:rPr lang="en-US" sz="2400">
                <a:solidFill>
                  <a:schemeClr val="dk1"/>
                </a:solidFill>
                <a:latin typeface="Georgia"/>
                <a:ea typeface="Georgia"/>
                <a:cs typeface="Georgia"/>
                <a:sym typeface="Georgia"/>
              </a:rPr>
              <a:t> The calculation of complex mathematical</a:t>
            </a:r>
            <a:r>
              <a:rPr lang="en-US" sz="2400">
                <a:solidFill>
                  <a:schemeClr val="dk1"/>
                </a:solidFill>
                <a:latin typeface="Times New Roman"/>
                <a:ea typeface="Times New Roman"/>
                <a:cs typeface="Times New Roman"/>
                <a:sym typeface="Times New Roman"/>
              </a:rPr>
              <a:t> </a:t>
            </a:r>
            <a:r>
              <a:rPr lang="en-US" sz="2400">
                <a:solidFill>
                  <a:schemeClr val="dk1"/>
                </a:solidFill>
                <a:latin typeface="Georgia"/>
                <a:ea typeface="Georgia"/>
                <a:cs typeface="Georgia"/>
                <a:sym typeface="Georgia"/>
              </a:rPr>
              <a:t>functions</a:t>
            </a:r>
            <a:r>
              <a:rPr lang="en-US" sz="2400">
                <a:solidFill>
                  <a:schemeClr val="dk1"/>
                </a:solidFill>
                <a:latin typeface="Times New Roman"/>
                <a:ea typeface="Times New Roman"/>
                <a:cs typeface="Times New Roman"/>
                <a:sym typeface="Times New Roman"/>
              </a:rPr>
              <a:t> makes the process </a:t>
            </a:r>
            <a:r>
              <a:rPr lang="en-US" sz="2400">
                <a:solidFill>
                  <a:schemeClr val="dk1"/>
                </a:solidFill>
                <a:latin typeface="Georgia"/>
                <a:ea typeface="Georgia"/>
                <a:cs typeface="Georgia"/>
                <a:sym typeface="Georgia"/>
              </a:rPr>
              <a:t>very</a:t>
            </a:r>
            <a:r>
              <a:rPr lang="en-US" sz="2400">
                <a:solidFill>
                  <a:schemeClr val="dk1"/>
                </a:solidFill>
                <a:latin typeface="Times New Roman"/>
                <a:ea typeface="Times New Roman"/>
                <a:cs typeface="Times New Roman"/>
                <a:sym typeface="Times New Roman"/>
              </a:rPr>
              <a:t> </a:t>
            </a:r>
            <a:r>
              <a:rPr lang="en-US" sz="2400">
                <a:solidFill>
                  <a:schemeClr val="dk1"/>
                </a:solidFill>
                <a:latin typeface="Georgia"/>
                <a:ea typeface="Georgia"/>
                <a:cs typeface="Georgia"/>
                <a:sym typeface="Georgia"/>
              </a:rPr>
              <a:t>slow.</a:t>
            </a:r>
            <a:endParaRPr sz="21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9"/>
          <p:cNvSpPr/>
          <p:nvPr/>
        </p:nvSpPr>
        <p:spPr>
          <a:xfrm>
            <a:off x="4165600" y="71438"/>
            <a:ext cx="785813" cy="1122362"/>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dk1"/>
              </a:solidFill>
              <a:latin typeface="Calibri"/>
              <a:ea typeface="Calibri"/>
              <a:cs typeface="Calibri"/>
              <a:sym typeface="Calibri"/>
            </a:endParaRPr>
          </a:p>
        </p:txBody>
      </p:sp>
      <p:sp>
        <p:nvSpPr>
          <p:cNvPr id="213" name="Google Shape;213;p9"/>
          <p:cNvSpPr txBox="1"/>
          <p:nvPr/>
        </p:nvSpPr>
        <p:spPr>
          <a:xfrm>
            <a:off x="612775" y="1090613"/>
            <a:ext cx="5994400" cy="330200"/>
          </a:xfrm>
          <a:prstGeom prst="rect">
            <a:avLst/>
          </a:prstGeom>
          <a:noFill/>
          <a:ln>
            <a:noFill/>
          </a:ln>
        </p:spPr>
        <p:txBody>
          <a:bodyPr anchorCtr="0" anchor="t" bIns="0" lIns="0" spcFirstLastPara="1" rIns="0" wrap="square" tIns="0">
            <a:spAutoFit/>
          </a:bodyPr>
          <a:lstStyle/>
          <a:p>
            <a:pPr indent="-342900" lvl="0" marL="355600" marR="0" rtl="0" algn="l">
              <a:lnSpc>
                <a:spcPct val="100000"/>
              </a:lnSpc>
              <a:spcBef>
                <a:spcPts val="0"/>
              </a:spcBef>
              <a:spcAft>
                <a:spcPts val="0"/>
              </a:spcAft>
              <a:buClr>
                <a:schemeClr val="lt1"/>
              </a:buClr>
              <a:buSzPts val="2400"/>
              <a:buFont typeface="Georgia"/>
              <a:buChar char="•"/>
            </a:pPr>
            <a:r>
              <a:rPr b="1" i="0" lang="en-US" sz="2400" u="sng" cap="none" strike="noStrike">
                <a:solidFill>
                  <a:schemeClr val="lt1"/>
                </a:solidFill>
                <a:latin typeface="Georgia"/>
                <a:ea typeface="Georgia"/>
                <a:cs typeface="Georgia"/>
                <a:sym typeface="Georgia"/>
              </a:rPr>
              <a:t>Step</a:t>
            </a:r>
            <a:r>
              <a:rPr b="1" i="0" lang="en-US" sz="2400" u="sng" cap="none" strike="noStrike">
                <a:solidFill>
                  <a:schemeClr val="lt1"/>
                </a:solidFill>
                <a:latin typeface="Times New Roman"/>
                <a:ea typeface="Times New Roman"/>
                <a:cs typeface="Times New Roman"/>
                <a:sym typeface="Times New Roman"/>
              </a:rPr>
              <a:t> </a:t>
            </a:r>
            <a:r>
              <a:rPr b="1" i="0" lang="en-US" sz="2400" u="sng" cap="none" strike="noStrike">
                <a:solidFill>
                  <a:schemeClr val="lt1"/>
                </a:solidFill>
                <a:latin typeface="Georgia"/>
                <a:ea typeface="Georgia"/>
                <a:cs typeface="Georgia"/>
                <a:sym typeface="Georgia"/>
              </a:rPr>
              <a:t>through</a:t>
            </a:r>
            <a:r>
              <a:rPr b="1" i="0" lang="en-US" sz="2400" u="sng" cap="none" strike="noStrike">
                <a:solidFill>
                  <a:schemeClr val="lt1"/>
                </a:solidFill>
                <a:latin typeface="Times New Roman"/>
                <a:ea typeface="Times New Roman"/>
                <a:cs typeface="Times New Roman"/>
                <a:sym typeface="Times New Roman"/>
              </a:rPr>
              <a:t> </a:t>
            </a:r>
            <a:r>
              <a:rPr b="1" i="1" lang="en-US" sz="2400" u="sng" cap="none" strike="noStrike">
                <a:solidFill>
                  <a:schemeClr val="lt1"/>
                </a:solidFill>
                <a:latin typeface="Georgia"/>
                <a:ea typeface="Georgia"/>
                <a:cs typeface="Georgia"/>
                <a:sym typeface="Georgia"/>
              </a:rPr>
              <a:t>x</a:t>
            </a:r>
            <a:r>
              <a:rPr b="1" i="0" lang="en-US" sz="2400" u="sng" cap="none" strike="noStrike">
                <a:solidFill>
                  <a:schemeClr val="lt1"/>
                </a:solidFill>
                <a:latin typeface="Georgia"/>
                <a:ea typeface="Georgia"/>
                <a:cs typeface="Georgia"/>
                <a:sym typeface="Georgia"/>
              </a:rPr>
              <a:t>-axis</a:t>
            </a:r>
            <a:r>
              <a:rPr b="1" i="0" lang="en-US" sz="2400" u="sng" cap="none" strike="noStrike">
                <a:solidFill>
                  <a:schemeClr val="lt1"/>
                </a:solidFill>
                <a:latin typeface="Times New Roman"/>
                <a:ea typeface="Times New Roman"/>
                <a:cs typeface="Times New Roman"/>
                <a:sym typeface="Times New Roman"/>
              </a:rPr>
              <a:t> </a:t>
            </a:r>
            <a:r>
              <a:rPr b="1" i="0" lang="en-US" sz="2400" u="sng" cap="none" strike="noStrike">
                <a:solidFill>
                  <a:schemeClr val="lt1"/>
                </a:solidFill>
                <a:latin typeface="Georgia"/>
                <a:ea typeface="Georgia"/>
                <a:cs typeface="Georgia"/>
                <a:sym typeface="Georgia"/>
              </a:rPr>
              <a:t>to</a:t>
            </a:r>
            <a:r>
              <a:rPr b="1" i="0" lang="en-US" sz="2400" u="sng" cap="none" strike="noStrike">
                <a:solidFill>
                  <a:schemeClr val="lt1"/>
                </a:solidFill>
                <a:latin typeface="Times New Roman"/>
                <a:ea typeface="Times New Roman"/>
                <a:cs typeface="Times New Roman"/>
                <a:sym typeface="Times New Roman"/>
              </a:rPr>
              <a:t> </a:t>
            </a:r>
            <a:r>
              <a:rPr b="1" i="0" lang="en-US" sz="2400" u="sng" cap="none" strike="noStrike">
                <a:solidFill>
                  <a:schemeClr val="lt1"/>
                </a:solidFill>
                <a:latin typeface="Georgia"/>
                <a:ea typeface="Georgia"/>
                <a:cs typeface="Georgia"/>
                <a:sym typeface="Georgia"/>
              </a:rPr>
              <a:t>determine</a:t>
            </a:r>
            <a:r>
              <a:rPr b="1" i="0" lang="en-US" sz="2400" u="sng" cap="none" strike="noStrike">
                <a:solidFill>
                  <a:schemeClr val="lt1"/>
                </a:solidFill>
                <a:latin typeface="Times New Roman"/>
                <a:ea typeface="Times New Roman"/>
                <a:cs typeface="Times New Roman"/>
                <a:sym typeface="Times New Roman"/>
              </a:rPr>
              <a:t> </a:t>
            </a:r>
            <a:r>
              <a:rPr b="1" i="1" lang="en-US" sz="2400" u="sng" cap="none" strike="noStrike">
                <a:solidFill>
                  <a:schemeClr val="lt1"/>
                </a:solidFill>
                <a:latin typeface="Georgia"/>
                <a:ea typeface="Georgia"/>
                <a:cs typeface="Georgia"/>
                <a:sym typeface="Georgia"/>
              </a:rPr>
              <a:t>y-</a:t>
            </a:r>
            <a:r>
              <a:rPr b="1" i="0" lang="en-US" sz="2400" u="sng" cap="none" strike="noStrike">
                <a:solidFill>
                  <a:schemeClr val="lt1"/>
                </a:solidFill>
                <a:latin typeface="Georgia"/>
                <a:ea typeface="Georgia"/>
                <a:cs typeface="Georgia"/>
                <a:sym typeface="Georgia"/>
              </a:rPr>
              <a:t>values</a:t>
            </a:r>
            <a:endParaRPr b="1" i="0" sz="2400" u="sng" cap="none" strike="noStrike">
              <a:solidFill>
                <a:schemeClr val="lt1"/>
              </a:solidFill>
              <a:latin typeface="Georgia"/>
              <a:ea typeface="Georgia"/>
              <a:cs typeface="Georgia"/>
              <a:sym typeface="Georgia"/>
            </a:endParaRPr>
          </a:p>
        </p:txBody>
      </p:sp>
      <p:sp>
        <p:nvSpPr>
          <p:cNvPr id="214" name="Google Shape;214;p9"/>
          <p:cNvSpPr/>
          <p:nvPr/>
        </p:nvSpPr>
        <p:spPr>
          <a:xfrm>
            <a:off x="6215063" y="2551113"/>
            <a:ext cx="2411412" cy="2520950"/>
          </a:xfrm>
          <a:custGeom>
            <a:rect b="b" l="l" r="r" t="t"/>
            <a:pathLst>
              <a:path extrusionOk="0" h="2520950" w="2411729">
                <a:moveTo>
                  <a:pt x="0" y="2520958"/>
                </a:moveTo>
                <a:lnTo>
                  <a:pt x="2411348" y="2520958"/>
                </a:lnTo>
                <a:lnTo>
                  <a:pt x="2411348" y="0"/>
                </a:lnTo>
                <a:lnTo>
                  <a:pt x="0" y="0"/>
                </a:lnTo>
                <a:lnTo>
                  <a:pt x="0" y="2520958"/>
                </a:lnTo>
                <a:close/>
              </a:path>
            </a:pathLst>
          </a:custGeom>
          <a:solidFill>
            <a:srgbClr val="FFCC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15" name="Google Shape;215;p9"/>
          <p:cNvSpPr/>
          <p:nvPr/>
        </p:nvSpPr>
        <p:spPr>
          <a:xfrm>
            <a:off x="6215063" y="2551113"/>
            <a:ext cx="2411412" cy="2520950"/>
          </a:xfrm>
          <a:custGeom>
            <a:rect b="b" l="l" r="r" t="t"/>
            <a:pathLst>
              <a:path extrusionOk="0" h="2520950" w="2411729">
                <a:moveTo>
                  <a:pt x="0" y="2520958"/>
                </a:moveTo>
                <a:lnTo>
                  <a:pt x="2411348" y="2520958"/>
                </a:lnTo>
                <a:lnTo>
                  <a:pt x="2411348" y="0"/>
                </a:lnTo>
                <a:lnTo>
                  <a:pt x="0" y="0"/>
                </a:lnTo>
                <a:lnTo>
                  <a:pt x="0" y="2520958"/>
                </a:lnTo>
                <a:close/>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16" name="Google Shape;216;p9"/>
          <p:cNvSpPr/>
          <p:nvPr/>
        </p:nvSpPr>
        <p:spPr>
          <a:xfrm>
            <a:off x="1970088" y="2027238"/>
            <a:ext cx="368300" cy="346075"/>
          </a:xfrm>
          <a:custGeom>
            <a:rect b="b" l="l" r="r" t="t"/>
            <a:pathLst>
              <a:path extrusionOk="0" h="346075" w="368300">
                <a:moveTo>
                  <a:pt x="0" y="346079"/>
                </a:moveTo>
                <a:lnTo>
                  <a:pt x="368295" y="346079"/>
                </a:lnTo>
                <a:lnTo>
                  <a:pt x="368295" y="0"/>
                </a:lnTo>
                <a:lnTo>
                  <a:pt x="0" y="0"/>
                </a:lnTo>
                <a:lnTo>
                  <a:pt x="0" y="346079"/>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17" name="Google Shape;217;p9"/>
          <p:cNvSpPr/>
          <p:nvPr/>
        </p:nvSpPr>
        <p:spPr>
          <a:xfrm>
            <a:off x="2338388" y="2027238"/>
            <a:ext cx="368300" cy="346075"/>
          </a:xfrm>
          <a:custGeom>
            <a:rect b="b" l="l" r="r" t="t"/>
            <a:pathLst>
              <a:path extrusionOk="0" h="346075" w="368300">
                <a:moveTo>
                  <a:pt x="0" y="346079"/>
                </a:moveTo>
                <a:lnTo>
                  <a:pt x="368308" y="346079"/>
                </a:lnTo>
                <a:lnTo>
                  <a:pt x="368308" y="0"/>
                </a:lnTo>
                <a:lnTo>
                  <a:pt x="0" y="0"/>
                </a:lnTo>
                <a:lnTo>
                  <a:pt x="0" y="346079"/>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18" name="Google Shape;218;p9"/>
          <p:cNvSpPr/>
          <p:nvPr/>
        </p:nvSpPr>
        <p:spPr>
          <a:xfrm>
            <a:off x="2706688" y="2027238"/>
            <a:ext cx="366712" cy="346075"/>
          </a:xfrm>
          <a:custGeom>
            <a:rect b="b" l="l" r="r" t="t"/>
            <a:pathLst>
              <a:path extrusionOk="0" h="346075" w="367030">
                <a:moveTo>
                  <a:pt x="0" y="346079"/>
                </a:moveTo>
                <a:lnTo>
                  <a:pt x="366714" y="346079"/>
                </a:lnTo>
                <a:lnTo>
                  <a:pt x="366714" y="0"/>
                </a:lnTo>
                <a:lnTo>
                  <a:pt x="0" y="0"/>
                </a:lnTo>
                <a:lnTo>
                  <a:pt x="0" y="346079"/>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19" name="Google Shape;219;p9"/>
          <p:cNvSpPr/>
          <p:nvPr/>
        </p:nvSpPr>
        <p:spPr>
          <a:xfrm>
            <a:off x="3073400" y="2027238"/>
            <a:ext cx="366713" cy="346075"/>
          </a:xfrm>
          <a:custGeom>
            <a:rect b="b" l="l" r="r" t="t"/>
            <a:pathLst>
              <a:path extrusionOk="0" h="346075" w="367029">
                <a:moveTo>
                  <a:pt x="0" y="346079"/>
                </a:moveTo>
                <a:lnTo>
                  <a:pt x="366714" y="346079"/>
                </a:lnTo>
                <a:lnTo>
                  <a:pt x="366714" y="0"/>
                </a:lnTo>
                <a:lnTo>
                  <a:pt x="0" y="0"/>
                </a:lnTo>
                <a:lnTo>
                  <a:pt x="0" y="346079"/>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20" name="Google Shape;220;p9"/>
          <p:cNvSpPr/>
          <p:nvPr/>
        </p:nvSpPr>
        <p:spPr>
          <a:xfrm>
            <a:off x="3440113" y="2027238"/>
            <a:ext cx="368300" cy="346075"/>
          </a:xfrm>
          <a:custGeom>
            <a:rect b="b" l="l" r="r" t="t"/>
            <a:pathLst>
              <a:path extrusionOk="0" h="346075" w="368300">
                <a:moveTo>
                  <a:pt x="0" y="346079"/>
                </a:moveTo>
                <a:lnTo>
                  <a:pt x="368295" y="346079"/>
                </a:lnTo>
                <a:lnTo>
                  <a:pt x="368295" y="0"/>
                </a:lnTo>
                <a:lnTo>
                  <a:pt x="0" y="0"/>
                </a:lnTo>
                <a:lnTo>
                  <a:pt x="0" y="346079"/>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21" name="Google Shape;221;p9"/>
          <p:cNvSpPr/>
          <p:nvPr/>
        </p:nvSpPr>
        <p:spPr>
          <a:xfrm>
            <a:off x="3808413" y="2027238"/>
            <a:ext cx="368300" cy="346075"/>
          </a:xfrm>
          <a:custGeom>
            <a:rect b="b" l="l" r="r" t="t"/>
            <a:pathLst>
              <a:path extrusionOk="0" h="346075" w="368300">
                <a:moveTo>
                  <a:pt x="0" y="346079"/>
                </a:moveTo>
                <a:lnTo>
                  <a:pt x="368295" y="346079"/>
                </a:lnTo>
                <a:lnTo>
                  <a:pt x="368295" y="0"/>
                </a:lnTo>
                <a:lnTo>
                  <a:pt x="0" y="0"/>
                </a:lnTo>
                <a:lnTo>
                  <a:pt x="0" y="346079"/>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22" name="Google Shape;222;p9"/>
          <p:cNvSpPr/>
          <p:nvPr/>
        </p:nvSpPr>
        <p:spPr>
          <a:xfrm>
            <a:off x="1603375" y="2373313"/>
            <a:ext cx="366713" cy="381000"/>
          </a:xfrm>
          <a:custGeom>
            <a:rect b="b" l="l" r="r" t="t"/>
            <a:pathLst>
              <a:path extrusionOk="0" h="381000" w="367030">
                <a:moveTo>
                  <a:pt x="0" y="380999"/>
                </a:moveTo>
                <a:lnTo>
                  <a:pt x="366714" y="380999"/>
                </a:lnTo>
                <a:lnTo>
                  <a:pt x="366714" y="0"/>
                </a:lnTo>
                <a:lnTo>
                  <a:pt x="0" y="0"/>
                </a:lnTo>
                <a:lnTo>
                  <a:pt x="0" y="380999"/>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23" name="Google Shape;223;p9"/>
          <p:cNvSpPr/>
          <p:nvPr/>
        </p:nvSpPr>
        <p:spPr>
          <a:xfrm>
            <a:off x="4176713" y="2373313"/>
            <a:ext cx="366712" cy="381000"/>
          </a:xfrm>
          <a:custGeom>
            <a:rect b="b" l="l" r="r" t="t"/>
            <a:pathLst>
              <a:path extrusionOk="0" h="381000" w="367029">
                <a:moveTo>
                  <a:pt x="0" y="380999"/>
                </a:moveTo>
                <a:lnTo>
                  <a:pt x="366714" y="380999"/>
                </a:lnTo>
                <a:lnTo>
                  <a:pt x="366714" y="0"/>
                </a:lnTo>
                <a:lnTo>
                  <a:pt x="0" y="0"/>
                </a:lnTo>
                <a:lnTo>
                  <a:pt x="0" y="380999"/>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24" name="Google Shape;224;p9"/>
          <p:cNvSpPr/>
          <p:nvPr/>
        </p:nvSpPr>
        <p:spPr>
          <a:xfrm>
            <a:off x="1236663" y="3100388"/>
            <a:ext cx="366712" cy="342900"/>
          </a:xfrm>
          <a:custGeom>
            <a:rect b="b" l="l" r="r" t="t"/>
            <a:pathLst>
              <a:path extrusionOk="0" h="342900" w="367030">
                <a:moveTo>
                  <a:pt x="0" y="342899"/>
                </a:moveTo>
                <a:lnTo>
                  <a:pt x="366714" y="342899"/>
                </a:lnTo>
                <a:lnTo>
                  <a:pt x="366714" y="0"/>
                </a:lnTo>
                <a:lnTo>
                  <a:pt x="0" y="0"/>
                </a:lnTo>
                <a:lnTo>
                  <a:pt x="0" y="342899"/>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25" name="Google Shape;225;p9"/>
          <p:cNvSpPr/>
          <p:nvPr/>
        </p:nvSpPr>
        <p:spPr>
          <a:xfrm>
            <a:off x="4543425" y="3100388"/>
            <a:ext cx="366713" cy="342900"/>
          </a:xfrm>
          <a:custGeom>
            <a:rect b="b" l="l" r="r" t="t"/>
            <a:pathLst>
              <a:path extrusionOk="0" h="342900" w="367029">
                <a:moveTo>
                  <a:pt x="0" y="342899"/>
                </a:moveTo>
                <a:lnTo>
                  <a:pt x="366714" y="342899"/>
                </a:lnTo>
                <a:lnTo>
                  <a:pt x="366714" y="0"/>
                </a:lnTo>
                <a:lnTo>
                  <a:pt x="0" y="0"/>
                </a:lnTo>
                <a:lnTo>
                  <a:pt x="0" y="342899"/>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26" name="Google Shape;226;p9"/>
          <p:cNvSpPr/>
          <p:nvPr/>
        </p:nvSpPr>
        <p:spPr>
          <a:xfrm>
            <a:off x="1236663" y="4132263"/>
            <a:ext cx="366712" cy="344487"/>
          </a:xfrm>
          <a:custGeom>
            <a:rect b="b" l="l" r="r" t="t"/>
            <a:pathLst>
              <a:path extrusionOk="0" h="344804" w="367030">
                <a:moveTo>
                  <a:pt x="0" y="344484"/>
                </a:moveTo>
                <a:lnTo>
                  <a:pt x="366714" y="344484"/>
                </a:lnTo>
                <a:lnTo>
                  <a:pt x="366714" y="0"/>
                </a:lnTo>
                <a:lnTo>
                  <a:pt x="0" y="0"/>
                </a:lnTo>
                <a:lnTo>
                  <a:pt x="0" y="344484"/>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27" name="Google Shape;227;p9"/>
          <p:cNvSpPr/>
          <p:nvPr/>
        </p:nvSpPr>
        <p:spPr>
          <a:xfrm>
            <a:off x="4543425" y="4132263"/>
            <a:ext cx="366713" cy="344487"/>
          </a:xfrm>
          <a:custGeom>
            <a:rect b="b" l="l" r="r" t="t"/>
            <a:pathLst>
              <a:path extrusionOk="0" h="344804" w="367029">
                <a:moveTo>
                  <a:pt x="0" y="344484"/>
                </a:moveTo>
                <a:lnTo>
                  <a:pt x="366714" y="344484"/>
                </a:lnTo>
                <a:lnTo>
                  <a:pt x="366714" y="0"/>
                </a:lnTo>
                <a:lnTo>
                  <a:pt x="0" y="0"/>
                </a:lnTo>
                <a:lnTo>
                  <a:pt x="0" y="344484"/>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28" name="Google Shape;228;p9"/>
          <p:cNvSpPr/>
          <p:nvPr/>
        </p:nvSpPr>
        <p:spPr>
          <a:xfrm>
            <a:off x="1603375" y="4837113"/>
            <a:ext cx="366713" cy="327025"/>
          </a:xfrm>
          <a:custGeom>
            <a:rect b="b" l="l" r="r" t="t"/>
            <a:pathLst>
              <a:path extrusionOk="0" h="327025" w="367030">
                <a:moveTo>
                  <a:pt x="0" y="327029"/>
                </a:moveTo>
                <a:lnTo>
                  <a:pt x="366714" y="327029"/>
                </a:lnTo>
                <a:lnTo>
                  <a:pt x="366714" y="0"/>
                </a:lnTo>
                <a:lnTo>
                  <a:pt x="0" y="0"/>
                </a:lnTo>
                <a:lnTo>
                  <a:pt x="0" y="327029"/>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29" name="Google Shape;229;p9"/>
          <p:cNvSpPr/>
          <p:nvPr/>
        </p:nvSpPr>
        <p:spPr>
          <a:xfrm>
            <a:off x="4176713" y="4837113"/>
            <a:ext cx="366712" cy="327025"/>
          </a:xfrm>
          <a:custGeom>
            <a:rect b="b" l="l" r="r" t="t"/>
            <a:pathLst>
              <a:path extrusionOk="0" h="327025" w="367029">
                <a:moveTo>
                  <a:pt x="0" y="327029"/>
                </a:moveTo>
                <a:lnTo>
                  <a:pt x="366714" y="327029"/>
                </a:lnTo>
                <a:lnTo>
                  <a:pt x="366714" y="0"/>
                </a:lnTo>
                <a:lnTo>
                  <a:pt x="0" y="0"/>
                </a:lnTo>
                <a:lnTo>
                  <a:pt x="0" y="327029"/>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30" name="Google Shape;230;p9"/>
          <p:cNvSpPr/>
          <p:nvPr/>
        </p:nvSpPr>
        <p:spPr>
          <a:xfrm>
            <a:off x="1970088" y="5164138"/>
            <a:ext cx="368300" cy="344487"/>
          </a:xfrm>
          <a:custGeom>
            <a:rect b="b" l="l" r="r" t="t"/>
            <a:pathLst>
              <a:path extrusionOk="0" h="344804" w="368300">
                <a:moveTo>
                  <a:pt x="0" y="344494"/>
                </a:moveTo>
                <a:lnTo>
                  <a:pt x="368295" y="344494"/>
                </a:lnTo>
                <a:lnTo>
                  <a:pt x="368295" y="0"/>
                </a:lnTo>
                <a:lnTo>
                  <a:pt x="0" y="0"/>
                </a:lnTo>
                <a:lnTo>
                  <a:pt x="0" y="344494"/>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31" name="Google Shape;231;p9"/>
          <p:cNvSpPr/>
          <p:nvPr/>
        </p:nvSpPr>
        <p:spPr>
          <a:xfrm>
            <a:off x="2338388" y="5164138"/>
            <a:ext cx="368300" cy="344487"/>
          </a:xfrm>
          <a:custGeom>
            <a:rect b="b" l="l" r="r" t="t"/>
            <a:pathLst>
              <a:path extrusionOk="0" h="344804" w="368300">
                <a:moveTo>
                  <a:pt x="0" y="344494"/>
                </a:moveTo>
                <a:lnTo>
                  <a:pt x="368308" y="344494"/>
                </a:lnTo>
                <a:lnTo>
                  <a:pt x="368308" y="0"/>
                </a:lnTo>
                <a:lnTo>
                  <a:pt x="0" y="0"/>
                </a:lnTo>
                <a:lnTo>
                  <a:pt x="0" y="344494"/>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32" name="Google Shape;232;p9"/>
          <p:cNvSpPr/>
          <p:nvPr/>
        </p:nvSpPr>
        <p:spPr>
          <a:xfrm>
            <a:off x="2706688" y="5164138"/>
            <a:ext cx="366712" cy="344487"/>
          </a:xfrm>
          <a:custGeom>
            <a:rect b="b" l="l" r="r" t="t"/>
            <a:pathLst>
              <a:path extrusionOk="0" h="344804" w="367030">
                <a:moveTo>
                  <a:pt x="0" y="344494"/>
                </a:moveTo>
                <a:lnTo>
                  <a:pt x="366714" y="344494"/>
                </a:lnTo>
                <a:lnTo>
                  <a:pt x="366714" y="0"/>
                </a:lnTo>
                <a:lnTo>
                  <a:pt x="0" y="0"/>
                </a:lnTo>
                <a:lnTo>
                  <a:pt x="0" y="344494"/>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33" name="Google Shape;233;p9"/>
          <p:cNvSpPr/>
          <p:nvPr/>
        </p:nvSpPr>
        <p:spPr>
          <a:xfrm>
            <a:off x="3073400" y="5164138"/>
            <a:ext cx="366713" cy="344487"/>
          </a:xfrm>
          <a:custGeom>
            <a:rect b="b" l="l" r="r" t="t"/>
            <a:pathLst>
              <a:path extrusionOk="0" h="344804" w="367029">
                <a:moveTo>
                  <a:pt x="0" y="344494"/>
                </a:moveTo>
                <a:lnTo>
                  <a:pt x="366714" y="344494"/>
                </a:lnTo>
                <a:lnTo>
                  <a:pt x="366714" y="0"/>
                </a:lnTo>
                <a:lnTo>
                  <a:pt x="0" y="0"/>
                </a:lnTo>
                <a:lnTo>
                  <a:pt x="0" y="344494"/>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34" name="Google Shape;234;p9"/>
          <p:cNvSpPr/>
          <p:nvPr/>
        </p:nvSpPr>
        <p:spPr>
          <a:xfrm>
            <a:off x="3440113" y="5164138"/>
            <a:ext cx="368300" cy="344487"/>
          </a:xfrm>
          <a:custGeom>
            <a:rect b="b" l="l" r="r" t="t"/>
            <a:pathLst>
              <a:path extrusionOk="0" h="344804" w="368300">
                <a:moveTo>
                  <a:pt x="0" y="344494"/>
                </a:moveTo>
                <a:lnTo>
                  <a:pt x="368295" y="344494"/>
                </a:lnTo>
                <a:lnTo>
                  <a:pt x="368295" y="0"/>
                </a:lnTo>
                <a:lnTo>
                  <a:pt x="0" y="0"/>
                </a:lnTo>
                <a:lnTo>
                  <a:pt x="0" y="344494"/>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35" name="Google Shape;235;p9"/>
          <p:cNvSpPr/>
          <p:nvPr/>
        </p:nvSpPr>
        <p:spPr>
          <a:xfrm>
            <a:off x="3808413" y="5164138"/>
            <a:ext cx="368300" cy="344487"/>
          </a:xfrm>
          <a:custGeom>
            <a:rect b="b" l="l" r="r" t="t"/>
            <a:pathLst>
              <a:path extrusionOk="0" h="344804" w="368300">
                <a:moveTo>
                  <a:pt x="0" y="344494"/>
                </a:moveTo>
                <a:lnTo>
                  <a:pt x="368295" y="344494"/>
                </a:lnTo>
                <a:lnTo>
                  <a:pt x="368295" y="0"/>
                </a:lnTo>
                <a:lnTo>
                  <a:pt x="0" y="0"/>
                </a:lnTo>
                <a:lnTo>
                  <a:pt x="0" y="344494"/>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36" name="Google Shape;236;p9"/>
          <p:cNvSpPr/>
          <p:nvPr/>
        </p:nvSpPr>
        <p:spPr>
          <a:xfrm>
            <a:off x="868363" y="1674813"/>
            <a:ext cx="0" cy="4184650"/>
          </a:xfrm>
          <a:custGeom>
            <a:rect b="b" l="l" r="r" t="t"/>
            <a:pathLst>
              <a:path extrusionOk="0" h="4184650" w="120000">
                <a:moveTo>
                  <a:pt x="0" y="0"/>
                </a:moveTo>
                <a:lnTo>
                  <a:pt x="0" y="4184583"/>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37" name="Google Shape;237;p9"/>
          <p:cNvSpPr/>
          <p:nvPr/>
        </p:nvSpPr>
        <p:spPr>
          <a:xfrm>
            <a:off x="1236663" y="1674813"/>
            <a:ext cx="0" cy="4184650"/>
          </a:xfrm>
          <a:custGeom>
            <a:rect b="b" l="l" r="r" t="t"/>
            <a:pathLst>
              <a:path extrusionOk="0" h="4184650" w="120000">
                <a:moveTo>
                  <a:pt x="0" y="0"/>
                </a:moveTo>
                <a:lnTo>
                  <a:pt x="0" y="4184583"/>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38" name="Google Shape;238;p9"/>
          <p:cNvSpPr/>
          <p:nvPr/>
        </p:nvSpPr>
        <p:spPr>
          <a:xfrm>
            <a:off x="1603375" y="1674813"/>
            <a:ext cx="0" cy="4184650"/>
          </a:xfrm>
          <a:custGeom>
            <a:rect b="b" l="l" r="r" t="t"/>
            <a:pathLst>
              <a:path extrusionOk="0" h="4184650" w="120000">
                <a:moveTo>
                  <a:pt x="0" y="0"/>
                </a:moveTo>
                <a:lnTo>
                  <a:pt x="0" y="4184583"/>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39" name="Google Shape;239;p9"/>
          <p:cNvSpPr/>
          <p:nvPr/>
        </p:nvSpPr>
        <p:spPr>
          <a:xfrm>
            <a:off x="1970088" y="1674813"/>
            <a:ext cx="0" cy="4184650"/>
          </a:xfrm>
          <a:custGeom>
            <a:rect b="b" l="l" r="r" t="t"/>
            <a:pathLst>
              <a:path extrusionOk="0" h="4184650" w="120000">
                <a:moveTo>
                  <a:pt x="0" y="0"/>
                </a:moveTo>
                <a:lnTo>
                  <a:pt x="0" y="4184583"/>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40" name="Google Shape;240;p9"/>
          <p:cNvSpPr/>
          <p:nvPr/>
        </p:nvSpPr>
        <p:spPr>
          <a:xfrm>
            <a:off x="2338388" y="1674813"/>
            <a:ext cx="0" cy="4184650"/>
          </a:xfrm>
          <a:custGeom>
            <a:rect b="b" l="l" r="r" t="t"/>
            <a:pathLst>
              <a:path extrusionOk="0" h="4184650" w="120000">
                <a:moveTo>
                  <a:pt x="0" y="0"/>
                </a:moveTo>
                <a:lnTo>
                  <a:pt x="0" y="4184583"/>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41" name="Google Shape;241;p9"/>
          <p:cNvSpPr/>
          <p:nvPr/>
        </p:nvSpPr>
        <p:spPr>
          <a:xfrm>
            <a:off x="2706688" y="1674813"/>
            <a:ext cx="0" cy="4184650"/>
          </a:xfrm>
          <a:custGeom>
            <a:rect b="b" l="l" r="r" t="t"/>
            <a:pathLst>
              <a:path extrusionOk="0" h="4184650" w="120000">
                <a:moveTo>
                  <a:pt x="0" y="0"/>
                </a:moveTo>
                <a:lnTo>
                  <a:pt x="0" y="4184583"/>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42" name="Google Shape;242;p9"/>
          <p:cNvSpPr/>
          <p:nvPr/>
        </p:nvSpPr>
        <p:spPr>
          <a:xfrm>
            <a:off x="3073400" y="1674813"/>
            <a:ext cx="0" cy="4184650"/>
          </a:xfrm>
          <a:custGeom>
            <a:rect b="b" l="l" r="r" t="t"/>
            <a:pathLst>
              <a:path extrusionOk="0" h="4184650" w="120000">
                <a:moveTo>
                  <a:pt x="0" y="0"/>
                </a:moveTo>
                <a:lnTo>
                  <a:pt x="0" y="4184583"/>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43" name="Google Shape;243;p9"/>
          <p:cNvSpPr/>
          <p:nvPr/>
        </p:nvSpPr>
        <p:spPr>
          <a:xfrm>
            <a:off x="3440113" y="1674813"/>
            <a:ext cx="0" cy="4184650"/>
          </a:xfrm>
          <a:custGeom>
            <a:rect b="b" l="l" r="r" t="t"/>
            <a:pathLst>
              <a:path extrusionOk="0" h="4184650" w="120000">
                <a:moveTo>
                  <a:pt x="0" y="0"/>
                </a:moveTo>
                <a:lnTo>
                  <a:pt x="0" y="4184583"/>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44" name="Google Shape;244;p9"/>
          <p:cNvSpPr/>
          <p:nvPr/>
        </p:nvSpPr>
        <p:spPr>
          <a:xfrm>
            <a:off x="3808413" y="1674813"/>
            <a:ext cx="0" cy="4184650"/>
          </a:xfrm>
          <a:custGeom>
            <a:rect b="b" l="l" r="r" t="t"/>
            <a:pathLst>
              <a:path extrusionOk="0" h="4184650" w="120000">
                <a:moveTo>
                  <a:pt x="0" y="0"/>
                </a:moveTo>
                <a:lnTo>
                  <a:pt x="0" y="4184583"/>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45" name="Google Shape;245;p9"/>
          <p:cNvSpPr/>
          <p:nvPr/>
        </p:nvSpPr>
        <p:spPr>
          <a:xfrm>
            <a:off x="4176713" y="1674813"/>
            <a:ext cx="0" cy="4184650"/>
          </a:xfrm>
          <a:custGeom>
            <a:rect b="b" l="l" r="r" t="t"/>
            <a:pathLst>
              <a:path extrusionOk="0" h="4184650" w="120000">
                <a:moveTo>
                  <a:pt x="0" y="0"/>
                </a:moveTo>
                <a:lnTo>
                  <a:pt x="0" y="4184583"/>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46" name="Google Shape;246;p9"/>
          <p:cNvSpPr/>
          <p:nvPr/>
        </p:nvSpPr>
        <p:spPr>
          <a:xfrm>
            <a:off x="4543425" y="1674813"/>
            <a:ext cx="0" cy="4184650"/>
          </a:xfrm>
          <a:custGeom>
            <a:rect b="b" l="l" r="r" t="t"/>
            <a:pathLst>
              <a:path extrusionOk="0" h="4184650" w="120000">
                <a:moveTo>
                  <a:pt x="0" y="0"/>
                </a:moveTo>
                <a:lnTo>
                  <a:pt x="0" y="4184583"/>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47" name="Google Shape;247;p9"/>
          <p:cNvSpPr/>
          <p:nvPr/>
        </p:nvSpPr>
        <p:spPr>
          <a:xfrm>
            <a:off x="4910138" y="1674813"/>
            <a:ext cx="0" cy="4184650"/>
          </a:xfrm>
          <a:custGeom>
            <a:rect b="b" l="l" r="r" t="t"/>
            <a:pathLst>
              <a:path extrusionOk="0" h="4184650" w="120000">
                <a:moveTo>
                  <a:pt x="0" y="0"/>
                </a:moveTo>
                <a:lnTo>
                  <a:pt x="0" y="4184583"/>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48" name="Google Shape;248;p9"/>
          <p:cNvSpPr/>
          <p:nvPr/>
        </p:nvSpPr>
        <p:spPr>
          <a:xfrm>
            <a:off x="5280025" y="1674813"/>
            <a:ext cx="0" cy="4184650"/>
          </a:xfrm>
          <a:custGeom>
            <a:rect b="b" l="l" r="r" t="t"/>
            <a:pathLst>
              <a:path extrusionOk="0" h="4184650" w="120000">
                <a:moveTo>
                  <a:pt x="0" y="0"/>
                </a:moveTo>
                <a:lnTo>
                  <a:pt x="0" y="4184583"/>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49" name="Google Shape;249;p9"/>
          <p:cNvSpPr/>
          <p:nvPr/>
        </p:nvSpPr>
        <p:spPr>
          <a:xfrm>
            <a:off x="493713" y="2027238"/>
            <a:ext cx="5159375" cy="0"/>
          </a:xfrm>
          <a:custGeom>
            <a:rect b="b" l="l" r="r" t="t"/>
            <a:pathLst>
              <a:path extrusionOk="0" h="120000" w="5160010">
                <a:moveTo>
                  <a:pt x="0" y="0"/>
                </a:moveTo>
                <a:lnTo>
                  <a:pt x="5159440"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50" name="Google Shape;250;p9"/>
          <p:cNvSpPr/>
          <p:nvPr/>
        </p:nvSpPr>
        <p:spPr>
          <a:xfrm>
            <a:off x="493713" y="2373313"/>
            <a:ext cx="5159375" cy="0"/>
          </a:xfrm>
          <a:custGeom>
            <a:rect b="b" l="l" r="r" t="t"/>
            <a:pathLst>
              <a:path extrusionOk="0" h="120000" w="5160010">
                <a:moveTo>
                  <a:pt x="0" y="0"/>
                </a:moveTo>
                <a:lnTo>
                  <a:pt x="5159440"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51" name="Google Shape;251;p9"/>
          <p:cNvSpPr/>
          <p:nvPr/>
        </p:nvSpPr>
        <p:spPr>
          <a:xfrm>
            <a:off x="493713" y="2754313"/>
            <a:ext cx="5159375" cy="0"/>
          </a:xfrm>
          <a:custGeom>
            <a:rect b="b" l="l" r="r" t="t"/>
            <a:pathLst>
              <a:path extrusionOk="0" h="120000" w="5160010">
                <a:moveTo>
                  <a:pt x="0" y="0"/>
                </a:moveTo>
                <a:lnTo>
                  <a:pt x="5159440"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52" name="Google Shape;252;p9"/>
          <p:cNvSpPr/>
          <p:nvPr/>
        </p:nvSpPr>
        <p:spPr>
          <a:xfrm>
            <a:off x="493713" y="3100388"/>
            <a:ext cx="5159375" cy="0"/>
          </a:xfrm>
          <a:custGeom>
            <a:rect b="b" l="l" r="r" t="t"/>
            <a:pathLst>
              <a:path extrusionOk="0" h="120000" w="5160010">
                <a:moveTo>
                  <a:pt x="0" y="0"/>
                </a:moveTo>
                <a:lnTo>
                  <a:pt x="5159440"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53" name="Google Shape;253;p9"/>
          <p:cNvSpPr/>
          <p:nvPr/>
        </p:nvSpPr>
        <p:spPr>
          <a:xfrm>
            <a:off x="493713" y="3443288"/>
            <a:ext cx="5159375" cy="0"/>
          </a:xfrm>
          <a:custGeom>
            <a:rect b="b" l="l" r="r" t="t"/>
            <a:pathLst>
              <a:path extrusionOk="0" h="120000" w="5160010">
                <a:moveTo>
                  <a:pt x="0" y="0"/>
                </a:moveTo>
                <a:lnTo>
                  <a:pt x="5159440"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54" name="Google Shape;254;p9"/>
          <p:cNvSpPr/>
          <p:nvPr/>
        </p:nvSpPr>
        <p:spPr>
          <a:xfrm>
            <a:off x="493713" y="3787775"/>
            <a:ext cx="5159375" cy="0"/>
          </a:xfrm>
          <a:custGeom>
            <a:rect b="b" l="l" r="r" t="t"/>
            <a:pathLst>
              <a:path extrusionOk="0" h="120000" w="5160010">
                <a:moveTo>
                  <a:pt x="0" y="0"/>
                </a:moveTo>
                <a:lnTo>
                  <a:pt x="5159440"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55" name="Google Shape;255;p9"/>
          <p:cNvSpPr/>
          <p:nvPr/>
        </p:nvSpPr>
        <p:spPr>
          <a:xfrm>
            <a:off x="493713" y="4132263"/>
            <a:ext cx="5159375" cy="0"/>
          </a:xfrm>
          <a:custGeom>
            <a:rect b="b" l="l" r="r" t="t"/>
            <a:pathLst>
              <a:path extrusionOk="0" h="120000" w="5160010">
                <a:moveTo>
                  <a:pt x="0" y="0"/>
                </a:moveTo>
                <a:lnTo>
                  <a:pt x="5159440"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56" name="Google Shape;256;p9"/>
          <p:cNvSpPr/>
          <p:nvPr/>
        </p:nvSpPr>
        <p:spPr>
          <a:xfrm>
            <a:off x="493713" y="4476750"/>
            <a:ext cx="5159375" cy="0"/>
          </a:xfrm>
          <a:custGeom>
            <a:rect b="b" l="l" r="r" t="t"/>
            <a:pathLst>
              <a:path extrusionOk="0" h="120000" w="5160010">
                <a:moveTo>
                  <a:pt x="0" y="0"/>
                </a:moveTo>
                <a:lnTo>
                  <a:pt x="5159440"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57" name="Google Shape;257;p9"/>
          <p:cNvSpPr/>
          <p:nvPr/>
        </p:nvSpPr>
        <p:spPr>
          <a:xfrm>
            <a:off x="493713" y="4837113"/>
            <a:ext cx="5159375" cy="0"/>
          </a:xfrm>
          <a:custGeom>
            <a:rect b="b" l="l" r="r" t="t"/>
            <a:pathLst>
              <a:path extrusionOk="0" h="120000" w="5160010">
                <a:moveTo>
                  <a:pt x="0" y="0"/>
                </a:moveTo>
                <a:lnTo>
                  <a:pt x="5159440"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58" name="Google Shape;258;p9"/>
          <p:cNvSpPr/>
          <p:nvPr/>
        </p:nvSpPr>
        <p:spPr>
          <a:xfrm>
            <a:off x="493713" y="5164138"/>
            <a:ext cx="5159375" cy="0"/>
          </a:xfrm>
          <a:custGeom>
            <a:rect b="b" l="l" r="r" t="t"/>
            <a:pathLst>
              <a:path extrusionOk="0" h="120000" w="5160010">
                <a:moveTo>
                  <a:pt x="0" y="0"/>
                </a:moveTo>
                <a:lnTo>
                  <a:pt x="5159440"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59" name="Google Shape;259;p9"/>
          <p:cNvSpPr/>
          <p:nvPr/>
        </p:nvSpPr>
        <p:spPr>
          <a:xfrm>
            <a:off x="493713" y="5508625"/>
            <a:ext cx="5159375" cy="0"/>
          </a:xfrm>
          <a:custGeom>
            <a:rect b="b" l="l" r="r" t="t"/>
            <a:pathLst>
              <a:path extrusionOk="0" h="120000" w="5160010">
                <a:moveTo>
                  <a:pt x="0" y="0"/>
                </a:moveTo>
                <a:lnTo>
                  <a:pt x="5159440"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60" name="Google Shape;260;p9"/>
          <p:cNvSpPr/>
          <p:nvPr/>
        </p:nvSpPr>
        <p:spPr>
          <a:xfrm>
            <a:off x="500063" y="1674813"/>
            <a:ext cx="0" cy="4184650"/>
          </a:xfrm>
          <a:custGeom>
            <a:rect b="b" l="l" r="r" t="t"/>
            <a:pathLst>
              <a:path extrusionOk="0" h="4184650" w="120000">
                <a:moveTo>
                  <a:pt x="0" y="0"/>
                </a:moveTo>
                <a:lnTo>
                  <a:pt x="0" y="4184583"/>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61" name="Google Shape;261;p9"/>
          <p:cNvSpPr/>
          <p:nvPr/>
        </p:nvSpPr>
        <p:spPr>
          <a:xfrm>
            <a:off x="5646738" y="1674813"/>
            <a:ext cx="0" cy="4184650"/>
          </a:xfrm>
          <a:custGeom>
            <a:rect b="b" l="l" r="r" t="t"/>
            <a:pathLst>
              <a:path extrusionOk="0" h="4184650" w="120000">
                <a:moveTo>
                  <a:pt x="0" y="0"/>
                </a:moveTo>
                <a:lnTo>
                  <a:pt x="0" y="4184583"/>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62" name="Google Shape;262;p9"/>
          <p:cNvSpPr/>
          <p:nvPr/>
        </p:nvSpPr>
        <p:spPr>
          <a:xfrm>
            <a:off x="493713" y="1681163"/>
            <a:ext cx="5159375" cy="0"/>
          </a:xfrm>
          <a:custGeom>
            <a:rect b="b" l="l" r="r" t="t"/>
            <a:pathLst>
              <a:path extrusionOk="0" h="120000" w="5160010">
                <a:moveTo>
                  <a:pt x="0" y="0"/>
                </a:moveTo>
                <a:lnTo>
                  <a:pt x="5159440"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63" name="Google Shape;263;p9"/>
          <p:cNvSpPr/>
          <p:nvPr/>
        </p:nvSpPr>
        <p:spPr>
          <a:xfrm>
            <a:off x="493713" y="5853113"/>
            <a:ext cx="5159375" cy="0"/>
          </a:xfrm>
          <a:custGeom>
            <a:rect b="b" l="l" r="r" t="t"/>
            <a:pathLst>
              <a:path extrusionOk="0" h="120000" w="5160010">
                <a:moveTo>
                  <a:pt x="0" y="0"/>
                </a:moveTo>
                <a:lnTo>
                  <a:pt x="5159440" y="0"/>
                </a:lnTo>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64" name="Google Shape;264;p9"/>
          <p:cNvSpPr/>
          <p:nvPr/>
        </p:nvSpPr>
        <p:spPr>
          <a:xfrm>
            <a:off x="3016250" y="1465263"/>
            <a:ext cx="95250" cy="4551362"/>
          </a:xfrm>
          <a:custGeom>
            <a:rect b="b" l="l" r="r" t="t"/>
            <a:pathLst>
              <a:path extrusionOk="0" h="4551680" w="95250">
                <a:moveTo>
                  <a:pt x="63508" y="95290"/>
                </a:moveTo>
                <a:lnTo>
                  <a:pt x="31754" y="95331"/>
                </a:lnTo>
                <a:lnTo>
                  <a:pt x="31754" y="4551425"/>
                </a:lnTo>
                <a:lnTo>
                  <a:pt x="63508" y="4551425"/>
                </a:lnTo>
                <a:lnTo>
                  <a:pt x="63508" y="95290"/>
                </a:lnTo>
                <a:close/>
              </a:path>
              <a:path extrusionOk="0" h="4551680" w="95250">
                <a:moveTo>
                  <a:pt x="47634" y="0"/>
                </a:moveTo>
                <a:lnTo>
                  <a:pt x="0" y="95371"/>
                </a:lnTo>
                <a:lnTo>
                  <a:pt x="31754" y="95331"/>
                </a:lnTo>
                <a:lnTo>
                  <a:pt x="31754" y="79369"/>
                </a:lnTo>
                <a:lnTo>
                  <a:pt x="87306" y="79369"/>
                </a:lnTo>
                <a:lnTo>
                  <a:pt x="47634" y="0"/>
                </a:lnTo>
                <a:close/>
              </a:path>
              <a:path extrusionOk="0" h="4551680" w="95250">
                <a:moveTo>
                  <a:pt x="63508" y="79369"/>
                </a:moveTo>
                <a:lnTo>
                  <a:pt x="31754" y="79369"/>
                </a:lnTo>
                <a:lnTo>
                  <a:pt x="31754" y="95331"/>
                </a:lnTo>
                <a:lnTo>
                  <a:pt x="63508" y="95290"/>
                </a:lnTo>
                <a:lnTo>
                  <a:pt x="63508" y="79369"/>
                </a:lnTo>
                <a:close/>
              </a:path>
              <a:path extrusionOk="0" h="4551680" w="95250">
                <a:moveTo>
                  <a:pt x="87306" y="79369"/>
                </a:moveTo>
                <a:lnTo>
                  <a:pt x="63508" y="79369"/>
                </a:lnTo>
                <a:lnTo>
                  <a:pt x="63508" y="95290"/>
                </a:lnTo>
                <a:lnTo>
                  <a:pt x="95243" y="95249"/>
                </a:lnTo>
                <a:lnTo>
                  <a:pt x="87306" y="79369"/>
                </a:lnTo>
                <a:close/>
              </a:path>
            </a:pathLst>
          </a:custGeom>
          <a:solidFill>
            <a:srgbClr val="FF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65" name="Google Shape;265;p9"/>
          <p:cNvSpPr/>
          <p:nvPr/>
        </p:nvSpPr>
        <p:spPr>
          <a:xfrm>
            <a:off x="339725" y="3733800"/>
            <a:ext cx="5561013" cy="95250"/>
          </a:xfrm>
          <a:custGeom>
            <a:rect b="b" l="l" r="r" t="t"/>
            <a:pathLst>
              <a:path extrusionOk="0" h="95250" w="5561330">
                <a:moveTo>
                  <a:pt x="5465713" y="0"/>
                </a:moveTo>
                <a:lnTo>
                  <a:pt x="5465713" y="95249"/>
                </a:lnTo>
                <a:lnTo>
                  <a:pt x="5529188" y="63502"/>
                </a:lnTo>
                <a:lnTo>
                  <a:pt x="5481705" y="63502"/>
                </a:lnTo>
                <a:lnTo>
                  <a:pt x="5481705" y="31760"/>
                </a:lnTo>
                <a:lnTo>
                  <a:pt x="5529253" y="31760"/>
                </a:lnTo>
                <a:lnTo>
                  <a:pt x="5465713" y="0"/>
                </a:lnTo>
                <a:close/>
              </a:path>
              <a:path extrusionOk="0" h="95250" w="5561330">
                <a:moveTo>
                  <a:pt x="5465713" y="31760"/>
                </a:moveTo>
                <a:lnTo>
                  <a:pt x="0" y="31760"/>
                </a:lnTo>
                <a:lnTo>
                  <a:pt x="0" y="63502"/>
                </a:lnTo>
                <a:lnTo>
                  <a:pt x="5465713" y="63502"/>
                </a:lnTo>
                <a:lnTo>
                  <a:pt x="5465713" y="31760"/>
                </a:lnTo>
                <a:close/>
              </a:path>
              <a:path extrusionOk="0" h="95250" w="5561330">
                <a:moveTo>
                  <a:pt x="5529253" y="31760"/>
                </a:moveTo>
                <a:lnTo>
                  <a:pt x="5481705" y="31760"/>
                </a:lnTo>
                <a:lnTo>
                  <a:pt x="5481705" y="63502"/>
                </a:lnTo>
                <a:lnTo>
                  <a:pt x="5529188" y="63502"/>
                </a:lnTo>
                <a:lnTo>
                  <a:pt x="5560963" y="47609"/>
                </a:lnTo>
                <a:lnTo>
                  <a:pt x="5529253" y="31760"/>
                </a:lnTo>
                <a:close/>
              </a:path>
            </a:pathLst>
          </a:custGeom>
          <a:solidFill>
            <a:srgbClr val="FF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66" name="Google Shape;266;p9"/>
          <p:cNvSpPr/>
          <p:nvPr/>
        </p:nvSpPr>
        <p:spPr>
          <a:xfrm>
            <a:off x="1335088" y="2125663"/>
            <a:ext cx="3457575" cy="3313112"/>
          </a:xfrm>
          <a:custGeom>
            <a:rect b="b" l="l" r="r" t="t"/>
            <a:pathLst>
              <a:path extrusionOk="0" h="3313429" w="3457575">
                <a:moveTo>
                  <a:pt x="0" y="1656435"/>
                </a:moveTo>
                <a:lnTo>
                  <a:pt x="5730" y="1520573"/>
                </a:lnTo>
                <a:lnTo>
                  <a:pt x="22624" y="1387737"/>
                </a:lnTo>
                <a:lnTo>
                  <a:pt x="50238" y="1258354"/>
                </a:lnTo>
                <a:lnTo>
                  <a:pt x="88127" y="1132849"/>
                </a:lnTo>
                <a:lnTo>
                  <a:pt x="135845" y="1011649"/>
                </a:lnTo>
                <a:lnTo>
                  <a:pt x="192948" y="895180"/>
                </a:lnTo>
                <a:lnTo>
                  <a:pt x="258991" y="783867"/>
                </a:lnTo>
                <a:lnTo>
                  <a:pt x="333530" y="678138"/>
                </a:lnTo>
                <a:lnTo>
                  <a:pt x="416119" y="578419"/>
                </a:lnTo>
                <a:lnTo>
                  <a:pt x="506314" y="485134"/>
                </a:lnTo>
                <a:lnTo>
                  <a:pt x="603670" y="398712"/>
                </a:lnTo>
                <a:lnTo>
                  <a:pt x="707742" y="319577"/>
                </a:lnTo>
                <a:lnTo>
                  <a:pt x="818085" y="248156"/>
                </a:lnTo>
                <a:lnTo>
                  <a:pt x="934255" y="184876"/>
                </a:lnTo>
                <a:lnTo>
                  <a:pt x="1055807" y="130161"/>
                </a:lnTo>
                <a:lnTo>
                  <a:pt x="1182296" y="84440"/>
                </a:lnTo>
                <a:lnTo>
                  <a:pt x="1313277" y="48136"/>
                </a:lnTo>
                <a:lnTo>
                  <a:pt x="1448305" y="21678"/>
                </a:lnTo>
                <a:lnTo>
                  <a:pt x="1586936" y="5490"/>
                </a:lnTo>
                <a:lnTo>
                  <a:pt x="1728724" y="0"/>
                </a:lnTo>
                <a:lnTo>
                  <a:pt x="1870513" y="5490"/>
                </a:lnTo>
                <a:lnTo>
                  <a:pt x="2009145" y="21678"/>
                </a:lnTo>
                <a:lnTo>
                  <a:pt x="2144177" y="48136"/>
                </a:lnTo>
                <a:lnTo>
                  <a:pt x="2275163" y="84440"/>
                </a:lnTo>
                <a:lnTo>
                  <a:pt x="2401659" y="130161"/>
                </a:lnTo>
                <a:lnTo>
                  <a:pt x="2523218" y="184876"/>
                </a:lnTo>
                <a:lnTo>
                  <a:pt x="2639397" y="248156"/>
                </a:lnTo>
                <a:lnTo>
                  <a:pt x="2749749" y="319577"/>
                </a:lnTo>
                <a:lnTo>
                  <a:pt x="2853831" y="398712"/>
                </a:lnTo>
                <a:lnTo>
                  <a:pt x="2951197" y="485134"/>
                </a:lnTo>
                <a:lnTo>
                  <a:pt x="3041402" y="578419"/>
                </a:lnTo>
                <a:lnTo>
                  <a:pt x="3124002" y="678138"/>
                </a:lnTo>
                <a:lnTo>
                  <a:pt x="3198550" y="783867"/>
                </a:lnTo>
                <a:lnTo>
                  <a:pt x="3264602" y="895180"/>
                </a:lnTo>
                <a:lnTo>
                  <a:pt x="3321714" y="1011649"/>
                </a:lnTo>
                <a:lnTo>
                  <a:pt x="3369439" y="1132849"/>
                </a:lnTo>
                <a:lnTo>
                  <a:pt x="3407333" y="1258354"/>
                </a:lnTo>
                <a:lnTo>
                  <a:pt x="3434952" y="1387737"/>
                </a:lnTo>
                <a:lnTo>
                  <a:pt x="3451849" y="1520573"/>
                </a:lnTo>
                <a:lnTo>
                  <a:pt x="3457581" y="1656435"/>
                </a:lnTo>
                <a:lnTo>
                  <a:pt x="3451849" y="1792304"/>
                </a:lnTo>
                <a:lnTo>
                  <a:pt x="3434952" y="1925147"/>
                </a:lnTo>
                <a:lnTo>
                  <a:pt x="3407333" y="2054539"/>
                </a:lnTo>
                <a:lnTo>
                  <a:pt x="3369439" y="2180054"/>
                </a:lnTo>
                <a:lnTo>
                  <a:pt x="3321714" y="2301264"/>
                </a:lnTo>
                <a:lnTo>
                  <a:pt x="3264602" y="2417744"/>
                </a:lnTo>
                <a:lnTo>
                  <a:pt x="3198550" y="2529068"/>
                </a:lnTo>
                <a:lnTo>
                  <a:pt x="3124002" y="2634808"/>
                </a:lnTo>
                <a:lnTo>
                  <a:pt x="3041402" y="2734539"/>
                </a:lnTo>
                <a:lnTo>
                  <a:pt x="2951197" y="2827834"/>
                </a:lnTo>
                <a:lnTo>
                  <a:pt x="2853831" y="2914268"/>
                </a:lnTo>
                <a:lnTo>
                  <a:pt x="2749749" y="2993413"/>
                </a:lnTo>
                <a:lnTo>
                  <a:pt x="2639397" y="3064844"/>
                </a:lnTo>
                <a:lnTo>
                  <a:pt x="2523218" y="3128133"/>
                </a:lnTo>
                <a:lnTo>
                  <a:pt x="2401659" y="3182856"/>
                </a:lnTo>
                <a:lnTo>
                  <a:pt x="2275163" y="3228585"/>
                </a:lnTo>
                <a:lnTo>
                  <a:pt x="2144177" y="3264894"/>
                </a:lnTo>
                <a:lnTo>
                  <a:pt x="2009145" y="3291356"/>
                </a:lnTo>
                <a:lnTo>
                  <a:pt x="1870513" y="3307547"/>
                </a:lnTo>
                <a:lnTo>
                  <a:pt x="1728724" y="3313038"/>
                </a:lnTo>
                <a:lnTo>
                  <a:pt x="1586936" y="3307547"/>
                </a:lnTo>
                <a:lnTo>
                  <a:pt x="1448305" y="3291356"/>
                </a:lnTo>
                <a:lnTo>
                  <a:pt x="1313277" y="3264894"/>
                </a:lnTo>
                <a:lnTo>
                  <a:pt x="1182296" y="3228585"/>
                </a:lnTo>
                <a:lnTo>
                  <a:pt x="1055807" y="3182856"/>
                </a:lnTo>
                <a:lnTo>
                  <a:pt x="934255" y="3128133"/>
                </a:lnTo>
                <a:lnTo>
                  <a:pt x="818085" y="3064844"/>
                </a:lnTo>
                <a:lnTo>
                  <a:pt x="707742" y="2993413"/>
                </a:lnTo>
                <a:lnTo>
                  <a:pt x="603670" y="2914268"/>
                </a:lnTo>
                <a:lnTo>
                  <a:pt x="506314" y="2827834"/>
                </a:lnTo>
                <a:lnTo>
                  <a:pt x="416119" y="2734539"/>
                </a:lnTo>
                <a:lnTo>
                  <a:pt x="333530" y="2634808"/>
                </a:lnTo>
                <a:lnTo>
                  <a:pt x="258991" y="2529068"/>
                </a:lnTo>
                <a:lnTo>
                  <a:pt x="192948" y="2417744"/>
                </a:lnTo>
                <a:lnTo>
                  <a:pt x="135845" y="2301264"/>
                </a:lnTo>
                <a:lnTo>
                  <a:pt x="88127" y="2180054"/>
                </a:lnTo>
                <a:lnTo>
                  <a:pt x="50238" y="2054539"/>
                </a:lnTo>
                <a:lnTo>
                  <a:pt x="22624" y="1925147"/>
                </a:lnTo>
                <a:lnTo>
                  <a:pt x="5730" y="1792304"/>
                </a:lnTo>
                <a:lnTo>
                  <a:pt x="0" y="1656435"/>
                </a:lnTo>
                <a:close/>
              </a:path>
            </a:pathLst>
          </a:custGeom>
          <a:noFill/>
          <a:ln cap="flat" cmpd="sng" w="12700">
            <a:solidFill>
              <a:srgbClr val="3816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67" name="Google Shape;267;p9"/>
          <p:cNvSpPr/>
          <p:nvPr/>
        </p:nvSpPr>
        <p:spPr>
          <a:xfrm>
            <a:off x="6846888" y="2911475"/>
            <a:ext cx="207962" cy="169863"/>
          </a:xfrm>
          <a:custGeom>
            <a:rect b="b" l="l" r="r" t="t"/>
            <a:pathLst>
              <a:path extrusionOk="0" h="170180" w="208915">
                <a:moveTo>
                  <a:pt x="0" y="169854"/>
                </a:moveTo>
                <a:lnTo>
                  <a:pt x="208299" y="169854"/>
                </a:lnTo>
                <a:lnTo>
                  <a:pt x="208299" y="0"/>
                </a:lnTo>
                <a:lnTo>
                  <a:pt x="0" y="0"/>
                </a:lnTo>
                <a:lnTo>
                  <a:pt x="0" y="169854"/>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68" name="Google Shape;268;p9"/>
          <p:cNvSpPr/>
          <p:nvPr/>
        </p:nvSpPr>
        <p:spPr>
          <a:xfrm>
            <a:off x="7054850" y="2911475"/>
            <a:ext cx="209550" cy="169863"/>
          </a:xfrm>
          <a:custGeom>
            <a:rect b="b" l="l" r="r" t="t"/>
            <a:pathLst>
              <a:path extrusionOk="0" h="170180" w="208915">
                <a:moveTo>
                  <a:pt x="0" y="169854"/>
                </a:moveTo>
                <a:lnTo>
                  <a:pt x="208299" y="169854"/>
                </a:lnTo>
                <a:lnTo>
                  <a:pt x="208299" y="0"/>
                </a:lnTo>
                <a:lnTo>
                  <a:pt x="0" y="0"/>
                </a:lnTo>
                <a:lnTo>
                  <a:pt x="0" y="169854"/>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69" name="Google Shape;269;p9"/>
          <p:cNvSpPr/>
          <p:nvPr/>
        </p:nvSpPr>
        <p:spPr>
          <a:xfrm>
            <a:off x="7262813" y="2911475"/>
            <a:ext cx="209550" cy="169863"/>
          </a:xfrm>
          <a:custGeom>
            <a:rect b="b" l="l" r="r" t="t"/>
            <a:pathLst>
              <a:path extrusionOk="0" h="170180" w="208915">
                <a:moveTo>
                  <a:pt x="0" y="169854"/>
                </a:moveTo>
                <a:lnTo>
                  <a:pt x="208311" y="169854"/>
                </a:lnTo>
                <a:lnTo>
                  <a:pt x="208311" y="0"/>
                </a:lnTo>
                <a:lnTo>
                  <a:pt x="0" y="0"/>
                </a:lnTo>
                <a:lnTo>
                  <a:pt x="0" y="169854"/>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70" name="Google Shape;270;p9"/>
          <p:cNvSpPr/>
          <p:nvPr/>
        </p:nvSpPr>
        <p:spPr>
          <a:xfrm>
            <a:off x="7470775" y="2911475"/>
            <a:ext cx="209550" cy="169863"/>
          </a:xfrm>
          <a:custGeom>
            <a:rect b="b" l="l" r="r" t="t"/>
            <a:pathLst>
              <a:path extrusionOk="0" h="170180" w="208915">
                <a:moveTo>
                  <a:pt x="0" y="169854"/>
                </a:moveTo>
                <a:lnTo>
                  <a:pt x="208299" y="169854"/>
                </a:lnTo>
                <a:lnTo>
                  <a:pt x="208299" y="0"/>
                </a:lnTo>
                <a:lnTo>
                  <a:pt x="0" y="0"/>
                </a:lnTo>
                <a:lnTo>
                  <a:pt x="0" y="169854"/>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71" name="Google Shape;271;p9"/>
          <p:cNvSpPr/>
          <p:nvPr/>
        </p:nvSpPr>
        <p:spPr>
          <a:xfrm>
            <a:off x="7680325" y="2911475"/>
            <a:ext cx="207963" cy="169863"/>
          </a:xfrm>
          <a:custGeom>
            <a:rect b="b" l="l" r="r" t="t"/>
            <a:pathLst>
              <a:path extrusionOk="0" h="170180" w="208915">
                <a:moveTo>
                  <a:pt x="0" y="169854"/>
                </a:moveTo>
                <a:lnTo>
                  <a:pt x="208299" y="169854"/>
                </a:lnTo>
                <a:lnTo>
                  <a:pt x="208299" y="0"/>
                </a:lnTo>
                <a:lnTo>
                  <a:pt x="0" y="0"/>
                </a:lnTo>
                <a:lnTo>
                  <a:pt x="0" y="169854"/>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72" name="Google Shape;272;p9"/>
          <p:cNvSpPr/>
          <p:nvPr/>
        </p:nvSpPr>
        <p:spPr>
          <a:xfrm>
            <a:off x="7888288" y="2911475"/>
            <a:ext cx="209550" cy="169863"/>
          </a:xfrm>
          <a:custGeom>
            <a:rect b="b" l="l" r="r" t="t"/>
            <a:pathLst>
              <a:path extrusionOk="0" h="170180" w="208915">
                <a:moveTo>
                  <a:pt x="0" y="169854"/>
                </a:moveTo>
                <a:lnTo>
                  <a:pt x="208299" y="169854"/>
                </a:lnTo>
                <a:lnTo>
                  <a:pt x="208299" y="0"/>
                </a:lnTo>
                <a:lnTo>
                  <a:pt x="0" y="0"/>
                </a:lnTo>
                <a:lnTo>
                  <a:pt x="0" y="169854"/>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73" name="Google Shape;273;p9"/>
          <p:cNvSpPr/>
          <p:nvPr/>
        </p:nvSpPr>
        <p:spPr>
          <a:xfrm>
            <a:off x="6638925" y="3081338"/>
            <a:ext cx="207963" cy="173037"/>
          </a:xfrm>
          <a:custGeom>
            <a:rect b="b" l="l" r="r" t="t"/>
            <a:pathLst>
              <a:path extrusionOk="0" h="173354" w="208915">
                <a:moveTo>
                  <a:pt x="0" y="173033"/>
                </a:moveTo>
                <a:lnTo>
                  <a:pt x="208311" y="173033"/>
                </a:lnTo>
                <a:lnTo>
                  <a:pt x="208311" y="0"/>
                </a:lnTo>
                <a:lnTo>
                  <a:pt x="0" y="0"/>
                </a:lnTo>
                <a:lnTo>
                  <a:pt x="0" y="173033"/>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74" name="Google Shape;274;p9"/>
          <p:cNvSpPr/>
          <p:nvPr/>
        </p:nvSpPr>
        <p:spPr>
          <a:xfrm>
            <a:off x="8096250" y="3081338"/>
            <a:ext cx="209550" cy="173037"/>
          </a:xfrm>
          <a:custGeom>
            <a:rect b="b" l="l" r="r" t="t"/>
            <a:pathLst>
              <a:path extrusionOk="0" h="173354" w="208915">
                <a:moveTo>
                  <a:pt x="0" y="173033"/>
                </a:moveTo>
                <a:lnTo>
                  <a:pt x="208311" y="173033"/>
                </a:lnTo>
                <a:lnTo>
                  <a:pt x="208311" y="0"/>
                </a:lnTo>
                <a:lnTo>
                  <a:pt x="0" y="0"/>
                </a:lnTo>
                <a:lnTo>
                  <a:pt x="0" y="173033"/>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75" name="Google Shape;275;p9"/>
          <p:cNvSpPr/>
          <p:nvPr/>
        </p:nvSpPr>
        <p:spPr>
          <a:xfrm>
            <a:off x="6429375" y="3425825"/>
            <a:ext cx="209550" cy="169863"/>
          </a:xfrm>
          <a:custGeom>
            <a:rect b="b" l="l" r="r" t="t"/>
            <a:pathLst>
              <a:path extrusionOk="0" h="170179" w="208915">
                <a:moveTo>
                  <a:pt x="0" y="169854"/>
                </a:moveTo>
                <a:lnTo>
                  <a:pt x="208311" y="169854"/>
                </a:lnTo>
                <a:lnTo>
                  <a:pt x="208311" y="0"/>
                </a:lnTo>
                <a:lnTo>
                  <a:pt x="0" y="0"/>
                </a:lnTo>
                <a:lnTo>
                  <a:pt x="0" y="169854"/>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76" name="Google Shape;276;p9"/>
          <p:cNvSpPr/>
          <p:nvPr/>
        </p:nvSpPr>
        <p:spPr>
          <a:xfrm>
            <a:off x="8304213" y="3425825"/>
            <a:ext cx="209550" cy="169863"/>
          </a:xfrm>
          <a:custGeom>
            <a:rect b="b" l="l" r="r" t="t"/>
            <a:pathLst>
              <a:path extrusionOk="0" h="170179" w="208915">
                <a:moveTo>
                  <a:pt x="0" y="169854"/>
                </a:moveTo>
                <a:lnTo>
                  <a:pt x="208299" y="169854"/>
                </a:lnTo>
                <a:lnTo>
                  <a:pt x="208299" y="0"/>
                </a:lnTo>
                <a:lnTo>
                  <a:pt x="0" y="0"/>
                </a:lnTo>
                <a:lnTo>
                  <a:pt x="0" y="169854"/>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77" name="Google Shape;277;p9"/>
          <p:cNvSpPr/>
          <p:nvPr/>
        </p:nvSpPr>
        <p:spPr>
          <a:xfrm>
            <a:off x="6429375" y="3935413"/>
            <a:ext cx="209550" cy="174625"/>
          </a:xfrm>
          <a:custGeom>
            <a:rect b="b" l="l" r="r" t="t"/>
            <a:pathLst>
              <a:path extrusionOk="0" h="174625" w="208915">
                <a:moveTo>
                  <a:pt x="0" y="174617"/>
                </a:moveTo>
                <a:lnTo>
                  <a:pt x="208311" y="174617"/>
                </a:lnTo>
                <a:lnTo>
                  <a:pt x="208311" y="0"/>
                </a:lnTo>
                <a:lnTo>
                  <a:pt x="0" y="0"/>
                </a:lnTo>
                <a:lnTo>
                  <a:pt x="0" y="174617"/>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78" name="Google Shape;278;p9"/>
          <p:cNvSpPr/>
          <p:nvPr/>
        </p:nvSpPr>
        <p:spPr>
          <a:xfrm>
            <a:off x="8304213" y="3935413"/>
            <a:ext cx="209550" cy="174625"/>
          </a:xfrm>
          <a:custGeom>
            <a:rect b="b" l="l" r="r" t="t"/>
            <a:pathLst>
              <a:path extrusionOk="0" h="174625" w="208915">
                <a:moveTo>
                  <a:pt x="0" y="174617"/>
                </a:moveTo>
                <a:lnTo>
                  <a:pt x="208299" y="174617"/>
                </a:lnTo>
                <a:lnTo>
                  <a:pt x="208299" y="0"/>
                </a:lnTo>
                <a:lnTo>
                  <a:pt x="0" y="0"/>
                </a:lnTo>
                <a:lnTo>
                  <a:pt x="0" y="174617"/>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79" name="Google Shape;279;p9"/>
          <p:cNvSpPr/>
          <p:nvPr/>
        </p:nvSpPr>
        <p:spPr>
          <a:xfrm>
            <a:off x="6638925" y="4276725"/>
            <a:ext cx="207963" cy="236538"/>
          </a:xfrm>
          <a:custGeom>
            <a:rect b="b" l="l" r="r" t="t"/>
            <a:pathLst>
              <a:path extrusionOk="0" h="236854" w="208915">
                <a:moveTo>
                  <a:pt x="0" y="236541"/>
                </a:moveTo>
                <a:lnTo>
                  <a:pt x="208311" y="236541"/>
                </a:lnTo>
                <a:lnTo>
                  <a:pt x="208311" y="0"/>
                </a:lnTo>
                <a:lnTo>
                  <a:pt x="0" y="0"/>
                </a:lnTo>
                <a:lnTo>
                  <a:pt x="0" y="236541"/>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80" name="Google Shape;280;p9"/>
          <p:cNvSpPr/>
          <p:nvPr/>
        </p:nvSpPr>
        <p:spPr>
          <a:xfrm>
            <a:off x="8096250" y="4276725"/>
            <a:ext cx="209550" cy="236538"/>
          </a:xfrm>
          <a:custGeom>
            <a:rect b="b" l="l" r="r" t="t"/>
            <a:pathLst>
              <a:path extrusionOk="0" h="236854" w="208915">
                <a:moveTo>
                  <a:pt x="0" y="236541"/>
                </a:moveTo>
                <a:lnTo>
                  <a:pt x="208311" y="236541"/>
                </a:lnTo>
                <a:lnTo>
                  <a:pt x="208311" y="0"/>
                </a:lnTo>
                <a:lnTo>
                  <a:pt x="0" y="0"/>
                </a:lnTo>
                <a:lnTo>
                  <a:pt x="0" y="236541"/>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81" name="Google Shape;281;p9"/>
          <p:cNvSpPr/>
          <p:nvPr/>
        </p:nvSpPr>
        <p:spPr>
          <a:xfrm>
            <a:off x="6846888" y="4513263"/>
            <a:ext cx="207962" cy="173037"/>
          </a:xfrm>
          <a:custGeom>
            <a:rect b="b" l="l" r="r" t="t"/>
            <a:pathLst>
              <a:path extrusionOk="0" h="173354" w="208915">
                <a:moveTo>
                  <a:pt x="0" y="173033"/>
                </a:moveTo>
                <a:lnTo>
                  <a:pt x="208299" y="173033"/>
                </a:lnTo>
                <a:lnTo>
                  <a:pt x="208299" y="0"/>
                </a:lnTo>
                <a:lnTo>
                  <a:pt x="0" y="0"/>
                </a:lnTo>
                <a:lnTo>
                  <a:pt x="0" y="173033"/>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82" name="Google Shape;282;p9"/>
          <p:cNvSpPr/>
          <p:nvPr/>
        </p:nvSpPr>
        <p:spPr>
          <a:xfrm>
            <a:off x="7054850" y="4513263"/>
            <a:ext cx="209550" cy="173037"/>
          </a:xfrm>
          <a:custGeom>
            <a:rect b="b" l="l" r="r" t="t"/>
            <a:pathLst>
              <a:path extrusionOk="0" h="173354" w="208915">
                <a:moveTo>
                  <a:pt x="0" y="173033"/>
                </a:moveTo>
                <a:lnTo>
                  <a:pt x="208299" y="173033"/>
                </a:lnTo>
                <a:lnTo>
                  <a:pt x="208299" y="0"/>
                </a:lnTo>
                <a:lnTo>
                  <a:pt x="0" y="0"/>
                </a:lnTo>
                <a:lnTo>
                  <a:pt x="0" y="173033"/>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83" name="Google Shape;283;p9"/>
          <p:cNvSpPr/>
          <p:nvPr/>
        </p:nvSpPr>
        <p:spPr>
          <a:xfrm>
            <a:off x="7262813" y="4513263"/>
            <a:ext cx="209550" cy="173037"/>
          </a:xfrm>
          <a:custGeom>
            <a:rect b="b" l="l" r="r" t="t"/>
            <a:pathLst>
              <a:path extrusionOk="0" h="173354" w="208915">
                <a:moveTo>
                  <a:pt x="0" y="173033"/>
                </a:moveTo>
                <a:lnTo>
                  <a:pt x="208311" y="173033"/>
                </a:lnTo>
                <a:lnTo>
                  <a:pt x="208311" y="0"/>
                </a:lnTo>
                <a:lnTo>
                  <a:pt x="0" y="0"/>
                </a:lnTo>
                <a:lnTo>
                  <a:pt x="0" y="173033"/>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84" name="Google Shape;284;p9"/>
          <p:cNvSpPr/>
          <p:nvPr/>
        </p:nvSpPr>
        <p:spPr>
          <a:xfrm>
            <a:off x="7470775" y="4513263"/>
            <a:ext cx="209550" cy="173037"/>
          </a:xfrm>
          <a:custGeom>
            <a:rect b="b" l="l" r="r" t="t"/>
            <a:pathLst>
              <a:path extrusionOk="0" h="173354" w="208915">
                <a:moveTo>
                  <a:pt x="0" y="173033"/>
                </a:moveTo>
                <a:lnTo>
                  <a:pt x="208299" y="173033"/>
                </a:lnTo>
                <a:lnTo>
                  <a:pt x="208299" y="0"/>
                </a:lnTo>
                <a:lnTo>
                  <a:pt x="0" y="0"/>
                </a:lnTo>
                <a:lnTo>
                  <a:pt x="0" y="173033"/>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85" name="Google Shape;285;p9"/>
          <p:cNvSpPr/>
          <p:nvPr/>
        </p:nvSpPr>
        <p:spPr>
          <a:xfrm>
            <a:off x="7680325" y="4513263"/>
            <a:ext cx="207963" cy="173037"/>
          </a:xfrm>
          <a:custGeom>
            <a:rect b="b" l="l" r="r" t="t"/>
            <a:pathLst>
              <a:path extrusionOk="0" h="173354" w="208915">
                <a:moveTo>
                  <a:pt x="0" y="173033"/>
                </a:moveTo>
                <a:lnTo>
                  <a:pt x="208299" y="173033"/>
                </a:lnTo>
                <a:lnTo>
                  <a:pt x="208299" y="0"/>
                </a:lnTo>
                <a:lnTo>
                  <a:pt x="0" y="0"/>
                </a:lnTo>
                <a:lnTo>
                  <a:pt x="0" y="173033"/>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86" name="Google Shape;286;p9"/>
          <p:cNvSpPr/>
          <p:nvPr/>
        </p:nvSpPr>
        <p:spPr>
          <a:xfrm>
            <a:off x="7888288" y="4513263"/>
            <a:ext cx="209550" cy="173037"/>
          </a:xfrm>
          <a:custGeom>
            <a:rect b="b" l="l" r="r" t="t"/>
            <a:pathLst>
              <a:path extrusionOk="0" h="173354" w="208915">
                <a:moveTo>
                  <a:pt x="0" y="173033"/>
                </a:moveTo>
                <a:lnTo>
                  <a:pt x="208299" y="173033"/>
                </a:lnTo>
                <a:lnTo>
                  <a:pt x="208299" y="0"/>
                </a:lnTo>
                <a:lnTo>
                  <a:pt x="0" y="0"/>
                </a:lnTo>
                <a:lnTo>
                  <a:pt x="0" y="173033"/>
                </a:lnTo>
                <a:close/>
              </a:path>
            </a:pathLst>
          </a:custGeom>
          <a:solidFill>
            <a:srgbClr val="007F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87" name="Google Shape;287;p9"/>
          <p:cNvSpPr/>
          <p:nvPr/>
        </p:nvSpPr>
        <p:spPr>
          <a:xfrm>
            <a:off x="7258050" y="2695575"/>
            <a:ext cx="76200" cy="2238375"/>
          </a:xfrm>
          <a:custGeom>
            <a:rect b="b" l="l" r="r" t="t"/>
            <a:pathLst>
              <a:path extrusionOk="0" h="2239010" w="76200">
                <a:moveTo>
                  <a:pt x="44439" y="63511"/>
                </a:moveTo>
                <a:lnTo>
                  <a:pt x="31747" y="63511"/>
                </a:lnTo>
                <a:lnTo>
                  <a:pt x="31747" y="2238390"/>
                </a:lnTo>
                <a:lnTo>
                  <a:pt x="44439" y="2238390"/>
                </a:lnTo>
                <a:lnTo>
                  <a:pt x="44439" y="63511"/>
                </a:lnTo>
                <a:close/>
              </a:path>
              <a:path extrusionOk="0" h="2239010" w="76200">
                <a:moveTo>
                  <a:pt x="38099" y="0"/>
                </a:moveTo>
                <a:lnTo>
                  <a:pt x="0" y="76199"/>
                </a:lnTo>
                <a:lnTo>
                  <a:pt x="31747" y="76199"/>
                </a:lnTo>
                <a:lnTo>
                  <a:pt x="31747" y="63511"/>
                </a:lnTo>
                <a:lnTo>
                  <a:pt x="69855" y="63511"/>
                </a:lnTo>
                <a:lnTo>
                  <a:pt x="38099" y="0"/>
                </a:lnTo>
                <a:close/>
              </a:path>
              <a:path extrusionOk="0" h="2239010" w="76200">
                <a:moveTo>
                  <a:pt x="69855" y="63511"/>
                </a:moveTo>
                <a:lnTo>
                  <a:pt x="44439" y="63511"/>
                </a:lnTo>
                <a:lnTo>
                  <a:pt x="44439" y="76199"/>
                </a:lnTo>
                <a:lnTo>
                  <a:pt x="76199" y="76199"/>
                </a:lnTo>
                <a:lnTo>
                  <a:pt x="69855" y="63511"/>
                </a:lnTo>
                <a:close/>
              </a:path>
            </a:pathLst>
          </a:custGeom>
          <a:solidFill>
            <a:srgbClr val="FF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88" name="Google Shape;288;p9"/>
          <p:cNvSpPr/>
          <p:nvPr/>
        </p:nvSpPr>
        <p:spPr>
          <a:xfrm>
            <a:off x="6224588" y="3736975"/>
            <a:ext cx="2201862" cy="76200"/>
          </a:xfrm>
          <a:custGeom>
            <a:rect b="b" l="l" r="r" t="t"/>
            <a:pathLst>
              <a:path extrusionOk="0" h="76200" w="2202179">
                <a:moveTo>
                  <a:pt x="2125705" y="0"/>
                </a:moveTo>
                <a:lnTo>
                  <a:pt x="2125705" y="76209"/>
                </a:lnTo>
                <a:lnTo>
                  <a:pt x="2189180" y="44464"/>
                </a:lnTo>
                <a:lnTo>
                  <a:pt x="2138421" y="44464"/>
                </a:lnTo>
                <a:lnTo>
                  <a:pt x="2138421" y="31760"/>
                </a:lnTo>
                <a:lnTo>
                  <a:pt x="2189225" y="31760"/>
                </a:lnTo>
                <a:lnTo>
                  <a:pt x="2125705" y="0"/>
                </a:lnTo>
                <a:close/>
              </a:path>
              <a:path extrusionOk="0" h="76200" w="2202179">
                <a:moveTo>
                  <a:pt x="2125705" y="31760"/>
                </a:moveTo>
                <a:lnTo>
                  <a:pt x="0" y="31760"/>
                </a:lnTo>
                <a:lnTo>
                  <a:pt x="0" y="44464"/>
                </a:lnTo>
                <a:lnTo>
                  <a:pt x="2125705" y="44464"/>
                </a:lnTo>
                <a:lnTo>
                  <a:pt x="2125705" y="31760"/>
                </a:lnTo>
                <a:close/>
              </a:path>
              <a:path extrusionOk="0" h="76200" w="2202179">
                <a:moveTo>
                  <a:pt x="2189225" y="31760"/>
                </a:moveTo>
                <a:lnTo>
                  <a:pt x="2138421" y="31760"/>
                </a:lnTo>
                <a:lnTo>
                  <a:pt x="2138421" y="44464"/>
                </a:lnTo>
                <a:lnTo>
                  <a:pt x="2189180" y="44464"/>
                </a:lnTo>
                <a:lnTo>
                  <a:pt x="2201905" y="38099"/>
                </a:lnTo>
                <a:lnTo>
                  <a:pt x="2189225" y="31760"/>
                </a:lnTo>
                <a:close/>
              </a:path>
            </a:pathLst>
          </a:custGeom>
          <a:solidFill>
            <a:srgbClr val="FF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289" name="Google Shape;289;p9"/>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88888"/>
              </a:buClr>
              <a:buSzPts val="900"/>
              <a:buNone/>
            </a:pPr>
            <a:r>
              <a:rPr lang="en-US" u="none"/>
              <a:t>Department of CSE, Daffodil International University</a:t>
            </a:r>
            <a:endParaRPr u="none"/>
          </a:p>
        </p:txBody>
      </p:sp>
      <p:sp>
        <p:nvSpPr>
          <p:cNvPr id="290" name="Google Shape;290;p9"/>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900"/>
              <a:buNone/>
            </a:pPr>
            <a:fld id="{00000000-1234-1234-1234-123412341234}" type="slidenum">
              <a:rPr b="1" lang="en-US" sz="900" u="sng">
                <a:solidFill>
                  <a:srgbClr val="898989"/>
                </a:solidFill>
                <a:latin typeface="Arial"/>
                <a:ea typeface="Arial"/>
                <a:cs typeface="Arial"/>
                <a:sym typeface="Arial"/>
              </a:rPr>
              <a:t>‹#›</a:t>
            </a:fld>
            <a:endParaRPr b="1" sz="900" u="sng">
              <a:solidFill>
                <a:srgbClr val="898989"/>
              </a:solidFill>
              <a:latin typeface="Arial"/>
              <a:ea typeface="Arial"/>
              <a:cs typeface="Arial"/>
              <a:sym typeface="Arial"/>
            </a:endParaRPr>
          </a:p>
        </p:txBody>
      </p:sp>
      <p:sp>
        <p:nvSpPr>
          <p:cNvPr id="291" name="Google Shape;291;p9"/>
          <p:cNvSpPr txBox="1"/>
          <p:nvPr/>
        </p:nvSpPr>
        <p:spPr>
          <a:xfrm>
            <a:off x="175500" y="151200"/>
            <a:ext cx="8113500" cy="685800"/>
          </a:xfrm>
          <a:prstGeom prst="rect">
            <a:avLst/>
          </a:prstGeom>
          <a:solidFill>
            <a:srgbClr val="4285F4"/>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Calibri"/>
                <a:ea typeface="Calibri"/>
                <a:cs typeface="Calibri"/>
                <a:sym typeface="Calibri"/>
              </a:rPr>
              <a:t>			</a:t>
            </a:r>
            <a:endParaRPr b="1"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Times New Roman"/>
                <a:ea typeface="Times New Roman"/>
                <a:cs typeface="Times New Roman"/>
                <a:sym typeface="Times New Roman"/>
              </a:rPr>
              <a:t>Circle Drawing Algorithm</a:t>
            </a:r>
            <a:endParaRPr b="0"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t/>
            </a:r>
            <a:endParaRPr b="1" i="0" sz="3300" u="none" cap="none" strike="noStrike">
              <a:solidFill>
                <a:schemeClr val="dk1"/>
              </a:solidFill>
              <a:latin typeface="Times New Roman"/>
              <a:ea typeface="Times New Roman"/>
              <a:cs typeface="Times New Roman"/>
              <a:sym typeface="Times New Roman"/>
            </a:endParaRPr>
          </a:p>
        </p:txBody>
      </p:sp>
      <p:pic>
        <p:nvPicPr>
          <p:cNvPr id="292" name="Google Shape;292;p9"/>
          <p:cNvPicPr preferRelativeResize="0"/>
          <p:nvPr/>
        </p:nvPicPr>
        <p:blipFill rotWithShape="1">
          <a:blip r:embed="rId4">
            <a:alphaModFix/>
          </a:blip>
          <a:srcRect b="0" l="0" r="0" t="0"/>
          <a:stretch/>
        </p:blipFill>
        <p:spPr>
          <a:xfrm>
            <a:off x="8050200" y="151200"/>
            <a:ext cx="1371600" cy="685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0"/>
          <p:cNvSpPr txBox="1"/>
          <p:nvPr/>
        </p:nvSpPr>
        <p:spPr>
          <a:xfrm>
            <a:off x="612775" y="1162050"/>
            <a:ext cx="7751763" cy="304800"/>
          </a:xfrm>
          <a:prstGeom prst="rect">
            <a:avLst/>
          </a:prstGeom>
          <a:noFill/>
          <a:ln>
            <a:noFill/>
          </a:ln>
        </p:spPr>
        <p:txBody>
          <a:bodyPr anchorCtr="0" anchor="t" bIns="0" lIns="0" spcFirstLastPara="1" rIns="0" wrap="square" tIns="0">
            <a:spAutoFit/>
          </a:bodyPr>
          <a:lstStyle/>
          <a:p>
            <a:pPr indent="-342900" lvl="0" marL="355600" marR="0" rtl="0" algn="l">
              <a:lnSpc>
                <a:spcPct val="119375"/>
              </a:lnSpc>
              <a:spcBef>
                <a:spcPts val="0"/>
              </a:spcBef>
              <a:spcAft>
                <a:spcPts val="0"/>
              </a:spcAft>
              <a:buClr>
                <a:schemeClr val="lt1"/>
              </a:buClr>
              <a:buSzPts val="2400"/>
              <a:buFont typeface="Georgia"/>
              <a:buChar char="•"/>
            </a:pPr>
            <a:r>
              <a:rPr b="1" i="0" lang="en-US" sz="2400" u="sng" cap="none" strike="noStrike">
                <a:solidFill>
                  <a:schemeClr val="lt1"/>
                </a:solidFill>
                <a:latin typeface="Georgia"/>
                <a:ea typeface="Georgia"/>
                <a:cs typeface="Georgia"/>
                <a:sym typeface="Georgia"/>
              </a:rPr>
              <a:t>However,</a:t>
            </a:r>
            <a:r>
              <a:rPr b="1" i="0" lang="en-US" sz="2400" u="sng" cap="none" strike="noStrike">
                <a:solidFill>
                  <a:schemeClr val="lt1"/>
                </a:solidFill>
                <a:latin typeface="Times New Roman"/>
                <a:ea typeface="Times New Roman"/>
                <a:cs typeface="Times New Roman"/>
                <a:sym typeface="Times New Roman"/>
              </a:rPr>
              <a:t> </a:t>
            </a:r>
            <a:r>
              <a:rPr b="1" i="0" lang="en-US" sz="2400" u="sng" cap="none" strike="noStrike">
                <a:solidFill>
                  <a:schemeClr val="lt1"/>
                </a:solidFill>
                <a:latin typeface="Georgia"/>
                <a:ea typeface="Georgia"/>
                <a:cs typeface="Georgia"/>
                <a:sym typeface="Georgia"/>
              </a:rPr>
              <a:t>unsurprisingly</a:t>
            </a:r>
            <a:r>
              <a:rPr b="1" i="0" lang="en-US" sz="2400" u="sng" cap="none" strike="noStrike">
                <a:solidFill>
                  <a:schemeClr val="lt1"/>
                </a:solidFill>
                <a:latin typeface="Times New Roman"/>
                <a:ea typeface="Times New Roman"/>
                <a:cs typeface="Times New Roman"/>
                <a:sym typeface="Times New Roman"/>
              </a:rPr>
              <a:t> </a:t>
            </a:r>
            <a:r>
              <a:rPr b="1" i="0" lang="en-US" sz="2400" u="sng" cap="none" strike="noStrike">
                <a:solidFill>
                  <a:schemeClr val="lt1"/>
                </a:solidFill>
                <a:latin typeface="Georgia"/>
                <a:ea typeface="Georgia"/>
                <a:cs typeface="Georgia"/>
                <a:sym typeface="Georgia"/>
              </a:rPr>
              <a:t>this</a:t>
            </a:r>
            <a:r>
              <a:rPr b="1" i="0" lang="en-US" sz="2400" u="sng" cap="none" strike="noStrike">
                <a:solidFill>
                  <a:schemeClr val="lt1"/>
                </a:solidFill>
                <a:latin typeface="Times New Roman"/>
                <a:ea typeface="Times New Roman"/>
                <a:cs typeface="Times New Roman"/>
                <a:sym typeface="Times New Roman"/>
              </a:rPr>
              <a:t> </a:t>
            </a:r>
            <a:r>
              <a:rPr b="1" i="0" lang="en-US" sz="2400" u="sng" cap="none" strike="noStrike">
                <a:solidFill>
                  <a:schemeClr val="lt1"/>
                </a:solidFill>
                <a:latin typeface="Georgia"/>
                <a:ea typeface="Georgia"/>
                <a:cs typeface="Georgia"/>
                <a:sym typeface="Georgia"/>
              </a:rPr>
              <a:t>is</a:t>
            </a:r>
            <a:r>
              <a:rPr b="1" i="0" lang="en-US" sz="2400" u="sng" cap="none" strike="noStrike">
                <a:solidFill>
                  <a:schemeClr val="lt1"/>
                </a:solidFill>
                <a:latin typeface="Times New Roman"/>
                <a:ea typeface="Times New Roman"/>
                <a:cs typeface="Times New Roman"/>
                <a:sym typeface="Times New Roman"/>
              </a:rPr>
              <a:t> </a:t>
            </a:r>
            <a:r>
              <a:rPr b="1" i="0" lang="en-US" sz="2400" u="sng" cap="none" strike="noStrike">
                <a:solidFill>
                  <a:schemeClr val="lt1"/>
                </a:solidFill>
                <a:latin typeface="Georgia"/>
                <a:ea typeface="Georgia"/>
                <a:cs typeface="Georgia"/>
                <a:sym typeface="Georgia"/>
              </a:rPr>
              <a:t>not</a:t>
            </a:r>
            <a:r>
              <a:rPr b="1" i="0" lang="en-US" sz="2400" u="sng" cap="none" strike="noStrike">
                <a:solidFill>
                  <a:schemeClr val="lt1"/>
                </a:solidFill>
                <a:latin typeface="Times New Roman"/>
                <a:ea typeface="Times New Roman"/>
                <a:cs typeface="Times New Roman"/>
                <a:sym typeface="Times New Roman"/>
              </a:rPr>
              <a:t> </a:t>
            </a:r>
            <a:r>
              <a:rPr b="1" i="0" lang="en-US" sz="2400" u="sng" cap="none" strike="noStrike">
                <a:solidFill>
                  <a:schemeClr val="lt1"/>
                </a:solidFill>
                <a:latin typeface="Georgia"/>
                <a:ea typeface="Georgia"/>
                <a:cs typeface="Georgia"/>
                <a:sym typeface="Georgia"/>
              </a:rPr>
              <a:t>a</a:t>
            </a:r>
            <a:r>
              <a:rPr b="1" i="0" lang="en-US" sz="2400" u="sng" cap="none" strike="noStrike">
                <a:solidFill>
                  <a:schemeClr val="lt1"/>
                </a:solidFill>
                <a:latin typeface="Times New Roman"/>
                <a:ea typeface="Times New Roman"/>
                <a:cs typeface="Times New Roman"/>
                <a:sym typeface="Times New Roman"/>
              </a:rPr>
              <a:t> </a:t>
            </a:r>
            <a:r>
              <a:rPr b="1" i="0" lang="en-US" sz="2400" u="sng" cap="none" strike="noStrike">
                <a:solidFill>
                  <a:schemeClr val="lt1"/>
                </a:solidFill>
                <a:latin typeface="Georgia"/>
                <a:ea typeface="Georgia"/>
                <a:cs typeface="Georgia"/>
                <a:sym typeface="Georgia"/>
              </a:rPr>
              <a:t>brilliant</a:t>
            </a:r>
            <a:r>
              <a:rPr b="1" i="0" lang="en-US" sz="2400" u="sng" cap="none" strike="noStrike">
                <a:solidFill>
                  <a:schemeClr val="lt1"/>
                </a:solidFill>
                <a:latin typeface="Times New Roman"/>
                <a:ea typeface="Times New Roman"/>
                <a:cs typeface="Times New Roman"/>
                <a:sym typeface="Times New Roman"/>
              </a:rPr>
              <a:t> </a:t>
            </a:r>
            <a:r>
              <a:rPr b="1" i="0" lang="en-US" sz="2400" u="sng" cap="none" strike="noStrike">
                <a:solidFill>
                  <a:schemeClr val="lt1"/>
                </a:solidFill>
                <a:latin typeface="Georgia"/>
                <a:ea typeface="Georgia"/>
                <a:cs typeface="Georgia"/>
                <a:sym typeface="Georgia"/>
              </a:rPr>
              <a:t>solution!</a:t>
            </a:r>
            <a:endParaRPr b="1" i="0" sz="2400" u="sng" cap="none" strike="noStrike">
              <a:solidFill>
                <a:schemeClr val="lt1"/>
              </a:solidFill>
              <a:latin typeface="Georgia"/>
              <a:ea typeface="Georgia"/>
              <a:cs typeface="Georgia"/>
              <a:sym typeface="Georgia"/>
            </a:endParaRPr>
          </a:p>
        </p:txBody>
      </p:sp>
      <p:sp>
        <p:nvSpPr>
          <p:cNvPr id="298" name="Google Shape;298;p10"/>
          <p:cNvSpPr txBox="1"/>
          <p:nvPr/>
        </p:nvSpPr>
        <p:spPr>
          <a:xfrm>
            <a:off x="612775" y="1601788"/>
            <a:ext cx="7267575" cy="2867025"/>
          </a:xfrm>
          <a:prstGeom prst="rect">
            <a:avLst/>
          </a:prstGeom>
          <a:noFill/>
          <a:ln>
            <a:noFill/>
          </a:ln>
        </p:spPr>
        <p:txBody>
          <a:bodyPr anchorCtr="0" anchor="t" bIns="0" lIns="0" spcFirstLastPara="1" rIns="0" wrap="square" tIns="0">
            <a:spAutoFit/>
          </a:bodyPr>
          <a:lstStyle/>
          <a:p>
            <a:pPr indent="-342900" lvl="0" marL="355600" marR="0" rtl="0" algn="l">
              <a:lnSpc>
                <a:spcPct val="100000"/>
              </a:lnSpc>
              <a:spcBef>
                <a:spcPts val="0"/>
              </a:spcBef>
              <a:spcAft>
                <a:spcPts val="0"/>
              </a:spcAft>
              <a:buClr>
                <a:schemeClr val="dk1"/>
              </a:buClr>
              <a:buSzPts val="2400"/>
              <a:buFont typeface="Georgia"/>
              <a:buChar char="•"/>
            </a:pPr>
            <a:r>
              <a:rPr b="0" i="0" lang="en-US" sz="2400" u="none" cap="none" strike="noStrike">
                <a:solidFill>
                  <a:schemeClr val="dk1"/>
                </a:solidFill>
                <a:latin typeface="Georgia"/>
                <a:ea typeface="Georgia"/>
                <a:cs typeface="Georgia"/>
                <a:sym typeface="Georgia"/>
              </a:rPr>
              <a:t>Firstly,</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the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resulting</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circle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has</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large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gaps</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where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the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slope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approaches</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the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vertical</a:t>
            </a:r>
            <a:endParaRPr b="0" i="0" sz="1400" u="none" cap="none" strike="noStrike">
              <a:solidFill>
                <a:srgbClr val="000000"/>
              </a:solidFill>
              <a:latin typeface="Arial"/>
              <a:ea typeface="Arial"/>
              <a:cs typeface="Arial"/>
              <a:sym typeface="Arial"/>
            </a:endParaRPr>
          </a:p>
          <a:p>
            <a:pPr indent="-342900" lvl="0" marL="355600" marR="0" rtl="0" algn="l">
              <a:lnSpc>
                <a:spcPct val="100000"/>
              </a:lnSpc>
              <a:spcBef>
                <a:spcPts val="575"/>
              </a:spcBef>
              <a:spcAft>
                <a:spcPts val="0"/>
              </a:spcAft>
              <a:buClr>
                <a:schemeClr val="dk1"/>
              </a:buClr>
              <a:buSzPts val="2400"/>
              <a:buFont typeface="Georgia"/>
              <a:buChar char="•"/>
            </a:pPr>
            <a:r>
              <a:rPr b="0" i="0" lang="en-US" sz="2400" u="none" cap="none" strike="noStrike">
                <a:solidFill>
                  <a:schemeClr val="dk1"/>
                </a:solidFill>
                <a:latin typeface="Georgia"/>
                <a:ea typeface="Georgia"/>
                <a:cs typeface="Georgia"/>
                <a:sym typeface="Georgia"/>
              </a:rPr>
              <a:t>Secondly,</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the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calculations</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are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not</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very</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efficient</a:t>
            </a:r>
            <a:endParaRPr b="0" i="0" sz="1400" u="none" cap="none" strike="noStrike">
              <a:solidFill>
                <a:srgbClr val="000000"/>
              </a:solidFill>
              <a:latin typeface="Arial"/>
              <a:ea typeface="Arial"/>
              <a:cs typeface="Arial"/>
              <a:sym typeface="Arial"/>
            </a:endParaRPr>
          </a:p>
          <a:p>
            <a:pPr indent="-285750" lvl="1" marL="755650" marR="0" rtl="0" algn="l">
              <a:lnSpc>
                <a:spcPct val="100000"/>
              </a:lnSpc>
              <a:spcBef>
                <a:spcPts val="488"/>
              </a:spcBef>
              <a:spcAft>
                <a:spcPts val="0"/>
              </a:spcAft>
              <a:buClr>
                <a:schemeClr val="dk1"/>
              </a:buClr>
              <a:buSzPts val="2400"/>
              <a:buFont typeface="Georgia"/>
              <a:buChar char="•"/>
            </a:pPr>
            <a:r>
              <a:rPr b="0" i="0" lang="en-US" sz="2400" u="none" cap="none" strike="noStrike">
                <a:solidFill>
                  <a:schemeClr val="dk1"/>
                </a:solidFill>
                <a:latin typeface="Georgia"/>
                <a:ea typeface="Georgia"/>
                <a:cs typeface="Georgia"/>
                <a:sym typeface="Georgia"/>
              </a:rPr>
              <a:t>The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square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(multiply)</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operations</a:t>
            </a:r>
            <a:endParaRPr b="0" i="0" sz="1400" u="none" cap="none" strike="noStrike">
              <a:solidFill>
                <a:srgbClr val="000000"/>
              </a:solidFill>
              <a:latin typeface="Arial"/>
              <a:ea typeface="Arial"/>
              <a:cs typeface="Arial"/>
              <a:sym typeface="Arial"/>
            </a:endParaRPr>
          </a:p>
          <a:p>
            <a:pPr indent="-285750" lvl="1" marL="755650" marR="0" rtl="0" algn="l">
              <a:lnSpc>
                <a:spcPct val="100000"/>
              </a:lnSpc>
              <a:spcBef>
                <a:spcPts val="475"/>
              </a:spcBef>
              <a:spcAft>
                <a:spcPts val="0"/>
              </a:spcAft>
              <a:buClr>
                <a:schemeClr val="dk1"/>
              </a:buClr>
              <a:buSzPts val="2400"/>
              <a:buFont typeface="Georgia"/>
              <a:buChar char="•"/>
            </a:pPr>
            <a:r>
              <a:rPr b="0" i="0" lang="en-US" sz="2400" u="none" cap="none" strike="noStrike">
                <a:solidFill>
                  <a:schemeClr val="dk1"/>
                </a:solidFill>
                <a:latin typeface="Georgia"/>
                <a:ea typeface="Georgia"/>
                <a:cs typeface="Georgia"/>
                <a:sym typeface="Georgia"/>
              </a:rPr>
              <a:t>The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square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root</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operation</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 try</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really</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hard</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to</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avoid</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these!</a:t>
            </a:r>
            <a:endParaRPr b="0" i="0" sz="1400" u="none" cap="none" strike="noStrike">
              <a:solidFill>
                <a:srgbClr val="000000"/>
              </a:solidFill>
              <a:latin typeface="Arial"/>
              <a:ea typeface="Arial"/>
              <a:cs typeface="Arial"/>
              <a:sym typeface="Arial"/>
            </a:endParaRPr>
          </a:p>
          <a:p>
            <a:pPr indent="-342900" lvl="0" marL="355600" marR="0" rtl="0" algn="l">
              <a:lnSpc>
                <a:spcPct val="100000"/>
              </a:lnSpc>
              <a:spcBef>
                <a:spcPts val="575"/>
              </a:spcBef>
              <a:spcAft>
                <a:spcPts val="0"/>
              </a:spcAft>
              <a:buClr>
                <a:schemeClr val="dk1"/>
              </a:buClr>
              <a:buSzPts val="2400"/>
              <a:buFont typeface="Georgia"/>
              <a:buChar char="•"/>
            </a:pPr>
            <a:r>
              <a:rPr b="0" i="0" lang="en-US" sz="2400" u="none" cap="none" strike="noStrike">
                <a:solidFill>
                  <a:schemeClr val="dk1"/>
                </a:solidFill>
                <a:latin typeface="Georgia"/>
                <a:ea typeface="Georgia"/>
                <a:cs typeface="Georgia"/>
                <a:sym typeface="Georgia"/>
              </a:rPr>
              <a:t>We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need</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a</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more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efficient,</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more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accurate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solution</a:t>
            </a:r>
            <a:endParaRPr b="0" i="0" sz="1400" u="none" cap="none" strike="noStrike">
              <a:solidFill>
                <a:srgbClr val="000000"/>
              </a:solidFill>
              <a:latin typeface="Arial"/>
              <a:ea typeface="Arial"/>
              <a:cs typeface="Arial"/>
              <a:sym typeface="Arial"/>
            </a:endParaRPr>
          </a:p>
        </p:txBody>
      </p:sp>
      <p:sp>
        <p:nvSpPr>
          <p:cNvPr id="299" name="Google Shape;299;p1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100"/>
              <a:buFont typeface="Arial"/>
              <a:buNone/>
            </a:pPr>
            <a:r>
              <a:rPr lang="en-US"/>
              <a:t> </a:t>
            </a:r>
            <a:endParaRPr/>
          </a:p>
        </p:txBody>
      </p:sp>
      <p:sp>
        <p:nvSpPr>
          <p:cNvPr id="300" name="Google Shape;300;p10"/>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88888"/>
              </a:buClr>
              <a:buSzPts val="900"/>
              <a:buNone/>
            </a:pPr>
            <a:r>
              <a:rPr lang="en-US" u="none"/>
              <a:t>Department of CSE, Daffodil International University</a:t>
            </a:r>
            <a:endParaRPr u="none"/>
          </a:p>
        </p:txBody>
      </p:sp>
      <p:sp>
        <p:nvSpPr>
          <p:cNvPr id="301" name="Google Shape;301;p10"/>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900"/>
              <a:buNone/>
            </a:pPr>
            <a:fld id="{00000000-1234-1234-1234-123412341234}" type="slidenum">
              <a:rPr b="1" lang="en-US" sz="900" u="none">
                <a:solidFill>
                  <a:srgbClr val="898989"/>
                </a:solidFill>
                <a:latin typeface="Arial"/>
                <a:ea typeface="Arial"/>
                <a:cs typeface="Arial"/>
                <a:sym typeface="Arial"/>
              </a:rPr>
              <a:t>‹#›</a:t>
            </a:fld>
            <a:endParaRPr b="1" sz="900" u="none">
              <a:solidFill>
                <a:srgbClr val="898989"/>
              </a:solidFill>
              <a:latin typeface="Arial"/>
              <a:ea typeface="Arial"/>
              <a:cs typeface="Arial"/>
              <a:sym typeface="Arial"/>
            </a:endParaRPr>
          </a:p>
        </p:txBody>
      </p:sp>
      <p:sp>
        <p:nvSpPr>
          <p:cNvPr id="302" name="Google Shape;302;p10"/>
          <p:cNvSpPr txBox="1"/>
          <p:nvPr/>
        </p:nvSpPr>
        <p:spPr>
          <a:xfrm>
            <a:off x="175500" y="151200"/>
            <a:ext cx="8113500" cy="685800"/>
          </a:xfrm>
          <a:prstGeom prst="rect">
            <a:avLst/>
          </a:prstGeom>
          <a:solidFill>
            <a:srgbClr val="4285F4"/>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Calibri"/>
                <a:ea typeface="Calibri"/>
                <a:cs typeface="Calibri"/>
                <a:sym typeface="Calibri"/>
              </a:rPr>
              <a:t>			</a:t>
            </a:r>
            <a:endParaRPr b="1"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Times New Roman"/>
                <a:ea typeface="Times New Roman"/>
                <a:cs typeface="Times New Roman"/>
                <a:sym typeface="Times New Roman"/>
              </a:rPr>
              <a:t>Circle Drawing Algorithm</a:t>
            </a:r>
            <a:endParaRPr b="0"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t/>
            </a:r>
            <a:endParaRPr b="1" i="0" sz="3300" u="none" cap="none" strike="noStrike">
              <a:solidFill>
                <a:schemeClr val="dk1"/>
              </a:solidFill>
              <a:latin typeface="Times New Roman"/>
              <a:ea typeface="Times New Roman"/>
              <a:cs typeface="Times New Roman"/>
              <a:sym typeface="Times New Roman"/>
            </a:endParaRPr>
          </a:p>
        </p:txBody>
      </p:sp>
      <p:pic>
        <p:nvPicPr>
          <p:cNvPr id="303" name="Google Shape;303;p10"/>
          <p:cNvPicPr preferRelativeResize="0"/>
          <p:nvPr/>
        </p:nvPicPr>
        <p:blipFill rotWithShape="1">
          <a:blip r:embed="rId3">
            <a:alphaModFix/>
          </a:blip>
          <a:srcRect b="0" l="0" r="0" t="0"/>
          <a:stretch/>
        </p:blipFill>
        <p:spPr>
          <a:xfrm>
            <a:off x="8050200" y="151200"/>
            <a:ext cx="1371600" cy="685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11"/>
          <p:cNvSpPr txBox="1"/>
          <p:nvPr/>
        </p:nvSpPr>
        <p:spPr>
          <a:xfrm>
            <a:off x="612775" y="1149350"/>
            <a:ext cx="7778750" cy="3108325"/>
          </a:xfrm>
          <a:prstGeom prst="rect">
            <a:avLst/>
          </a:prstGeom>
          <a:noFill/>
          <a:ln>
            <a:noFill/>
          </a:ln>
        </p:spPr>
        <p:txBody>
          <a:bodyPr anchorCtr="0" anchor="t" bIns="0" lIns="0" spcFirstLastPara="1" rIns="0" wrap="square" tIns="0">
            <a:spAutoFit/>
          </a:bodyPr>
          <a:lstStyle/>
          <a:p>
            <a:pPr indent="-342900" lvl="0" marL="355600" marR="0" rtl="0" algn="l">
              <a:lnSpc>
                <a:spcPct val="100000"/>
              </a:lnSpc>
              <a:spcBef>
                <a:spcPts val="0"/>
              </a:spcBef>
              <a:spcAft>
                <a:spcPts val="0"/>
              </a:spcAft>
              <a:buClr>
                <a:schemeClr val="dk1"/>
              </a:buClr>
              <a:buSzPts val="2400"/>
              <a:buFont typeface="Georgia"/>
              <a:buChar char="•"/>
            </a:pPr>
            <a:r>
              <a:rPr b="0" i="0" lang="en-US" sz="2400" u="none" cap="none" strike="noStrike">
                <a:solidFill>
                  <a:schemeClr val="dk1"/>
                </a:solidFill>
                <a:latin typeface="Georgia"/>
                <a:ea typeface="Georgia"/>
                <a:cs typeface="Georgia"/>
                <a:sym typeface="Georgia"/>
              </a:rPr>
              <a:t>Similarly</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to</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the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case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with</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lines,</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there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is</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an</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incremental</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algorithm</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for</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drawing</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circles</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 </a:t>
            </a:r>
            <a:r>
              <a:rPr b="0" i="0" lang="en-US" sz="2400" u="none" cap="none" strike="noStrike">
                <a:solidFill>
                  <a:srgbClr val="FF0000"/>
                </a:solidFill>
                <a:latin typeface="Georgia"/>
                <a:ea typeface="Georgia"/>
                <a:cs typeface="Georgia"/>
                <a:sym typeface="Georgia"/>
              </a:rPr>
              <a:t>the</a:t>
            </a:r>
            <a:r>
              <a:rPr b="0" i="0" lang="en-US" sz="2400" u="none" cap="none" strike="noStrike">
                <a:solidFill>
                  <a:srgbClr val="FF0000"/>
                </a:solidFill>
                <a:latin typeface="Times New Roman"/>
                <a:ea typeface="Times New Roman"/>
                <a:cs typeface="Times New Roman"/>
                <a:sym typeface="Times New Roman"/>
              </a:rPr>
              <a:t> </a:t>
            </a:r>
            <a:r>
              <a:rPr b="0" i="0" lang="en-US" sz="2400" u="none" cap="none" strike="noStrike">
                <a:solidFill>
                  <a:srgbClr val="FF0000"/>
                </a:solidFill>
                <a:latin typeface="Georgia"/>
                <a:ea typeface="Georgia"/>
                <a:cs typeface="Georgia"/>
                <a:sym typeface="Georgia"/>
              </a:rPr>
              <a:t>mid-point</a:t>
            </a:r>
            <a:r>
              <a:rPr b="0" i="0" lang="en-US" sz="2400" u="none" cap="none" strike="noStrike">
                <a:solidFill>
                  <a:srgbClr val="FF0000"/>
                </a:solidFill>
                <a:latin typeface="Times New Roman"/>
                <a:ea typeface="Times New Roman"/>
                <a:cs typeface="Times New Roman"/>
                <a:sym typeface="Times New Roman"/>
              </a:rPr>
              <a:t> </a:t>
            </a:r>
            <a:r>
              <a:rPr b="0" i="0" lang="en-US" sz="2400" u="none" cap="none" strike="noStrike">
                <a:solidFill>
                  <a:srgbClr val="FF0000"/>
                </a:solidFill>
                <a:latin typeface="Georgia"/>
                <a:ea typeface="Georgia"/>
                <a:cs typeface="Georgia"/>
                <a:sym typeface="Georgia"/>
              </a:rPr>
              <a:t>circle</a:t>
            </a:r>
            <a:r>
              <a:rPr b="0" i="0" lang="en-US" sz="2400" u="none" cap="none" strike="noStrike">
                <a:solidFill>
                  <a:srgbClr val="FF0000"/>
                </a:solidFill>
                <a:latin typeface="Times New Roman"/>
                <a:ea typeface="Times New Roman"/>
                <a:cs typeface="Times New Roman"/>
                <a:sym typeface="Times New Roman"/>
              </a:rPr>
              <a:t> </a:t>
            </a:r>
            <a:r>
              <a:rPr b="0" i="0" lang="en-US" sz="2400" u="none" cap="none" strike="noStrike">
                <a:solidFill>
                  <a:srgbClr val="FF0000"/>
                </a:solidFill>
                <a:latin typeface="Georgia"/>
                <a:ea typeface="Georgia"/>
                <a:cs typeface="Georgia"/>
                <a:sym typeface="Georgia"/>
              </a:rPr>
              <a:t>algorithm</a:t>
            </a:r>
            <a:endParaRPr b="0" i="0" sz="2400" u="none" cap="none" strike="noStrike">
              <a:solidFill>
                <a:schemeClr val="dk1"/>
              </a:solidFill>
              <a:latin typeface="Georgia"/>
              <a:ea typeface="Georgia"/>
              <a:cs typeface="Georgia"/>
              <a:sym typeface="Georgia"/>
            </a:endParaRPr>
          </a:p>
          <a:p>
            <a:pPr indent="-342900" lvl="0" marL="355600" marR="0" rtl="0" algn="l">
              <a:lnSpc>
                <a:spcPct val="100000"/>
              </a:lnSpc>
              <a:spcBef>
                <a:spcPts val="575"/>
              </a:spcBef>
              <a:spcAft>
                <a:spcPts val="0"/>
              </a:spcAft>
              <a:buClr>
                <a:schemeClr val="dk1"/>
              </a:buClr>
              <a:buSzPts val="2400"/>
              <a:buFont typeface="Georgia"/>
              <a:buChar char="•"/>
            </a:pPr>
            <a:r>
              <a:rPr b="0" i="0" lang="en-US" sz="2400" u="none" cap="none" strike="noStrike">
                <a:solidFill>
                  <a:schemeClr val="dk1"/>
                </a:solidFill>
                <a:latin typeface="Georgia"/>
                <a:ea typeface="Georgia"/>
                <a:cs typeface="Georgia"/>
                <a:sym typeface="Georgia"/>
              </a:rPr>
              <a:t>In</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the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mid-point</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circle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algorithm</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we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use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eight-way</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symmetry</a:t>
            </a:r>
            <a:endParaRPr b="0" i="0" sz="1400" u="none" cap="none" strike="noStrike">
              <a:solidFill>
                <a:srgbClr val="000000"/>
              </a:solidFill>
              <a:latin typeface="Arial"/>
              <a:ea typeface="Arial"/>
              <a:cs typeface="Arial"/>
              <a:sym typeface="Arial"/>
            </a:endParaRPr>
          </a:p>
          <a:p>
            <a:pPr indent="-342900" lvl="0" marL="355600" marR="0" rtl="0" algn="just">
              <a:lnSpc>
                <a:spcPct val="100000"/>
              </a:lnSpc>
              <a:spcBef>
                <a:spcPts val="575"/>
              </a:spcBef>
              <a:spcAft>
                <a:spcPts val="0"/>
              </a:spcAft>
              <a:buClr>
                <a:schemeClr val="dk1"/>
              </a:buClr>
              <a:buSzPts val="2400"/>
              <a:buFont typeface="Georgia"/>
              <a:buChar char="•"/>
            </a:pPr>
            <a:r>
              <a:rPr b="0" i="0" lang="en-US" sz="2400" u="none" cap="none" strike="noStrike">
                <a:solidFill>
                  <a:schemeClr val="dk1"/>
                </a:solidFill>
                <a:latin typeface="Georgia"/>
                <a:ea typeface="Georgia"/>
                <a:cs typeface="Georgia"/>
                <a:sym typeface="Georgia"/>
              </a:rPr>
              <a:t>so</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only</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rgbClr val="FF0000"/>
                </a:solidFill>
                <a:latin typeface="Georgia"/>
                <a:ea typeface="Georgia"/>
                <a:cs typeface="Georgia"/>
                <a:sym typeface="Georgia"/>
              </a:rPr>
              <a:t>ever</a:t>
            </a:r>
            <a:r>
              <a:rPr b="0" i="0" lang="en-US" sz="2400" u="none" cap="none" strike="noStrike">
                <a:solidFill>
                  <a:srgbClr val="FF0000"/>
                </a:solidFill>
                <a:latin typeface="Times New Roman"/>
                <a:ea typeface="Times New Roman"/>
                <a:cs typeface="Times New Roman"/>
                <a:sym typeface="Times New Roman"/>
              </a:rPr>
              <a:t> </a:t>
            </a:r>
            <a:r>
              <a:rPr b="0" i="0" lang="en-US" sz="2400" u="none" cap="none" strike="noStrike">
                <a:solidFill>
                  <a:srgbClr val="FF0000"/>
                </a:solidFill>
                <a:latin typeface="Georgia"/>
                <a:ea typeface="Georgia"/>
                <a:cs typeface="Georgia"/>
                <a:sym typeface="Georgia"/>
              </a:rPr>
              <a:t>calculate</a:t>
            </a:r>
            <a:r>
              <a:rPr b="0" i="0" lang="en-US" sz="2400" u="none" cap="none" strike="noStrike">
                <a:solidFill>
                  <a:srgbClr val="FF0000"/>
                </a:solidFill>
                <a:latin typeface="Times New Roman"/>
                <a:ea typeface="Times New Roman"/>
                <a:cs typeface="Times New Roman"/>
                <a:sym typeface="Times New Roman"/>
              </a:rPr>
              <a:t> </a:t>
            </a:r>
            <a:r>
              <a:rPr b="0" i="0" lang="en-US" sz="2400" u="none" cap="none" strike="noStrike">
                <a:solidFill>
                  <a:srgbClr val="FF0000"/>
                </a:solidFill>
                <a:latin typeface="Georgia"/>
                <a:ea typeface="Georgia"/>
                <a:cs typeface="Georgia"/>
                <a:sym typeface="Georgia"/>
              </a:rPr>
              <a:t>the</a:t>
            </a:r>
            <a:r>
              <a:rPr b="0" i="0" lang="en-US" sz="2400" u="none" cap="none" strike="noStrike">
                <a:solidFill>
                  <a:srgbClr val="FF0000"/>
                </a:solidFill>
                <a:latin typeface="Times New Roman"/>
                <a:ea typeface="Times New Roman"/>
                <a:cs typeface="Times New Roman"/>
                <a:sym typeface="Times New Roman"/>
              </a:rPr>
              <a:t> </a:t>
            </a:r>
            <a:r>
              <a:rPr b="0" i="0" lang="en-US" sz="2400" u="none" cap="none" strike="noStrike">
                <a:solidFill>
                  <a:srgbClr val="FF0000"/>
                </a:solidFill>
                <a:latin typeface="Georgia"/>
                <a:ea typeface="Georgia"/>
                <a:cs typeface="Georgia"/>
                <a:sym typeface="Georgia"/>
              </a:rPr>
              <a:t>points</a:t>
            </a:r>
            <a:r>
              <a:rPr b="0" i="0" lang="en-US" sz="2400" u="none" cap="none" strike="noStrike">
                <a:solidFill>
                  <a:srgbClr val="FF0000"/>
                </a:solidFill>
                <a:latin typeface="Times New Roman"/>
                <a:ea typeface="Times New Roman"/>
                <a:cs typeface="Times New Roman"/>
                <a:sym typeface="Times New Roman"/>
              </a:rPr>
              <a:t> </a:t>
            </a:r>
            <a:r>
              <a:rPr b="0" i="0" lang="en-US" sz="2400" u="none" cap="none" strike="noStrike">
                <a:solidFill>
                  <a:srgbClr val="FF0000"/>
                </a:solidFill>
                <a:latin typeface="Georgia"/>
                <a:ea typeface="Georgia"/>
                <a:cs typeface="Georgia"/>
                <a:sym typeface="Georgia"/>
              </a:rPr>
              <a:t>for</a:t>
            </a:r>
            <a:r>
              <a:rPr b="0" i="0" lang="en-US" sz="2400" u="none" cap="none" strike="noStrike">
                <a:solidFill>
                  <a:srgbClr val="FF0000"/>
                </a:solidFill>
                <a:latin typeface="Times New Roman"/>
                <a:ea typeface="Times New Roman"/>
                <a:cs typeface="Times New Roman"/>
                <a:sym typeface="Times New Roman"/>
              </a:rPr>
              <a:t> </a:t>
            </a:r>
            <a:r>
              <a:rPr b="0" i="0" lang="en-US" sz="2400" u="none" cap="none" strike="noStrike">
                <a:solidFill>
                  <a:srgbClr val="FF0000"/>
                </a:solidFill>
                <a:latin typeface="Georgia"/>
                <a:ea typeface="Georgia"/>
                <a:cs typeface="Georgia"/>
                <a:sym typeface="Georgia"/>
              </a:rPr>
              <a:t>the</a:t>
            </a:r>
            <a:r>
              <a:rPr b="0" i="0" lang="en-US" sz="2400" u="none" cap="none" strike="noStrike">
                <a:solidFill>
                  <a:srgbClr val="FF0000"/>
                </a:solidFill>
                <a:latin typeface="Times New Roman"/>
                <a:ea typeface="Times New Roman"/>
                <a:cs typeface="Times New Roman"/>
                <a:sym typeface="Times New Roman"/>
              </a:rPr>
              <a:t> </a:t>
            </a:r>
            <a:r>
              <a:rPr b="0" i="0" lang="en-US" sz="2400" u="none" cap="none" strike="noStrike">
                <a:solidFill>
                  <a:srgbClr val="FF0000"/>
                </a:solidFill>
                <a:latin typeface="Georgia"/>
                <a:ea typeface="Georgia"/>
                <a:cs typeface="Georgia"/>
                <a:sym typeface="Georgia"/>
              </a:rPr>
              <a:t>top</a:t>
            </a:r>
            <a:r>
              <a:rPr b="0" i="0" lang="en-US" sz="2400" u="none" cap="none" strike="noStrike">
                <a:solidFill>
                  <a:srgbClr val="FF0000"/>
                </a:solidFill>
                <a:latin typeface="Times New Roman"/>
                <a:ea typeface="Times New Roman"/>
                <a:cs typeface="Times New Roman"/>
                <a:sym typeface="Times New Roman"/>
              </a:rPr>
              <a:t> </a:t>
            </a:r>
            <a:r>
              <a:rPr b="0" i="0" lang="en-US" sz="2400" u="none" cap="none" strike="noStrike">
                <a:solidFill>
                  <a:srgbClr val="FF0000"/>
                </a:solidFill>
                <a:latin typeface="Georgia"/>
                <a:ea typeface="Georgia"/>
                <a:cs typeface="Georgia"/>
                <a:sym typeface="Georgia"/>
              </a:rPr>
              <a:t>right</a:t>
            </a:r>
            <a:r>
              <a:rPr b="0" i="0" lang="en-US" sz="2400" u="none" cap="none" strike="noStrike">
                <a:solidFill>
                  <a:srgbClr val="FF0000"/>
                </a:solidFill>
                <a:latin typeface="Times New Roman"/>
                <a:ea typeface="Times New Roman"/>
                <a:cs typeface="Times New Roman"/>
                <a:sym typeface="Times New Roman"/>
              </a:rPr>
              <a:t> </a:t>
            </a:r>
            <a:r>
              <a:rPr b="0" i="0" lang="en-US" sz="2400" u="none" cap="none" strike="noStrike">
                <a:solidFill>
                  <a:srgbClr val="FF0000"/>
                </a:solidFill>
                <a:latin typeface="Georgia"/>
                <a:ea typeface="Georgia"/>
                <a:cs typeface="Georgia"/>
                <a:sym typeface="Georgia"/>
              </a:rPr>
              <a:t>eighth</a:t>
            </a:r>
            <a:r>
              <a:rPr b="0" i="0" lang="en-US" sz="2400" u="none" cap="none" strike="noStrike">
                <a:solidFill>
                  <a:srgbClr val="FF0000"/>
                </a:solidFill>
                <a:latin typeface="Times New Roman"/>
                <a:ea typeface="Times New Roman"/>
                <a:cs typeface="Times New Roman"/>
                <a:sym typeface="Times New Roman"/>
              </a:rPr>
              <a:t> </a:t>
            </a:r>
            <a:r>
              <a:rPr b="0" i="0" lang="en-US" sz="2400" u="none" cap="none" strike="noStrike">
                <a:solidFill>
                  <a:srgbClr val="FF0000"/>
                </a:solidFill>
                <a:latin typeface="Georgia"/>
                <a:ea typeface="Georgia"/>
                <a:cs typeface="Georgia"/>
                <a:sym typeface="Georgia"/>
              </a:rPr>
              <a:t>of</a:t>
            </a:r>
            <a:r>
              <a:rPr b="0" i="0" lang="en-US" sz="2400" u="none" cap="none" strike="noStrike">
                <a:solidFill>
                  <a:srgbClr val="FF0000"/>
                </a:solidFill>
                <a:latin typeface="Times New Roman"/>
                <a:ea typeface="Times New Roman"/>
                <a:cs typeface="Times New Roman"/>
                <a:sym typeface="Times New Roman"/>
              </a:rPr>
              <a:t> </a:t>
            </a:r>
            <a:r>
              <a:rPr b="0" i="0" lang="en-US" sz="2400" u="none" cap="none" strike="noStrike">
                <a:solidFill>
                  <a:srgbClr val="FF0000"/>
                </a:solidFill>
                <a:latin typeface="Georgia"/>
                <a:ea typeface="Georgia"/>
                <a:cs typeface="Georgia"/>
                <a:sym typeface="Georgia"/>
              </a:rPr>
              <a:t>a</a:t>
            </a:r>
            <a:r>
              <a:rPr b="0" i="0" lang="en-US" sz="2400" u="none" cap="none" strike="noStrike">
                <a:solidFill>
                  <a:srgbClr val="FF0000"/>
                </a:solidFill>
                <a:latin typeface="Times New Roman"/>
                <a:ea typeface="Times New Roman"/>
                <a:cs typeface="Times New Roman"/>
                <a:sym typeface="Times New Roman"/>
              </a:rPr>
              <a:t> </a:t>
            </a:r>
            <a:r>
              <a:rPr b="0" i="0" lang="en-US" sz="2400" u="none" cap="none" strike="noStrike">
                <a:solidFill>
                  <a:srgbClr val="FF0000"/>
                </a:solidFill>
                <a:latin typeface="Georgia"/>
                <a:ea typeface="Georgia"/>
                <a:cs typeface="Georgia"/>
                <a:sym typeface="Georgia"/>
              </a:rPr>
              <a:t>circle</a:t>
            </a:r>
            <a:r>
              <a:rPr b="0" i="0" lang="en-US" sz="2400" u="none" cap="none" strike="noStrike">
                <a:solidFill>
                  <a:schemeClr val="dk1"/>
                </a:solidFill>
                <a:latin typeface="Georgia"/>
                <a:ea typeface="Georgia"/>
                <a:cs typeface="Georgia"/>
                <a:sym typeface="Georgia"/>
              </a:rPr>
              <a:t>,</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and</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then</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use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symmetry</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to</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get</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the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rest</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of</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the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points</a:t>
            </a:r>
            <a:endParaRPr b="0" i="0" sz="1400" u="none" cap="none" strike="noStrike">
              <a:solidFill>
                <a:srgbClr val="000000"/>
              </a:solidFill>
              <a:latin typeface="Arial"/>
              <a:ea typeface="Arial"/>
              <a:cs typeface="Arial"/>
              <a:sym typeface="Arial"/>
            </a:endParaRPr>
          </a:p>
        </p:txBody>
      </p:sp>
      <p:sp>
        <p:nvSpPr>
          <p:cNvPr id="309" name="Google Shape;309;p11"/>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88888"/>
              </a:buClr>
              <a:buSzPts val="900"/>
              <a:buNone/>
            </a:pPr>
            <a:r>
              <a:rPr lang="en-US"/>
              <a:t>Department of CSE, Daffodil International University</a:t>
            </a:r>
            <a:endParaRPr/>
          </a:p>
        </p:txBody>
      </p:sp>
      <p:sp>
        <p:nvSpPr>
          <p:cNvPr id="310" name="Google Shape;310;p11"/>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900"/>
              <a:buNone/>
            </a:pPr>
            <a:fld id="{00000000-1234-1234-1234-123412341234}" type="slidenum">
              <a:rPr b="1" lang="en-US" sz="900" u="sng">
                <a:solidFill>
                  <a:srgbClr val="898989"/>
                </a:solidFill>
                <a:latin typeface="Arial"/>
                <a:ea typeface="Arial"/>
                <a:cs typeface="Arial"/>
                <a:sym typeface="Arial"/>
              </a:rPr>
              <a:t>‹#›</a:t>
            </a:fld>
            <a:endParaRPr b="1" sz="900" u="sng">
              <a:solidFill>
                <a:srgbClr val="898989"/>
              </a:solidFill>
              <a:latin typeface="Arial"/>
              <a:ea typeface="Arial"/>
              <a:cs typeface="Arial"/>
              <a:sym typeface="Arial"/>
            </a:endParaRPr>
          </a:p>
        </p:txBody>
      </p:sp>
      <p:sp>
        <p:nvSpPr>
          <p:cNvPr id="311" name="Google Shape;311;p11"/>
          <p:cNvSpPr txBox="1"/>
          <p:nvPr/>
        </p:nvSpPr>
        <p:spPr>
          <a:xfrm>
            <a:off x="175500" y="151200"/>
            <a:ext cx="8113500" cy="685800"/>
          </a:xfrm>
          <a:prstGeom prst="rect">
            <a:avLst/>
          </a:prstGeom>
          <a:solidFill>
            <a:srgbClr val="4285F4"/>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Calibri"/>
                <a:ea typeface="Calibri"/>
                <a:cs typeface="Calibri"/>
                <a:sym typeface="Calibri"/>
              </a:rPr>
              <a:t>			</a:t>
            </a:r>
            <a:endParaRPr b="1"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Times New Roman"/>
                <a:ea typeface="Times New Roman"/>
                <a:cs typeface="Times New Roman"/>
                <a:sym typeface="Times New Roman"/>
              </a:rPr>
              <a:t>Circle Drawing Algorithm</a:t>
            </a:r>
            <a:endParaRPr b="0"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t/>
            </a:r>
            <a:endParaRPr b="1" i="0" sz="3300" u="none" cap="none" strike="noStrike">
              <a:solidFill>
                <a:schemeClr val="dk1"/>
              </a:solidFill>
              <a:latin typeface="Times New Roman"/>
              <a:ea typeface="Times New Roman"/>
              <a:cs typeface="Times New Roman"/>
              <a:sym typeface="Times New Roman"/>
            </a:endParaRPr>
          </a:p>
        </p:txBody>
      </p:sp>
      <p:pic>
        <p:nvPicPr>
          <p:cNvPr id="312" name="Google Shape;312;p11"/>
          <p:cNvPicPr preferRelativeResize="0"/>
          <p:nvPr/>
        </p:nvPicPr>
        <p:blipFill rotWithShape="1">
          <a:blip r:embed="rId3">
            <a:alphaModFix/>
          </a:blip>
          <a:srcRect b="0" l="0" r="0" t="0"/>
          <a:stretch/>
        </p:blipFill>
        <p:spPr>
          <a:xfrm>
            <a:off x="8050200" y="151200"/>
            <a:ext cx="1371600" cy="6858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12"/>
          <p:cNvSpPr/>
          <p:nvPr/>
        </p:nvSpPr>
        <p:spPr>
          <a:xfrm>
            <a:off x="3889375" y="119063"/>
            <a:ext cx="709613" cy="1011237"/>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dk1"/>
              </a:solidFill>
              <a:latin typeface="Calibri"/>
              <a:ea typeface="Calibri"/>
              <a:cs typeface="Calibri"/>
              <a:sym typeface="Calibri"/>
            </a:endParaRPr>
          </a:p>
        </p:txBody>
      </p:sp>
      <p:sp>
        <p:nvSpPr>
          <p:cNvPr id="318" name="Google Shape;318;p12"/>
          <p:cNvSpPr/>
          <p:nvPr/>
        </p:nvSpPr>
        <p:spPr>
          <a:xfrm>
            <a:off x="4522788" y="2928938"/>
            <a:ext cx="76200" cy="3571875"/>
          </a:xfrm>
          <a:custGeom>
            <a:rect b="b" l="l" r="r" t="t"/>
            <a:pathLst>
              <a:path extrusionOk="0" h="3572510" w="76200">
                <a:moveTo>
                  <a:pt x="31608" y="3495726"/>
                </a:moveTo>
                <a:lnTo>
                  <a:pt x="0" y="3495726"/>
                </a:lnTo>
                <a:lnTo>
                  <a:pt x="37947" y="3571926"/>
                </a:lnTo>
                <a:lnTo>
                  <a:pt x="69822" y="3508430"/>
                </a:lnTo>
                <a:lnTo>
                  <a:pt x="31607" y="3508430"/>
                </a:lnTo>
                <a:lnTo>
                  <a:pt x="31608" y="3495726"/>
                </a:lnTo>
                <a:close/>
              </a:path>
              <a:path extrusionOk="0" h="3572510" w="76200">
                <a:moveTo>
                  <a:pt x="44439" y="63489"/>
                </a:moveTo>
                <a:lnTo>
                  <a:pt x="31729" y="63489"/>
                </a:lnTo>
                <a:lnTo>
                  <a:pt x="31607" y="3508430"/>
                </a:lnTo>
                <a:lnTo>
                  <a:pt x="44317" y="3508430"/>
                </a:lnTo>
                <a:lnTo>
                  <a:pt x="44439" y="63489"/>
                </a:lnTo>
                <a:close/>
              </a:path>
              <a:path extrusionOk="0" h="3572510" w="76200">
                <a:moveTo>
                  <a:pt x="76199" y="3495726"/>
                </a:moveTo>
                <a:lnTo>
                  <a:pt x="44318" y="3495726"/>
                </a:lnTo>
                <a:lnTo>
                  <a:pt x="44317" y="3508430"/>
                </a:lnTo>
                <a:lnTo>
                  <a:pt x="69822" y="3508430"/>
                </a:lnTo>
                <a:lnTo>
                  <a:pt x="76199" y="3495726"/>
                </a:lnTo>
                <a:close/>
              </a:path>
              <a:path extrusionOk="0" h="3572510" w="76200">
                <a:moveTo>
                  <a:pt x="38099" y="0"/>
                </a:moveTo>
                <a:lnTo>
                  <a:pt x="0" y="76199"/>
                </a:lnTo>
                <a:lnTo>
                  <a:pt x="31729" y="76199"/>
                </a:lnTo>
                <a:lnTo>
                  <a:pt x="31729" y="63489"/>
                </a:lnTo>
                <a:lnTo>
                  <a:pt x="69844" y="63489"/>
                </a:lnTo>
                <a:lnTo>
                  <a:pt x="38099" y="0"/>
                </a:lnTo>
                <a:close/>
              </a:path>
              <a:path extrusionOk="0" h="3572510" w="76200">
                <a:moveTo>
                  <a:pt x="69844" y="63489"/>
                </a:moveTo>
                <a:lnTo>
                  <a:pt x="44439" y="63489"/>
                </a:lnTo>
                <a:lnTo>
                  <a:pt x="44439" y="76199"/>
                </a:lnTo>
                <a:lnTo>
                  <a:pt x="76199" y="76199"/>
                </a:lnTo>
                <a:lnTo>
                  <a:pt x="69844" y="6348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319" name="Google Shape;319;p12"/>
          <p:cNvSpPr/>
          <p:nvPr/>
        </p:nvSpPr>
        <p:spPr>
          <a:xfrm>
            <a:off x="2774950" y="4676775"/>
            <a:ext cx="3571875" cy="76200"/>
          </a:xfrm>
          <a:custGeom>
            <a:rect b="b" l="l" r="r" t="t"/>
            <a:pathLst>
              <a:path extrusionOk="0" h="76200" w="3571875">
                <a:moveTo>
                  <a:pt x="76199" y="0"/>
                </a:moveTo>
                <a:lnTo>
                  <a:pt x="0" y="38099"/>
                </a:lnTo>
                <a:lnTo>
                  <a:pt x="76199" y="76199"/>
                </a:lnTo>
                <a:lnTo>
                  <a:pt x="76199" y="44445"/>
                </a:lnTo>
                <a:lnTo>
                  <a:pt x="63495" y="44445"/>
                </a:lnTo>
                <a:lnTo>
                  <a:pt x="63495" y="31753"/>
                </a:lnTo>
                <a:lnTo>
                  <a:pt x="76199" y="31753"/>
                </a:lnTo>
                <a:lnTo>
                  <a:pt x="76199" y="0"/>
                </a:lnTo>
                <a:close/>
              </a:path>
              <a:path extrusionOk="0" h="76200" w="3571875">
                <a:moveTo>
                  <a:pt x="3495665" y="0"/>
                </a:moveTo>
                <a:lnTo>
                  <a:pt x="3495665" y="76199"/>
                </a:lnTo>
                <a:lnTo>
                  <a:pt x="3559173" y="44445"/>
                </a:lnTo>
                <a:lnTo>
                  <a:pt x="3508375" y="44445"/>
                </a:lnTo>
                <a:lnTo>
                  <a:pt x="3508375" y="31753"/>
                </a:lnTo>
                <a:lnTo>
                  <a:pt x="3559173" y="31753"/>
                </a:lnTo>
                <a:lnTo>
                  <a:pt x="3495665" y="0"/>
                </a:lnTo>
                <a:close/>
              </a:path>
              <a:path extrusionOk="0" h="76200" w="3571875">
                <a:moveTo>
                  <a:pt x="76199" y="31753"/>
                </a:moveTo>
                <a:lnTo>
                  <a:pt x="63495" y="31753"/>
                </a:lnTo>
                <a:lnTo>
                  <a:pt x="63495" y="44445"/>
                </a:lnTo>
                <a:lnTo>
                  <a:pt x="76199" y="44445"/>
                </a:lnTo>
                <a:lnTo>
                  <a:pt x="76199" y="31753"/>
                </a:lnTo>
                <a:close/>
              </a:path>
              <a:path extrusionOk="0" h="76200" w="3571875">
                <a:moveTo>
                  <a:pt x="3495665" y="31753"/>
                </a:moveTo>
                <a:lnTo>
                  <a:pt x="76199" y="31753"/>
                </a:lnTo>
                <a:lnTo>
                  <a:pt x="76199" y="44445"/>
                </a:lnTo>
                <a:lnTo>
                  <a:pt x="3495665" y="44445"/>
                </a:lnTo>
                <a:lnTo>
                  <a:pt x="3495665" y="31753"/>
                </a:lnTo>
                <a:close/>
              </a:path>
              <a:path extrusionOk="0" h="76200" w="3571875">
                <a:moveTo>
                  <a:pt x="3559173" y="31753"/>
                </a:moveTo>
                <a:lnTo>
                  <a:pt x="3508375" y="31753"/>
                </a:lnTo>
                <a:lnTo>
                  <a:pt x="3508375" y="44445"/>
                </a:lnTo>
                <a:lnTo>
                  <a:pt x="3559173" y="44445"/>
                </a:lnTo>
                <a:lnTo>
                  <a:pt x="3571865" y="38099"/>
                </a:lnTo>
                <a:lnTo>
                  <a:pt x="3559173" y="3175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320" name="Google Shape;320;p12"/>
          <p:cNvSpPr/>
          <p:nvPr/>
        </p:nvSpPr>
        <p:spPr>
          <a:xfrm>
            <a:off x="3173413" y="3314700"/>
            <a:ext cx="2771775" cy="2771775"/>
          </a:xfrm>
          <a:custGeom>
            <a:rect b="b" l="l" r="r" t="t"/>
            <a:pathLst>
              <a:path extrusionOk="0" h="2771775" w="2771775">
                <a:moveTo>
                  <a:pt x="0" y="1385946"/>
                </a:moveTo>
                <a:lnTo>
                  <a:pt x="4593" y="1272278"/>
                </a:lnTo>
                <a:lnTo>
                  <a:pt x="18136" y="1161141"/>
                </a:lnTo>
                <a:lnTo>
                  <a:pt x="40271" y="1052890"/>
                </a:lnTo>
                <a:lnTo>
                  <a:pt x="70643" y="947883"/>
                </a:lnTo>
                <a:lnTo>
                  <a:pt x="108895" y="846477"/>
                </a:lnTo>
                <a:lnTo>
                  <a:pt x="154670" y="749028"/>
                </a:lnTo>
                <a:lnTo>
                  <a:pt x="207611" y="655892"/>
                </a:lnTo>
                <a:lnTo>
                  <a:pt x="267363" y="567428"/>
                </a:lnTo>
                <a:lnTo>
                  <a:pt x="333569" y="483990"/>
                </a:lnTo>
                <a:lnTo>
                  <a:pt x="405871" y="405937"/>
                </a:lnTo>
                <a:lnTo>
                  <a:pt x="483914" y="333624"/>
                </a:lnTo>
                <a:lnTo>
                  <a:pt x="567342" y="267409"/>
                </a:lnTo>
                <a:lnTo>
                  <a:pt x="655796" y="207648"/>
                </a:lnTo>
                <a:lnTo>
                  <a:pt x="748922" y="154698"/>
                </a:lnTo>
                <a:lnTo>
                  <a:pt x="846362" y="108915"/>
                </a:lnTo>
                <a:lnTo>
                  <a:pt x="947761" y="70657"/>
                </a:lnTo>
                <a:lnTo>
                  <a:pt x="1052760" y="40279"/>
                </a:lnTo>
                <a:lnTo>
                  <a:pt x="1161005" y="18139"/>
                </a:lnTo>
                <a:lnTo>
                  <a:pt x="1272138" y="4594"/>
                </a:lnTo>
                <a:lnTo>
                  <a:pt x="1385803" y="0"/>
                </a:lnTo>
                <a:lnTo>
                  <a:pt x="1499473" y="4594"/>
                </a:lnTo>
                <a:lnTo>
                  <a:pt x="1610613" y="18139"/>
                </a:lnTo>
                <a:lnTo>
                  <a:pt x="1718865" y="40279"/>
                </a:lnTo>
                <a:lnTo>
                  <a:pt x="1823873" y="70657"/>
                </a:lnTo>
                <a:lnTo>
                  <a:pt x="1925281" y="108915"/>
                </a:lnTo>
                <a:lnTo>
                  <a:pt x="2022731" y="154698"/>
                </a:lnTo>
                <a:lnTo>
                  <a:pt x="2115866" y="207648"/>
                </a:lnTo>
                <a:lnTo>
                  <a:pt x="2204332" y="267409"/>
                </a:lnTo>
                <a:lnTo>
                  <a:pt x="2287769" y="333624"/>
                </a:lnTo>
                <a:lnTo>
                  <a:pt x="2365823" y="405937"/>
                </a:lnTo>
                <a:lnTo>
                  <a:pt x="2438135" y="483990"/>
                </a:lnTo>
                <a:lnTo>
                  <a:pt x="2504351" y="567428"/>
                </a:lnTo>
                <a:lnTo>
                  <a:pt x="2564112" y="655892"/>
                </a:lnTo>
                <a:lnTo>
                  <a:pt x="2617062" y="749028"/>
                </a:lnTo>
                <a:lnTo>
                  <a:pt x="2662844" y="846477"/>
                </a:lnTo>
                <a:lnTo>
                  <a:pt x="2701102" y="947883"/>
                </a:lnTo>
                <a:lnTo>
                  <a:pt x="2731480" y="1052890"/>
                </a:lnTo>
                <a:lnTo>
                  <a:pt x="2753619" y="1161141"/>
                </a:lnTo>
                <a:lnTo>
                  <a:pt x="2767165" y="1272278"/>
                </a:lnTo>
                <a:lnTo>
                  <a:pt x="2771759" y="1385946"/>
                </a:lnTo>
                <a:lnTo>
                  <a:pt x="2767165" y="1499598"/>
                </a:lnTo>
                <a:lnTo>
                  <a:pt x="2753619" y="1610720"/>
                </a:lnTo>
                <a:lnTo>
                  <a:pt x="2731480" y="1718957"/>
                </a:lnTo>
                <a:lnTo>
                  <a:pt x="2701102" y="1823952"/>
                </a:lnTo>
                <a:lnTo>
                  <a:pt x="2662844" y="1925347"/>
                </a:lnTo>
                <a:lnTo>
                  <a:pt x="2617062" y="2022787"/>
                </a:lnTo>
                <a:lnTo>
                  <a:pt x="2564112" y="2115914"/>
                </a:lnTo>
                <a:lnTo>
                  <a:pt x="2504351" y="2204372"/>
                </a:lnTo>
                <a:lnTo>
                  <a:pt x="2438135" y="2287803"/>
                </a:lnTo>
                <a:lnTo>
                  <a:pt x="2365823" y="2365852"/>
                </a:lnTo>
                <a:lnTo>
                  <a:pt x="2287769" y="2438160"/>
                </a:lnTo>
                <a:lnTo>
                  <a:pt x="2204332" y="2504372"/>
                </a:lnTo>
                <a:lnTo>
                  <a:pt x="2115866" y="2564131"/>
                </a:lnTo>
                <a:lnTo>
                  <a:pt x="2022731" y="2617079"/>
                </a:lnTo>
                <a:lnTo>
                  <a:pt x="1925281" y="2662861"/>
                </a:lnTo>
                <a:lnTo>
                  <a:pt x="1823873" y="2701118"/>
                </a:lnTo>
                <a:lnTo>
                  <a:pt x="1718865" y="2731495"/>
                </a:lnTo>
                <a:lnTo>
                  <a:pt x="1610613" y="2753635"/>
                </a:lnTo>
                <a:lnTo>
                  <a:pt x="1499473" y="2767180"/>
                </a:lnTo>
                <a:lnTo>
                  <a:pt x="1385803" y="2771774"/>
                </a:lnTo>
                <a:lnTo>
                  <a:pt x="1272138" y="2767180"/>
                </a:lnTo>
                <a:lnTo>
                  <a:pt x="1161005" y="2753635"/>
                </a:lnTo>
                <a:lnTo>
                  <a:pt x="1052760" y="2731495"/>
                </a:lnTo>
                <a:lnTo>
                  <a:pt x="947761" y="2701118"/>
                </a:lnTo>
                <a:lnTo>
                  <a:pt x="846362" y="2662861"/>
                </a:lnTo>
                <a:lnTo>
                  <a:pt x="748922" y="2617079"/>
                </a:lnTo>
                <a:lnTo>
                  <a:pt x="655796" y="2564131"/>
                </a:lnTo>
                <a:lnTo>
                  <a:pt x="567342" y="2504372"/>
                </a:lnTo>
                <a:lnTo>
                  <a:pt x="483914" y="2438160"/>
                </a:lnTo>
                <a:lnTo>
                  <a:pt x="405871" y="2365852"/>
                </a:lnTo>
                <a:lnTo>
                  <a:pt x="333569" y="2287803"/>
                </a:lnTo>
                <a:lnTo>
                  <a:pt x="267363" y="2204372"/>
                </a:lnTo>
                <a:lnTo>
                  <a:pt x="207611" y="2115914"/>
                </a:lnTo>
                <a:lnTo>
                  <a:pt x="154670" y="2022787"/>
                </a:lnTo>
                <a:lnTo>
                  <a:pt x="108895" y="1925347"/>
                </a:lnTo>
                <a:lnTo>
                  <a:pt x="70643" y="1823952"/>
                </a:lnTo>
                <a:lnTo>
                  <a:pt x="40271" y="1718957"/>
                </a:lnTo>
                <a:lnTo>
                  <a:pt x="18136" y="1610720"/>
                </a:lnTo>
                <a:lnTo>
                  <a:pt x="4593" y="1499598"/>
                </a:lnTo>
                <a:lnTo>
                  <a:pt x="0" y="1385946"/>
                </a:lnTo>
                <a:close/>
              </a:path>
            </a:pathLst>
          </a:custGeom>
          <a:noFill/>
          <a:ln cap="flat" cmpd="sng" w="25375">
            <a:solidFill>
              <a:srgbClr val="00007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321" name="Google Shape;321;p12"/>
          <p:cNvSpPr/>
          <p:nvPr/>
        </p:nvSpPr>
        <p:spPr>
          <a:xfrm>
            <a:off x="4900613" y="3319463"/>
            <a:ext cx="122237" cy="120650"/>
          </a:xfrm>
          <a:custGeom>
            <a:rect b="b" l="l" r="r" t="t"/>
            <a:pathLst>
              <a:path extrusionOk="0" h="121285" w="121920">
                <a:moveTo>
                  <a:pt x="49442" y="0"/>
                </a:moveTo>
                <a:lnTo>
                  <a:pt x="14145" y="20855"/>
                </a:lnTo>
                <a:lnTo>
                  <a:pt x="0" y="59973"/>
                </a:lnTo>
                <a:lnTo>
                  <a:pt x="13690" y="98281"/>
                </a:lnTo>
                <a:lnTo>
                  <a:pt x="49182" y="119535"/>
                </a:lnTo>
                <a:lnTo>
                  <a:pt x="64431" y="121118"/>
                </a:lnTo>
                <a:lnTo>
                  <a:pt x="77775" y="118867"/>
                </a:lnTo>
                <a:lnTo>
                  <a:pt x="109523" y="95792"/>
                </a:lnTo>
                <a:lnTo>
                  <a:pt x="121782" y="52870"/>
                </a:lnTo>
                <a:lnTo>
                  <a:pt x="118867" y="40311"/>
                </a:lnTo>
                <a:lnTo>
                  <a:pt x="94511" y="10801"/>
                </a:lnTo>
                <a:lnTo>
                  <a:pt x="49442" y="0"/>
                </a:lnTo>
                <a:close/>
              </a:path>
            </a:pathLst>
          </a:custGeom>
          <a:solidFill>
            <a:srgbClr val="FF65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322" name="Google Shape;322;p12"/>
          <p:cNvSpPr/>
          <p:nvPr/>
        </p:nvSpPr>
        <p:spPr>
          <a:xfrm>
            <a:off x="4900613" y="3319463"/>
            <a:ext cx="122237" cy="120650"/>
          </a:xfrm>
          <a:custGeom>
            <a:rect b="b" l="l" r="r" t="t"/>
            <a:pathLst>
              <a:path extrusionOk="0" h="121285" w="121920">
                <a:moveTo>
                  <a:pt x="0" y="59973"/>
                </a:moveTo>
                <a:lnTo>
                  <a:pt x="14145" y="20855"/>
                </a:lnTo>
                <a:lnTo>
                  <a:pt x="49442" y="0"/>
                </a:lnTo>
                <a:lnTo>
                  <a:pt x="66552" y="1008"/>
                </a:lnTo>
                <a:lnTo>
                  <a:pt x="105103" y="18969"/>
                </a:lnTo>
                <a:lnTo>
                  <a:pt x="121782" y="52870"/>
                </a:lnTo>
                <a:lnTo>
                  <a:pt x="120422" y="69014"/>
                </a:lnTo>
                <a:lnTo>
                  <a:pt x="100657" y="105983"/>
                </a:lnTo>
                <a:lnTo>
                  <a:pt x="64431" y="121118"/>
                </a:lnTo>
                <a:lnTo>
                  <a:pt x="49182" y="119535"/>
                </a:lnTo>
                <a:lnTo>
                  <a:pt x="13690" y="98281"/>
                </a:lnTo>
                <a:lnTo>
                  <a:pt x="0" y="60030"/>
                </a:lnTo>
                <a:lnTo>
                  <a:pt x="0" y="59973"/>
                </a:lnTo>
                <a:close/>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323" name="Google Shape;323;p12"/>
          <p:cNvSpPr/>
          <p:nvPr/>
        </p:nvSpPr>
        <p:spPr>
          <a:xfrm>
            <a:off x="4114800" y="3319463"/>
            <a:ext cx="122238" cy="120650"/>
          </a:xfrm>
          <a:custGeom>
            <a:rect b="b" l="l" r="r" t="t"/>
            <a:pathLst>
              <a:path extrusionOk="0" h="121285" w="121920">
                <a:moveTo>
                  <a:pt x="49442" y="0"/>
                </a:moveTo>
                <a:lnTo>
                  <a:pt x="14149" y="20851"/>
                </a:lnTo>
                <a:lnTo>
                  <a:pt x="0" y="59977"/>
                </a:lnTo>
                <a:lnTo>
                  <a:pt x="0" y="60169"/>
                </a:lnTo>
                <a:lnTo>
                  <a:pt x="13749" y="98341"/>
                </a:lnTo>
                <a:lnTo>
                  <a:pt x="49299" y="119537"/>
                </a:lnTo>
                <a:lnTo>
                  <a:pt x="64587" y="121112"/>
                </a:lnTo>
                <a:lnTo>
                  <a:pt x="77913" y="118829"/>
                </a:lnTo>
                <a:lnTo>
                  <a:pt x="109639" y="95715"/>
                </a:lnTo>
                <a:lnTo>
                  <a:pt x="121892" y="52788"/>
                </a:lnTo>
                <a:lnTo>
                  <a:pt x="118952" y="40248"/>
                </a:lnTo>
                <a:lnTo>
                  <a:pt x="94520" y="10784"/>
                </a:lnTo>
                <a:lnTo>
                  <a:pt x="49442" y="0"/>
                </a:lnTo>
                <a:close/>
              </a:path>
            </a:pathLst>
          </a:custGeom>
          <a:solidFill>
            <a:srgbClr val="FF65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324" name="Google Shape;324;p12"/>
          <p:cNvSpPr/>
          <p:nvPr/>
        </p:nvSpPr>
        <p:spPr>
          <a:xfrm>
            <a:off x="4114800" y="3319463"/>
            <a:ext cx="122238" cy="120650"/>
          </a:xfrm>
          <a:custGeom>
            <a:rect b="b" l="l" r="r" t="t"/>
            <a:pathLst>
              <a:path extrusionOk="0" h="121285" w="121920">
                <a:moveTo>
                  <a:pt x="0" y="59977"/>
                </a:moveTo>
                <a:lnTo>
                  <a:pt x="14149" y="20851"/>
                </a:lnTo>
                <a:lnTo>
                  <a:pt x="49442" y="0"/>
                </a:lnTo>
                <a:lnTo>
                  <a:pt x="66543" y="1007"/>
                </a:lnTo>
                <a:lnTo>
                  <a:pt x="105134" y="18939"/>
                </a:lnTo>
                <a:lnTo>
                  <a:pt x="121892" y="52788"/>
                </a:lnTo>
                <a:lnTo>
                  <a:pt x="120535" y="68935"/>
                </a:lnTo>
                <a:lnTo>
                  <a:pt x="100777" y="105912"/>
                </a:lnTo>
                <a:lnTo>
                  <a:pt x="64587" y="121112"/>
                </a:lnTo>
                <a:lnTo>
                  <a:pt x="49299" y="119537"/>
                </a:lnTo>
                <a:lnTo>
                  <a:pt x="13749" y="98341"/>
                </a:lnTo>
                <a:lnTo>
                  <a:pt x="0" y="60169"/>
                </a:lnTo>
                <a:lnTo>
                  <a:pt x="0" y="59977"/>
                </a:lnTo>
                <a:close/>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325" name="Google Shape;325;p12"/>
          <p:cNvSpPr/>
          <p:nvPr/>
        </p:nvSpPr>
        <p:spPr>
          <a:xfrm>
            <a:off x="4900613" y="5967413"/>
            <a:ext cx="122237" cy="120650"/>
          </a:xfrm>
          <a:custGeom>
            <a:rect b="b" l="l" r="r" t="t"/>
            <a:pathLst>
              <a:path extrusionOk="0" h="121285" w="121920">
                <a:moveTo>
                  <a:pt x="49410" y="0"/>
                </a:moveTo>
                <a:lnTo>
                  <a:pt x="14135" y="20888"/>
                </a:lnTo>
                <a:lnTo>
                  <a:pt x="0" y="60011"/>
                </a:lnTo>
                <a:lnTo>
                  <a:pt x="1603" y="73944"/>
                </a:lnTo>
                <a:lnTo>
                  <a:pt x="23447" y="107649"/>
                </a:lnTo>
                <a:lnTo>
                  <a:pt x="64377" y="121028"/>
                </a:lnTo>
                <a:lnTo>
                  <a:pt x="77732" y="118792"/>
                </a:lnTo>
                <a:lnTo>
                  <a:pt x="109509" y="95762"/>
                </a:lnTo>
                <a:lnTo>
                  <a:pt x="121776" y="52851"/>
                </a:lnTo>
                <a:lnTo>
                  <a:pt x="118851" y="40302"/>
                </a:lnTo>
                <a:lnTo>
                  <a:pt x="94482" y="10799"/>
                </a:lnTo>
                <a:lnTo>
                  <a:pt x="49410" y="0"/>
                </a:lnTo>
                <a:close/>
              </a:path>
            </a:pathLst>
          </a:custGeom>
          <a:solidFill>
            <a:srgbClr val="FF65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326" name="Google Shape;326;p12"/>
          <p:cNvSpPr/>
          <p:nvPr/>
        </p:nvSpPr>
        <p:spPr>
          <a:xfrm>
            <a:off x="4900613" y="5967413"/>
            <a:ext cx="122237" cy="120650"/>
          </a:xfrm>
          <a:custGeom>
            <a:rect b="b" l="l" r="r" t="t"/>
            <a:pathLst>
              <a:path extrusionOk="0" h="121285" w="121920">
                <a:moveTo>
                  <a:pt x="0" y="60011"/>
                </a:moveTo>
                <a:lnTo>
                  <a:pt x="14135" y="20888"/>
                </a:lnTo>
                <a:lnTo>
                  <a:pt x="49410" y="0"/>
                </a:lnTo>
                <a:lnTo>
                  <a:pt x="66521" y="1006"/>
                </a:lnTo>
                <a:lnTo>
                  <a:pt x="105076" y="18967"/>
                </a:lnTo>
                <a:lnTo>
                  <a:pt x="121776" y="52851"/>
                </a:lnTo>
                <a:lnTo>
                  <a:pt x="120416" y="68999"/>
                </a:lnTo>
                <a:lnTo>
                  <a:pt x="100635" y="105940"/>
                </a:lnTo>
                <a:lnTo>
                  <a:pt x="64377" y="121028"/>
                </a:lnTo>
                <a:lnTo>
                  <a:pt x="49126" y="119443"/>
                </a:lnTo>
                <a:lnTo>
                  <a:pt x="13634" y="98180"/>
                </a:lnTo>
                <a:lnTo>
                  <a:pt x="0" y="60011"/>
                </a:lnTo>
                <a:close/>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327" name="Google Shape;327;p12"/>
          <p:cNvSpPr/>
          <p:nvPr/>
        </p:nvSpPr>
        <p:spPr>
          <a:xfrm>
            <a:off x="4114800" y="5967413"/>
            <a:ext cx="122238" cy="120650"/>
          </a:xfrm>
          <a:custGeom>
            <a:rect b="b" l="l" r="r" t="t"/>
            <a:pathLst>
              <a:path extrusionOk="0" h="121285" w="121920">
                <a:moveTo>
                  <a:pt x="49410" y="0"/>
                </a:moveTo>
                <a:lnTo>
                  <a:pt x="14139" y="20884"/>
                </a:lnTo>
                <a:lnTo>
                  <a:pt x="0" y="60015"/>
                </a:lnTo>
                <a:lnTo>
                  <a:pt x="13693" y="98240"/>
                </a:lnTo>
                <a:lnTo>
                  <a:pt x="49244" y="119445"/>
                </a:lnTo>
                <a:lnTo>
                  <a:pt x="64533" y="121022"/>
                </a:lnTo>
                <a:lnTo>
                  <a:pt x="77870" y="118753"/>
                </a:lnTo>
                <a:lnTo>
                  <a:pt x="109625" y="95685"/>
                </a:lnTo>
                <a:lnTo>
                  <a:pt x="121886" y="52770"/>
                </a:lnTo>
                <a:lnTo>
                  <a:pt x="118935" y="40238"/>
                </a:lnTo>
                <a:lnTo>
                  <a:pt x="94492" y="10782"/>
                </a:lnTo>
                <a:lnTo>
                  <a:pt x="49410" y="0"/>
                </a:lnTo>
                <a:close/>
              </a:path>
            </a:pathLst>
          </a:custGeom>
          <a:solidFill>
            <a:srgbClr val="FF65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328" name="Google Shape;328;p12"/>
          <p:cNvSpPr/>
          <p:nvPr/>
        </p:nvSpPr>
        <p:spPr>
          <a:xfrm>
            <a:off x="4114800" y="5967413"/>
            <a:ext cx="122238" cy="120650"/>
          </a:xfrm>
          <a:custGeom>
            <a:rect b="b" l="l" r="r" t="t"/>
            <a:pathLst>
              <a:path extrusionOk="0" h="121285" w="121920">
                <a:moveTo>
                  <a:pt x="0" y="60015"/>
                </a:moveTo>
                <a:lnTo>
                  <a:pt x="14139" y="20884"/>
                </a:lnTo>
                <a:lnTo>
                  <a:pt x="49410" y="0"/>
                </a:lnTo>
                <a:lnTo>
                  <a:pt x="66512" y="1005"/>
                </a:lnTo>
                <a:lnTo>
                  <a:pt x="105107" y="18936"/>
                </a:lnTo>
                <a:lnTo>
                  <a:pt x="121886" y="52770"/>
                </a:lnTo>
                <a:lnTo>
                  <a:pt x="120529" y="68920"/>
                </a:lnTo>
                <a:lnTo>
                  <a:pt x="100754" y="105868"/>
                </a:lnTo>
                <a:lnTo>
                  <a:pt x="64533" y="121022"/>
                </a:lnTo>
                <a:lnTo>
                  <a:pt x="49244" y="119445"/>
                </a:lnTo>
                <a:lnTo>
                  <a:pt x="13693" y="98240"/>
                </a:lnTo>
                <a:lnTo>
                  <a:pt x="0" y="60057"/>
                </a:lnTo>
                <a:lnTo>
                  <a:pt x="0" y="60015"/>
                </a:lnTo>
                <a:close/>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329" name="Google Shape;329;p12"/>
          <p:cNvSpPr/>
          <p:nvPr/>
        </p:nvSpPr>
        <p:spPr>
          <a:xfrm>
            <a:off x="3167063" y="5051425"/>
            <a:ext cx="120650" cy="122238"/>
          </a:xfrm>
          <a:custGeom>
            <a:rect b="b" l="l" r="r" t="t"/>
            <a:pathLst>
              <a:path extrusionOk="0" h="121920" w="121285">
                <a:moveTo>
                  <a:pt x="61136" y="0"/>
                </a:moveTo>
                <a:lnTo>
                  <a:pt x="22779" y="13738"/>
                </a:lnTo>
                <a:lnTo>
                  <a:pt x="1576" y="49281"/>
                </a:lnTo>
                <a:lnTo>
                  <a:pt x="0" y="64566"/>
                </a:lnTo>
                <a:lnTo>
                  <a:pt x="2280" y="77891"/>
                </a:lnTo>
                <a:lnTo>
                  <a:pt x="25390" y="109621"/>
                </a:lnTo>
                <a:lnTo>
                  <a:pt x="68315" y="121878"/>
                </a:lnTo>
                <a:lnTo>
                  <a:pt x="80858" y="118939"/>
                </a:lnTo>
                <a:lnTo>
                  <a:pt x="110327" y="94512"/>
                </a:lnTo>
                <a:lnTo>
                  <a:pt x="121114" y="49439"/>
                </a:lnTo>
                <a:lnTo>
                  <a:pt x="116857" y="35987"/>
                </a:lnTo>
                <a:lnTo>
                  <a:pt x="88721" y="6552"/>
                </a:lnTo>
                <a:lnTo>
                  <a:pt x="61136" y="0"/>
                </a:lnTo>
                <a:close/>
              </a:path>
            </a:pathLst>
          </a:custGeom>
          <a:solidFill>
            <a:srgbClr val="FF65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330" name="Google Shape;330;p12"/>
          <p:cNvSpPr/>
          <p:nvPr/>
        </p:nvSpPr>
        <p:spPr>
          <a:xfrm>
            <a:off x="3167063" y="5051425"/>
            <a:ext cx="120650" cy="122238"/>
          </a:xfrm>
          <a:custGeom>
            <a:rect b="b" l="l" r="r" t="t"/>
            <a:pathLst>
              <a:path extrusionOk="0" h="121920" w="121285">
                <a:moveTo>
                  <a:pt x="61136" y="0"/>
                </a:moveTo>
                <a:lnTo>
                  <a:pt x="100263" y="14146"/>
                </a:lnTo>
                <a:lnTo>
                  <a:pt x="121114" y="49439"/>
                </a:lnTo>
                <a:lnTo>
                  <a:pt x="120106" y="66537"/>
                </a:lnTo>
                <a:lnTo>
                  <a:pt x="102170" y="105124"/>
                </a:lnTo>
                <a:lnTo>
                  <a:pt x="68315" y="121878"/>
                </a:lnTo>
                <a:lnTo>
                  <a:pt x="52169" y="120520"/>
                </a:lnTo>
                <a:lnTo>
                  <a:pt x="15194" y="100757"/>
                </a:lnTo>
                <a:lnTo>
                  <a:pt x="0" y="64566"/>
                </a:lnTo>
                <a:lnTo>
                  <a:pt x="1576" y="49281"/>
                </a:lnTo>
                <a:lnTo>
                  <a:pt x="22779" y="13738"/>
                </a:lnTo>
                <a:lnTo>
                  <a:pt x="60961" y="0"/>
                </a:lnTo>
                <a:lnTo>
                  <a:pt x="61136" y="0"/>
                </a:lnTo>
                <a:close/>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331" name="Google Shape;331;p12"/>
          <p:cNvSpPr/>
          <p:nvPr/>
        </p:nvSpPr>
        <p:spPr>
          <a:xfrm>
            <a:off x="3167063" y="4265613"/>
            <a:ext cx="120650" cy="122237"/>
          </a:xfrm>
          <a:custGeom>
            <a:rect b="b" l="l" r="r" t="t"/>
            <a:pathLst>
              <a:path extrusionOk="0" h="121920" w="121285">
                <a:moveTo>
                  <a:pt x="61142" y="0"/>
                </a:moveTo>
                <a:lnTo>
                  <a:pt x="22778" y="13788"/>
                </a:lnTo>
                <a:lnTo>
                  <a:pt x="1578" y="49342"/>
                </a:lnTo>
                <a:lnTo>
                  <a:pt x="0" y="64594"/>
                </a:lnTo>
                <a:lnTo>
                  <a:pt x="2260" y="77928"/>
                </a:lnTo>
                <a:lnTo>
                  <a:pt x="25354" y="109644"/>
                </a:lnTo>
                <a:lnTo>
                  <a:pt x="68308" y="121882"/>
                </a:lnTo>
                <a:lnTo>
                  <a:pt x="80853" y="118956"/>
                </a:lnTo>
                <a:lnTo>
                  <a:pt x="110326" y="94581"/>
                </a:lnTo>
                <a:lnTo>
                  <a:pt x="121101" y="49474"/>
                </a:lnTo>
                <a:lnTo>
                  <a:pt x="116829" y="36026"/>
                </a:lnTo>
                <a:lnTo>
                  <a:pt x="88698" y="6565"/>
                </a:lnTo>
                <a:lnTo>
                  <a:pt x="61142" y="0"/>
                </a:lnTo>
                <a:close/>
              </a:path>
            </a:pathLst>
          </a:custGeom>
          <a:solidFill>
            <a:srgbClr val="FF65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332" name="Google Shape;332;p12"/>
          <p:cNvSpPr/>
          <p:nvPr/>
        </p:nvSpPr>
        <p:spPr>
          <a:xfrm>
            <a:off x="3167063" y="4265613"/>
            <a:ext cx="120650" cy="122237"/>
          </a:xfrm>
          <a:custGeom>
            <a:rect b="b" l="l" r="r" t="t"/>
            <a:pathLst>
              <a:path extrusionOk="0" h="121920" w="121285">
                <a:moveTo>
                  <a:pt x="61142" y="0"/>
                </a:moveTo>
                <a:lnTo>
                  <a:pt x="100232" y="14170"/>
                </a:lnTo>
                <a:lnTo>
                  <a:pt x="121101" y="49474"/>
                </a:lnTo>
                <a:lnTo>
                  <a:pt x="120099" y="66602"/>
                </a:lnTo>
                <a:lnTo>
                  <a:pt x="102169" y="105179"/>
                </a:lnTo>
                <a:lnTo>
                  <a:pt x="68308" y="121882"/>
                </a:lnTo>
                <a:lnTo>
                  <a:pt x="52149" y="120526"/>
                </a:lnTo>
                <a:lnTo>
                  <a:pt x="15157" y="100789"/>
                </a:lnTo>
                <a:lnTo>
                  <a:pt x="0" y="64594"/>
                </a:lnTo>
                <a:lnTo>
                  <a:pt x="1578" y="49342"/>
                </a:lnTo>
                <a:lnTo>
                  <a:pt x="22778" y="13788"/>
                </a:lnTo>
                <a:lnTo>
                  <a:pt x="60950" y="0"/>
                </a:lnTo>
                <a:lnTo>
                  <a:pt x="61142" y="0"/>
                </a:lnTo>
                <a:close/>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333" name="Google Shape;333;p12"/>
          <p:cNvSpPr/>
          <p:nvPr/>
        </p:nvSpPr>
        <p:spPr>
          <a:xfrm>
            <a:off x="5821363" y="5051425"/>
            <a:ext cx="120650" cy="122238"/>
          </a:xfrm>
          <a:custGeom>
            <a:rect b="b" l="l" r="r" t="t"/>
            <a:pathLst>
              <a:path extrusionOk="0" h="121920" w="121285">
                <a:moveTo>
                  <a:pt x="61107" y="0"/>
                </a:moveTo>
                <a:lnTo>
                  <a:pt x="22793" y="13721"/>
                </a:lnTo>
                <a:lnTo>
                  <a:pt x="1578" y="49259"/>
                </a:lnTo>
                <a:lnTo>
                  <a:pt x="0" y="64542"/>
                </a:lnTo>
                <a:lnTo>
                  <a:pt x="2276" y="77872"/>
                </a:lnTo>
                <a:lnTo>
                  <a:pt x="25377" y="109615"/>
                </a:lnTo>
                <a:lnTo>
                  <a:pt x="68286" y="121878"/>
                </a:lnTo>
                <a:lnTo>
                  <a:pt x="80828" y="118939"/>
                </a:lnTo>
                <a:lnTo>
                  <a:pt x="110298" y="94512"/>
                </a:lnTo>
                <a:lnTo>
                  <a:pt x="121085" y="49439"/>
                </a:lnTo>
                <a:lnTo>
                  <a:pt x="116827" y="35987"/>
                </a:lnTo>
                <a:lnTo>
                  <a:pt x="88692" y="6552"/>
                </a:lnTo>
                <a:lnTo>
                  <a:pt x="61107" y="0"/>
                </a:lnTo>
                <a:close/>
              </a:path>
            </a:pathLst>
          </a:custGeom>
          <a:solidFill>
            <a:srgbClr val="FF65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334" name="Google Shape;334;p12"/>
          <p:cNvSpPr/>
          <p:nvPr/>
        </p:nvSpPr>
        <p:spPr>
          <a:xfrm>
            <a:off x="5821363" y="5051425"/>
            <a:ext cx="120650" cy="122238"/>
          </a:xfrm>
          <a:custGeom>
            <a:rect b="b" l="l" r="r" t="t"/>
            <a:pathLst>
              <a:path extrusionOk="0" h="121920" w="121285">
                <a:moveTo>
                  <a:pt x="61107" y="0"/>
                </a:moveTo>
                <a:lnTo>
                  <a:pt x="100234" y="14146"/>
                </a:lnTo>
                <a:lnTo>
                  <a:pt x="121085" y="49439"/>
                </a:lnTo>
                <a:lnTo>
                  <a:pt x="120076" y="66537"/>
                </a:lnTo>
                <a:lnTo>
                  <a:pt x="102141" y="105124"/>
                </a:lnTo>
                <a:lnTo>
                  <a:pt x="68286" y="121878"/>
                </a:lnTo>
                <a:lnTo>
                  <a:pt x="52147" y="120519"/>
                </a:lnTo>
                <a:lnTo>
                  <a:pt x="15184" y="100747"/>
                </a:lnTo>
                <a:lnTo>
                  <a:pt x="0" y="64542"/>
                </a:lnTo>
                <a:lnTo>
                  <a:pt x="1578" y="49259"/>
                </a:lnTo>
                <a:lnTo>
                  <a:pt x="22793" y="13721"/>
                </a:lnTo>
                <a:lnTo>
                  <a:pt x="60977" y="0"/>
                </a:lnTo>
                <a:lnTo>
                  <a:pt x="61107" y="0"/>
                </a:lnTo>
                <a:close/>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335" name="Google Shape;335;p12"/>
          <p:cNvSpPr/>
          <p:nvPr/>
        </p:nvSpPr>
        <p:spPr>
          <a:xfrm>
            <a:off x="5821363" y="4265613"/>
            <a:ext cx="120650" cy="122237"/>
          </a:xfrm>
          <a:custGeom>
            <a:rect b="b" l="l" r="r" t="t"/>
            <a:pathLst>
              <a:path extrusionOk="0" h="121920" w="121285">
                <a:moveTo>
                  <a:pt x="61113" y="0"/>
                </a:moveTo>
                <a:lnTo>
                  <a:pt x="22792" y="13770"/>
                </a:lnTo>
                <a:lnTo>
                  <a:pt x="1579" y="49321"/>
                </a:lnTo>
                <a:lnTo>
                  <a:pt x="0" y="64570"/>
                </a:lnTo>
                <a:lnTo>
                  <a:pt x="2256" y="77909"/>
                </a:lnTo>
                <a:lnTo>
                  <a:pt x="25341" y="109638"/>
                </a:lnTo>
                <a:lnTo>
                  <a:pt x="68279" y="121882"/>
                </a:lnTo>
                <a:lnTo>
                  <a:pt x="80824" y="118956"/>
                </a:lnTo>
                <a:lnTo>
                  <a:pt x="110297" y="94581"/>
                </a:lnTo>
                <a:lnTo>
                  <a:pt x="121072" y="49474"/>
                </a:lnTo>
                <a:lnTo>
                  <a:pt x="116800" y="36026"/>
                </a:lnTo>
                <a:lnTo>
                  <a:pt x="88669" y="6565"/>
                </a:lnTo>
                <a:lnTo>
                  <a:pt x="61113" y="0"/>
                </a:lnTo>
                <a:close/>
              </a:path>
            </a:pathLst>
          </a:custGeom>
          <a:solidFill>
            <a:srgbClr val="FF65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336" name="Google Shape;336;p12"/>
          <p:cNvSpPr/>
          <p:nvPr/>
        </p:nvSpPr>
        <p:spPr>
          <a:xfrm>
            <a:off x="5821363" y="4265613"/>
            <a:ext cx="120650" cy="122237"/>
          </a:xfrm>
          <a:custGeom>
            <a:rect b="b" l="l" r="r" t="t"/>
            <a:pathLst>
              <a:path extrusionOk="0" h="121920" w="121285">
                <a:moveTo>
                  <a:pt x="61113" y="0"/>
                </a:moveTo>
                <a:lnTo>
                  <a:pt x="100203" y="14170"/>
                </a:lnTo>
                <a:lnTo>
                  <a:pt x="121072" y="49474"/>
                </a:lnTo>
                <a:lnTo>
                  <a:pt x="120070" y="66602"/>
                </a:lnTo>
                <a:lnTo>
                  <a:pt x="102140" y="105179"/>
                </a:lnTo>
                <a:lnTo>
                  <a:pt x="68279" y="121882"/>
                </a:lnTo>
                <a:lnTo>
                  <a:pt x="52127" y="120525"/>
                </a:lnTo>
                <a:lnTo>
                  <a:pt x="15146" y="100779"/>
                </a:lnTo>
                <a:lnTo>
                  <a:pt x="0" y="64570"/>
                </a:lnTo>
                <a:lnTo>
                  <a:pt x="1579" y="49321"/>
                </a:lnTo>
                <a:lnTo>
                  <a:pt x="22792" y="13770"/>
                </a:lnTo>
                <a:lnTo>
                  <a:pt x="60965" y="0"/>
                </a:lnTo>
                <a:lnTo>
                  <a:pt x="61113" y="0"/>
                </a:lnTo>
                <a:close/>
              </a:path>
            </a:pathLst>
          </a:custGeom>
          <a:noFill/>
          <a:ln cap="flat" cmpd="sng" w="127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337" name="Google Shape;337;p12"/>
          <p:cNvSpPr txBox="1"/>
          <p:nvPr/>
        </p:nvSpPr>
        <p:spPr>
          <a:xfrm>
            <a:off x="711988" y="1130300"/>
            <a:ext cx="7683600" cy="2074200"/>
          </a:xfrm>
          <a:prstGeom prst="rect">
            <a:avLst/>
          </a:prstGeom>
          <a:noFill/>
          <a:ln>
            <a:noFill/>
          </a:ln>
        </p:spPr>
        <p:txBody>
          <a:bodyPr anchorCtr="0" anchor="t" bIns="0" lIns="0" spcFirstLastPara="1" rIns="0" wrap="square" tIns="0">
            <a:spAutoFit/>
          </a:bodyPr>
          <a:lstStyle/>
          <a:p>
            <a:pPr indent="-342900" lvl="0" marL="355600" marR="0" rtl="0" algn="just">
              <a:lnSpc>
                <a:spcPct val="101000"/>
              </a:lnSpc>
              <a:spcBef>
                <a:spcPts val="0"/>
              </a:spcBef>
              <a:spcAft>
                <a:spcPts val="0"/>
              </a:spcAft>
              <a:buClr>
                <a:schemeClr val="dk1"/>
              </a:buClr>
              <a:buSzPts val="2000"/>
              <a:buFont typeface="Georgia"/>
              <a:buChar char="•"/>
            </a:pPr>
            <a:r>
              <a:rPr b="0" i="0" lang="en-US" sz="2000" u="none" cap="none" strike="noStrike">
                <a:solidFill>
                  <a:schemeClr val="dk1"/>
                </a:solidFill>
                <a:latin typeface="Georgia"/>
                <a:ea typeface="Georgia"/>
                <a:cs typeface="Georgia"/>
                <a:sym typeface="Georgia"/>
              </a:rPr>
              <a:t>Use</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8-fold</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symmetry</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and</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only</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compute</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pixel</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positions</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for</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the</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45</a:t>
            </a:r>
            <a:r>
              <a:rPr b="0" i="0" lang="en-US" sz="2000" u="none" cap="none" strike="noStrike">
                <a:solidFill>
                  <a:schemeClr val="dk1"/>
                </a:solidFill>
                <a:latin typeface="Gulim"/>
                <a:ea typeface="Gulim"/>
                <a:cs typeface="Gulim"/>
                <a:sym typeface="Gulim"/>
              </a:rPr>
              <a:t>°</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sector.</a:t>
            </a:r>
            <a:endParaRPr b="0" i="0" sz="1400" u="none" cap="none" strike="noStrike">
              <a:solidFill>
                <a:srgbClr val="000000"/>
              </a:solidFill>
              <a:latin typeface="Arial"/>
              <a:ea typeface="Arial"/>
              <a:cs typeface="Arial"/>
              <a:sym typeface="Arial"/>
            </a:endParaRPr>
          </a:p>
          <a:p>
            <a:pPr indent="-342900" lvl="0" marL="355600" marR="0" rtl="0" algn="just">
              <a:lnSpc>
                <a:spcPct val="101000"/>
              </a:lnSpc>
              <a:spcBef>
                <a:spcPts val="0"/>
              </a:spcBef>
              <a:spcAft>
                <a:spcPts val="0"/>
              </a:spcAft>
              <a:buClr>
                <a:schemeClr val="dk1"/>
              </a:buClr>
              <a:buSzPts val="2000"/>
              <a:buFont typeface="Georgia"/>
              <a:buChar char="•"/>
            </a:pPr>
            <a:r>
              <a:rPr b="0" i="0" lang="en-US" sz="2000" u="none" cap="none" strike="noStrike">
                <a:solidFill>
                  <a:schemeClr val="dk1"/>
                </a:solidFill>
                <a:latin typeface="Georgia"/>
                <a:ea typeface="Georgia"/>
                <a:cs typeface="Georgia"/>
                <a:sym typeface="Georgia"/>
              </a:rPr>
              <a:t>The</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first</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thing</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we</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can</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notice</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to</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make</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our</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circle</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drawing</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algorithm</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more</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efficient</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is</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that</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circles</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centered</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at</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(0,</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0)</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have</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eight-way</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chemeClr val="dk1"/>
                </a:solidFill>
                <a:latin typeface="Georgia"/>
                <a:ea typeface="Georgia"/>
                <a:cs typeface="Georgia"/>
                <a:sym typeface="Georgia"/>
              </a:rPr>
              <a:t>symmetry</a:t>
            </a:r>
            <a:endParaRPr b="0" i="0" sz="1400" u="none" cap="none" strike="noStrike">
              <a:solidFill>
                <a:srgbClr val="000000"/>
              </a:solidFill>
              <a:latin typeface="Arial"/>
              <a:ea typeface="Arial"/>
              <a:cs typeface="Arial"/>
              <a:sym typeface="Arial"/>
            </a:endParaRPr>
          </a:p>
          <a:p>
            <a:pPr indent="-342900" lvl="0" marL="355600" marR="0" rtl="0" algn="ctr">
              <a:lnSpc>
                <a:spcPct val="100000"/>
              </a:lnSpc>
              <a:spcBef>
                <a:spcPts val="1650"/>
              </a:spcBef>
              <a:spcAft>
                <a:spcPts val="0"/>
              </a:spcAft>
              <a:buClr>
                <a:srgbClr val="000000"/>
              </a:buClr>
              <a:buSzPts val="2000"/>
              <a:buFont typeface="Arial"/>
              <a:buNone/>
            </a:pPr>
            <a:r>
              <a:rPr b="1" i="1" lang="en-US" sz="2000" u="sng" cap="none" strike="noStrike">
                <a:solidFill>
                  <a:srgbClr val="FF6500"/>
                </a:solidFill>
                <a:latin typeface="Times New Roman"/>
                <a:ea typeface="Times New Roman"/>
                <a:cs typeface="Times New Roman"/>
                <a:sym typeface="Times New Roman"/>
              </a:rPr>
              <a:t>(-x, y)	(x, y)</a:t>
            </a:r>
            <a:endParaRPr b="1" i="0" sz="2000" u="sng" cap="none" strike="noStrike">
              <a:solidFill>
                <a:schemeClr val="dk1"/>
              </a:solidFill>
              <a:latin typeface="Times New Roman"/>
              <a:ea typeface="Times New Roman"/>
              <a:cs typeface="Times New Roman"/>
              <a:sym typeface="Times New Roman"/>
            </a:endParaRPr>
          </a:p>
        </p:txBody>
      </p:sp>
      <p:sp>
        <p:nvSpPr>
          <p:cNvPr id="338" name="Google Shape;338;p12"/>
          <p:cNvSpPr txBox="1"/>
          <p:nvPr/>
        </p:nvSpPr>
        <p:spPr>
          <a:xfrm>
            <a:off x="5970588" y="4081463"/>
            <a:ext cx="606425" cy="3048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Clr>
                <a:srgbClr val="000000"/>
              </a:buClr>
              <a:buSzPts val="2200"/>
              <a:buFont typeface="Arial"/>
              <a:buNone/>
            </a:pPr>
            <a:r>
              <a:rPr b="1" i="1" lang="en-US" sz="2200" u="sng" cap="none" strike="noStrike">
                <a:solidFill>
                  <a:srgbClr val="FF6500"/>
                </a:solidFill>
                <a:latin typeface="Times New Roman"/>
                <a:ea typeface="Times New Roman"/>
                <a:cs typeface="Times New Roman"/>
                <a:sym typeface="Times New Roman"/>
              </a:rPr>
              <a:t>(y, x)</a:t>
            </a:r>
            <a:endParaRPr b="1" i="0" sz="2200" u="sng" cap="none" strike="noStrike">
              <a:solidFill>
                <a:schemeClr val="lt1"/>
              </a:solidFill>
              <a:latin typeface="Times New Roman"/>
              <a:ea typeface="Times New Roman"/>
              <a:cs typeface="Times New Roman"/>
              <a:sym typeface="Times New Roman"/>
            </a:endParaRPr>
          </a:p>
        </p:txBody>
      </p:sp>
      <p:sp>
        <p:nvSpPr>
          <p:cNvPr id="339" name="Google Shape;339;p12"/>
          <p:cNvSpPr txBox="1"/>
          <p:nvPr/>
        </p:nvSpPr>
        <p:spPr>
          <a:xfrm>
            <a:off x="5926138" y="5102225"/>
            <a:ext cx="700087" cy="3048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Clr>
                <a:srgbClr val="000000"/>
              </a:buClr>
              <a:buSzPts val="2200"/>
              <a:buFont typeface="Arial"/>
              <a:buNone/>
            </a:pPr>
            <a:r>
              <a:rPr b="1" i="1" lang="en-US" sz="2200" u="sng" cap="none" strike="noStrike">
                <a:solidFill>
                  <a:srgbClr val="FF6500"/>
                </a:solidFill>
                <a:latin typeface="Times New Roman"/>
                <a:ea typeface="Times New Roman"/>
                <a:cs typeface="Times New Roman"/>
                <a:sym typeface="Times New Roman"/>
              </a:rPr>
              <a:t>(y, -x)</a:t>
            </a:r>
            <a:endParaRPr b="1" i="0" sz="2200" u="sng" cap="none" strike="noStrike">
              <a:solidFill>
                <a:schemeClr val="lt1"/>
              </a:solidFill>
              <a:latin typeface="Times New Roman"/>
              <a:ea typeface="Times New Roman"/>
              <a:cs typeface="Times New Roman"/>
              <a:sym typeface="Times New Roman"/>
            </a:endParaRPr>
          </a:p>
        </p:txBody>
      </p:sp>
      <p:sp>
        <p:nvSpPr>
          <p:cNvPr id="340" name="Google Shape;340;p12"/>
          <p:cNvSpPr txBox="1"/>
          <p:nvPr/>
        </p:nvSpPr>
        <p:spPr>
          <a:xfrm>
            <a:off x="5029200" y="6032500"/>
            <a:ext cx="708025" cy="3048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Clr>
                <a:srgbClr val="000000"/>
              </a:buClr>
              <a:buSzPts val="2200"/>
              <a:buFont typeface="Arial"/>
              <a:buNone/>
            </a:pPr>
            <a:r>
              <a:rPr b="1" i="1" lang="en-US" sz="2200" u="sng" cap="none" strike="noStrike">
                <a:solidFill>
                  <a:srgbClr val="FF6500"/>
                </a:solidFill>
                <a:latin typeface="Times New Roman"/>
                <a:ea typeface="Times New Roman"/>
                <a:cs typeface="Times New Roman"/>
                <a:sym typeface="Times New Roman"/>
              </a:rPr>
              <a:t>(x, -y)</a:t>
            </a:r>
            <a:endParaRPr b="1" i="0" sz="2200" u="sng" cap="none" strike="noStrike">
              <a:solidFill>
                <a:schemeClr val="lt1"/>
              </a:solidFill>
              <a:latin typeface="Times New Roman"/>
              <a:ea typeface="Times New Roman"/>
              <a:cs typeface="Times New Roman"/>
              <a:sym typeface="Times New Roman"/>
            </a:endParaRPr>
          </a:p>
        </p:txBody>
      </p:sp>
      <p:sp>
        <p:nvSpPr>
          <p:cNvPr id="341" name="Google Shape;341;p12"/>
          <p:cNvSpPr txBox="1"/>
          <p:nvPr/>
        </p:nvSpPr>
        <p:spPr>
          <a:xfrm>
            <a:off x="3357563" y="6032500"/>
            <a:ext cx="800100" cy="3048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Clr>
                <a:srgbClr val="000000"/>
              </a:buClr>
              <a:buSzPts val="2200"/>
              <a:buFont typeface="Arial"/>
              <a:buNone/>
            </a:pPr>
            <a:r>
              <a:rPr b="1" i="1" lang="en-US" sz="2200" u="sng" cap="none" strike="noStrike">
                <a:solidFill>
                  <a:srgbClr val="FF6500"/>
                </a:solidFill>
                <a:latin typeface="Times New Roman"/>
                <a:ea typeface="Times New Roman"/>
                <a:cs typeface="Times New Roman"/>
                <a:sym typeface="Times New Roman"/>
              </a:rPr>
              <a:t>(-x, -y)</a:t>
            </a:r>
            <a:endParaRPr b="1" i="0" sz="2200" u="sng" cap="none" strike="noStrike">
              <a:solidFill>
                <a:schemeClr val="lt1"/>
              </a:solidFill>
              <a:latin typeface="Times New Roman"/>
              <a:ea typeface="Times New Roman"/>
              <a:cs typeface="Times New Roman"/>
              <a:sym typeface="Times New Roman"/>
            </a:endParaRPr>
          </a:p>
        </p:txBody>
      </p:sp>
      <p:sp>
        <p:nvSpPr>
          <p:cNvPr id="342" name="Google Shape;342;p12"/>
          <p:cNvSpPr txBox="1"/>
          <p:nvPr/>
        </p:nvSpPr>
        <p:spPr>
          <a:xfrm>
            <a:off x="2379663" y="5102225"/>
            <a:ext cx="792162" cy="3048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Clr>
                <a:srgbClr val="000000"/>
              </a:buClr>
              <a:buSzPts val="2200"/>
              <a:buFont typeface="Arial"/>
              <a:buNone/>
            </a:pPr>
            <a:r>
              <a:rPr b="1" i="1" lang="en-US" sz="2200" u="sng" cap="none" strike="noStrike">
                <a:solidFill>
                  <a:srgbClr val="FF6500"/>
                </a:solidFill>
                <a:latin typeface="Times New Roman"/>
                <a:ea typeface="Times New Roman"/>
                <a:cs typeface="Times New Roman"/>
                <a:sym typeface="Times New Roman"/>
              </a:rPr>
              <a:t>(-y, -x)</a:t>
            </a:r>
            <a:endParaRPr b="1" i="0" sz="2200" u="sng" cap="none" strike="noStrike">
              <a:solidFill>
                <a:schemeClr val="lt1"/>
              </a:solidFill>
              <a:latin typeface="Times New Roman"/>
              <a:ea typeface="Times New Roman"/>
              <a:cs typeface="Times New Roman"/>
              <a:sym typeface="Times New Roman"/>
            </a:endParaRPr>
          </a:p>
        </p:txBody>
      </p:sp>
      <p:sp>
        <p:nvSpPr>
          <p:cNvPr id="343" name="Google Shape;343;p12"/>
          <p:cNvSpPr txBox="1"/>
          <p:nvPr/>
        </p:nvSpPr>
        <p:spPr>
          <a:xfrm>
            <a:off x="2465388" y="4081463"/>
            <a:ext cx="698500" cy="3048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Clr>
                <a:srgbClr val="000000"/>
              </a:buClr>
              <a:buSzPts val="2200"/>
              <a:buFont typeface="Arial"/>
              <a:buNone/>
            </a:pPr>
            <a:r>
              <a:rPr b="1" i="1" lang="en-US" sz="2200" u="sng" cap="none" strike="noStrike">
                <a:solidFill>
                  <a:srgbClr val="FF6500"/>
                </a:solidFill>
                <a:latin typeface="Times New Roman"/>
                <a:ea typeface="Times New Roman"/>
                <a:cs typeface="Times New Roman"/>
                <a:sym typeface="Times New Roman"/>
              </a:rPr>
              <a:t>(-y, x)</a:t>
            </a:r>
            <a:endParaRPr b="1" i="0" sz="2200" u="sng" cap="none" strike="noStrike">
              <a:solidFill>
                <a:schemeClr val="lt1"/>
              </a:solidFill>
              <a:latin typeface="Times New Roman"/>
              <a:ea typeface="Times New Roman"/>
              <a:cs typeface="Times New Roman"/>
              <a:sym typeface="Times New Roman"/>
            </a:endParaRPr>
          </a:p>
        </p:txBody>
      </p:sp>
      <p:sp>
        <p:nvSpPr>
          <p:cNvPr id="344" name="Google Shape;344;p12"/>
          <p:cNvSpPr/>
          <p:nvPr/>
        </p:nvSpPr>
        <p:spPr>
          <a:xfrm>
            <a:off x="3494088" y="3662363"/>
            <a:ext cx="2119312" cy="2119312"/>
          </a:xfrm>
          <a:custGeom>
            <a:rect b="b" l="l" r="r" t="t"/>
            <a:pathLst>
              <a:path extrusionOk="0" h="2119629" w="2119629">
                <a:moveTo>
                  <a:pt x="0" y="2119259"/>
                </a:moveTo>
                <a:lnTo>
                  <a:pt x="2119243" y="0"/>
                </a:lnTo>
              </a:path>
            </a:pathLst>
          </a:custGeom>
          <a:noFill/>
          <a:ln cap="flat" cmpd="sng" w="25375">
            <a:solidFill>
              <a:srgbClr val="98CC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345" name="Google Shape;345;p12"/>
          <p:cNvSpPr/>
          <p:nvPr/>
        </p:nvSpPr>
        <p:spPr>
          <a:xfrm>
            <a:off x="5541963" y="4672013"/>
            <a:ext cx="0" cy="95250"/>
          </a:xfrm>
          <a:custGeom>
            <a:rect b="b" l="l" r="r" t="t"/>
            <a:pathLst>
              <a:path extrusionOk="0" h="95250" w="120000">
                <a:moveTo>
                  <a:pt x="0" y="0"/>
                </a:moveTo>
                <a:lnTo>
                  <a:pt x="0" y="95249"/>
                </a:lnTo>
              </a:path>
            </a:pathLst>
          </a:custGeom>
          <a:noFill/>
          <a:ln cap="flat" cmpd="sng" w="25375">
            <a:solidFill>
              <a:srgbClr val="98CC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346" name="Google Shape;346;p12"/>
          <p:cNvSpPr/>
          <p:nvPr/>
        </p:nvSpPr>
        <p:spPr>
          <a:xfrm>
            <a:off x="5443538" y="5087938"/>
            <a:ext cx="19050" cy="11112"/>
          </a:xfrm>
          <a:custGeom>
            <a:rect b="b" l="l" r="r" t="t"/>
            <a:pathLst>
              <a:path extrusionOk="0" h="11429" w="19685">
                <a:moveTo>
                  <a:pt x="0" y="11085"/>
                </a:moveTo>
                <a:lnTo>
                  <a:pt x="19270"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347" name="Google Shape;347;p12"/>
          <p:cNvSpPr/>
          <p:nvPr/>
        </p:nvSpPr>
        <p:spPr>
          <a:xfrm>
            <a:off x="5462588" y="5091113"/>
            <a:ext cx="26987" cy="50800"/>
          </a:xfrm>
          <a:custGeom>
            <a:rect b="b" l="l" r="r" t="t"/>
            <a:pathLst>
              <a:path extrusionOk="0" h="50800" w="27939">
                <a:moveTo>
                  <a:pt x="0" y="0"/>
                </a:moveTo>
                <a:lnTo>
                  <a:pt x="27861" y="50626"/>
                </a:lnTo>
              </a:path>
            </a:pathLst>
          </a:custGeom>
          <a:noFill/>
          <a:ln cap="flat" cmpd="sng" w="1247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348" name="Google Shape;348;p12"/>
          <p:cNvSpPr/>
          <p:nvPr/>
        </p:nvSpPr>
        <p:spPr>
          <a:xfrm>
            <a:off x="5492750" y="4991100"/>
            <a:ext cx="38100" cy="150813"/>
          </a:xfrm>
          <a:custGeom>
            <a:rect b="b" l="l" r="r" t="t"/>
            <a:pathLst>
              <a:path extrusionOk="0" h="150495" w="37464">
                <a:moveTo>
                  <a:pt x="0" y="150364"/>
                </a:moveTo>
                <a:lnTo>
                  <a:pt x="37027"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349" name="Google Shape;349;p12"/>
          <p:cNvSpPr/>
          <p:nvPr/>
        </p:nvSpPr>
        <p:spPr>
          <a:xfrm>
            <a:off x="5530850" y="4991100"/>
            <a:ext cx="90488" cy="0"/>
          </a:xfrm>
          <a:custGeom>
            <a:rect b="b" l="l" r="r" t="t"/>
            <a:pathLst>
              <a:path extrusionOk="0" h="120000" w="90804">
                <a:moveTo>
                  <a:pt x="0" y="0"/>
                </a:moveTo>
                <a:lnTo>
                  <a:pt x="90391"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350" name="Google Shape;350;p12"/>
          <p:cNvSpPr/>
          <p:nvPr/>
        </p:nvSpPr>
        <p:spPr>
          <a:xfrm>
            <a:off x="5427663" y="4968875"/>
            <a:ext cx="206375" cy="0"/>
          </a:xfrm>
          <a:custGeom>
            <a:rect b="b" l="l" r="r" t="t"/>
            <a:pathLst>
              <a:path extrusionOk="0" h="120000" w="206375">
                <a:moveTo>
                  <a:pt x="0" y="0"/>
                </a:moveTo>
                <a:lnTo>
                  <a:pt x="205951" y="0"/>
                </a:lnTo>
              </a:path>
            </a:pathLst>
          </a:custGeom>
          <a:noFill/>
          <a:ln cap="flat" cmpd="sng" w="9525">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351" name="Google Shape;351;p12"/>
          <p:cNvSpPr txBox="1"/>
          <p:nvPr/>
        </p:nvSpPr>
        <p:spPr>
          <a:xfrm>
            <a:off x="5527675" y="5006975"/>
            <a:ext cx="100013" cy="1778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Clr>
                <a:srgbClr val="000000"/>
              </a:buClr>
              <a:buSzPts val="1200"/>
              <a:buFont typeface="Arial"/>
              <a:buNone/>
            </a:pPr>
            <a:r>
              <a:rPr b="1" i="0" lang="en-US" sz="1200" u="sng" cap="none" strike="noStrike">
                <a:solidFill>
                  <a:schemeClr val="lt1"/>
                </a:solidFill>
                <a:latin typeface="Times New Roman"/>
                <a:ea typeface="Times New Roman"/>
                <a:cs typeface="Times New Roman"/>
                <a:sym typeface="Times New Roman"/>
              </a:rPr>
              <a:t>2</a:t>
            </a:r>
            <a:endParaRPr b="1" i="0" sz="1200" u="sng" cap="none" strike="noStrike">
              <a:solidFill>
                <a:schemeClr val="lt1"/>
              </a:solidFill>
              <a:latin typeface="Times New Roman"/>
              <a:ea typeface="Times New Roman"/>
              <a:cs typeface="Times New Roman"/>
              <a:sym typeface="Times New Roman"/>
            </a:endParaRPr>
          </a:p>
        </p:txBody>
      </p:sp>
      <p:sp>
        <p:nvSpPr>
          <p:cNvPr id="352" name="Google Shape;352;p12"/>
          <p:cNvSpPr txBox="1"/>
          <p:nvPr/>
        </p:nvSpPr>
        <p:spPr>
          <a:xfrm>
            <a:off x="5473700" y="4781550"/>
            <a:ext cx="117475" cy="1778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Clr>
                <a:srgbClr val="000000"/>
              </a:buClr>
              <a:buSzPts val="1200"/>
              <a:buFont typeface="Arial"/>
              <a:buNone/>
            </a:pPr>
            <a:r>
              <a:rPr b="1" i="1" lang="en-US" sz="1200" u="sng" cap="none" strike="noStrike">
                <a:solidFill>
                  <a:schemeClr val="lt1"/>
                </a:solidFill>
                <a:latin typeface="Times New Roman"/>
                <a:ea typeface="Times New Roman"/>
                <a:cs typeface="Times New Roman"/>
                <a:sym typeface="Times New Roman"/>
              </a:rPr>
              <a:t>R</a:t>
            </a:r>
            <a:endParaRPr b="1" i="0" sz="1200" u="sng" cap="none" strike="noStrike">
              <a:solidFill>
                <a:schemeClr val="lt1"/>
              </a:solidFill>
              <a:latin typeface="Times New Roman"/>
              <a:ea typeface="Times New Roman"/>
              <a:cs typeface="Times New Roman"/>
              <a:sym typeface="Times New Roman"/>
            </a:endParaRPr>
          </a:p>
        </p:txBody>
      </p:sp>
      <p:sp>
        <p:nvSpPr>
          <p:cNvPr id="353" name="Google Shape;353;p12"/>
          <p:cNvSpPr/>
          <p:nvPr/>
        </p:nvSpPr>
        <p:spPr>
          <a:xfrm>
            <a:off x="3494088" y="3662363"/>
            <a:ext cx="2119312" cy="2119312"/>
          </a:xfrm>
          <a:custGeom>
            <a:rect b="b" l="l" r="r" t="t"/>
            <a:pathLst>
              <a:path extrusionOk="0" h="2119629" w="2119629">
                <a:moveTo>
                  <a:pt x="2119243" y="2119259"/>
                </a:moveTo>
                <a:lnTo>
                  <a:pt x="0" y="0"/>
                </a:lnTo>
              </a:path>
            </a:pathLst>
          </a:custGeom>
          <a:noFill/>
          <a:ln cap="flat" cmpd="sng" w="25375">
            <a:solidFill>
              <a:srgbClr val="98CC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354" name="Google Shape;354;p12"/>
          <p:cNvSpPr/>
          <p:nvPr/>
        </p:nvSpPr>
        <p:spPr>
          <a:xfrm>
            <a:off x="4557713" y="3209925"/>
            <a:ext cx="0" cy="2974975"/>
          </a:xfrm>
          <a:custGeom>
            <a:rect b="b" l="l" r="r" t="t"/>
            <a:pathLst>
              <a:path extrusionOk="0" h="2975610" w="635">
                <a:moveTo>
                  <a:pt x="0" y="2974994"/>
                </a:moveTo>
                <a:lnTo>
                  <a:pt x="0" y="0"/>
                </a:lnTo>
              </a:path>
            </a:pathLst>
          </a:custGeom>
          <a:noFill/>
          <a:ln cap="flat" cmpd="sng" w="25375">
            <a:solidFill>
              <a:srgbClr val="98CC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355" name="Google Shape;355;p12"/>
          <p:cNvSpPr/>
          <p:nvPr/>
        </p:nvSpPr>
        <p:spPr>
          <a:xfrm>
            <a:off x="3070225" y="4724400"/>
            <a:ext cx="2974975" cy="0"/>
          </a:xfrm>
          <a:custGeom>
            <a:rect b="b" l="l" r="r" t="t"/>
            <a:pathLst>
              <a:path extrusionOk="0" h="120000" w="2974975">
                <a:moveTo>
                  <a:pt x="0" y="0"/>
                </a:moveTo>
                <a:lnTo>
                  <a:pt x="2974969" y="0"/>
                </a:lnTo>
              </a:path>
            </a:pathLst>
          </a:custGeom>
          <a:noFill/>
          <a:ln cap="flat" cmpd="sng" w="25375">
            <a:solidFill>
              <a:srgbClr val="98CC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lt1"/>
              </a:solidFill>
              <a:latin typeface="Arial"/>
              <a:ea typeface="Arial"/>
              <a:cs typeface="Arial"/>
              <a:sym typeface="Arial"/>
            </a:endParaRPr>
          </a:p>
        </p:txBody>
      </p:sp>
      <p:sp>
        <p:nvSpPr>
          <p:cNvPr id="356" name="Google Shape;356;p12"/>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88888"/>
              </a:buClr>
              <a:buSzPts val="900"/>
              <a:buNone/>
            </a:pPr>
            <a:r>
              <a:rPr lang="en-US" u="none"/>
              <a:t>Department of CSE, Daffodil International University</a:t>
            </a:r>
            <a:endParaRPr u="none"/>
          </a:p>
        </p:txBody>
      </p:sp>
      <p:sp>
        <p:nvSpPr>
          <p:cNvPr id="357" name="Google Shape;357;p12"/>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900"/>
              <a:buNone/>
            </a:pPr>
            <a:fld id="{00000000-1234-1234-1234-123412341234}" type="slidenum">
              <a:rPr b="1" lang="en-US" sz="900" u="sng">
                <a:solidFill>
                  <a:srgbClr val="898989"/>
                </a:solidFill>
                <a:latin typeface="Arial"/>
                <a:ea typeface="Arial"/>
                <a:cs typeface="Arial"/>
                <a:sym typeface="Arial"/>
              </a:rPr>
              <a:t>‹#›</a:t>
            </a:fld>
            <a:endParaRPr b="1" sz="900" u="sng">
              <a:solidFill>
                <a:srgbClr val="898989"/>
              </a:solidFill>
              <a:latin typeface="Arial"/>
              <a:ea typeface="Arial"/>
              <a:cs typeface="Arial"/>
              <a:sym typeface="Arial"/>
            </a:endParaRPr>
          </a:p>
        </p:txBody>
      </p:sp>
      <p:sp>
        <p:nvSpPr>
          <p:cNvPr id="358" name="Google Shape;358;p12"/>
          <p:cNvSpPr txBox="1"/>
          <p:nvPr/>
        </p:nvSpPr>
        <p:spPr>
          <a:xfrm>
            <a:off x="175500" y="151200"/>
            <a:ext cx="8113500" cy="685800"/>
          </a:xfrm>
          <a:prstGeom prst="rect">
            <a:avLst/>
          </a:prstGeom>
          <a:solidFill>
            <a:srgbClr val="4285F4"/>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Calibri"/>
                <a:ea typeface="Calibri"/>
                <a:cs typeface="Calibri"/>
                <a:sym typeface="Calibri"/>
              </a:rPr>
              <a:t>			</a:t>
            </a:r>
            <a:endParaRPr b="1"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Times New Roman"/>
                <a:ea typeface="Times New Roman"/>
                <a:cs typeface="Times New Roman"/>
                <a:sym typeface="Times New Roman"/>
              </a:rPr>
              <a:t>Mid Point Circle Drawing Algorithm</a:t>
            </a:r>
            <a:endParaRPr b="0"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t/>
            </a:r>
            <a:endParaRPr b="1" i="0" sz="3300" u="none" cap="none" strike="noStrike">
              <a:solidFill>
                <a:schemeClr val="dk1"/>
              </a:solidFill>
              <a:latin typeface="Times New Roman"/>
              <a:ea typeface="Times New Roman"/>
              <a:cs typeface="Times New Roman"/>
              <a:sym typeface="Times New Roman"/>
            </a:endParaRPr>
          </a:p>
        </p:txBody>
      </p:sp>
      <p:pic>
        <p:nvPicPr>
          <p:cNvPr id="359" name="Google Shape;359;p12"/>
          <p:cNvPicPr preferRelativeResize="0"/>
          <p:nvPr/>
        </p:nvPicPr>
        <p:blipFill rotWithShape="1">
          <a:blip r:embed="rId4">
            <a:alphaModFix/>
          </a:blip>
          <a:srcRect b="0" l="0" r="0" t="0"/>
          <a:stretch/>
        </p:blipFill>
        <p:spPr>
          <a:xfrm>
            <a:off x="8050200" y="151200"/>
            <a:ext cx="1371600" cy="685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13"/>
          <p:cNvSpPr txBox="1"/>
          <p:nvPr>
            <p:ph idx="1" type="body"/>
          </p:nvPr>
        </p:nvSpPr>
        <p:spPr>
          <a:xfrm>
            <a:off x="652463" y="1268413"/>
            <a:ext cx="8002587" cy="5222875"/>
          </a:xfrm>
          <a:prstGeom prst="rect">
            <a:avLst/>
          </a:prstGeom>
          <a:noFill/>
          <a:ln>
            <a:noFill/>
          </a:ln>
        </p:spPr>
        <p:txBody>
          <a:bodyPr anchorCtr="0" anchor="t" bIns="45700" lIns="91425" spcFirstLastPara="1" rIns="91425" wrap="square" tIns="45700">
            <a:noAutofit/>
          </a:bodyPr>
          <a:lstStyle/>
          <a:p>
            <a:pPr indent="-571500" lvl="0" marL="571500" rtl="0" algn="l">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Points are generated from 90º to 45º, moves will be made only in the  +x  and –y direction.</a:t>
            </a:r>
            <a:endParaRPr/>
          </a:p>
          <a:p>
            <a:pPr indent="-571500" lvl="0" marL="571500" rtl="0" algn="l">
              <a:lnSpc>
                <a:spcPct val="90000"/>
              </a:lnSpc>
              <a:spcBef>
                <a:spcPts val="750"/>
              </a:spcBef>
              <a:spcAft>
                <a:spcPts val="0"/>
              </a:spcAft>
              <a:buClr>
                <a:schemeClr val="dk1"/>
              </a:buClr>
              <a:buSzPts val="2400"/>
              <a:buChar char="•"/>
            </a:pPr>
            <a:r>
              <a:rPr lang="en-US" sz="2400">
                <a:latin typeface="Times New Roman"/>
                <a:ea typeface="Times New Roman"/>
                <a:cs typeface="Times New Roman"/>
                <a:sym typeface="Times New Roman"/>
              </a:rPr>
              <a:t>positive x direction over this octant and use a </a:t>
            </a:r>
            <a:r>
              <a:rPr b="1" lang="en-US" sz="2400">
                <a:latin typeface="Times New Roman"/>
                <a:ea typeface="Times New Roman"/>
                <a:cs typeface="Times New Roman"/>
                <a:sym typeface="Times New Roman"/>
              </a:rPr>
              <a:t>decision parameter</a:t>
            </a:r>
            <a:endParaRPr/>
          </a:p>
        </p:txBody>
      </p:sp>
      <p:pic>
        <p:nvPicPr>
          <p:cNvPr descr="c3" id="365" name="Google Shape;365;p13"/>
          <p:cNvPicPr preferRelativeResize="0"/>
          <p:nvPr>
            <p:ph idx="2" type="body"/>
          </p:nvPr>
        </p:nvPicPr>
        <p:blipFill rotWithShape="1">
          <a:blip r:embed="rId3">
            <a:alphaModFix/>
          </a:blip>
          <a:srcRect b="0" l="0" r="0" t="0"/>
          <a:stretch/>
        </p:blipFill>
        <p:spPr>
          <a:xfrm>
            <a:off x="2843213" y="2781300"/>
            <a:ext cx="2971800" cy="2824163"/>
          </a:xfrm>
          <a:prstGeom prst="rect">
            <a:avLst/>
          </a:prstGeom>
          <a:noFill/>
          <a:ln>
            <a:noFill/>
          </a:ln>
        </p:spPr>
      </p:pic>
      <p:sp>
        <p:nvSpPr>
          <p:cNvPr id="366" name="Google Shape;366;p13"/>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88888"/>
              </a:buClr>
              <a:buSzPts val="900"/>
              <a:buNone/>
            </a:pPr>
            <a:r>
              <a:rPr lang="en-US" u="none"/>
              <a:t>Department of CSE, Daffodil International University</a:t>
            </a:r>
            <a:endParaRPr u="none"/>
          </a:p>
        </p:txBody>
      </p:sp>
      <p:sp>
        <p:nvSpPr>
          <p:cNvPr id="367" name="Google Shape;367;p13"/>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900"/>
              <a:buNone/>
            </a:pPr>
            <a:fld id="{00000000-1234-1234-1234-123412341234}" type="slidenum">
              <a:rPr b="1" lang="en-US" sz="900" u="sng">
                <a:solidFill>
                  <a:srgbClr val="898989"/>
                </a:solidFill>
                <a:latin typeface="Arial"/>
                <a:ea typeface="Arial"/>
                <a:cs typeface="Arial"/>
                <a:sym typeface="Arial"/>
              </a:rPr>
              <a:t>‹#›</a:t>
            </a:fld>
            <a:endParaRPr b="1" sz="900" u="sng">
              <a:solidFill>
                <a:srgbClr val="898989"/>
              </a:solidFill>
              <a:latin typeface="Arial"/>
              <a:ea typeface="Arial"/>
              <a:cs typeface="Arial"/>
              <a:sym typeface="Arial"/>
            </a:endParaRPr>
          </a:p>
        </p:txBody>
      </p:sp>
      <p:sp>
        <p:nvSpPr>
          <p:cNvPr id="368" name="Google Shape;368;p13"/>
          <p:cNvSpPr txBox="1"/>
          <p:nvPr/>
        </p:nvSpPr>
        <p:spPr>
          <a:xfrm>
            <a:off x="175500" y="151200"/>
            <a:ext cx="8113500" cy="685800"/>
          </a:xfrm>
          <a:prstGeom prst="rect">
            <a:avLst/>
          </a:prstGeom>
          <a:solidFill>
            <a:srgbClr val="4285F4"/>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Calibri"/>
                <a:ea typeface="Calibri"/>
                <a:cs typeface="Calibri"/>
                <a:sym typeface="Calibri"/>
              </a:rPr>
              <a:t>			</a:t>
            </a:r>
            <a:endParaRPr b="1"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Times New Roman"/>
                <a:ea typeface="Times New Roman"/>
                <a:cs typeface="Times New Roman"/>
                <a:sym typeface="Times New Roman"/>
              </a:rPr>
              <a:t>Mid Point Circle Drawing Algorithm</a:t>
            </a:r>
            <a:endParaRPr b="0"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t/>
            </a:r>
            <a:endParaRPr b="1" i="0" sz="3300" u="none" cap="none" strike="noStrike">
              <a:solidFill>
                <a:schemeClr val="dk1"/>
              </a:solidFill>
              <a:latin typeface="Times New Roman"/>
              <a:ea typeface="Times New Roman"/>
              <a:cs typeface="Times New Roman"/>
              <a:sym typeface="Times New Roman"/>
            </a:endParaRPr>
          </a:p>
        </p:txBody>
      </p:sp>
      <p:pic>
        <p:nvPicPr>
          <p:cNvPr id="369" name="Google Shape;369;p13"/>
          <p:cNvPicPr preferRelativeResize="0"/>
          <p:nvPr/>
        </p:nvPicPr>
        <p:blipFill rotWithShape="1">
          <a:blip r:embed="rId4">
            <a:alphaModFix/>
          </a:blip>
          <a:srcRect b="0" l="0" r="0" t="0"/>
          <a:stretch/>
        </p:blipFill>
        <p:spPr>
          <a:xfrm>
            <a:off x="8050200" y="151200"/>
            <a:ext cx="1371600" cy="6858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14"/>
          <p:cNvSpPr txBox="1"/>
          <p:nvPr>
            <p:ph idx="1" type="body"/>
          </p:nvPr>
        </p:nvSpPr>
        <p:spPr>
          <a:xfrm>
            <a:off x="457200" y="908050"/>
            <a:ext cx="8435975" cy="5222875"/>
          </a:xfrm>
          <a:prstGeom prst="rect">
            <a:avLst/>
          </a:prstGeom>
          <a:noFill/>
          <a:ln>
            <a:noFill/>
          </a:ln>
        </p:spPr>
        <p:txBody>
          <a:bodyPr anchorCtr="0" anchor="t" bIns="45700" lIns="91425" spcFirstLastPara="1" rIns="91425" wrap="square" tIns="45700">
            <a:noAutofit/>
          </a:bodyPr>
          <a:lstStyle/>
          <a:p>
            <a:pPr indent="-419100" lvl="0" marL="571500" rtl="0" algn="l">
              <a:lnSpc>
                <a:spcPct val="90000"/>
              </a:lnSpc>
              <a:spcBef>
                <a:spcPts val="0"/>
              </a:spcBef>
              <a:spcAft>
                <a:spcPts val="0"/>
              </a:spcAft>
              <a:buClr>
                <a:schemeClr val="dk1"/>
              </a:buClr>
              <a:buSzPts val="2400"/>
              <a:buNone/>
            </a:pPr>
            <a:r>
              <a:t/>
            </a:r>
            <a:endParaRPr sz="2400">
              <a:latin typeface="Times New Roman"/>
              <a:ea typeface="Times New Roman"/>
              <a:cs typeface="Times New Roman"/>
              <a:sym typeface="Times New Roman"/>
            </a:endParaRPr>
          </a:p>
          <a:p>
            <a:pPr indent="-571500" lvl="0" marL="571500" rtl="0" algn="l">
              <a:lnSpc>
                <a:spcPct val="90000"/>
              </a:lnSpc>
              <a:spcBef>
                <a:spcPts val="750"/>
              </a:spcBef>
              <a:spcAft>
                <a:spcPts val="0"/>
              </a:spcAft>
              <a:buClr>
                <a:schemeClr val="dk1"/>
              </a:buClr>
              <a:buSzPts val="2400"/>
              <a:buChar char="•"/>
            </a:pPr>
            <a:r>
              <a:rPr lang="en-US" sz="2400">
                <a:latin typeface="Times New Roman"/>
                <a:ea typeface="Times New Roman"/>
                <a:cs typeface="Times New Roman"/>
                <a:sym typeface="Times New Roman"/>
              </a:rPr>
              <a:t>considering the symmetry of circles</a:t>
            </a:r>
            <a:endParaRPr/>
          </a:p>
        </p:txBody>
      </p:sp>
      <p:pic>
        <p:nvPicPr>
          <p:cNvPr descr="symmetry8" id="375" name="Google Shape;375;p14"/>
          <p:cNvPicPr preferRelativeResize="0"/>
          <p:nvPr>
            <p:ph idx="2" type="body"/>
          </p:nvPr>
        </p:nvPicPr>
        <p:blipFill rotWithShape="1">
          <a:blip r:embed="rId3">
            <a:alphaModFix/>
          </a:blip>
          <a:srcRect b="0" l="0" r="0" t="0"/>
          <a:stretch/>
        </p:blipFill>
        <p:spPr>
          <a:xfrm>
            <a:off x="395288" y="2276475"/>
            <a:ext cx="3730625" cy="3744913"/>
          </a:xfrm>
          <a:prstGeom prst="rect">
            <a:avLst/>
          </a:prstGeom>
          <a:solidFill>
            <a:schemeClr val="lt1"/>
          </a:solidFill>
          <a:ln>
            <a:noFill/>
          </a:ln>
        </p:spPr>
      </p:pic>
      <p:pic>
        <p:nvPicPr>
          <p:cNvPr descr="c2" id="376" name="Google Shape;376;p14"/>
          <p:cNvPicPr preferRelativeResize="0"/>
          <p:nvPr>
            <p:ph idx="3" type="body"/>
          </p:nvPr>
        </p:nvPicPr>
        <p:blipFill rotWithShape="1">
          <a:blip r:embed="rId4">
            <a:alphaModFix/>
          </a:blip>
          <a:srcRect b="0" l="0" r="0" t="0"/>
          <a:stretch/>
        </p:blipFill>
        <p:spPr>
          <a:xfrm>
            <a:off x="4356100" y="2276475"/>
            <a:ext cx="4248150" cy="3776663"/>
          </a:xfrm>
          <a:prstGeom prst="rect">
            <a:avLst/>
          </a:prstGeom>
          <a:noFill/>
          <a:ln>
            <a:noFill/>
          </a:ln>
        </p:spPr>
      </p:pic>
      <p:sp>
        <p:nvSpPr>
          <p:cNvPr id="377" name="Google Shape;377;p14"/>
          <p:cNvSpPr txBox="1"/>
          <p:nvPr/>
        </p:nvSpPr>
        <p:spPr>
          <a:xfrm>
            <a:off x="2627313" y="6021388"/>
            <a:ext cx="3600450" cy="5191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2800"/>
              <a:buFont typeface="Arial"/>
              <a:buNone/>
            </a:pPr>
            <a:r>
              <a:rPr b="1" i="0" lang="en-US" sz="2800" u="none" cap="none" strike="noStrike">
                <a:solidFill>
                  <a:schemeClr val="lt1"/>
                </a:solidFill>
                <a:latin typeface="Times New Roman"/>
                <a:ea typeface="Times New Roman"/>
                <a:cs typeface="Times New Roman"/>
                <a:sym typeface="Times New Roman"/>
              </a:rPr>
              <a:t> 8 -Way symmetry</a:t>
            </a:r>
            <a:endParaRPr b="0" i="0" sz="1400" u="none" cap="none" strike="noStrike">
              <a:solidFill>
                <a:srgbClr val="000000"/>
              </a:solidFill>
              <a:latin typeface="Arial"/>
              <a:ea typeface="Arial"/>
              <a:cs typeface="Arial"/>
              <a:sym typeface="Arial"/>
            </a:endParaRPr>
          </a:p>
        </p:txBody>
      </p:sp>
      <p:sp>
        <p:nvSpPr>
          <p:cNvPr id="378" name="Google Shape;378;p14"/>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88888"/>
              </a:buClr>
              <a:buSzPts val="900"/>
              <a:buNone/>
            </a:pPr>
            <a:r>
              <a:rPr lang="en-US" u="none"/>
              <a:t>Department of CSE, Daffodil International University</a:t>
            </a:r>
            <a:endParaRPr u="none"/>
          </a:p>
        </p:txBody>
      </p:sp>
      <p:sp>
        <p:nvSpPr>
          <p:cNvPr id="379" name="Google Shape;379;p14"/>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900"/>
              <a:buNone/>
            </a:pPr>
            <a:fld id="{00000000-1234-1234-1234-123412341234}" type="slidenum">
              <a:rPr b="1" lang="en-US" sz="900" u="sng">
                <a:solidFill>
                  <a:srgbClr val="898989"/>
                </a:solidFill>
                <a:latin typeface="Arial"/>
                <a:ea typeface="Arial"/>
                <a:cs typeface="Arial"/>
                <a:sym typeface="Arial"/>
              </a:rPr>
              <a:t>‹#›</a:t>
            </a:fld>
            <a:endParaRPr b="1" sz="900" u="sng">
              <a:solidFill>
                <a:srgbClr val="898989"/>
              </a:solidFill>
              <a:latin typeface="Arial"/>
              <a:ea typeface="Arial"/>
              <a:cs typeface="Arial"/>
              <a:sym typeface="Arial"/>
            </a:endParaRPr>
          </a:p>
        </p:txBody>
      </p:sp>
      <p:sp>
        <p:nvSpPr>
          <p:cNvPr id="380" name="Google Shape;380;p14"/>
          <p:cNvSpPr txBox="1"/>
          <p:nvPr/>
        </p:nvSpPr>
        <p:spPr>
          <a:xfrm>
            <a:off x="175500" y="151200"/>
            <a:ext cx="8113500" cy="685800"/>
          </a:xfrm>
          <a:prstGeom prst="rect">
            <a:avLst/>
          </a:prstGeom>
          <a:solidFill>
            <a:srgbClr val="4285F4"/>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Calibri"/>
                <a:ea typeface="Calibri"/>
                <a:cs typeface="Calibri"/>
                <a:sym typeface="Calibri"/>
              </a:rPr>
              <a:t>			</a:t>
            </a:r>
            <a:endParaRPr b="1"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Times New Roman"/>
                <a:ea typeface="Times New Roman"/>
                <a:cs typeface="Times New Roman"/>
                <a:sym typeface="Times New Roman"/>
              </a:rPr>
              <a:t>Mid Point Circle Drawing Algorithm</a:t>
            </a:r>
            <a:endParaRPr b="0"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t/>
            </a:r>
            <a:endParaRPr b="1" i="0" sz="3300" u="none" cap="none" strike="noStrike">
              <a:solidFill>
                <a:schemeClr val="dk1"/>
              </a:solidFill>
              <a:latin typeface="Times New Roman"/>
              <a:ea typeface="Times New Roman"/>
              <a:cs typeface="Times New Roman"/>
              <a:sym typeface="Times New Roman"/>
            </a:endParaRPr>
          </a:p>
        </p:txBody>
      </p:sp>
      <p:pic>
        <p:nvPicPr>
          <p:cNvPr id="381" name="Google Shape;381;p14"/>
          <p:cNvPicPr preferRelativeResize="0"/>
          <p:nvPr/>
        </p:nvPicPr>
        <p:blipFill rotWithShape="1">
          <a:blip r:embed="rId5">
            <a:alphaModFix/>
          </a:blip>
          <a:srcRect b="0" l="0" r="0" t="0"/>
          <a:stretch/>
        </p:blipFill>
        <p:spPr>
          <a:xfrm>
            <a:off x="8050200" y="151200"/>
            <a:ext cx="1371600" cy="685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15"/>
          <p:cNvSpPr txBox="1"/>
          <p:nvPr>
            <p:ph idx="1" type="body"/>
          </p:nvPr>
        </p:nvSpPr>
        <p:spPr>
          <a:xfrm>
            <a:off x="639763" y="1412875"/>
            <a:ext cx="8218487" cy="5149850"/>
          </a:xfrm>
          <a:prstGeom prst="rect">
            <a:avLst/>
          </a:prstGeom>
          <a:noFill/>
          <a:ln>
            <a:noFill/>
          </a:ln>
        </p:spPr>
        <p:txBody>
          <a:bodyPr anchorCtr="0" anchor="t" bIns="45700" lIns="91425" spcFirstLastPara="1" rIns="91425" wrap="square" tIns="45700">
            <a:noAutofit/>
          </a:bodyPr>
          <a:lstStyle/>
          <a:p>
            <a:pPr indent="-571500" lvl="0" marL="571500" rtl="0" algn="l">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As in the line algorithm, we sample at unit intervals and determine the closet pixel position to the circle path at each step.</a:t>
            </a:r>
            <a:endParaRPr/>
          </a:p>
          <a:p>
            <a:pPr indent="-342900" lvl="0" marL="571500" rtl="0" algn="l">
              <a:lnSpc>
                <a:spcPct val="90000"/>
              </a:lnSpc>
              <a:spcBef>
                <a:spcPts val="750"/>
              </a:spcBef>
              <a:spcAft>
                <a:spcPts val="0"/>
              </a:spcAft>
              <a:buClr>
                <a:schemeClr val="dk1"/>
              </a:buClr>
              <a:buSzPts val="3600"/>
              <a:buNone/>
            </a:pPr>
            <a:r>
              <a:t/>
            </a:r>
            <a:endParaRPr sz="3600">
              <a:solidFill>
                <a:schemeClr val="lt1"/>
              </a:solidFill>
              <a:latin typeface="Times New Roman"/>
              <a:ea typeface="Times New Roman"/>
              <a:cs typeface="Times New Roman"/>
              <a:sym typeface="Times New Roman"/>
            </a:endParaRPr>
          </a:p>
        </p:txBody>
      </p:sp>
      <p:pic>
        <p:nvPicPr>
          <p:cNvPr descr="c4" id="387" name="Google Shape;387;p15"/>
          <p:cNvPicPr preferRelativeResize="0"/>
          <p:nvPr>
            <p:ph idx="2" type="body"/>
          </p:nvPr>
        </p:nvPicPr>
        <p:blipFill rotWithShape="1">
          <a:blip r:embed="rId3">
            <a:alphaModFix/>
          </a:blip>
          <a:srcRect b="0" l="0" r="0" t="0"/>
          <a:stretch/>
        </p:blipFill>
        <p:spPr>
          <a:xfrm>
            <a:off x="234950" y="3068638"/>
            <a:ext cx="4033838" cy="3306762"/>
          </a:xfrm>
          <a:prstGeom prst="rect">
            <a:avLst/>
          </a:prstGeom>
          <a:noFill/>
          <a:ln>
            <a:noFill/>
          </a:ln>
        </p:spPr>
      </p:pic>
      <p:pic>
        <p:nvPicPr>
          <p:cNvPr descr="midPoint" id="388" name="Google Shape;388;p15"/>
          <p:cNvPicPr preferRelativeResize="0"/>
          <p:nvPr>
            <p:ph idx="3" type="body"/>
          </p:nvPr>
        </p:nvPicPr>
        <p:blipFill rotWithShape="1">
          <a:blip r:embed="rId4">
            <a:alphaModFix/>
          </a:blip>
          <a:srcRect b="0" l="0" r="0" t="0"/>
          <a:stretch/>
        </p:blipFill>
        <p:spPr>
          <a:xfrm>
            <a:off x="4268788" y="2974975"/>
            <a:ext cx="4572000" cy="3440113"/>
          </a:xfrm>
          <a:prstGeom prst="rect">
            <a:avLst/>
          </a:prstGeom>
          <a:solidFill>
            <a:schemeClr val="lt1"/>
          </a:solidFill>
          <a:ln>
            <a:noFill/>
          </a:ln>
        </p:spPr>
      </p:pic>
      <p:sp>
        <p:nvSpPr>
          <p:cNvPr id="389" name="Google Shape;389;p15"/>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88888"/>
              </a:buClr>
              <a:buSzPts val="900"/>
              <a:buNone/>
            </a:pPr>
            <a:r>
              <a:rPr lang="en-US" u="none"/>
              <a:t>Department of CSE, Daffodil International University</a:t>
            </a:r>
            <a:endParaRPr u="none"/>
          </a:p>
        </p:txBody>
      </p:sp>
      <p:sp>
        <p:nvSpPr>
          <p:cNvPr id="390" name="Google Shape;390;p15"/>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900"/>
              <a:buNone/>
            </a:pPr>
            <a:fld id="{00000000-1234-1234-1234-123412341234}" type="slidenum">
              <a:rPr b="1" lang="en-US" sz="900" u="sng">
                <a:solidFill>
                  <a:srgbClr val="898989"/>
                </a:solidFill>
                <a:latin typeface="Arial"/>
                <a:ea typeface="Arial"/>
                <a:cs typeface="Arial"/>
                <a:sym typeface="Arial"/>
              </a:rPr>
              <a:t>‹#›</a:t>
            </a:fld>
            <a:endParaRPr b="1" sz="900" u="sng">
              <a:solidFill>
                <a:srgbClr val="898989"/>
              </a:solidFill>
              <a:latin typeface="Arial"/>
              <a:ea typeface="Arial"/>
              <a:cs typeface="Arial"/>
              <a:sym typeface="Arial"/>
            </a:endParaRPr>
          </a:p>
        </p:txBody>
      </p:sp>
      <p:sp>
        <p:nvSpPr>
          <p:cNvPr id="391" name="Google Shape;391;p15"/>
          <p:cNvSpPr txBox="1"/>
          <p:nvPr/>
        </p:nvSpPr>
        <p:spPr>
          <a:xfrm>
            <a:off x="175500" y="151200"/>
            <a:ext cx="8113500" cy="685800"/>
          </a:xfrm>
          <a:prstGeom prst="rect">
            <a:avLst/>
          </a:prstGeom>
          <a:solidFill>
            <a:srgbClr val="4285F4"/>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Calibri"/>
                <a:ea typeface="Calibri"/>
                <a:cs typeface="Calibri"/>
                <a:sym typeface="Calibri"/>
              </a:rPr>
              <a:t>			</a:t>
            </a:r>
            <a:endParaRPr b="1"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Times New Roman"/>
                <a:ea typeface="Times New Roman"/>
                <a:cs typeface="Times New Roman"/>
                <a:sym typeface="Times New Roman"/>
              </a:rPr>
              <a:t>Mid Point Circle Drawing Algorithm</a:t>
            </a:r>
            <a:endParaRPr b="0"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t/>
            </a:r>
            <a:endParaRPr b="1" i="0" sz="3300" u="none" cap="none" strike="noStrike">
              <a:solidFill>
                <a:schemeClr val="dk1"/>
              </a:solidFill>
              <a:latin typeface="Times New Roman"/>
              <a:ea typeface="Times New Roman"/>
              <a:cs typeface="Times New Roman"/>
              <a:sym typeface="Times New Roman"/>
            </a:endParaRPr>
          </a:p>
        </p:txBody>
      </p:sp>
      <p:pic>
        <p:nvPicPr>
          <p:cNvPr id="392" name="Google Shape;392;p15"/>
          <p:cNvPicPr preferRelativeResize="0"/>
          <p:nvPr/>
        </p:nvPicPr>
        <p:blipFill rotWithShape="1">
          <a:blip r:embed="rId5">
            <a:alphaModFix/>
          </a:blip>
          <a:srcRect b="0" l="0" r="0" t="0"/>
          <a:stretch/>
        </p:blipFill>
        <p:spPr>
          <a:xfrm>
            <a:off x="8050200" y="151200"/>
            <a:ext cx="1371600" cy="685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16"/>
          <p:cNvSpPr txBox="1"/>
          <p:nvPr/>
        </p:nvSpPr>
        <p:spPr>
          <a:xfrm>
            <a:off x="677863" y="1103168"/>
            <a:ext cx="7689900" cy="369300"/>
          </a:xfrm>
          <a:prstGeom prst="rect">
            <a:avLst/>
          </a:prstGeom>
          <a:noFill/>
          <a:ln>
            <a:noFill/>
          </a:ln>
        </p:spPr>
        <p:txBody>
          <a:bodyPr anchorCtr="0" anchor="t" bIns="0" lIns="0" spcFirstLastPara="1" rIns="0" wrap="square" tIns="0">
            <a:spAutoFit/>
          </a:bodyPr>
          <a:lstStyle/>
          <a:p>
            <a:pPr indent="-342900" lvl="0" marL="355600" marR="0" rtl="0" algn="l">
              <a:lnSpc>
                <a:spcPct val="100000"/>
              </a:lnSpc>
              <a:spcBef>
                <a:spcPts val="0"/>
              </a:spcBef>
              <a:spcAft>
                <a:spcPts val="0"/>
              </a:spcAft>
              <a:buClr>
                <a:schemeClr val="dk1"/>
              </a:buClr>
              <a:buSzPts val="2400"/>
              <a:buFont typeface="Georgia"/>
              <a:buChar char="•"/>
            </a:pPr>
            <a:r>
              <a:rPr b="0" i="0" lang="en-US" sz="2400" u="none" cap="none" strike="noStrike">
                <a:solidFill>
                  <a:schemeClr val="dk1"/>
                </a:solidFill>
                <a:latin typeface="Georgia"/>
                <a:ea typeface="Georgia"/>
                <a:cs typeface="Georgia"/>
                <a:sym typeface="Georgia"/>
              </a:rPr>
              <a:t>Let’s re-jig</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the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equation</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of</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the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circle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slightly give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us</a:t>
            </a:r>
            <a:r>
              <a:rPr b="1" i="0" lang="en-US" sz="2400" u="sng" cap="none" strike="noStrike">
                <a:solidFill>
                  <a:schemeClr val="lt1"/>
                </a:solidFill>
                <a:latin typeface="Georgia"/>
                <a:ea typeface="Georgia"/>
                <a:cs typeface="Georgia"/>
                <a:sym typeface="Georgia"/>
              </a:rPr>
              <a:t>:</a:t>
            </a:r>
            <a:endParaRPr b="1" i="0" sz="2400" u="sng" cap="none" strike="noStrike">
              <a:solidFill>
                <a:schemeClr val="lt1"/>
              </a:solidFill>
              <a:latin typeface="Georgia"/>
              <a:ea typeface="Georgia"/>
              <a:cs typeface="Georgia"/>
              <a:sym typeface="Georgia"/>
            </a:endParaRPr>
          </a:p>
        </p:txBody>
      </p:sp>
      <p:sp>
        <p:nvSpPr>
          <p:cNvPr id="398" name="Google Shape;398;p16"/>
          <p:cNvSpPr txBox="1"/>
          <p:nvPr>
            <p:ph idx="1" type="body"/>
          </p:nvPr>
        </p:nvSpPr>
        <p:spPr>
          <a:xfrm>
            <a:off x="580112" y="2350799"/>
            <a:ext cx="8424900" cy="4351200"/>
          </a:xfrm>
          <a:prstGeom prst="rect">
            <a:avLst/>
          </a:prstGeom>
          <a:noFill/>
          <a:ln>
            <a:noFill/>
          </a:ln>
        </p:spPr>
        <p:txBody>
          <a:bodyPr anchorCtr="0" anchor="t" bIns="0" lIns="91425" spcFirstLastPara="1" rIns="91425" wrap="square" tIns="0">
            <a:normAutofit/>
          </a:bodyPr>
          <a:lstStyle/>
          <a:p>
            <a:pPr indent="-342900" lvl="0" marL="355600" rtl="0" algn="l">
              <a:lnSpc>
                <a:spcPct val="90000"/>
              </a:lnSpc>
              <a:spcBef>
                <a:spcPts val="0"/>
              </a:spcBef>
              <a:spcAft>
                <a:spcPts val="0"/>
              </a:spcAft>
              <a:buClr>
                <a:schemeClr val="dk1"/>
              </a:buClr>
              <a:buSzPts val="2400"/>
              <a:buFont typeface="Georgia"/>
              <a:buChar char="•"/>
            </a:pPr>
            <a:r>
              <a:rPr lang="en-US" sz="2400"/>
              <a:t>The</a:t>
            </a:r>
            <a:r>
              <a:rPr lang="en-US" sz="2400">
                <a:latin typeface="Times New Roman"/>
                <a:ea typeface="Times New Roman"/>
                <a:cs typeface="Times New Roman"/>
                <a:sym typeface="Times New Roman"/>
              </a:rPr>
              <a:t> </a:t>
            </a:r>
            <a:r>
              <a:rPr lang="en-US" sz="2400"/>
              <a:t>equation</a:t>
            </a:r>
            <a:r>
              <a:rPr lang="en-US" sz="2400">
                <a:latin typeface="Times New Roman"/>
                <a:ea typeface="Times New Roman"/>
                <a:cs typeface="Times New Roman"/>
                <a:sym typeface="Times New Roman"/>
              </a:rPr>
              <a:t> </a:t>
            </a:r>
            <a:r>
              <a:rPr lang="en-US" sz="2400"/>
              <a:t>evaluates</a:t>
            </a:r>
            <a:r>
              <a:rPr lang="en-US" sz="2400">
                <a:latin typeface="Times New Roman"/>
                <a:ea typeface="Times New Roman"/>
                <a:cs typeface="Times New Roman"/>
                <a:sym typeface="Times New Roman"/>
              </a:rPr>
              <a:t> </a:t>
            </a:r>
            <a:r>
              <a:rPr lang="en-US" sz="2400"/>
              <a:t>as</a:t>
            </a:r>
            <a:r>
              <a:rPr lang="en-US" sz="2400">
                <a:latin typeface="Times New Roman"/>
                <a:ea typeface="Times New Roman"/>
                <a:cs typeface="Times New Roman"/>
                <a:sym typeface="Times New Roman"/>
              </a:rPr>
              <a:t> </a:t>
            </a:r>
            <a:r>
              <a:rPr lang="en-US" sz="2400"/>
              <a:t>follows:</a:t>
            </a:r>
            <a:endParaRPr/>
          </a:p>
          <a:p>
            <a:pPr indent="-190500" lvl="0" marL="355600" rtl="0" algn="l">
              <a:lnSpc>
                <a:spcPct val="90000"/>
              </a:lnSpc>
              <a:spcBef>
                <a:spcPts val="0"/>
              </a:spcBef>
              <a:spcAft>
                <a:spcPts val="0"/>
              </a:spcAft>
              <a:buClr>
                <a:schemeClr val="dk1"/>
              </a:buClr>
              <a:buSzPts val="2400"/>
              <a:buFont typeface="Georgia"/>
              <a:buNone/>
            </a:pPr>
            <a:r>
              <a:t/>
            </a:r>
            <a:endParaRPr sz="2400"/>
          </a:p>
        </p:txBody>
      </p:sp>
      <p:sp>
        <p:nvSpPr>
          <p:cNvPr id="399" name="Google Shape;399;p16"/>
          <p:cNvSpPr txBox="1"/>
          <p:nvPr/>
        </p:nvSpPr>
        <p:spPr>
          <a:xfrm>
            <a:off x="624609" y="5014336"/>
            <a:ext cx="7818300" cy="738900"/>
          </a:xfrm>
          <a:prstGeom prst="rect">
            <a:avLst/>
          </a:prstGeom>
          <a:noFill/>
          <a:ln>
            <a:noFill/>
          </a:ln>
        </p:spPr>
        <p:txBody>
          <a:bodyPr anchorCtr="0" anchor="t" bIns="0" lIns="0" spcFirstLastPara="1" rIns="0" wrap="square" tIns="0">
            <a:spAutoFit/>
          </a:bodyPr>
          <a:lstStyle/>
          <a:p>
            <a:pPr indent="-342900" lvl="0" marL="355600" marR="0" rtl="0" algn="l">
              <a:lnSpc>
                <a:spcPct val="100000"/>
              </a:lnSpc>
              <a:spcBef>
                <a:spcPts val="0"/>
              </a:spcBef>
              <a:spcAft>
                <a:spcPts val="0"/>
              </a:spcAft>
              <a:buClr>
                <a:schemeClr val="dk1"/>
              </a:buClr>
              <a:buSzPts val="2400"/>
              <a:buFont typeface="Georgia"/>
              <a:buChar char="•"/>
            </a:pPr>
            <a:r>
              <a:rPr b="0" i="0" lang="en-US" sz="2400" u="none" cap="none" strike="noStrike">
                <a:solidFill>
                  <a:schemeClr val="dk1"/>
                </a:solidFill>
                <a:latin typeface="Georgia"/>
                <a:ea typeface="Georgia"/>
                <a:cs typeface="Georgia"/>
                <a:sym typeface="Georgia"/>
              </a:rPr>
              <a:t>By</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evaluating</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this</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function</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at</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the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midpoint</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between</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the</a:t>
            </a:r>
            <a:r>
              <a:rPr lang="en-US" sz="2400">
                <a:solidFill>
                  <a:schemeClr val="dk1"/>
                </a:solidFill>
                <a:latin typeface="Georgia"/>
                <a:ea typeface="Georgia"/>
                <a:cs typeface="Georgia"/>
                <a:sym typeface="Georgia"/>
              </a:rPr>
              <a:t> </a:t>
            </a:r>
            <a:r>
              <a:rPr b="0" i="0" lang="en-US" sz="2400" u="none" cap="none" strike="noStrike">
                <a:solidFill>
                  <a:schemeClr val="dk1"/>
                </a:solidFill>
                <a:latin typeface="Georgia"/>
                <a:ea typeface="Georgia"/>
                <a:cs typeface="Georgia"/>
                <a:sym typeface="Georgia"/>
              </a:rPr>
              <a:t>candidate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pixels</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we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can</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make</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our</a:t>
            </a:r>
            <a:r>
              <a:rPr b="0" i="0" lang="en-US" sz="24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decision</a:t>
            </a:r>
            <a:endParaRPr b="0" i="0" sz="2400" u="none" cap="none" strike="noStrike">
              <a:solidFill>
                <a:schemeClr val="dk1"/>
              </a:solidFill>
              <a:latin typeface="Georgia"/>
              <a:ea typeface="Georgia"/>
              <a:cs typeface="Georgia"/>
              <a:sym typeface="Georgia"/>
            </a:endParaRPr>
          </a:p>
        </p:txBody>
      </p:sp>
      <p:sp>
        <p:nvSpPr>
          <p:cNvPr id="400" name="Google Shape;400;p16"/>
          <p:cNvSpPr txBox="1"/>
          <p:nvPr/>
        </p:nvSpPr>
        <p:spPr>
          <a:xfrm>
            <a:off x="2007755" y="1658072"/>
            <a:ext cx="4465500" cy="4848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Clr>
                <a:srgbClr val="000000"/>
              </a:buClr>
              <a:buSzPts val="3150"/>
              <a:buFont typeface="Arial"/>
              <a:buNone/>
            </a:pPr>
            <a:r>
              <a:rPr b="0" i="1" lang="en-US" sz="3150" u="none" cap="none" strike="noStrike">
                <a:solidFill>
                  <a:schemeClr val="dk1"/>
                </a:solidFill>
                <a:latin typeface="Times New Roman"/>
                <a:ea typeface="Times New Roman"/>
                <a:cs typeface="Times New Roman"/>
                <a:sym typeface="Times New Roman"/>
              </a:rPr>
              <a:t>f     </a:t>
            </a:r>
            <a:r>
              <a:rPr b="0" i="0" lang="en-US" sz="3150" u="none" cap="none" strike="noStrike">
                <a:solidFill>
                  <a:schemeClr val="dk1"/>
                </a:solidFill>
                <a:latin typeface="Times New Roman"/>
                <a:ea typeface="Times New Roman"/>
                <a:cs typeface="Times New Roman"/>
                <a:sym typeface="Times New Roman"/>
              </a:rPr>
              <a:t>(</a:t>
            </a:r>
            <a:r>
              <a:rPr b="0" i="1" lang="en-US" sz="3150" u="none" cap="none" strike="noStrike">
                <a:solidFill>
                  <a:schemeClr val="dk1"/>
                </a:solidFill>
                <a:latin typeface="Times New Roman"/>
                <a:ea typeface="Times New Roman"/>
                <a:cs typeface="Times New Roman"/>
                <a:sym typeface="Times New Roman"/>
              </a:rPr>
              <a:t>x</a:t>
            </a:r>
            <a:r>
              <a:rPr b="0" i="0" lang="en-US" sz="3150" u="none" cap="none" strike="noStrike">
                <a:solidFill>
                  <a:schemeClr val="dk1"/>
                </a:solidFill>
                <a:latin typeface="Times New Roman"/>
                <a:ea typeface="Times New Roman"/>
                <a:cs typeface="Times New Roman"/>
                <a:sym typeface="Times New Roman"/>
              </a:rPr>
              <a:t>, </a:t>
            </a:r>
            <a:r>
              <a:rPr b="0" i="1" lang="en-US" sz="3150" u="none" cap="none" strike="noStrike">
                <a:solidFill>
                  <a:schemeClr val="dk1"/>
                </a:solidFill>
                <a:latin typeface="Times New Roman"/>
                <a:ea typeface="Times New Roman"/>
                <a:cs typeface="Times New Roman"/>
                <a:sym typeface="Times New Roman"/>
              </a:rPr>
              <a:t>y</a:t>
            </a:r>
            <a:r>
              <a:rPr b="0" i="0" lang="en-US" sz="3150" u="none" cap="none" strike="noStrike">
                <a:solidFill>
                  <a:schemeClr val="dk1"/>
                </a:solidFill>
                <a:latin typeface="Times New Roman"/>
                <a:ea typeface="Times New Roman"/>
                <a:cs typeface="Times New Roman"/>
                <a:sym typeface="Times New Roman"/>
              </a:rPr>
              <a:t>) </a:t>
            </a:r>
            <a:r>
              <a:rPr b="0" i="0" lang="en-US" sz="3150" u="none" cap="none" strike="noStrike">
                <a:solidFill>
                  <a:schemeClr val="dk1"/>
                </a:solidFill>
                <a:latin typeface="Noto Sans Symbols"/>
                <a:ea typeface="Noto Sans Symbols"/>
                <a:cs typeface="Noto Sans Symbols"/>
                <a:sym typeface="Noto Sans Symbols"/>
              </a:rPr>
              <a:t>=</a:t>
            </a:r>
            <a:r>
              <a:rPr b="0" i="0" lang="en-US" sz="3150" u="none" cap="none" strike="noStrike">
                <a:solidFill>
                  <a:schemeClr val="dk1"/>
                </a:solidFill>
                <a:latin typeface="Times New Roman"/>
                <a:ea typeface="Times New Roman"/>
                <a:cs typeface="Times New Roman"/>
                <a:sym typeface="Times New Roman"/>
              </a:rPr>
              <a:t> </a:t>
            </a:r>
            <a:r>
              <a:rPr b="0" i="1" lang="en-US" sz="3150" u="none" cap="none" strike="noStrike">
                <a:solidFill>
                  <a:schemeClr val="dk1"/>
                </a:solidFill>
                <a:latin typeface="Times New Roman"/>
                <a:ea typeface="Times New Roman"/>
                <a:cs typeface="Times New Roman"/>
                <a:sym typeface="Times New Roman"/>
              </a:rPr>
              <a:t>x</a:t>
            </a:r>
            <a:r>
              <a:rPr b="0" baseline="30000" i="0" lang="en-US" sz="2775" u="none" cap="none" strike="noStrike">
                <a:solidFill>
                  <a:schemeClr val="dk1"/>
                </a:solidFill>
                <a:latin typeface="Times New Roman"/>
                <a:ea typeface="Times New Roman"/>
                <a:cs typeface="Times New Roman"/>
                <a:sym typeface="Times New Roman"/>
              </a:rPr>
              <a:t>2  </a:t>
            </a:r>
            <a:r>
              <a:rPr b="0" i="0" lang="en-US" sz="3150" u="none" cap="none" strike="noStrike">
                <a:solidFill>
                  <a:schemeClr val="dk1"/>
                </a:solidFill>
                <a:latin typeface="Noto Sans Symbols"/>
                <a:ea typeface="Noto Sans Symbols"/>
                <a:cs typeface="Noto Sans Symbols"/>
                <a:sym typeface="Noto Sans Symbols"/>
              </a:rPr>
              <a:t>+</a:t>
            </a:r>
            <a:r>
              <a:rPr b="0" i="0" lang="en-US" sz="3150" u="none" cap="none" strike="noStrike">
                <a:solidFill>
                  <a:schemeClr val="dk1"/>
                </a:solidFill>
                <a:latin typeface="Times New Roman"/>
                <a:ea typeface="Times New Roman"/>
                <a:cs typeface="Times New Roman"/>
                <a:sym typeface="Times New Roman"/>
              </a:rPr>
              <a:t> </a:t>
            </a:r>
            <a:r>
              <a:rPr b="0" i="1" lang="en-US" sz="3150" u="none" cap="none" strike="noStrike">
                <a:solidFill>
                  <a:schemeClr val="dk1"/>
                </a:solidFill>
                <a:latin typeface="Times New Roman"/>
                <a:ea typeface="Times New Roman"/>
                <a:cs typeface="Times New Roman"/>
                <a:sym typeface="Times New Roman"/>
              </a:rPr>
              <a:t>y</a:t>
            </a:r>
            <a:r>
              <a:rPr b="0" baseline="30000" i="0" lang="en-US" sz="2775" u="none" cap="none" strike="noStrike">
                <a:solidFill>
                  <a:schemeClr val="dk1"/>
                </a:solidFill>
                <a:latin typeface="Times New Roman"/>
                <a:ea typeface="Times New Roman"/>
                <a:cs typeface="Times New Roman"/>
                <a:sym typeface="Times New Roman"/>
              </a:rPr>
              <a:t>2  </a:t>
            </a:r>
            <a:r>
              <a:rPr b="0" i="0" lang="en-US" sz="3150" u="none" cap="none" strike="noStrike">
                <a:solidFill>
                  <a:schemeClr val="dk1"/>
                </a:solidFill>
                <a:latin typeface="Noto Sans Symbols"/>
                <a:ea typeface="Noto Sans Symbols"/>
                <a:cs typeface="Noto Sans Symbols"/>
                <a:sym typeface="Noto Sans Symbols"/>
              </a:rPr>
              <a:t>−</a:t>
            </a:r>
            <a:r>
              <a:rPr b="0" i="0" lang="en-US" sz="3150" u="none" cap="none" strike="noStrike">
                <a:solidFill>
                  <a:schemeClr val="dk1"/>
                </a:solidFill>
                <a:latin typeface="Times New Roman"/>
                <a:ea typeface="Times New Roman"/>
                <a:cs typeface="Times New Roman"/>
                <a:sym typeface="Times New Roman"/>
              </a:rPr>
              <a:t> </a:t>
            </a:r>
            <a:r>
              <a:rPr b="0" i="1" lang="en-US" sz="3150" u="none" cap="none" strike="noStrike">
                <a:solidFill>
                  <a:schemeClr val="dk1"/>
                </a:solidFill>
                <a:latin typeface="Times New Roman"/>
                <a:ea typeface="Times New Roman"/>
                <a:cs typeface="Times New Roman"/>
                <a:sym typeface="Times New Roman"/>
              </a:rPr>
              <a:t>r</a:t>
            </a:r>
            <a:r>
              <a:rPr b="0" baseline="30000" i="0" lang="en-US" sz="2775" u="none" cap="none" strike="noStrike">
                <a:solidFill>
                  <a:schemeClr val="dk1"/>
                </a:solidFill>
                <a:latin typeface="Times New Roman"/>
                <a:ea typeface="Times New Roman"/>
                <a:cs typeface="Times New Roman"/>
                <a:sym typeface="Times New Roman"/>
              </a:rPr>
              <a:t>2</a:t>
            </a:r>
            <a:endParaRPr b="0" baseline="30000" i="0" sz="2775" u="none" cap="none" strike="noStrike">
              <a:solidFill>
                <a:schemeClr val="dk1"/>
              </a:solidFill>
              <a:latin typeface="Times New Roman"/>
              <a:ea typeface="Times New Roman"/>
              <a:cs typeface="Times New Roman"/>
              <a:sym typeface="Times New Roman"/>
            </a:endParaRPr>
          </a:p>
        </p:txBody>
      </p:sp>
      <p:sp>
        <p:nvSpPr>
          <p:cNvPr id="401" name="Google Shape;401;p16"/>
          <p:cNvSpPr txBox="1"/>
          <p:nvPr/>
        </p:nvSpPr>
        <p:spPr>
          <a:xfrm>
            <a:off x="2070100" y="1854056"/>
            <a:ext cx="1092300" cy="284700"/>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Clr>
                <a:srgbClr val="000000"/>
              </a:buClr>
              <a:buSzPts val="1850"/>
              <a:buFont typeface="Arial"/>
              <a:buNone/>
            </a:pPr>
            <a:r>
              <a:rPr b="1" i="1" lang="en-US" sz="1850" u="none" cap="none" strike="noStrike">
                <a:solidFill>
                  <a:schemeClr val="dk1"/>
                </a:solidFill>
                <a:latin typeface="Times New Roman"/>
                <a:ea typeface="Times New Roman"/>
                <a:cs typeface="Times New Roman"/>
                <a:sym typeface="Times New Roman"/>
              </a:rPr>
              <a:t>circle</a:t>
            </a:r>
            <a:endParaRPr b="1" i="0" sz="1850" u="none" cap="none" strike="noStrike">
              <a:solidFill>
                <a:schemeClr val="dk1"/>
              </a:solidFill>
              <a:latin typeface="Times New Roman"/>
              <a:ea typeface="Times New Roman"/>
              <a:cs typeface="Times New Roman"/>
              <a:sym typeface="Times New Roman"/>
            </a:endParaRPr>
          </a:p>
        </p:txBody>
      </p:sp>
      <p:sp>
        <p:nvSpPr>
          <p:cNvPr id="402" name="Google Shape;402;p16"/>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88888"/>
              </a:buClr>
              <a:buSzPts val="900"/>
              <a:buNone/>
            </a:pPr>
            <a:r>
              <a:rPr lang="en-US" u="none"/>
              <a:t>Department of CSE, Daffodil International University</a:t>
            </a:r>
            <a:endParaRPr u="none"/>
          </a:p>
        </p:txBody>
      </p:sp>
      <p:sp>
        <p:nvSpPr>
          <p:cNvPr id="403" name="Google Shape;403;p16"/>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900"/>
              <a:buNone/>
            </a:pPr>
            <a:fld id="{00000000-1234-1234-1234-123412341234}" type="slidenum">
              <a:rPr b="1" lang="en-US" sz="900" u="sng">
                <a:solidFill>
                  <a:srgbClr val="898989"/>
                </a:solidFill>
                <a:latin typeface="Arial"/>
                <a:ea typeface="Arial"/>
                <a:cs typeface="Arial"/>
                <a:sym typeface="Arial"/>
              </a:rPr>
              <a:t>‹#›</a:t>
            </a:fld>
            <a:endParaRPr b="1" sz="900" u="sng">
              <a:solidFill>
                <a:srgbClr val="898989"/>
              </a:solidFill>
              <a:latin typeface="Arial"/>
              <a:ea typeface="Arial"/>
              <a:cs typeface="Arial"/>
              <a:sym typeface="Arial"/>
            </a:endParaRPr>
          </a:p>
        </p:txBody>
      </p:sp>
      <p:sp>
        <p:nvSpPr>
          <p:cNvPr id="404" name="Google Shape;404;p16"/>
          <p:cNvSpPr txBox="1"/>
          <p:nvPr/>
        </p:nvSpPr>
        <p:spPr>
          <a:xfrm>
            <a:off x="1763688" y="3080198"/>
            <a:ext cx="4465638" cy="569387"/>
          </a:xfrm>
          <a:prstGeom prst="rect">
            <a:avLst/>
          </a:prstGeom>
          <a:noFill/>
          <a:ln>
            <a:noFill/>
          </a:ln>
        </p:spPr>
        <p:txBody>
          <a:bodyPr anchorCtr="0" anchor="t" bIns="0" lIns="0" spcFirstLastPara="1" rIns="0" wrap="square" tIns="0">
            <a:spAutoFit/>
          </a:bodyPr>
          <a:lstStyle/>
          <a:p>
            <a:pPr indent="0" lvl="0" marL="12700" marR="0" rtl="0" algn="l">
              <a:lnSpc>
                <a:spcPct val="100000"/>
              </a:lnSpc>
              <a:spcBef>
                <a:spcPts val="0"/>
              </a:spcBef>
              <a:spcAft>
                <a:spcPts val="0"/>
              </a:spcAft>
              <a:buClr>
                <a:srgbClr val="000000"/>
              </a:buClr>
              <a:buSzPts val="2775"/>
              <a:buFont typeface="Arial"/>
              <a:buNone/>
            </a:pPr>
            <a:r>
              <a:t/>
            </a:r>
            <a:endParaRPr b="0" baseline="30000" i="0" sz="2775" u="none" cap="none" strike="noStrike">
              <a:solidFill>
                <a:schemeClr val="dk1"/>
              </a:solidFill>
              <a:latin typeface="Times New Roman"/>
              <a:ea typeface="Times New Roman"/>
              <a:cs typeface="Times New Roman"/>
              <a:sym typeface="Times New Roman"/>
            </a:endParaRPr>
          </a:p>
          <a:p>
            <a:pPr indent="0" lvl="0" marL="12700" marR="0" rtl="0" algn="l">
              <a:lnSpc>
                <a:spcPct val="100000"/>
              </a:lnSpc>
              <a:spcBef>
                <a:spcPts val="0"/>
              </a:spcBef>
              <a:spcAft>
                <a:spcPts val="0"/>
              </a:spcAft>
              <a:buClr>
                <a:srgbClr val="000000"/>
              </a:buClr>
              <a:buSzPts val="2775"/>
              <a:buFont typeface="Arial"/>
              <a:buNone/>
            </a:pPr>
            <a:r>
              <a:t/>
            </a:r>
            <a:endParaRPr b="0" baseline="30000" i="0" sz="2775" u="none" cap="none" strike="noStrike">
              <a:solidFill>
                <a:schemeClr val="dk1"/>
              </a:solidFill>
              <a:latin typeface="Times New Roman"/>
              <a:ea typeface="Times New Roman"/>
              <a:cs typeface="Times New Roman"/>
              <a:sym typeface="Times New Roman"/>
            </a:endParaRPr>
          </a:p>
        </p:txBody>
      </p:sp>
      <p:sp>
        <p:nvSpPr>
          <p:cNvPr id="405" name="Google Shape;405;p16"/>
          <p:cNvSpPr txBox="1"/>
          <p:nvPr/>
        </p:nvSpPr>
        <p:spPr>
          <a:xfrm>
            <a:off x="470051" y="2677911"/>
            <a:ext cx="8432700" cy="1928400"/>
          </a:xfrm>
          <a:prstGeom prst="rect">
            <a:avLst/>
          </a:prstGeom>
          <a:noFill/>
          <a:ln>
            <a:noFill/>
          </a:ln>
        </p:spPr>
        <p:txBody>
          <a:bodyPr anchorCtr="0" anchor="t" bIns="45700" lIns="91425" spcFirstLastPara="1" rIns="91425" wrap="square" tIns="45700">
            <a:spAutoFit/>
          </a:bodyPr>
          <a:lstStyle/>
          <a:p>
            <a:pPr indent="0" lvl="0" marL="1480820" marR="0" rtl="0" algn="l">
              <a:lnSpc>
                <a:spcPct val="100000"/>
              </a:lnSpc>
              <a:spcBef>
                <a:spcPts val="0"/>
              </a:spcBef>
              <a:spcAft>
                <a:spcPts val="0"/>
              </a:spcAft>
              <a:buClr>
                <a:schemeClr val="dk1"/>
              </a:buClr>
              <a:buSzPts val="4000"/>
              <a:buFont typeface="Noto Sans Symbols"/>
              <a:buNone/>
            </a:pPr>
            <a:r>
              <a:rPr b="1" i="0" lang="en-US" sz="4000" u="none" cap="none" strike="noStrike">
                <a:solidFill>
                  <a:schemeClr val="dk1"/>
                </a:solidFill>
                <a:latin typeface="Noto Sans Symbols"/>
                <a:ea typeface="Noto Sans Symbols"/>
                <a:cs typeface="Noto Sans Symbols"/>
                <a:sym typeface="Noto Sans Symbols"/>
              </a:rPr>
              <a:t>       </a:t>
            </a:r>
            <a:r>
              <a:rPr b="1" i="0" lang="en-US" sz="2800" u="none" cap="none" strike="noStrike">
                <a:solidFill>
                  <a:schemeClr val="dk1"/>
                </a:solidFill>
                <a:latin typeface="Noto Sans Symbols"/>
                <a:ea typeface="Noto Sans Symbols"/>
                <a:cs typeface="Noto Sans Symbols"/>
                <a:sym typeface="Noto Sans Symbols"/>
              </a:rPr>
              <a:t>&lt;</a:t>
            </a:r>
            <a:r>
              <a:rPr b="1" i="0" lang="en-US" sz="28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0, if(x, y) is inside the circle boundary</a:t>
            </a:r>
            <a:endParaRPr b="0" i="0" sz="1400" u="none" cap="none" strike="noStrike">
              <a:solidFill>
                <a:srgbClr val="000000"/>
              </a:solidFill>
              <a:latin typeface="Arial"/>
              <a:ea typeface="Arial"/>
              <a:cs typeface="Arial"/>
              <a:sym typeface="Arial"/>
            </a:endParaRPr>
          </a:p>
          <a:p>
            <a:pPr indent="0" lvl="0" marL="291465" marR="0" rtl="0" algn="l">
              <a:lnSpc>
                <a:spcPct val="100000"/>
              </a:lnSpc>
              <a:spcBef>
                <a:spcPts val="875"/>
              </a:spcBef>
              <a:spcAft>
                <a:spcPts val="0"/>
              </a:spcAft>
              <a:buClr>
                <a:srgbClr val="000000"/>
              </a:buClr>
              <a:buSzPts val="2800"/>
              <a:buFont typeface="Arial"/>
              <a:buNone/>
            </a:pPr>
            <a:r>
              <a:rPr b="1" i="1" lang="en-US" sz="2800" u="none" cap="none" strike="noStrike">
                <a:solidFill>
                  <a:schemeClr val="dk1"/>
                </a:solidFill>
                <a:latin typeface="Times New Roman"/>
                <a:ea typeface="Times New Roman"/>
                <a:cs typeface="Times New Roman"/>
                <a:sym typeface="Times New Roman"/>
              </a:rPr>
              <a:t>f</a:t>
            </a:r>
            <a:r>
              <a:rPr b="1" baseline="-25000" i="1" lang="en-US" sz="2400" u="none" cap="none" strike="noStrike">
                <a:solidFill>
                  <a:schemeClr val="dk1"/>
                </a:solidFill>
                <a:latin typeface="Times New Roman"/>
                <a:ea typeface="Times New Roman"/>
                <a:cs typeface="Times New Roman"/>
                <a:sym typeface="Times New Roman"/>
              </a:rPr>
              <a:t>circle </a:t>
            </a:r>
            <a:r>
              <a:rPr b="1" i="0" lang="en-US" sz="2800" u="none" cap="none" strike="noStrike">
                <a:solidFill>
                  <a:schemeClr val="dk1"/>
                </a:solidFill>
                <a:latin typeface="Times New Roman"/>
                <a:ea typeface="Times New Roman"/>
                <a:cs typeface="Times New Roman"/>
                <a:sym typeface="Times New Roman"/>
              </a:rPr>
              <a:t>(</a:t>
            </a:r>
            <a:r>
              <a:rPr b="1" i="1" lang="en-US" sz="2800" u="none" cap="none" strike="noStrike">
                <a:solidFill>
                  <a:schemeClr val="dk1"/>
                </a:solidFill>
                <a:latin typeface="Times New Roman"/>
                <a:ea typeface="Times New Roman"/>
                <a:cs typeface="Times New Roman"/>
                <a:sym typeface="Times New Roman"/>
              </a:rPr>
              <a:t>x</a:t>
            </a:r>
            <a:r>
              <a:rPr b="1" i="0" lang="en-US" sz="2800" u="none" cap="none" strike="noStrike">
                <a:solidFill>
                  <a:schemeClr val="dk1"/>
                </a:solidFill>
                <a:latin typeface="Times New Roman"/>
                <a:ea typeface="Times New Roman"/>
                <a:cs typeface="Times New Roman"/>
                <a:sym typeface="Times New Roman"/>
              </a:rPr>
              <a:t>, </a:t>
            </a:r>
            <a:r>
              <a:rPr b="1" i="1" lang="en-US" sz="2800" u="none" cap="none" strike="noStrike">
                <a:solidFill>
                  <a:schemeClr val="dk1"/>
                </a:solidFill>
                <a:latin typeface="Times New Roman"/>
                <a:ea typeface="Times New Roman"/>
                <a:cs typeface="Times New Roman"/>
                <a:sym typeface="Times New Roman"/>
              </a:rPr>
              <a:t>y</a:t>
            </a:r>
            <a:r>
              <a:rPr b="1" i="0" lang="en-US" sz="2800" u="none" cap="none" strike="noStrike">
                <a:solidFill>
                  <a:schemeClr val="dk1"/>
                </a:solidFill>
                <a:latin typeface="Times New Roman"/>
                <a:ea typeface="Times New Roman"/>
                <a:cs typeface="Times New Roman"/>
                <a:sym typeface="Times New Roman"/>
              </a:rPr>
              <a:t>) </a:t>
            </a:r>
            <a:r>
              <a:rPr b="1" i="0" lang="en-US" sz="3200" u="none" cap="none" strike="noStrike">
                <a:solidFill>
                  <a:schemeClr val="dk1"/>
                </a:solidFill>
                <a:latin typeface="Times New Roman"/>
                <a:ea typeface="Times New Roman"/>
                <a:cs typeface="Times New Roman"/>
                <a:sym typeface="Times New Roman"/>
              </a:rPr>
              <a:t>=</a:t>
            </a:r>
            <a:r>
              <a:rPr b="1" i="0" lang="en-US" sz="28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0, if (x, y) is on the circle boundary</a:t>
            </a:r>
            <a:br>
              <a:rPr b="1" baseline="30000" i="0" lang="en-US" sz="4000" u="none" cap="none" strike="noStrike">
                <a:solidFill>
                  <a:schemeClr val="dk1"/>
                </a:solidFill>
                <a:latin typeface="Times New Roman"/>
                <a:ea typeface="Times New Roman"/>
                <a:cs typeface="Times New Roman"/>
                <a:sym typeface="Times New Roman"/>
              </a:rPr>
            </a:br>
            <a:r>
              <a:rPr b="1" i="0" lang="en-US" sz="4000" u="none" cap="none" strike="noStrike">
                <a:solidFill>
                  <a:schemeClr val="dk1"/>
                </a:solidFill>
                <a:latin typeface="Times New Roman"/>
                <a:ea typeface="Times New Roman"/>
                <a:cs typeface="Times New Roman"/>
                <a:sym typeface="Times New Roman"/>
              </a:rPr>
              <a:t>                </a:t>
            </a:r>
            <a:r>
              <a:rPr b="1" i="0" lang="en-US" sz="2800" u="none" cap="none" strike="noStrike">
                <a:solidFill>
                  <a:schemeClr val="dk1"/>
                </a:solidFill>
                <a:latin typeface="Noto Sans Symbols"/>
                <a:ea typeface="Noto Sans Symbols"/>
                <a:cs typeface="Noto Sans Symbols"/>
                <a:sym typeface="Noto Sans Symbols"/>
              </a:rPr>
              <a:t>&gt;</a:t>
            </a:r>
            <a:r>
              <a:rPr b="1" i="0" lang="en-US" sz="2800" u="none" cap="none" strike="noStrike">
                <a:solidFill>
                  <a:schemeClr val="dk1"/>
                </a:solidFill>
                <a:latin typeface="Times New Roman"/>
                <a:ea typeface="Times New Roman"/>
                <a:cs typeface="Times New Roman"/>
                <a:sym typeface="Times New Roman"/>
              </a:rPr>
              <a:t> </a:t>
            </a:r>
            <a:r>
              <a:rPr b="0" i="0" lang="en-US" sz="2400" u="none" cap="none" strike="noStrike">
                <a:solidFill>
                  <a:schemeClr val="dk1"/>
                </a:solidFill>
                <a:latin typeface="Georgia"/>
                <a:ea typeface="Georgia"/>
                <a:cs typeface="Georgia"/>
                <a:sym typeface="Georgia"/>
              </a:rPr>
              <a:t>0, if (x, y) is outside the circle boundary</a:t>
            </a:r>
            <a:endParaRPr b="0" i="0" sz="1400" u="none" cap="none" strike="noStrike">
              <a:solidFill>
                <a:srgbClr val="000000"/>
              </a:solidFill>
              <a:latin typeface="Arial"/>
              <a:ea typeface="Arial"/>
              <a:cs typeface="Arial"/>
              <a:sym typeface="Arial"/>
            </a:endParaRPr>
          </a:p>
        </p:txBody>
      </p:sp>
      <p:sp>
        <p:nvSpPr>
          <p:cNvPr id="406" name="Google Shape;406;p16"/>
          <p:cNvSpPr/>
          <p:nvPr/>
        </p:nvSpPr>
        <p:spPr>
          <a:xfrm>
            <a:off x="2567360" y="2805999"/>
            <a:ext cx="348600" cy="1800300"/>
          </a:xfrm>
          <a:prstGeom prst="leftBrace">
            <a:avLst>
              <a:gd fmla="val 8333" name="adj1"/>
              <a:gd fmla="val 50000" name="adj2"/>
            </a:avLst>
          </a:prstGeom>
          <a:noFill/>
          <a:ln cap="flat" cmpd="sng" w="1905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600"/>
              <a:buFont typeface="Arial"/>
              <a:buNone/>
            </a:pPr>
            <a:r>
              <a:t/>
            </a:r>
            <a:endParaRPr b="1" i="0" sz="2600" u="sng" cap="none" strike="noStrike">
              <a:solidFill>
                <a:schemeClr val="dk1"/>
              </a:solidFill>
              <a:latin typeface="Arial"/>
              <a:ea typeface="Arial"/>
              <a:cs typeface="Arial"/>
              <a:sym typeface="Arial"/>
            </a:endParaRPr>
          </a:p>
        </p:txBody>
      </p:sp>
      <p:sp>
        <p:nvSpPr>
          <p:cNvPr id="407" name="Google Shape;407;p16"/>
          <p:cNvSpPr txBox="1"/>
          <p:nvPr/>
        </p:nvSpPr>
        <p:spPr>
          <a:xfrm>
            <a:off x="175500" y="151200"/>
            <a:ext cx="8113500" cy="685800"/>
          </a:xfrm>
          <a:prstGeom prst="rect">
            <a:avLst/>
          </a:prstGeom>
          <a:solidFill>
            <a:srgbClr val="4285F4"/>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Calibri"/>
                <a:ea typeface="Calibri"/>
                <a:cs typeface="Calibri"/>
                <a:sym typeface="Calibri"/>
              </a:rPr>
              <a:t>			</a:t>
            </a:r>
            <a:endParaRPr b="1"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Times New Roman"/>
                <a:ea typeface="Times New Roman"/>
                <a:cs typeface="Times New Roman"/>
                <a:sym typeface="Times New Roman"/>
              </a:rPr>
              <a:t>Mid Point Circle Drawing Algorithm</a:t>
            </a:r>
            <a:endParaRPr b="0"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t/>
            </a:r>
            <a:endParaRPr b="1" i="0" sz="3300" u="none" cap="none" strike="noStrike">
              <a:solidFill>
                <a:schemeClr val="dk1"/>
              </a:solidFill>
              <a:latin typeface="Times New Roman"/>
              <a:ea typeface="Times New Roman"/>
              <a:cs typeface="Times New Roman"/>
              <a:sym typeface="Times New Roman"/>
            </a:endParaRPr>
          </a:p>
        </p:txBody>
      </p:sp>
      <p:pic>
        <p:nvPicPr>
          <p:cNvPr id="408" name="Google Shape;408;p16"/>
          <p:cNvPicPr preferRelativeResize="0"/>
          <p:nvPr/>
        </p:nvPicPr>
        <p:blipFill rotWithShape="1">
          <a:blip r:embed="rId3">
            <a:alphaModFix/>
          </a:blip>
          <a:srcRect b="0" l="0" r="0" t="0"/>
          <a:stretch/>
        </p:blipFill>
        <p:spPr>
          <a:xfrm>
            <a:off x="8050200" y="151200"/>
            <a:ext cx="1371600" cy="685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17"/>
          <p:cNvSpPr/>
          <p:nvPr/>
        </p:nvSpPr>
        <p:spPr>
          <a:xfrm>
            <a:off x="2051050" y="1657350"/>
            <a:ext cx="5113338" cy="4249738"/>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dk1"/>
              </a:solidFill>
              <a:latin typeface="Calibri"/>
              <a:ea typeface="Calibri"/>
              <a:cs typeface="Calibri"/>
              <a:sym typeface="Calibri"/>
            </a:endParaRPr>
          </a:p>
        </p:txBody>
      </p:sp>
      <p:sp>
        <p:nvSpPr>
          <p:cNvPr id="414" name="Google Shape;414;p1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171450" lvl="0" marL="171450" rtl="0" algn="l">
              <a:lnSpc>
                <a:spcPct val="90000"/>
              </a:lnSpc>
              <a:spcBef>
                <a:spcPts val="0"/>
              </a:spcBef>
              <a:spcAft>
                <a:spcPts val="0"/>
              </a:spcAft>
              <a:buClr>
                <a:schemeClr val="dk1"/>
              </a:buClr>
              <a:buSzPts val="2100"/>
              <a:buChar char="•"/>
            </a:pPr>
            <a:r>
              <a:rPr lang="en-US"/>
              <a:t> </a:t>
            </a:r>
            <a:endParaRPr/>
          </a:p>
        </p:txBody>
      </p:sp>
      <p:sp>
        <p:nvSpPr>
          <p:cNvPr id="415" name="Google Shape;415;p17"/>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88888"/>
              </a:buClr>
              <a:buSzPts val="900"/>
              <a:buNone/>
            </a:pPr>
            <a:r>
              <a:rPr lang="en-US" u="none"/>
              <a:t>Department of CSE, Daffodil International University</a:t>
            </a:r>
            <a:endParaRPr u="none"/>
          </a:p>
        </p:txBody>
      </p:sp>
      <p:sp>
        <p:nvSpPr>
          <p:cNvPr id="416" name="Google Shape;416;p17"/>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900"/>
              <a:buNone/>
            </a:pPr>
            <a:fld id="{00000000-1234-1234-1234-123412341234}" type="slidenum">
              <a:rPr b="1" lang="en-US" sz="900" u="sng">
                <a:solidFill>
                  <a:srgbClr val="898989"/>
                </a:solidFill>
                <a:latin typeface="Arial"/>
                <a:ea typeface="Arial"/>
                <a:cs typeface="Arial"/>
                <a:sym typeface="Arial"/>
              </a:rPr>
              <a:t>‹#›</a:t>
            </a:fld>
            <a:endParaRPr b="1" sz="900" u="sng">
              <a:solidFill>
                <a:srgbClr val="898989"/>
              </a:solidFill>
              <a:latin typeface="Arial"/>
              <a:ea typeface="Arial"/>
              <a:cs typeface="Arial"/>
              <a:sym typeface="Arial"/>
            </a:endParaRPr>
          </a:p>
        </p:txBody>
      </p:sp>
      <p:sp>
        <p:nvSpPr>
          <p:cNvPr id="417" name="Google Shape;417;p17"/>
          <p:cNvSpPr txBox="1"/>
          <p:nvPr/>
        </p:nvSpPr>
        <p:spPr>
          <a:xfrm>
            <a:off x="175500" y="151200"/>
            <a:ext cx="8113500" cy="685800"/>
          </a:xfrm>
          <a:prstGeom prst="rect">
            <a:avLst/>
          </a:prstGeom>
          <a:solidFill>
            <a:srgbClr val="4285F4"/>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Calibri"/>
                <a:ea typeface="Calibri"/>
                <a:cs typeface="Calibri"/>
                <a:sym typeface="Calibri"/>
              </a:rPr>
              <a:t>			</a:t>
            </a:r>
            <a:endParaRPr b="1"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Times New Roman"/>
                <a:ea typeface="Times New Roman"/>
                <a:cs typeface="Times New Roman"/>
                <a:sym typeface="Times New Roman"/>
              </a:rPr>
              <a:t>Mid Point Circle Drawing Algorithm</a:t>
            </a:r>
            <a:endParaRPr b="0"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t/>
            </a:r>
            <a:endParaRPr b="1" i="0" sz="3300" u="none" cap="none" strike="noStrike">
              <a:solidFill>
                <a:schemeClr val="dk1"/>
              </a:solidFill>
              <a:latin typeface="Times New Roman"/>
              <a:ea typeface="Times New Roman"/>
              <a:cs typeface="Times New Roman"/>
              <a:sym typeface="Times New Roman"/>
            </a:endParaRPr>
          </a:p>
        </p:txBody>
      </p:sp>
      <p:pic>
        <p:nvPicPr>
          <p:cNvPr id="418" name="Google Shape;418;p17"/>
          <p:cNvPicPr preferRelativeResize="0"/>
          <p:nvPr/>
        </p:nvPicPr>
        <p:blipFill rotWithShape="1">
          <a:blip r:embed="rId4">
            <a:alphaModFix/>
          </a:blip>
          <a:srcRect b="0" l="0" r="0" t="0"/>
          <a:stretch/>
        </p:blipFill>
        <p:spPr>
          <a:xfrm>
            <a:off x="8050200" y="151200"/>
            <a:ext cx="1371600" cy="685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18"/>
          <p:cNvSpPr/>
          <p:nvPr/>
        </p:nvSpPr>
        <p:spPr>
          <a:xfrm>
            <a:off x="2178050" y="1423988"/>
            <a:ext cx="4953000" cy="436245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dk1"/>
              </a:solidFill>
              <a:latin typeface="Calibri"/>
              <a:ea typeface="Calibri"/>
              <a:cs typeface="Calibri"/>
              <a:sym typeface="Calibri"/>
            </a:endParaRPr>
          </a:p>
        </p:txBody>
      </p:sp>
      <p:sp>
        <p:nvSpPr>
          <p:cNvPr id="424" name="Google Shape;424;p18"/>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171450" lvl="0" marL="171450" rtl="0" algn="l">
              <a:lnSpc>
                <a:spcPct val="90000"/>
              </a:lnSpc>
              <a:spcBef>
                <a:spcPts val="0"/>
              </a:spcBef>
              <a:spcAft>
                <a:spcPts val="0"/>
              </a:spcAft>
              <a:buClr>
                <a:schemeClr val="dk1"/>
              </a:buClr>
              <a:buSzPts val="2100"/>
              <a:buChar char="•"/>
            </a:pPr>
            <a:r>
              <a:rPr lang="en-US"/>
              <a:t> </a:t>
            </a:r>
            <a:endParaRPr/>
          </a:p>
        </p:txBody>
      </p:sp>
      <p:sp>
        <p:nvSpPr>
          <p:cNvPr id="425" name="Google Shape;425;p18"/>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88888"/>
              </a:buClr>
              <a:buSzPts val="900"/>
              <a:buNone/>
            </a:pPr>
            <a:r>
              <a:rPr lang="en-US" u="none"/>
              <a:t>Department of CSE, Daffodil International University</a:t>
            </a:r>
            <a:endParaRPr u="none"/>
          </a:p>
        </p:txBody>
      </p:sp>
      <p:sp>
        <p:nvSpPr>
          <p:cNvPr id="426" name="Google Shape;426;p1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900"/>
              <a:buNone/>
            </a:pPr>
            <a:fld id="{00000000-1234-1234-1234-123412341234}" type="slidenum">
              <a:rPr b="1" lang="en-US" sz="900" u="sng">
                <a:solidFill>
                  <a:srgbClr val="898989"/>
                </a:solidFill>
                <a:latin typeface="Arial"/>
                <a:ea typeface="Arial"/>
                <a:cs typeface="Arial"/>
                <a:sym typeface="Arial"/>
              </a:rPr>
              <a:t>‹#›</a:t>
            </a:fld>
            <a:endParaRPr b="1" sz="900" u="sng">
              <a:solidFill>
                <a:srgbClr val="898989"/>
              </a:solidFill>
              <a:latin typeface="Arial"/>
              <a:ea typeface="Arial"/>
              <a:cs typeface="Arial"/>
              <a:sym typeface="Arial"/>
            </a:endParaRPr>
          </a:p>
        </p:txBody>
      </p:sp>
      <p:sp>
        <p:nvSpPr>
          <p:cNvPr id="427" name="Google Shape;427;p18"/>
          <p:cNvSpPr txBox="1"/>
          <p:nvPr/>
        </p:nvSpPr>
        <p:spPr>
          <a:xfrm>
            <a:off x="175500" y="151200"/>
            <a:ext cx="8113500" cy="685800"/>
          </a:xfrm>
          <a:prstGeom prst="rect">
            <a:avLst/>
          </a:prstGeom>
          <a:solidFill>
            <a:srgbClr val="4285F4"/>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Calibri"/>
                <a:ea typeface="Calibri"/>
                <a:cs typeface="Calibri"/>
                <a:sym typeface="Calibri"/>
              </a:rPr>
              <a:t>			</a:t>
            </a:r>
            <a:endParaRPr b="1"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Times New Roman"/>
                <a:ea typeface="Times New Roman"/>
                <a:cs typeface="Times New Roman"/>
                <a:sym typeface="Times New Roman"/>
              </a:rPr>
              <a:t>Mid Point Circle Drawing Algorithm</a:t>
            </a:r>
            <a:endParaRPr b="0"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t/>
            </a:r>
            <a:endParaRPr b="1" i="0" sz="3300" u="none" cap="none" strike="noStrike">
              <a:solidFill>
                <a:schemeClr val="dk1"/>
              </a:solidFill>
              <a:latin typeface="Times New Roman"/>
              <a:ea typeface="Times New Roman"/>
              <a:cs typeface="Times New Roman"/>
              <a:sym typeface="Times New Roman"/>
            </a:endParaRPr>
          </a:p>
        </p:txBody>
      </p:sp>
      <p:pic>
        <p:nvPicPr>
          <p:cNvPr id="428" name="Google Shape;428;p18"/>
          <p:cNvPicPr preferRelativeResize="0"/>
          <p:nvPr/>
        </p:nvPicPr>
        <p:blipFill rotWithShape="1">
          <a:blip r:embed="rId4">
            <a:alphaModFix/>
          </a:blip>
          <a:srcRect b="0" l="0" r="0" t="0"/>
          <a:stretch/>
        </p:blipFill>
        <p:spPr>
          <a:xfrm>
            <a:off x="8050200" y="151200"/>
            <a:ext cx="1371600" cy="6858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19"/>
          <p:cNvSpPr/>
          <p:nvPr/>
        </p:nvSpPr>
        <p:spPr>
          <a:xfrm>
            <a:off x="2273300" y="1441450"/>
            <a:ext cx="4886325" cy="4305300"/>
          </a:xfrm>
          <a:prstGeom prst="rect">
            <a:avLst/>
          </a:prstGeom>
          <a:blipFill rotWithShape="1">
            <a:blip r:embed="rId3">
              <a:alphaModFix/>
            </a:blip>
            <a:stretch>
              <a:fillRect b="0" l="0" r="0" t="0"/>
            </a:stretch>
          </a:blip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t/>
            </a:r>
            <a:endParaRPr b="1" i="0" sz="2600" u="sng" cap="none" strike="noStrike">
              <a:solidFill>
                <a:schemeClr val="dk1"/>
              </a:solidFill>
              <a:latin typeface="Calibri"/>
              <a:ea typeface="Calibri"/>
              <a:cs typeface="Calibri"/>
              <a:sym typeface="Calibri"/>
            </a:endParaRPr>
          </a:p>
        </p:txBody>
      </p:sp>
      <p:sp>
        <p:nvSpPr>
          <p:cNvPr id="434" name="Google Shape;434;p19"/>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Autofit/>
          </a:bodyPr>
          <a:lstStyle/>
          <a:p>
            <a:pPr indent="-171450" lvl="0" marL="171450" rtl="0" algn="l">
              <a:lnSpc>
                <a:spcPct val="90000"/>
              </a:lnSpc>
              <a:spcBef>
                <a:spcPts val="0"/>
              </a:spcBef>
              <a:spcAft>
                <a:spcPts val="0"/>
              </a:spcAft>
              <a:buClr>
                <a:schemeClr val="dk1"/>
              </a:buClr>
              <a:buSzPts val="2100"/>
              <a:buChar char="•"/>
            </a:pPr>
            <a:r>
              <a:rPr lang="en-US"/>
              <a:t> </a:t>
            </a:r>
            <a:endParaRPr/>
          </a:p>
        </p:txBody>
      </p:sp>
      <p:sp>
        <p:nvSpPr>
          <p:cNvPr id="435" name="Google Shape;435;p19"/>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88888"/>
              </a:buClr>
              <a:buSzPts val="900"/>
              <a:buNone/>
            </a:pPr>
            <a:r>
              <a:rPr lang="en-US" u="none"/>
              <a:t>Department of CSE, Daffodil International University</a:t>
            </a:r>
            <a:endParaRPr u="none"/>
          </a:p>
        </p:txBody>
      </p:sp>
      <p:sp>
        <p:nvSpPr>
          <p:cNvPr id="436" name="Google Shape;436;p19"/>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900"/>
              <a:buNone/>
            </a:pPr>
            <a:fld id="{00000000-1234-1234-1234-123412341234}" type="slidenum">
              <a:rPr b="1" lang="en-US" sz="900" u="sng">
                <a:solidFill>
                  <a:srgbClr val="898989"/>
                </a:solidFill>
                <a:latin typeface="Arial"/>
                <a:ea typeface="Arial"/>
                <a:cs typeface="Arial"/>
                <a:sym typeface="Arial"/>
              </a:rPr>
              <a:t>‹#›</a:t>
            </a:fld>
            <a:endParaRPr b="1" sz="900" u="sng">
              <a:solidFill>
                <a:srgbClr val="898989"/>
              </a:solidFill>
              <a:latin typeface="Arial"/>
              <a:ea typeface="Arial"/>
              <a:cs typeface="Arial"/>
              <a:sym typeface="Arial"/>
            </a:endParaRPr>
          </a:p>
        </p:txBody>
      </p:sp>
      <p:sp>
        <p:nvSpPr>
          <p:cNvPr id="437" name="Google Shape;437;p19"/>
          <p:cNvSpPr txBox="1"/>
          <p:nvPr/>
        </p:nvSpPr>
        <p:spPr>
          <a:xfrm>
            <a:off x="175500" y="151200"/>
            <a:ext cx="8113500" cy="685800"/>
          </a:xfrm>
          <a:prstGeom prst="rect">
            <a:avLst/>
          </a:prstGeom>
          <a:solidFill>
            <a:srgbClr val="4285F4"/>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Calibri"/>
                <a:ea typeface="Calibri"/>
                <a:cs typeface="Calibri"/>
                <a:sym typeface="Calibri"/>
              </a:rPr>
              <a:t>			</a:t>
            </a:r>
            <a:endParaRPr b="1"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Times New Roman"/>
                <a:ea typeface="Times New Roman"/>
                <a:cs typeface="Times New Roman"/>
                <a:sym typeface="Times New Roman"/>
              </a:rPr>
              <a:t>Mid Point Circle Drawing Algorithm</a:t>
            </a:r>
            <a:endParaRPr b="0"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t/>
            </a:r>
            <a:endParaRPr b="1" i="0" sz="3300" u="none" cap="none" strike="noStrike">
              <a:solidFill>
                <a:schemeClr val="dk1"/>
              </a:solidFill>
              <a:latin typeface="Times New Roman"/>
              <a:ea typeface="Times New Roman"/>
              <a:cs typeface="Times New Roman"/>
              <a:sym typeface="Times New Roman"/>
            </a:endParaRPr>
          </a:p>
        </p:txBody>
      </p:sp>
      <p:pic>
        <p:nvPicPr>
          <p:cNvPr id="438" name="Google Shape;438;p19"/>
          <p:cNvPicPr preferRelativeResize="0"/>
          <p:nvPr/>
        </p:nvPicPr>
        <p:blipFill rotWithShape="1">
          <a:blip r:embed="rId4">
            <a:alphaModFix/>
          </a:blip>
          <a:srcRect b="0" l="0" r="0" t="0"/>
          <a:stretch/>
        </p:blipFill>
        <p:spPr>
          <a:xfrm>
            <a:off x="8050200" y="151200"/>
            <a:ext cx="1371600" cy="6858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pic>
        <p:nvPicPr>
          <p:cNvPr descr="c4" id="443" name="Google Shape;443;p20"/>
          <p:cNvPicPr preferRelativeResize="0"/>
          <p:nvPr>
            <p:ph idx="2" type="body"/>
          </p:nvPr>
        </p:nvPicPr>
        <p:blipFill rotWithShape="1">
          <a:blip r:embed="rId3">
            <a:alphaModFix/>
          </a:blip>
          <a:srcRect b="0" l="0" r="0" t="0"/>
          <a:stretch/>
        </p:blipFill>
        <p:spPr>
          <a:xfrm>
            <a:off x="2555776" y="2708920"/>
            <a:ext cx="4608512" cy="3778250"/>
          </a:xfrm>
          <a:prstGeom prst="rect">
            <a:avLst/>
          </a:prstGeom>
          <a:noFill/>
          <a:ln>
            <a:noFill/>
          </a:ln>
        </p:spPr>
      </p:pic>
      <p:pic>
        <p:nvPicPr>
          <p:cNvPr id="444" name="Google Shape;444;p20"/>
          <p:cNvPicPr preferRelativeResize="0"/>
          <p:nvPr/>
        </p:nvPicPr>
        <p:blipFill rotWithShape="1">
          <a:blip r:embed="rId4">
            <a:alphaModFix/>
          </a:blip>
          <a:srcRect b="0" l="0" r="0" t="0"/>
          <a:stretch/>
        </p:blipFill>
        <p:spPr>
          <a:xfrm>
            <a:off x="6142038" y="3941763"/>
            <a:ext cx="1047750" cy="2189162"/>
          </a:xfrm>
          <a:prstGeom prst="rect">
            <a:avLst/>
          </a:prstGeom>
          <a:noFill/>
          <a:ln>
            <a:noFill/>
          </a:ln>
        </p:spPr>
      </p:pic>
      <p:sp>
        <p:nvSpPr>
          <p:cNvPr id="445" name="Google Shape;445;p20"/>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88888"/>
              </a:buClr>
              <a:buSzPts val="900"/>
              <a:buNone/>
            </a:pPr>
            <a:r>
              <a:rPr lang="en-US" u="none"/>
              <a:t>Department of CSE, Daffodil International University</a:t>
            </a:r>
            <a:endParaRPr u="none"/>
          </a:p>
        </p:txBody>
      </p:sp>
      <p:sp>
        <p:nvSpPr>
          <p:cNvPr id="446" name="Google Shape;446;p20"/>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900"/>
              <a:buNone/>
            </a:pPr>
            <a:fld id="{00000000-1234-1234-1234-123412341234}" type="slidenum">
              <a:rPr b="1" lang="en-US" sz="900" u="sng">
                <a:solidFill>
                  <a:srgbClr val="898989"/>
                </a:solidFill>
                <a:latin typeface="Arial"/>
                <a:ea typeface="Arial"/>
                <a:cs typeface="Arial"/>
                <a:sym typeface="Arial"/>
              </a:rPr>
              <a:t>‹#›</a:t>
            </a:fld>
            <a:endParaRPr b="1" sz="900" u="sng">
              <a:solidFill>
                <a:srgbClr val="898989"/>
              </a:solidFill>
              <a:latin typeface="Arial"/>
              <a:ea typeface="Arial"/>
              <a:cs typeface="Arial"/>
              <a:sym typeface="Arial"/>
            </a:endParaRPr>
          </a:p>
        </p:txBody>
      </p:sp>
      <p:sp>
        <p:nvSpPr>
          <p:cNvPr id="447" name="Google Shape;447;p20"/>
          <p:cNvSpPr txBox="1"/>
          <p:nvPr>
            <p:ph idx="1" type="body"/>
          </p:nvPr>
        </p:nvSpPr>
        <p:spPr>
          <a:xfrm>
            <a:off x="899592" y="1412776"/>
            <a:ext cx="7687766" cy="1224136"/>
          </a:xfrm>
          <a:prstGeom prst="rect">
            <a:avLst/>
          </a:prstGeom>
          <a:noFill/>
          <a:ln>
            <a:noFill/>
          </a:ln>
        </p:spPr>
        <p:txBody>
          <a:bodyPr anchorCtr="0" anchor="t" bIns="45700" lIns="91425" spcFirstLastPara="1" rIns="91425" wrap="square" tIns="45700">
            <a:noAutofit/>
          </a:bodyPr>
          <a:lstStyle/>
          <a:p>
            <a:pPr indent="-171450" lvl="0" marL="171450" rtl="0" algn="l">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If </a:t>
            </a:r>
            <a:r>
              <a:rPr b="1" lang="en-US" sz="2400">
                <a:latin typeface="Times New Roman"/>
                <a:ea typeface="Times New Roman"/>
                <a:cs typeface="Times New Roman"/>
                <a:sym typeface="Times New Roman"/>
              </a:rPr>
              <a:t>P</a:t>
            </a:r>
            <a:r>
              <a:rPr b="1" baseline="-25000" lang="en-US" sz="2400">
                <a:latin typeface="Times New Roman"/>
                <a:ea typeface="Times New Roman"/>
                <a:cs typeface="Times New Roman"/>
                <a:sym typeface="Times New Roman"/>
              </a:rPr>
              <a:t>k</a:t>
            </a:r>
            <a:r>
              <a:rPr b="1" lang="en-US" sz="2400">
                <a:latin typeface="Times New Roman"/>
                <a:ea typeface="Times New Roman"/>
                <a:cs typeface="Times New Roman"/>
                <a:sym typeface="Times New Roman"/>
              </a:rPr>
              <a:t>​&lt;0 </a:t>
            </a:r>
            <a:r>
              <a:rPr lang="en-US" sz="2400">
                <a:latin typeface="Times New Roman"/>
                <a:ea typeface="Times New Roman"/>
                <a:cs typeface="Times New Roman"/>
                <a:sym typeface="Times New Roman"/>
              </a:rPr>
              <a:t>is negative, the midpoint is inside the pixel, and we choose pixel </a:t>
            </a:r>
            <a:r>
              <a:rPr b="1" lang="en-US" sz="2400">
                <a:latin typeface="Times New Roman"/>
                <a:ea typeface="Times New Roman"/>
                <a:cs typeface="Times New Roman"/>
                <a:sym typeface="Times New Roman"/>
              </a:rPr>
              <a:t>T</a:t>
            </a:r>
            <a:r>
              <a:rPr lang="en-US" sz="2400">
                <a:latin typeface="Times New Roman"/>
                <a:ea typeface="Times New Roman"/>
                <a:cs typeface="Times New Roman"/>
                <a:sym typeface="Times New Roman"/>
              </a:rPr>
              <a:t>.</a:t>
            </a:r>
            <a:endParaRPr/>
          </a:p>
          <a:p>
            <a:pPr indent="-171450" lvl="0" marL="171450" rtl="0" algn="l">
              <a:lnSpc>
                <a:spcPct val="90000"/>
              </a:lnSpc>
              <a:spcBef>
                <a:spcPts val="750"/>
              </a:spcBef>
              <a:spcAft>
                <a:spcPts val="0"/>
              </a:spcAft>
              <a:buClr>
                <a:schemeClr val="dk1"/>
              </a:buClr>
              <a:buSzPts val="2400"/>
              <a:buChar char="•"/>
            </a:pPr>
            <a:r>
              <a:rPr lang="en-US" sz="2400">
                <a:latin typeface="Times New Roman"/>
                <a:ea typeface="Times New Roman"/>
                <a:cs typeface="Times New Roman"/>
                <a:sym typeface="Times New Roman"/>
              </a:rPr>
              <a:t>If </a:t>
            </a:r>
            <a:r>
              <a:rPr b="1" lang="en-US" sz="2400">
                <a:latin typeface="Times New Roman"/>
                <a:ea typeface="Times New Roman"/>
                <a:cs typeface="Times New Roman"/>
                <a:sym typeface="Times New Roman"/>
              </a:rPr>
              <a:t>P</a:t>
            </a:r>
            <a:r>
              <a:rPr b="1" baseline="-25000" lang="en-US" sz="2400">
                <a:latin typeface="Times New Roman"/>
                <a:ea typeface="Times New Roman"/>
                <a:cs typeface="Times New Roman"/>
                <a:sym typeface="Times New Roman"/>
              </a:rPr>
              <a:t>k</a:t>
            </a:r>
            <a:r>
              <a:rPr b="1" lang="en-US" sz="2400">
                <a:latin typeface="Times New Roman"/>
                <a:ea typeface="Times New Roman"/>
                <a:cs typeface="Times New Roman"/>
                <a:sym typeface="Times New Roman"/>
              </a:rPr>
              <a:t>&gt;0</a:t>
            </a:r>
            <a:r>
              <a:rPr lang="en-US" sz="2400">
                <a:latin typeface="Times New Roman"/>
                <a:ea typeface="Times New Roman"/>
                <a:cs typeface="Times New Roman"/>
                <a:sym typeface="Times New Roman"/>
              </a:rPr>
              <a:t>, we choose pixel </a:t>
            </a:r>
            <a:r>
              <a:rPr b="1" lang="en-US" sz="2400">
                <a:latin typeface="Times New Roman"/>
                <a:ea typeface="Times New Roman"/>
                <a:cs typeface="Times New Roman"/>
                <a:sym typeface="Times New Roman"/>
              </a:rPr>
              <a:t>S</a:t>
            </a:r>
            <a:r>
              <a:rPr lang="en-US" sz="2400">
                <a:latin typeface="Times New Roman"/>
                <a:ea typeface="Times New Roman"/>
                <a:cs typeface="Times New Roman"/>
                <a:sym typeface="Times New Roman"/>
              </a:rPr>
              <a:t>.</a:t>
            </a:r>
            <a:endParaRPr/>
          </a:p>
          <a:p>
            <a:pPr indent="-38100" lvl="0" marL="171450" rtl="0" algn="l">
              <a:lnSpc>
                <a:spcPct val="90000"/>
              </a:lnSpc>
              <a:spcBef>
                <a:spcPts val="750"/>
              </a:spcBef>
              <a:spcAft>
                <a:spcPts val="0"/>
              </a:spcAft>
              <a:buClr>
                <a:schemeClr val="dk1"/>
              </a:buClr>
              <a:buSzPts val="2100"/>
              <a:buNone/>
            </a:pPr>
            <a:r>
              <a:t/>
            </a:r>
            <a:endParaRPr/>
          </a:p>
        </p:txBody>
      </p:sp>
      <p:sp>
        <p:nvSpPr>
          <p:cNvPr id="448" name="Google Shape;448;p20"/>
          <p:cNvSpPr txBox="1"/>
          <p:nvPr/>
        </p:nvSpPr>
        <p:spPr>
          <a:xfrm>
            <a:off x="175500" y="151200"/>
            <a:ext cx="8113500" cy="685800"/>
          </a:xfrm>
          <a:prstGeom prst="rect">
            <a:avLst/>
          </a:prstGeom>
          <a:solidFill>
            <a:srgbClr val="4285F4"/>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Calibri"/>
                <a:ea typeface="Calibri"/>
                <a:cs typeface="Calibri"/>
                <a:sym typeface="Calibri"/>
              </a:rPr>
              <a:t>			</a:t>
            </a:r>
            <a:endParaRPr b="1"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Times New Roman"/>
                <a:ea typeface="Times New Roman"/>
                <a:cs typeface="Times New Roman"/>
                <a:sym typeface="Times New Roman"/>
              </a:rPr>
              <a:t>Mid Point Circle Drawing Algorithm</a:t>
            </a:r>
            <a:endParaRPr b="0"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t/>
            </a:r>
            <a:endParaRPr b="1" i="0" sz="3300" u="none" cap="none" strike="noStrike">
              <a:solidFill>
                <a:schemeClr val="dk1"/>
              </a:solidFill>
              <a:latin typeface="Times New Roman"/>
              <a:ea typeface="Times New Roman"/>
              <a:cs typeface="Times New Roman"/>
              <a:sym typeface="Times New Roman"/>
            </a:endParaRPr>
          </a:p>
        </p:txBody>
      </p:sp>
      <p:pic>
        <p:nvPicPr>
          <p:cNvPr id="449" name="Google Shape;449;p20"/>
          <p:cNvPicPr preferRelativeResize="0"/>
          <p:nvPr/>
        </p:nvPicPr>
        <p:blipFill rotWithShape="1">
          <a:blip r:embed="rId5">
            <a:alphaModFix/>
          </a:blip>
          <a:srcRect b="0" l="0" r="0" t="0"/>
          <a:stretch/>
        </p:blipFill>
        <p:spPr>
          <a:xfrm>
            <a:off x="8050200" y="151200"/>
            <a:ext cx="1371600" cy="6858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pic>
        <p:nvPicPr>
          <p:cNvPr id="454" name="Google Shape;454;p21"/>
          <p:cNvPicPr preferRelativeResize="0"/>
          <p:nvPr/>
        </p:nvPicPr>
        <p:blipFill rotWithShape="1">
          <a:blip r:embed="rId3">
            <a:alphaModFix/>
          </a:blip>
          <a:srcRect b="0" l="0" r="0" t="0"/>
          <a:stretch/>
        </p:blipFill>
        <p:spPr>
          <a:xfrm>
            <a:off x="6142038" y="3941763"/>
            <a:ext cx="1047750" cy="2189162"/>
          </a:xfrm>
          <a:prstGeom prst="rect">
            <a:avLst/>
          </a:prstGeom>
          <a:noFill/>
          <a:ln>
            <a:noFill/>
          </a:ln>
        </p:spPr>
      </p:pic>
      <p:pic>
        <p:nvPicPr>
          <p:cNvPr descr="c4" id="455" name="Google Shape;455;p21"/>
          <p:cNvPicPr preferRelativeResize="0"/>
          <p:nvPr/>
        </p:nvPicPr>
        <p:blipFill rotWithShape="1">
          <a:blip r:embed="rId4">
            <a:alphaModFix/>
          </a:blip>
          <a:srcRect b="0" l="0" r="0" t="0"/>
          <a:stretch/>
        </p:blipFill>
        <p:spPr>
          <a:xfrm>
            <a:off x="2555776" y="2564904"/>
            <a:ext cx="4033837" cy="3306763"/>
          </a:xfrm>
          <a:prstGeom prst="rect">
            <a:avLst/>
          </a:prstGeom>
          <a:noFill/>
          <a:ln>
            <a:noFill/>
          </a:ln>
        </p:spPr>
      </p:pic>
      <p:sp>
        <p:nvSpPr>
          <p:cNvPr id="456" name="Google Shape;456;p21"/>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88888"/>
              </a:buClr>
              <a:buSzPts val="900"/>
              <a:buNone/>
            </a:pPr>
            <a:r>
              <a:rPr lang="en-US" u="none"/>
              <a:t>Department of CSE, Daffodil International University</a:t>
            </a:r>
            <a:endParaRPr u="none"/>
          </a:p>
        </p:txBody>
      </p:sp>
      <p:sp>
        <p:nvSpPr>
          <p:cNvPr id="457" name="Google Shape;457;p21"/>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900"/>
              <a:buNone/>
            </a:pPr>
            <a:fld id="{00000000-1234-1234-1234-123412341234}" type="slidenum">
              <a:rPr b="1" lang="en-US" sz="900" u="sng">
                <a:solidFill>
                  <a:srgbClr val="898989"/>
                </a:solidFill>
                <a:latin typeface="Arial"/>
                <a:ea typeface="Arial"/>
                <a:cs typeface="Arial"/>
                <a:sym typeface="Arial"/>
              </a:rPr>
              <a:t>‹#›</a:t>
            </a:fld>
            <a:endParaRPr b="1" sz="900" u="sng">
              <a:solidFill>
                <a:srgbClr val="898989"/>
              </a:solidFill>
              <a:latin typeface="Arial"/>
              <a:ea typeface="Arial"/>
              <a:cs typeface="Arial"/>
              <a:sym typeface="Arial"/>
            </a:endParaRPr>
          </a:p>
        </p:txBody>
      </p:sp>
      <p:sp>
        <p:nvSpPr>
          <p:cNvPr id="458" name="Google Shape;458;p21"/>
          <p:cNvSpPr txBox="1"/>
          <p:nvPr>
            <p:ph idx="1" type="body"/>
          </p:nvPr>
        </p:nvSpPr>
        <p:spPr>
          <a:xfrm>
            <a:off x="1331640" y="1484784"/>
            <a:ext cx="6979518" cy="108012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400"/>
              <a:buNone/>
            </a:pPr>
            <a:r>
              <a:rPr lang="en-US" sz="2400">
                <a:latin typeface="Times New Roman"/>
                <a:ea typeface="Times New Roman"/>
                <a:cs typeface="Times New Roman"/>
                <a:sym typeface="Times New Roman"/>
              </a:rPr>
              <a:t>• If T is chosen (P</a:t>
            </a:r>
            <a:r>
              <a:rPr baseline="-25000" lang="en-US" sz="2400">
                <a:latin typeface="Times New Roman"/>
                <a:ea typeface="Times New Roman"/>
                <a:cs typeface="Times New Roman"/>
                <a:sym typeface="Times New Roman"/>
              </a:rPr>
              <a:t>k</a:t>
            </a:r>
            <a:r>
              <a:rPr lang="en-US" sz="2400">
                <a:latin typeface="Times New Roman"/>
                <a:ea typeface="Times New Roman"/>
                <a:cs typeface="Times New Roman"/>
                <a:sym typeface="Times New Roman"/>
              </a:rPr>
              <a:t> &lt; 0), then yₖ₊₁ = yₖ</a:t>
            </a:r>
            <a:br>
              <a:rPr lang="en-US" sz="2400">
                <a:latin typeface="Times New Roman"/>
                <a:ea typeface="Times New Roman"/>
                <a:cs typeface="Times New Roman"/>
                <a:sym typeface="Times New Roman"/>
              </a:rPr>
            </a:br>
            <a:r>
              <a:rPr lang="en-US" sz="2400">
                <a:latin typeface="Times New Roman"/>
                <a:ea typeface="Times New Roman"/>
                <a:cs typeface="Times New Roman"/>
                <a:sym typeface="Times New Roman"/>
              </a:rPr>
              <a:t>• If pixel S is chosen (P</a:t>
            </a:r>
            <a:r>
              <a:rPr baseline="-25000" lang="en-US" sz="2400">
                <a:latin typeface="Times New Roman"/>
                <a:ea typeface="Times New Roman"/>
                <a:cs typeface="Times New Roman"/>
                <a:sym typeface="Times New Roman"/>
              </a:rPr>
              <a:t>k</a:t>
            </a:r>
            <a:r>
              <a:rPr lang="en-US" sz="2400">
                <a:latin typeface="Times New Roman"/>
                <a:ea typeface="Times New Roman"/>
                <a:cs typeface="Times New Roman"/>
                <a:sym typeface="Times New Roman"/>
              </a:rPr>
              <a:t> &gt; 0), then yₖ₊₁ = yₖ − 1</a:t>
            </a:r>
            <a:endParaRPr/>
          </a:p>
        </p:txBody>
      </p:sp>
      <p:sp>
        <p:nvSpPr>
          <p:cNvPr id="459" name="Google Shape;459;p21"/>
          <p:cNvSpPr txBox="1"/>
          <p:nvPr/>
        </p:nvSpPr>
        <p:spPr>
          <a:xfrm>
            <a:off x="175500" y="151200"/>
            <a:ext cx="8113500" cy="685800"/>
          </a:xfrm>
          <a:prstGeom prst="rect">
            <a:avLst/>
          </a:prstGeom>
          <a:solidFill>
            <a:srgbClr val="4285F4"/>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Calibri"/>
                <a:ea typeface="Calibri"/>
                <a:cs typeface="Calibri"/>
                <a:sym typeface="Calibri"/>
              </a:rPr>
              <a:t>			</a:t>
            </a:r>
            <a:endParaRPr b="1"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Times New Roman"/>
                <a:ea typeface="Times New Roman"/>
                <a:cs typeface="Times New Roman"/>
                <a:sym typeface="Times New Roman"/>
              </a:rPr>
              <a:t>Mid Point Circle Drawing Algorithm</a:t>
            </a:r>
            <a:endParaRPr b="0"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t/>
            </a:r>
            <a:endParaRPr b="1" i="0" sz="3300" u="none" cap="none" strike="noStrike">
              <a:solidFill>
                <a:schemeClr val="dk1"/>
              </a:solidFill>
              <a:latin typeface="Times New Roman"/>
              <a:ea typeface="Times New Roman"/>
              <a:cs typeface="Times New Roman"/>
              <a:sym typeface="Times New Roman"/>
            </a:endParaRPr>
          </a:p>
        </p:txBody>
      </p:sp>
      <p:pic>
        <p:nvPicPr>
          <p:cNvPr id="460" name="Google Shape;460;p21"/>
          <p:cNvPicPr preferRelativeResize="0"/>
          <p:nvPr/>
        </p:nvPicPr>
        <p:blipFill rotWithShape="1">
          <a:blip r:embed="rId5">
            <a:alphaModFix/>
          </a:blip>
          <a:srcRect b="0" l="0" r="0" t="0"/>
          <a:stretch/>
        </p:blipFill>
        <p:spPr>
          <a:xfrm>
            <a:off x="8050200" y="151200"/>
            <a:ext cx="1371600" cy="6858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22"/>
          <p:cNvSpPr txBox="1"/>
          <p:nvPr>
            <p:ph idx="1" type="body"/>
          </p:nvPr>
        </p:nvSpPr>
        <p:spPr>
          <a:xfrm>
            <a:off x="468313" y="1125538"/>
            <a:ext cx="8291512" cy="5033962"/>
          </a:xfrm>
          <a:prstGeom prst="rect">
            <a:avLst/>
          </a:prstGeom>
          <a:noFill/>
          <a:ln>
            <a:noFill/>
          </a:ln>
        </p:spPr>
        <p:txBody>
          <a:bodyPr anchorCtr="0" anchor="t" bIns="45700" lIns="91425" spcFirstLastPara="1" rIns="91425" wrap="square" tIns="45700">
            <a:noAutofit/>
          </a:bodyPr>
          <a:lstStyle/>
          <a:p>
            <a:pPr indent="-571500" lvl="0" marL="571500" rtl="0" algn="l">
              <a:lnSpc>
                <a:spcPct val="90000"/>
              </a:lnSpc>
              <a:spcBef>
                <a:spcPts val="0"/>
              </a:spcBef>
              <a:spcAft>
                <a:spcPts val="0"/>
              </a:spcAft>
              <a:buClr>
                <a:schemeClr val="lt1"/>
              </a:buClr>
              <a:buSzPts val="4000"/>
              <a:buFont typeface="Noto Sans Symbols"/>
              <a:buNone/>
            </a:pPr>
            <a:r>
              <a:rPr lang="en-US" sz="4000">
                <a:solidFill>
                  <a:schemeClr val="lt1"/>
                </a:solidFill>
                <a:latin typeface="Times New Roman"/>
                <a:ea typeface="Times New Roman"/>
                <a:cs typeface="Times New Roman"/>
                <a:sym typeface="Times New Roman"/>
              </a:rPr>
              <a:t>               </a:t>
            </a:r>
            <a:endParaRPr sz="4000">
              <a:solidFill>
                <a:srgbClr val="FF9900"/>
              </a:solidFill>
              <a:latin typeface="Times New Roman"/>
              <a:ea typeface="Times New Roman"/>
              <a:cs typeface="Times New Roman"/>
              <a:sym typeface="Times New Roman"/>
            </a:endParaRPr>
          </a:p>
        </p:txBody>
      </p:sp>
      <p:graphicFrame>
        <p:nvGraphicFramePr>
          <p:cNvPr id="466" name="Google Shape;466;p22"/>
          <p:cNvGraphicFramePr/>
          <p:nvPr/>
        </p:nvGraphicFramePr>
        <p:xfrm>
          <a:off x="827088" y="3087688"/>
          <a:ext cx="5614987" cy="566737"/>
        </p:xfrm>
        <a:graphic>
          <a:graphicData uri="http://schemas.openxmlformats.org/presentationml/2006/ole">
            <mc:AlternateContent>
              <mc:Choice Requires="v">
                <p:oleObj r:id="rId4" imgH="566737" imgW="5614987" progId="Paint.Picture" spid="_x0000_s1">
                  <p:embed/>
                </p:oleObj>
              </mc:Choice>
              <mc:Fallback>
                <p:oleObj r:id="rId5" imgH="566737" imgW="5614987" progId="Paint.Picture">
                  <p:embed/>
                  <p:pic>
                    <p:nvPicPr>
                      <p:cNvPr id="466" name="Google Shape;466;p22"/>
                      <p:cNvPicPr preferRelativeResize="0"/>
                      <p:nvPr/>
                    </p:nvPicPr>
                    <p:blipFill rotWithShape="1">
                      <a:blip r:embed="rId6">
                        <a:alphaModFix/>
                      </a:blip>
                      <a:srcRect b="0" l="0" r="0" t="0"/>
                      <a:stretch/>
                    </p:blipFill>
                    <p:spPr>
                      <a:xfrm>
                        <a:off x="827088" y="3087688"/>
                        <a:ext cx="5614987" cy="566737"/>
                      </a:xfrm>
                      <a:prstGeom prst="rect">
                        <a:avLst/>
                      </a:prstGeom>
                      <a:noFill/>
                      <a:ln>
                        <a:noFill/>
                      </a:ln>
                    </p:spPr>
                  </p:pic>
                </p:oleObj>
              </mc:Fallback>
            </mc:AlternateContent>
          </a:graphicData>
        </a:graphic>
      </p:graphicFrame>
      <p:pic>
        <p:nvPicPr>
          <p:cNvPr id="467" name="Google Shape;467;p22"/>
          <p:cNvPicPr preferRelativeResize="0"/>
          <p:nvPr/>
        </p:nvPicPr>
        <p:blipFill rotWithShape="1">
          <a:blip r:embed="rId7">
            <a:alphaModFix/>
          </a:blip>
          <a:srcRect b="0" l="0" r="0" t="0"/>
          <a:stretch/>
        </p:blipFill>
        <p:spPr>
          <a:xfrm>
            <a:off x="6142038" y="3941763"/>
            <a:ext cx="1047750" cy="2189162"/>
          </a:xfrm>
          <a:prstGeom prst="rect">
            <a:avLst/>
          </a:prstGeom>
          <a:noFill/>
          <a:ln>
            <a:noFill/>
          </a:ln>
        </p:spPr>
      </p:pic>
      <p:sp>
        <p:nvSpPr>
          <p:cNvPr id="468" name="Google Shape;468;p22"/>
          <p:cNvSpPr txBox="1"/>
          <p:nvPr/>
        </p:nvSpPr>
        <p:spPr>
          <a:xfrm>
            <a:off x="909638" y="1843088"/>
            <a:ext cx="8207375" cy="8318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Initial value for the decision parameter using the original function of (0,r)</a:t>
            </a:r>
            <a:endParaRPr b="0" i="0" sz="2400" u="none" cap="none" strike="noStrike">
              <a:solidFill>
                <a:schemeClr val="dk1"/>
              </a:solidFill>
              <a:latin typeface="Times New Roman"/>
              <a:ea typeface="Times New Roman"/>
              <a:cs typeface="Times New Roman"/>
              <a:sym typeface="Times New Roman"/>
            </a:endParaRPr>
          </a:p>
        </p:txBody>
      </p:sp>
      <p:sp>
        <p:nvSpPr>
          <p:cNvPr id="469" name="Google Shape;469;p22"/>
          <p:cNvSpPr txBox="1"/>
          <p:nvPr/>
        </p:nvSpPr>
        <p:spPr>
          <a:xfrm>
            <a:off x="900113" y="4549775"/>
            <a:ext cx="6769100" cy="4619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cap="none" strike="noStrike">
                <a:solidFill>
                  <a:schemeClr val="dk1"/>
                </a:solidFill>
                <a:latin typeface="Times New Roman"/>
                <a:ea typeface="Times New Roman"/>
                <a:cs typeface="Times New Roman"/>
                <a:sym typeface="Times New Roman"/>
              </a:rPr>
              <a:t>When r is an integer we can simply set </a:t>
            </a:r>
            <a:endParaRPr b="0" i="0" sz="1400" u="none" cap="none" strike="noStrike">
              <a:solidFill>
                <a:srgbClr val="000000"/>
              </a:solidFill>
              <a:latin typeface="Arial"/>
              <a:ea typeface="Arial"/>
              <a:cs typeface="Arial"/>
              <a:sym typeface="Arial"/>
            </a:endParaRPr>
          </a:p>
        </p:txBody>
      </p:sp>
      <p:graphicFrame>
        <p:nvGraphicFramePr>
          <p:cNvPr id="470" name="Google Shape;470;p22"/>
          <p:cNvGraphicFramePr/>
          <p:nvPr/>
        </p:nvGraphicFramePr>
        <p:xfrm>
          <a:off x="900113" y="3789363"/>
          <a:ext cx="6119812" cy="625475"/>
        </p:xfrm>
        <a:graphic>
          <a:graphicData uri="http://schemas.openxmlformats.org/presentationml/2006/ole">
            <mc:AlternateContent>
              <mc:Choice Requires="v">
                <p:oleObj r:id="rId8" imgH="625475" imgW="6119812" progId="Paint.Picture" spid="_x0000_s2">
                  <p:embed/>
                </p:oleObj>
              </mc:Choice>
              <mc:Fallback>
                <p:oleObj r:id="rId9" imgH="625475" imgW="6119812" progId="Paint.Picture">
                  <p:embed/>
                  <p:pic>
                    <p:nvPicPr>
                      <p:cNvPr id="470" name="Google Shape;470;p22"/>
                      <p:cNvPicPr preferRelativeResize="0"/>
                      <p:nvPr/>
                    </p:nvPicPr>
                    <p:blipFill rotWithShape="1">
                      <a:blip r:embed="rId10">
                        <a:alphaModFix/>
                      </a:blip>
                      <a:srcRect b="0" l="0" r="0" t="0"/>
                      <a:stretch/>
                    </p:blipFill>
                    <p:spPr>
                      <a:xfrm>
                        <a:off x="900113" y="3789363"/>
                        <a:ext cx="6119812" cy="625475"/>
                      </a:xfrm>
                      <a:prstGeom prst="rect">
                        <a:avLst/>
                      </a:prstGeom>
                      <a:noFill/>
                      <a:ln>
                        <a:noFill/>
                      </a:ln>
                    </p:spPr>
                  </p:pic>
                </p:oleObj>
              </mc:Fallback>
            </mc:AlternateContent>
          </a:graphicData>
        </a:graphic>
      </p:graphicFrame>
      <p:graphicFrame>
        <p:nvGraphicFramePr>
          <p:cNvPr id="471" name="Google Shape;471;p22"/>
          <p:cNvGraphicFramePr/>
          <p:nvPr/>
        </p:nvGraphicFramePr>
        <p:xfrm>
          <a:off x="3059113" y="5316538"/>
          <a:ext cx="2233612" cy="420687"/>
        </p:xfrm>
        <a:graphic>
          <a:graphicData uri="http://schemas.openxmlformats.org/presentationml/2006/ole">
            <mc:AlternateContent>
              <mc:Choice Requires="v">
                <p:oleObj r:id="rId11" imgH="420687" imgW="2233612" progId="Paint.Picture" spid="_x0000_s3">
                  <p:embed/>
                </p:oleObj>
              </mc:Choice>
              <mc:Fallback>
                <p:oleObj r:id="rId12" imgH="420687" imgW="2233612" progId="Paint.Picture">
                  <p:embed/>
                  <p:pic>
                    <p:nvPicPr>
                      <p:cNvPr id="471" name="Google Shape;471;p22"/>
                      <p:cNvPicPr preferRelativeResize="0"/>
                      <p:nvPr/>
                    </p:nvPicPr>
                    <p:blipFill rotWithShape="1">
                      <a:blip r:embed="rId13">
                        <a:alphaModFix/>
                      </a:blip>
                      <a:srcRect b="0" l="0" r="0" t="0"/>
                      <a:stretch/>
                    </p:blipFill>
                    <p:spPr>
                      <a:xfrm>
                        <a:off x="3059113" y="5316538"/>
                        <a:ext cx="2233612" cy="420687"/>
                      </a:xfrm>
                      <a:prstGeom prst="rect">
                        <a:avLst/>
                      </a:prstGeom>
                      <a:noFill/>
                      <a:ln cap="flat" cmpd="sng" w="76200">
                        <a:solidFill>
                          <a:srgbClr val="FF00FF"/>
                        </a:solidFill>
                        <a:prstDash val="solid"/>
                        <a:miter lim="800000"/>
                        <a:headEnd len="sm" w="sm" type="none"/>
                        <a:tailEnd len="sm" w="sm" type="none"/>
                      </a:ln>
                    </p:spPr>
                  </p:pic>
                </p:oleObj>
              </mc:Fallback>
            </mc:AlternateContent>
          </a:graphicData>
        </a:graphic>
      </p:graphicFrame>
      <p:sp>
        <p:nvSpPr>
          <p:cNvPr id="472" name="Google Shape;472;p22"/>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88888"/>
              </a:buClr>
              <a:buSzPts val="900"/>
              <a:buNone/>
            </a:pPr>
            <a:r>
              <a:rPr lang="en-US" u="none"/>
              <a:t>Department of CSE, Daffodil International University</a:t>
            </a:r>
            <a:endParaRPr u="none"/>
          </a:p>
        </p:txBody>
      </p:sp>
      <p:sp>
        <p:nvSpPr>
          <p:cNvPr id="473" name="Google Shape;473;p22"/>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900"/>
              <a:buNone/>
            </a:pPr>
            <a:fld id="{00000000-1234-1234-1234-123412341234}" type="slidenum">
              <a:rPr b="1" lang="en-US" sz="900" u="sng">
                <a:solidFill>
                  <a:srgbClr val="898989"/>
                </a:solidFill>
                <a:latin typeface="Arial"/>
                <a:ea typeface="Arial"/>
                <a:cs typeface="Arial"/>
                <a:sym typeface="Arial"/>
              </a:rPr>
              <a:t>‹#›</a:t>
            </a:fld>
            <a:endParaRPr b="1" sz="900" u="sng">
              <a:solidFill>
                <a:srgbClr val="898989"/>
              </a:solidFill>
              <a:latin typeface="Arial"/>
              <a:ea typeface="Arial"/>
              <a:cs typeface="Arial"/>
              <a:sym typeface="Arial"/>
            </a:endParaRPr>
          </a:p>
        </p:txBody>
      </p:sp>
      <p:sp>
        <p:nvSpPr>
          <p:cNvPr id="474" name="Google Shape;474;p22"/>
          <p:cNvSpPr txBox="1"/>
          <p:nvPr/>
        </p:nvSpPr>
        <p:spPr>
          <a:xfrm>
            <a:off x="175500" y="151200"/>
            <a:ext cx="8113500" cy="685800"/>
          </a:xfrm>
          <a:prstGeom prst="rect">
            <a:avLst/>
          </a:prstGeom>
          <a:solidFill>
            <a:srgbClr val="4285F4"/>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Calibri"/>
                <a:ea typeface="Calibri"/>
                <a:cs typeface="Calibri"/>
                <a:sym typeface="Calibri"/>
              </a:rPr>
              <a:t>			</a:t>
            </a:r>
            <a:endParaRPr b="1"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Times New Roman"/>
                <a:ea typeface="Times New Roman"/>
                <a:cs typeface="Times New Roman"/>
                <a:sym typeface="Times New Roman"/>
              </a:rPr>
              <a:t>Mid Point Circle Drawing Algorithm</a:t>
            </a:r>
            <a:endParaRPr b="0"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t/>
            </a:r>
            <a:endParaRPr b="1" i="0" sz="3300" u="none" cap="none" strike="noStrike">
              <a:solidFill>
                <a:schemeClr val="dk1"/>
              </a:solidFill>
              <a:latin typeface="Times New Roman"/>
              <a:ea typeface="Times New Roman"/>
              <a:cs typeface="Times New Roman"/>
              <a:sym typeface="Times New Roman"/>
            </a:endParaRPr>
          </a:p>
        </p:txBody>
      </p:sp>
      <p:pic>
        <p:nvPicPr>
          <p:cNvPr id="475" name="Google Shape;475;p22"/>
          <p:cNvPicPr preferRelativeResize="0"/>
          <p:nvPr/>
        </p:nvPicPr>
        <p:blipFill rotWithShape="1">
          <a:blip r:embed="rId14">
            <a:alphaModFix/>
          </a:blip>
          <a:srcRect b="0" l="0" r="0" t="0"/>
          <a:stretch/>
        </p:blipFill>
        <p:spPr>
          <a:xfrm>
            <a:off x="8050200" y="151200"/>
            <a:ext cx="1371600" cy="6858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pic>
        <p:nvPicPr>
          <p:cNvPr id="480" name="Google Shape;480;p23"/>
          <p:cNvPicPr preferRelativeResize="0"/>
          <p:nvPr/>
        </p:nvPicPr>
        <p:blipFill rotWithShape="1">
          <a:blip r:embed="rId3">
            <a:alphaModFix/>
          </a:blip>
          <a:srcRect b="0" l="0" r="0" t="0"/>
          <a:stretch/>
        </p:blipFill>
        <p:spPr>
          <a:xfrm>
            <a:off x="6142038" y="3941763"/>
            <a:ext cx="1047750" cy="2189162"/>
          </a:xfrm>
          <a:prstGeom prst="rect">
            <a:avLst/>
          </a:prstGeom>
          <a:noFill/>
          <a:ln>
            <a:noFill/>
          </a:ln>
        </p:spPr>
      </p:pic>
      <p:sp>
        <p:nvSpPr>
          <p:cNvPr id="481" name="Google Shape;481;p23"/>
          <p:cNvSpPr txBox="1"/>
          <p:nvPr/>
        </p:nvSpPr>
        <p:spPr>
          <a:xfrm>
            <a:off x="590550" y="1636713"/>
            <a:ext cx="7581850" cy="830997"/>
          </a:xfrm>
          <a:prstGeom prst="rect">
            <a:avLst/>
          </a:prstGeom>
          <a:blipFill rotWithShape="1">
            <a:blip r:embed="rId4">
              <a:alphaModFix/>
            </a:blip>
            <a:stretch>
              <a:fillRect b="-15327" l="-1285" r="0" t="-5838"/>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p23"/>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88888"/>
              </a:buClr>
              <a:buSzPts val="900"/>
              <a:buNone/>
            </a:pPr>
            <a:r>
              <a:rPr lang="en-US" u="none"/>
              <a:t>Department of CSE, Daffodil International University</a:t>
            </a:r>
            <a:endParaRPr u="none"/>
          </a:p>
        </p:txBody>
      </p:sp>
      <p:sp>
        <p:nvSpPr>
          <p:cNvPr id="483" name="Google Shape;483;p23"/>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900"/>
              <a:buNone/>
            </a:pPr>
            <a:fld id="{00000000-1234-1234-1234-123412341234}" type="slidenum">
              <a:rPr b="1" lang="en-US" sz="900" u="sng">
                <a:solidFill>
                  <a:srgbClr val="898989"/>
                </a:solidFill>
                <a:latin typeface="Arial"/>
                <a:ea typeface="Arial"/>
                <a:cs typeface="Arial"/>
                <a:sym typeface="Arial"/>
              </a:rPr>
              <a:t>‹#›</a:t>
            </a:fld>
            <a:endParaRPr b="1" sz="900" u="sng">
              <a:solidFill>
                <a:srgbClr val="898989"/>
              </a:solidFill>
              <a:latin typeface="Arial"/>
              <a:ea typeface="Arial"/>
              <a:cs typeface="Arial"/>
              <a:sym typeface="Arial"/>
            </a:endParaRPr>
          </a:p>
        </p:txBody>
      </p:sp>
      <p:sp>
        <p:nvSpPr>
          <p:cNvPr id="484" name="Google Shape;484;p23"/>
          <p:cNvSpPr txBox="1"/>
          <p:nvPr/>
        </p:nvSpPr>
        <p:spPr>
          <a:xfrm>
            <a:off x="175500" y="151200"/>
            <a:ext cx="8113500" cy="685800"/>
          </a:xfrm>
          <a:prstGeom prst="rect">
            <a:avLst/>
          </a:prstGeom>
          <a:solidFill>
            <a:srgbClr val="4285F4"/>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Calibri"/>
                <a:ea typeface="Calibri"/>
                <a:cs typeface="Calibri"/>
                <a:sym typeface="Calibri"/>
              </a:rPr>
              <a:t>			</a:t>
            </a:r>
            <a:endParaRPr b="1"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Times New Roman"/>
                <a:ea typeface="Times New Roman"/>
                <a:cs typeface="Times New Roman"/>
                <a:sym typeface="Times New Roman"/>
              </a:rPr>
              <a:t>Mid Point Circle Drawing Algorithm</a:t>
            </a:r>
            <a:endParaRPr b="0"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t/>
            </a:r>
            <a:endParaRPr b="1" i="0" sz="3300" u="none" cap="none" strike="noStrike">
              <a:solidFill>
                <a:schemeClr val="dk1"/>
              </a:solidFill>
              <a:latin typeface="Times New Roman"/>
              <a:ea typeface="Times New Roman"/>
              <a:cs typeface="Times New Roman"/>
              <a:sym typeface="Times New Roman"/>
            </a:endParaRPr>
          </a:p>
        </p:txBody>
      </p:sp>
      <p:pic>
        <p:nvPicPr>
          <p:cNvPr id="485" name="Google Shape;485;p23"/>
          <p:cNvPicPr preferRelativeResize="0"/>
          <p:nvPr/>
        </p:nvPicPr>
        <p:blipFill rotWithShape="1">
          <a:blip r:embed="rId5">
            <a:alphaModFix/>
          </a:blip>
          <a:srcRect b="0" l="0" r="0" t="0"/>
          <a:stretch/>
        </p:blipFill>
        <p:spPr>
          <a:xfrm>
            <a:off x="8050200" y="151200"/>
            <a:ext cx="1371600" cy="685800"/>
          </a:xfrm>
          <a:prstGeom prst="rect">
            <a:avLst/>
          </a:prstGeom>
          <a:noFill/>
          <a:ln>
            <a:noFill/>
          </a:ln>
        </p:spPr>
      </p:pic>
      <p:pic>
        <p:nvPicPr>
          <p:cNvPr id="486" name="Google Shape;486;p23"/>
          <p:cNvPicPr preferRelativeResize="0"/>
          <p:nvPr/>
        </p:nvPicPr>
        <p:blipFill>
          <a:blip r:embed="rId6">
            <a:alphaModFix/>
          </a:blip>
          <a:stretch>
            <a:fillRect/>
          </a:stretch>
        </p:blipFill>
        <p:spPr>
          <a:xfrm>
            <a:off x="2157388" y="2749601"/>
            <a:ext cx="4095750" cy="1581150"/>
          </a:xfrm>
          <a:prstGeom prst="rect">
            <a:avLst/>
          </a:prstGeom>
          <a:noFill/>
          <a:ln>
            <a:noFill/>
          </a:ln>
        </p:spPr>
      </p:pic>
      <p:pic>
        <p:nvPicPr>
          <p:cNvPr id="487" name="Google Shape;487;p23"/>
          <p:cNvPicPr preferRelativeResize="0"/>
          <p:nvPr/>
        </p:nvPicPr>
        <p:blipFill>
          <a:blip r:embed="rId7">
            <a:alphaModFix/>
          </a:blip>
          <a:stretch>
            <a:fillRect/>
          </a:stretch>
        </p:blipFill>
        <p:spPr>
          <a:xfrm>
            <a:off x="2157388" y="4417076"/>
            <a:ext cx="4448175" cy="16573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pic>
        <p:nvPicPr>
          <p:cNvPr id="492" name="Google Shape;492;p24"/>
          <p:cNvPicPr preferRelativeResize="0"/>
          <p:nvPr/>
        </p:nvPicPr>
        <p:blipFill rotWithShape="1">
          <a:blip r:embed="rId3">
            <a:alphaModFix/>
          </a:blip>
          <a:srcRect b="0" l="0" r="0" t="0"/>
          <a:stretch/>
        </p:blipFill>
        <p:spPr>
          <a:xfrm>
            <a:off x="6142038" y="3941763"/>
            <a:ext cx="1047750" cy="2189162"/>
          </a:xfrm>
          <a:prstGeom prst="rect">
            <a:avLst/>
          </a:prstGeom>
          <a:noFill/>
          <a:ln>
            <a:noFill/>
          </a:ln>
        </p:spPr>
      </p:pic>
      <p:sp>
        <p:nvSpPr>
          <p:cNvPr id="493" name="Google Shape;493;p24"/>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88888"/>
              </a:buClr>
              <a:buSzPts val="900"/>
              <a:buNone/>
            </a:pPr>
            <a:r>
              <a:rPr lang="en-US" u="none"/>
              <a:t>Department of CSE, Daffodil International University</a:t>
            </a:r>
            <a:endParaRPr u="none"/>
          </a:p>
        </p:txBody>
      </p:sp>
      <p:sp>
        <p:nvSpPr>
          <p:cNvPr id="494" name="Google Shape;494;p24"/>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900"/>
              <a:buNone/>
            </a:pPr>
            <a:fld id="{00000000-1234-1234-1234-123412341234}" type="slidenum">
              <a:rPr b="1" lang="en-US" sz="900" u="sng">
                <a:solidFill>
                  <a:srgbClr val="898989"/>
                </a:solidFill>
                <a:latin typeface="Arial"/>
                <a:ea typeface="Arial"/>
                <a:cs typeface="Arial"/>
                <a:sym typeface="Arial"/>
              </a:rPr>
              <a:t>‹#›</a:t>
            </a:fld>
            <a:endParaRPr b="1" sz="900" u="sng">
              <a:solidFill>
                <a:srgbClr val="898989"/>
              </a:solidFill>
              <a:latin typeface="Arial"/>
              <a:ea typeface="Arial"/>
              <a:cs typeface="Arial"/>
              <a:sym typeface="Arial"/>
            </a:endParaRPr>
          </a:p>
        </p:txBody>
      </p:sp>
      <p:sp>
        <p:nvSpPr>
          <p:cNvPr id="495" name="Google Shape;495;p24"/>
          <p:cNvSpPr txBox="1"/>
          <p:nvPr/>
        </p:nvSpPr>
        <p:spPr>
          <a:xfrm>
            <a:off x="175500" y="151200"/>
            <a:ext cx="8113500" cy="685800"/>
          </a:xfrm>
          <a:prstGeom prst="rect">
            <a:avLst/>
          </a:prstGeom>
          <a:solidFill>
            <a:srgbClr val="4285F4"/>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Calibri"/>
                <a:ea typeface="Calibri"/>
                <a:cs typeface="Calibri"/>
                <a:sym typeface="Calibri"/>
              </a:rPr>
              <a:t>			</a:t>
            </a:r>
            <a:endParaRPr b="1"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Times New Roman"/>
                <a:ea typeface="Times New Roman"/>
                <a:cs typeface="Times New Roman"/>
                <a:sym typeface="Times New Roman"/>
              </a:rPr>
              <a:t>Mid Point Circle Drawing Algorithm</a:t>
            </a:r>
            <a:endParaRPr b="0"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t/>
            </a:r>
            <a:endParaRPr b="1" i="0" sz="3300" u="none" cap="none" strike="noStrike">
              <a:solidFill>
                <a:schemeClr val="dk1"/>
              </a:solidFill>
              <a:latin typeface="Times New Roman"/>
              <a:ea typeface="Times New Roman"/>
              <a:cs typeface="Times New Roman"/>
              <a:sym typeface="Times New Roman"/>
            </a:endParaRPr>
          </a:p>
        </p:txBody>
      </p:sp>
      <p:pic>
        <p:nvPicPr>
          <p:cNvPr id="496" name="Google Shape;496;p24"/>
          <p:cNvPicPr preferRelativeResize="0"/>
          <p:nvPr/>
        </p:nvPicPr>
        <p:blipFill rotWithShape="1">
          <a:blip r:embed="rId4">
            <a:alphaModFix/>
          </a:blip>
          <a:srcRect b="0" l="0" r="0" t="0"/>
          <a:stretch/>
        </p:blipFill>
        <p:spPr>
          <a:xfrm>
            <a:off x="8050200" y="151200"/>
            <a:ext cx="1371600" cy="685800"/>
          </a:xfrm>
          <a:prstGeom prst="rect">
            <a:avLst/>
          </a:prstGeom>
          <a:noFill/>
          <a:ln>
            <a:noFill/>
          </a:ln>
        </p:spPr>
      </p:pic>
      <p:pic>
        <p:nvPicPr>
          <p:cNvPr id="497" name="Google Shape;497;p24" title="Screenshot 2026-06-10 at 2.16.23 AM.png"/>
          <p:cNvPicPr preferRelativeResize="0"/>
          <p:nvPr/>
        </p:nvPicPr>
        <p:blipFill>
          <a:blip r:embed="rId5">
            <a:alphaModFix/>
          </a:blip>
          <a:stretch>
            <a:fillRect/>
          </a:stretch>
        </p:blipFill>
        <p:spPr>
          <a:xfrm>
            <a:off x="1962148" y="1058693"/>
            <a:ext cx="5059919" cy="5214552"/>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pic>
        <p:nvPicPr>
          <p:cNvPr id="502" name="Google Shape;502;g3ebec7c2c95_0_0"/>
          <p:cNvPicPr preferRelativeResize="0"/>
          <p:nvPr/>
        </p:nvPicPr>
        <p:blipFill rotWithShape="1">
          <a:blip r:embed="rId3">
            <a:alphaModFix/>
          </a:blip>
          <a:srcRect b="0" l="0" r="0" t="0"/>
          <a:stretch/>
        </p:blipFill>
        <p:spPr>
          <a:xfrm>
            <a:off x="6142038" y="3941763"/>
            <a:ext cx="1047749" cy="2189163"/>
          </a:xfrm>
          <a:prstGeom prst="rect">
            <a:avLst/>
          </a:prstGeom>
          <a:noFill/>
          <a:ln>
            <a:noFill/>
          </a:ln>
        </p:spPr>
      </p:pic>
      <p:sp>
        <p:nvSpPr>
          <p:cNvPr id="503" name="Google Shape;503;g3ebec7c2c95_0_0"/>
          <p:cNvSpPr txBox="1"/>
          <p:nvPr>
            <p:ph idx="11" type="ftr"/>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88888"/>
              </a:buClr>
              <a:buSzPts val="900"/>
              <a:buNone/>
            </a:pPr>
            <a:r>
              <a:rPr lang="en-US" u="none"/>
              <a:t>Department of CSE, Daffodil International University</a:t>
            </a:r>
            <a:endParaRPr u="none"/>
          </a:p>
        </p:txBody>
      </p:sp>
      <p:sp>
        <p:nvSpPr>
          <p:cNvPr id="504" name="Google Shape;504;g3ebec7c2c95_0_0"/>
          <p:cNvSpPr txBox="1"/>
          <p:nvPr>
            <p:ph idx="12" type="sldNum"/>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900"/>
              <a:buNone/>
            </a:pPr>
            <a:fld id="{00000000-1234-1234-1234-123412341234}" type="slidenum">
              <a:rPr b="1" lang="en-US" sz="900" u="sng">
                <a:solidFill>
                  <a:srgbClr val="898989"/>
                </a:solidFill>
                <a:latin typeface="Arial"/>
                <a:ea typeface="Arial"/>
                <a:cs typeface="Arial"/>
                <a:sym typeface="Arial"/>
              </a:rPr>
              <a:t>‹#›</a:t>
            </a:fld>
            <a:endParaRPr b="1" sz="900" u="sng">
              <a:solidFill>
                <a:srgbClr val="898989"/>
              </a:solidFill>
              <a:latin typeface="Arial"/>
              <a:ea typeface="Arial"/>
              <a:cs typeface="Arial"/>
              <a:sym typeface="Arial"/>
            </a:endParaRPr>
          </a:p>
        </p:txBody>
      </p:sp>
      <p:sp>
        <p:nvSpPr>
          <p:cNvPr id="505" name="Google Shape;505;g3ebec7c2c95_0_0"/>
          <p:cNvSpPr txBox="1"/>
          <p:nvPr/>
        </p:nvSpPr>
        <p:spPr>
          <a:xfrm>
            <a:off x="175500" y="151200"/>
            <a:ext cx="8113500" cy="845100"/>
          </a:xfrm>
          <a:prstGeom prst="rect">
            <a:avLst/>
          </a:prstGeom>
          <a:solidFill>
            <a:srgbClr val="4285F4"/>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Calibri"/>
                <a:ea typeface="Calibri"/>
                <a:cs typeface="Calibri"/>
                <a:sym typeface="Calibri"/>
              </a:rPr>
              <a:t>			</a:t>
            </a:r>
            <a:endParaRPr b="1"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rPr b="1" lang="en-US" sz="3300">
                <a:solidFill>
                  <a:schemeClr val="dk1"/>
                </a:solidFill>
                <a:latin typeface="Times New Roman"/>
                <a:ea typeface="Times New Roman"/>
                <a:cs typeface="Times New Roman"/>
                <a:sym typeface="Times New Roman"/>
              </a:rPr>
              <a:t>Derivation: </a:t>
            </a:r>
            <a:r>
              <a:rPr b="1" i="0" lang="en-US" sz="3300" u="none" cap="none" strike="noStrike">
                <a:solidFill>
                  <a:schemeClr val="dk1"/>
                </a:solidFill>
                <a:latin typeface="Times New Roman"/>
                <a:ea typeface="Times New Roman"/>
                <a:cs typeface="Times New Roman"/>
                <a:sym typeface="Times New Roman"/>
              </a:rPr>
              <a:t>Mid Point Circle Drawing Algorithm</a:t>
            </a:r>
            <a:endParaRPr b="0"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t/>
            </a:r>
            <a:endParaRPr b="1" i="0" sz="3300" u="none" cap="none" strike="noStrike">
              <a:solidFill>
                <a:schemeClr val="dk1"/>
              </a:solidFill>
              <a:latin typeface="Times New Roman"/>
              <a:ea typeface="Times New Roman"/>
              <a:cs typeface="Times New Roman"/>
              <a:sym typeface="Times New Roman"/>
            </a:endParaRPr>
          </a:p>
        </p:txBody>
      </p:sp>
      <p:pic>
        <p:nvPicPr>
          <p:cNvPr id="506" name="Google Shape;506;g3ebec7c2c95_0_0"/>
          <p:cNvPicPr preferRelativeResize="0"/>
          <p:nvPr/>
        </p:nvPicPr>
        <p:blipFill rotWithShape="1">
          <a:blip r:embed="rId4">
            <a:alphaModFix/>
          </a:blip>
          <a:srcRect b="0" l="0" r="0" t="0"/>
          <a:stretch/>
        </p:blipFill>
        <p:spPr>
          <a:xfrm>
            <a:off x="8050200" y="151200"/>
            <a:ext cx="1371600" cy="685800"/>
          </a:xfrm>
          <a:prstGeom prst="rect">
            <a:avLst/>
          </a:prstGeom>
          <a:noFill/>
          <a:ln>
            <a:noFill/>
          </a:ln>
        </p:spPr>
      </p:pic>
      <p:sp>
        <p:nvSpPr>
          <p:cNvPr id="507" name="Google Shape;507;g3ebec7c2c95_0_0"/>
          <p:cNvSpPr txBox="1"/>
          <p:nvPr/>
        </p:nvSpPr>
        <p:spPr>
          <a:xfrm>
            <a:off x="927050" y="1477525"/>
            <a:ext cx="7229400" cy="347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solidFill>
                  <a:schemeClr val="dk1"/>
                </a:solidFill>
                <a:latin typeface="Calibri"/>
                <a:ea typeface="Calibri"/>
                <a:cs typeface="Calibri"/>
                <a:sym typeface="Calibri"/>
              </a:rPr>
              <a:t>External Resource:</a:t>
            </a:r>
            <a:endParaRPr sz="2100">
              <a:solidFill>
                <a:schemeClr val="dk1"/>
              </a:solidFill>
              <a:latin typeface="Calibri"/>
              <a:ea typeface="Calibri"/>
              <a:cs typeface="Calibri"/>
              <a:sym typeface="Calibri"/>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a:p>
            <a:pPr indent="0" lvl="0" marL="0" rtl="0" algn="l">
              <a:spcBef>
                <a:spcPts val="0"/>
              </a:spcBef>
              <a:spcAft>
                <a:spcPts val="0"/>
              </a:spcAft>
              <a:buNone/>
            </a:pPr>
            <a:r>
              <a:rPr lang="en-US" sz="2100" u="sng">
                <a:solidFill>
                  <a:schemeClr val="hlink"/>
                </a:solidFill>
                <a:latin typeface="Calibri"/>
                <a:ea typeface="Calibri"/>
                <a:cs typeface="Calibri"/>
                <a:sym typeface="Calibri"/>
                <a:hlinkClick r:id="rId5"/>
              </a:rPr>
              <a:t>https://getsetcg.blogspot.com/2018/10/mid-point-circle-drawing-derivation.html</a:t>
            </a:r>
            <a:endParaRPr sz="2100">
              <a:solidFill>
                <a:schemeClr val="dk1"/>
              </a:solidFill>
              <a:latin typeface="Calibri"/>
              <a:ea typeface="Calibri"/>
              <a:cs typeface="Calibri"/>
              <a:sym typeface="Calibri"/>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a:p>
            <a:pPr indent="0" lvl="0" marL="0" rtl="0" algn="l">
              <a:spcBef>
                <a:spcPts val="0"/>
              </a:spcBef>
              <a:spcAft>
                <a:spcPts val="0"/>
              </a:spcAft>
              <a:buNone/>
            </a:pPr>
            <a:r>
              <a:rPr lang="en-US" sz="2100">
                <a:solidFill>
                  <a:schemeClr val="dk1"/>
                </a:solidFill>
                <a:latin typeface="Calibri"/>
                <a:ea typeface="Calibri"/>
                <a:cs typeface="Calibri"/>
                <a:sym typeface="Calibri"/>
              </a:rPr>
              <a:t>Topics to Study:</a:t>
            </a:r>
            <a:endParaRPr sz="2100">
              <a:solidFill>
                <a:schemeClr val="dk1"/>
              </a:solidFill>
              <a:latin typeface="Calibri"/>
              <a:ea typeface="Calibri"/>
              <a:cs typeface="Calibri"/>
              <a:sym typeface="Calibri"/>
            </a:endParaRPr>
          </a:p>
          <a:p>
            <a:pPr indent="0" lvl="0" marL="914400" rtl="0" algn="l">
              <a:spcBef>
                <a:spcPts val="0"/>
              </a:spcBef>
              <a:spcAft>
                <a:spcPts val="0"/>
              </a:spcAft>
              <a:buNone/>
            </a:pPr>
            <a:r>
              <a:rPr lang="en-US" sz="2100">
                <a:solidFill>
                  <a:schemeClr val="dk1"/>
                </a:solidFill>
                <a:latin typeface="Calibri"/>
                <a:ea typeface="Calibri"/>
                <a:cs typeface="Calibri"/>
                <a:sym typeface="Calibri"/>
              </a:rPr>
              <a:t>1. Derivation of Mid point circle drawing algorithm</a:t>
            </a:r>
            <a:endParaRPr sz="2100">
              <a:solidFill>
                <a:schemeClr val="dk1"/>
              </a:solidFill>
              <a:latin typeface="Calibri"/>
              <a:ea typeface="Calibri"/>
              <a:cs typeface="Calibri"/>
              <a:sym typeface="Calibri"/>
            </a:endParaRPr>
          </a:p>
          <a:p>
            <a:pPr indent="0" lvl="0" marL="914400" rtl="0" algn="l">
              <a:spcBef>
                <a:spcPts val="0"/>
              </a:spcBef>
              <a:spcAft>
                <a:spcPts val="0"/>
              </a:spcAft>
              <a:buNone/>
            </a:pPr>
            <a:r>
              <a:rPr lang="en-US" sz="2100">
                <a:solidFill>
                  <a:schemeClr val="dk1"/>
                </a:solidFill>
                <a:latin typeface="Calibri"/>
                <a:ea typeface="Calibri"/>
                <a:cs typeface="Calibri"/>
                <a:sym typeface="Calibri"/>
              </a:rPr>
              <a:t>2. Derivation for </a:t>
            </a:r>
            <a:r>
              <a:rPr b="1" lang="en-US" sz="1800">
                <a:solidFill>
                  <a:srgbClr val="ED7D31"/>
                </a:solidFill>
                <a:highlight>
                  <a:srgbClr val="FFFFFF"/>
                </a:highlight>
                <a:latin typeface="Times New Roman"/>
                <a:ea typeface="Times New Roman"/>
                <a:cs typeface="Times New Roman"/>
                <a:sym typeface="Times New Roman"/>
              </a:rPr>
              <a:t>P</a:t>
            </a:r>
            <a:r>
              <a:rPr b="1" baseline="-25000" lang="en-US" sz="2300">
                <a:solidFill>
                  <a:srgbClr val="ED7D31"/>
                </a:solidFill>
                <a:highlight>
                  <a:srgbClr val="FFFFFF"/>
                </a:highlight>
                <a:latin typeface="Times New Roman"/>
                <a:ea typeface="Times New Roman"/>
                <a:cs typeface="Times New Roman"/>
                <a:sym typeface="Times New Roman"/>
              </a:rPr>
              <a:t>k </a:t>
            </a:r>
            <a:r>
              <a:rPr b="1" lang="en-US" sz="1800">
                <a:solidFill>
                  <a:srgbClr val="ED7D31"/>
                </a:solidFill>
                <a:highlight>
                  <a:srgbClr val="FFFFFF"/>
                </a:highlight>
                <a:latin typeface="Times New Roman"/>
                <a:ea typeface="Times New Roman"/>
                <a:cs typeface="Times New Roman"/>
                <a:sym typeface="Times New Roman"/>
              </a:rPr>
              <a:t>&gt; 0</a:t>
            </a:r>
            <a:r>
              <a:rPr lang="en-US" sz="1100">
                <a:solidFill>
                  <a:schemeClr val="dk1"/>
                </a:solidFill>
              </a:rPr>
              <a:t> </a:t>
            </a:r>
            <a:r>
              <a:rPr lang="en-US" sz="2100">
                <a:solidFill>
                  <a:schemeClr val="dk1"/>
                </a:solidFill>
                <a:latin typeface="Calibri"/>
                <a:ea typeface="Calibri"/>
                <a:cs typeface="Calibri"/>
                <a:sym typeface="Calibri"/>
              </a:rPr>
              <a:t>and</a:t>
            </a:r>
            <a:r>
              <a:rPr lang="en-US" sz="1100">
                <a:solidFill>
                  <a:schemeClr val="dk1"/>
                </a:solidFill>
              </a:rPr>
              <a:t> </a:t>
            </a:r>
            <a:r>
              <a:rPr b="1" lang="en-US" sz="1800">
                <a:solidFill>
                  <a:srgbClr val="ED7D31"/>
                </a:solidFill>
                <a:highlight>
                  <a:srgbClr val="FFFFFF"/>
                </a:highlight>
                <a:latin typeface="Times New Roman"/>
                <a:ea typeface="Times New Roman"/>
                <a:cs typeface="Times New Roman"/>
                <a:sym typeface="Times New Roman"/>
              </a:rPr>
              <a:t>P</a:t>
            </a:r>
            <a:r>
              <a:rPr b="1" baseline="-25000" lang="en-US" sz="2300">
                <a:solidFill>
                  <a:srgbClr val="ED7D31"/>
                </a:solidFill>
                <a:highlight>
                  <a:srgbClr val="FFFFFF"/>
                </a:highlight>
                <a:latin typeface="Times New Roman"/>
                <a:ea typeface="Times New Roman"/>
                <a:cs typeface="Times New Roman"/>
                <a:sym typeface="Times New Roman"/>
              </a:rPr>
              <a:t>k </a:t>
            </a:r>
            <a:r>
              <a:rPr b="1" lang="en-US" sz="1800">
                <a:solidFill>
                  <a:srgbClr val="ED7D31"/>
                </a:solidFill>
                <a:highlight>
                  <a:srgbClr val="FFFFFF"/>
                </a:highlight>
                <a:latin typeface="Times New Roman"/>
                <a:ea typeface="Times New Roman"/>
                <a:cs typeface="Times New Roman"/>
                <a:sym typeface="Times New Roman"/>
              </a:rPr>
              <a:t>&lt; 0</a:t>
            </a:r>
            <a:r>
              <a:rPr lang="en-US" sz="1100">
                <a:solidFill>
                  <a:schemeClr val="dk1"/>
                </a:solidFill>
              </a:rPr>
              <a:t> </a:t>
            </a:r>
            <a:endParaRPr sz="1100">
              <a:solidFill>
                <a:schemeClr val="dk1"/>
              </a:solidFill>
            </a:endParaRPr>
          </a:p>
          <a:p>
            <a:pPr indent="0" lvl="0" marL="914400" rtl="0" algn="l">
              <a:spcBef>
                <a:spcPts val="0"/>
              </a:spcBef>
              <a:spcAft>
                <a:spcPts val="0"/>
              </a:spcAft>
              <a:buClr>
                <a:schemeClr val="dk1"/>
              </a:buClr>
              <a:buSzPts val="1100"/>
              <a:buFont typeface="Arial"/>
              <a:buNone/>
            </a:pPr>
            <a:r>
              <a:rPr lang="en-US" sz="2100">
                <a:solidFill>
                  <a:schemeClr val="dk1"/>
                </a:solidFill>
                <a:latin typeface="Calibri"/>
                <a:ea typeface="Calibri"/>
                <a:cs typeface="Calibri"/>
                <a:sym typeface="Calibri"/>
              </a:rPr>
              <a:t>3. Derivation of the formula for </a:t>
            </a:r>
            <a:r>
              <a:rPr b="1" lang="en-US" sz="1800">
                <a:solidFill>
                  <a:srgbClr val="ED7D31"/>
                </a:solidFill>
                <a:highlight>
                  <a:srgbClr val="FFFFFF"/>
                </a:highlight>
                <a:latin typeface="Times New Roman"/>
                <a:ea typeface="Times New Roman"/>
                <a:cs typeface="Times New Roman"/>
                <a:sym typeface="Times New Roman"/>
              </a:rPr>
              <a:t>P</a:t>
            </a:r>
            <a:r>
              <a:rPr b="1" baseline="-25000" lang="en-US" sz="2300">
                <a:solidFill>
                  <a:srgbClr val="ED7D31"/>
                </a:solidFill>
                <a:highlight>
                  <a:srgbClr val="FFFFFF"/>
                </a:highlight>
                <a:latin typeface="Times New Roman"/>
                <a:ea typeface="Times New Roman"/>
                <a:cs typeface="Times New Roman"/>
                <a:sym typeface="Times New Roman"/>
              </a:rPr>
              <a:t>0</a:t>
            </a:r>
            <a:endParaRPr sz="11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25"/>
          <p:cNvSpPr txBox="1"/>
          <p:nvPr>
            <p:ph idx="1" type="body"/>
          </p:nvPr>
        </p:nvSpPr>
        <p:spPr>
          <a:xfrm>
            <a:off x="628650" y="1547167"/>
            <a:ext cx="7886700" cy="4351200"/>
          </a:xfrm>
          <a:prstGeom prst="rect">
            <a:avLst/>
          </a:prstGeom>
          <a:blipFill rotWithShape="1">
            <a:blip r:embed="rId3">
              <a:alphaModFix/>
            </a:blip>
            <a:stretch>
              <a:fillRect b="-1680" l="-1000" r="0" t="-2940"/>
            </a:stretch>
          </a:blip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None/>
            </a:pPr>
            <a:r>
              <a:rPr lang="en-US"/>
              <a:t>                      </a:t>
            </a:r>
            <a:endParaRPr/>
          </a:p>
        </p:txBody>
      </p:sp>
      <p:sp>
        <p:nvSpPr>
          <p:cNvPr id="513" name="Google Shape;513;p25"/>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88888"/>
              </a:buClr>
              <a:buSzPts val="900"/>
              <a:buNone/>
            </a:pPr>
            <a:r>
              <a:rPr lang="en-US" u="none"/>
              <a:t>Department of CSE, Daffodil International University</a:t>
            </a:r>
            <a:endParaRPr u="none"/>
          </a:p>
        </p:txBody>
      </p:sp>
      <p:sp>
        <p:nvSpPr>
          <p:cNvPr id="514" name="Google Shape;514;p25"/>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900"/>
              <a:buNone/>
            </a:pPr>
            <a:fld id="{00000000-1234-1234-1234-123412341234}" type="slidenum">
              <a:rPr b="1" lang="en-US" sz="900" u="sng">
                <a:solidFill>
                  <a:srgbClr val="898989"/>
                </a:solidFill>
                <a:latin typeface="Arial"/>
                <a:ea typeface="Arial"/>
                <a:cs typeface="Arial"/>
                <a:sym typeface="Arial"/>
              </a:rPr>
              <a:t>‹#›</a:t>
            </a:fld>
            <a:endParaRPr b="1" sz="900" u="sng">
              <a:solidFill>
                <a:srgbClr val="898989"/>
              </a:solidFill>
              <a:latin typeface="Arial"/>
              <a:ea typeface="Arial"/>
              <a:cs typeface="Arial"/>
              <a:sym typeface="Arial"/>
            </a:endParaRPr>
          </a:p>
        </p:txBody>
      </p:sp>
      <p:sp>
        <p:nvSpPr>
          <p:cNvPr id="515" name="Google Shape;515;p25"/>
          <p:cNvSpPr txBox="1"/>
          <p:nvPr/>
        </p:nvSpPr>
        <p:spPr>
          <a:xfrm>
            <a:off x="175500" y="151200"/>
            <a:ext cx="8113500" cy="685800"/>
          </a:xfrm>
          <a:prstGeom prst="rect">
            <a:avLst/>
          </a:prstGeom>
          <a:solidFill>
            <a:srgbClr val="4285F4"/>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Calibri"/>
                <a:ea typeface="Calibri"/>
                <a:cs typeface="Calibri"/>
                <a:sym typeface="Calibri"/>
              </a:rPr>
              <a:t>			</a:t>
            </a:r>
            <a:endParaRPr b="1"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Times New Roman"/>
                <a:ea typeface="Times New Roman"/>
                <a:cs typeface="Times New Roman"/>
                <a:sym typeface="Times New Roman"/>
              </a:rPr>
              <a:t>Example</a:t>
            </a:r>
            <a:endParaRPr b="0"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t/>
            </a:r>
            <a:endParaRPr b="1" i="0" sz="3300" u="none" cap="none" strike="noStrike">
              <a:solidFill>
                <a:schemeClr val="dk1"/>
              </a:solidFill>
              <a:latin typeface="Times New Roman"/>
              <a:ea typeface="Times New Roman"/>
              <a:cs typeface="Times New Roman"/>
              <a:sym typeface="Times New Roman"/>
            </a:endParaRPr>
          </a:p>
        </p:txBody>
      </p:sp>
      <p:pic>
        <p:nvPicPr>
          <p:cNvPr id="516" name="Google Shape;516;p25"/>
          <p:cNvPicPr preferRelativeResize="0"/>
          <p:nvPr/>
        </p:nvPicPr>
        <p:blipFill rotWithShape="1">
          <a:blip r:embed="rId4">
            <a:alphaModFix/>
          </a:blip>
          <a:srcRect b="0" l="0" r="0" t="0"/>
          <a:stretch/>
        </p:blipFill>
        <p:spPr>
          <a:xfrm>
            <a:off x="8050200" y="151200"/>
            <a:ext cx="1371600" cy="6858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g3eeafb2e8e4_0_8"/>
          <p:cNvSpPr txBox="1"/>
          <p:nvPr>
            <p:ph idx="1" type="body"/>
          </p:nvPr>
        </p:nvSpPr>
        <p:spPr>
          <a:xfrm>
            <a:off x="477000" y="920625"/>
            <a:ext cx="8280300" cy="742500"/>
          </a:xfrm>
          <a:prstGeom prst="rect">
            <a:avLst/>
          </a:prstGeom>
          <a:noFill/>
          <a:ln>
            <a:noFill/>
          </a:ln>
        </p:spPr>
        <p:txBody>
          <a:bodyPr anchorCtr="0" anchor="t" bIns="45700" lIns="91425" spcFirstLastPara="1" rIns="91425" wrap="square" tIns="45700">
            <a:noAutofit/>
          </a:bodyPr>
          <a:lstStyle/>
          <a:p>
            <a:pPr indent="-171450" lvl="0" marL="171450" rtl="0" algn="l">
              <a:lnSpc>
                <a:spcPct val="90000"/>
              </a:lnSpc>
              <a:spcBef>
                <a:spcPts val="0"/>
              </a:spcBef>
              <a:spcAft>
                <a:spcPts val="0"/>
              </a:spcAft>
              <a:buClr>
                <a:schemeClr val="dk1"/>
              </a:buClr>
              <a:buSzPts val="2100"/>
              <a:buChar char="•"/>
            </a:pPr>
            <a:r>
              <a:rPr lang="en-US">
                <a:latin typeface="Times New Roman"/>
                <a:ea typeface="Times New Roman"/>
                <a:cs typeface="Times New Roman"/>
                <a:sym typeface="Times New Roman"/>
              </a:rPr>
              <a:t>Midpoint Circle Algorithm Table (r = 10) </a:t>
            </a:r>
            <a:endParaRPr/>
          </a:p>
          <a:p>
            <a:pPr indent="-171450" lvl="0" marL="171450" rtl="0" algn="l">
              <a:lnSpc>
                <a:spcPct val="90000"/>
              </a:lnSpc>
              <a:spcBef>
                <a:spcPts val="750"/>
              </a:spcBef>
              <a:spcAft>
                <a:spcPts val="0"/>
              </a:spcAft>
              <a:buClr>
                <a:schemeClr val="dk1"/>
              </a:buClr>
              <a:buSzPts val="2100"/>
              <a:buChar char="•"/>
            </a:pPr>
            <a:r>
              <a:rPr lang="en-US">
                <a:latin typeface="Times New Roman"/>
                <a:ea typeface="Times New Roman"/>
                <a:cs typeface="Times New Roman"/>
                <a:sym typeface="Times New Roman"/>
              </a:rPr>
              <a:t>Stop condition: x≥y</a:t>
            </a:r>
            <a:endParaRPr/>
          </a:p>
          <a:p>
            <a:pPr indent="-38100" lvl="0" marL="171450" rtl="0" algn="l">
              <a:lnSpc>
                <a:spcPct val="90000"/>
              </a:lnSpc>
              <a:spcBef>
                <a:spcPts val="750"/>
              </a:spcBef>
              <a:spcAft>
                <a:spcPts val="0"/>
              </a:spcAft>
              <a:buClr>
                <a:schemeClr val="dk1"/>
              </a:buClr>
              <a:buSzPts val="2100"/>
              <a:buNone/>
            </a:pPr>
            <a:r>
              <a:t/>
            </a:r>
            <a:endParaRPr/>
          </a:p>
          <a:p>
            <a:pPr indent="-38100" lvl="0" marL="171450" rtl="0" algn="l">
              <a:lnSpc>
                <a:spcPct val="90000"/>
              </a:lnSpc>
              <a:spcBef>
                <a:spcPts val="750"/>
              </a:spcBef>
              <a:spcAft>
                <a:spcPts val="0"/>
              </a:spcAft>
              <a:buClr>
                <a:schemeClr val="dk1"/>
              </a:buClr>
              <a:buSzPts val="2100"/>
              <a:buNone/>
            </a:pPr>
            <a:r>
              <a:t/>
            </a:r>
            <a:endParaRPr/>
          </a:p>
        </p:txBody>
      </p:sp>
      <p:graphicFrame>
        <p:nvGraphicFramePr>
          <p:cNvPr id="522" name="Google Shape;522;g3eeafb2e8e4_0_8"/>
          <p:cNvGraphicFramePr/>
          <p:nvPr/>
        </p:nvGraphicFramePr>
        <p:xfrm>
          <a:off x="611188" y="1757787"/>
          <a:ext cx="3000000" cy="3000000"/>
        </p:xfrm>
        <a:graphic>
          <a:graphicData uri="http://schemas.openxmlformats.org/drawingml/2006/table">
            <a:tbl>
              <a:tblPr>
                <a:noFill/>
                <a:tableStyleId>{9FFF64B3-177B-4AA5-BD0D-BB17B5897C80}</a:tableStyleId>
              </a:tblPr>
              <a:tblGrid>
                <a:gridCol w="703000"/>
                <a:gridCol w="720075"/>
                <a:gridCol w="792100"/>
                <a:gridCol w="864100"/>
                <a:gridCol w="1224125"/>
                <a:gridCol w="1152125"/>
                <a:gridCol w="1152125"/>
                <a:gridCol w="1279050"/>
              </a:tblGrid>
              <a:tr h="701200">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Step</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(x)</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(y)</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(p_k)</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Q-I (+x,+y)</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Q-II (−x,+y)</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Q-III (−x,−y)</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Q-IV (+x,−y)</a:t>
                      </a:r>
                      <a:endParaRPr sz="1800" u="none" cap="none" strike="noStrike"/>
                    </a:p>
                  </a:txBody>
                  <a:tcPr marT="45725" marB="45725" marR="91450" marL="91450" anchor="ctr"/>
                </a:tc>
              </a:tr>
              <a:tr h="396350">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0</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0</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10</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−9</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(0,10)</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(0,10)</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(0,−10)</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(0,−10)</a:t>
                      </a:r>
                      <a:endParaRPr sz="1800" u="none" cap="none" strike="noStrike"/>
                    </a:p>
                  </a:txBody>
                  <a:tcPr marT="45725" marB="45725" marR="91450" marL="91450" anchor="ctr"/>
                </a:tc>
              </a:tr>
              <a:tr h="396350">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1</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1</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10</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−6</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(1,10)</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(−1,10)</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(−1,−10)</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(1,−10)</a:t>
                      </a:r>
                      <a:endParaRPr sz="1800" u="none" cap="none" strike="noStrike"/>
                    </a:p>
                  </a:txBody>
                  <a:tcPr marT="45725" marB="45725" marR="91450" marL="91450" anchor="ctr"/>
                </a:tc>
              </a:tr>
              <a:tr h="396350">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2</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2</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10</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−1</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(2,10)</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(−2,10)</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(−2,−10)</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(2,−10)</a:t>
                      </a:r>
                      <a:endParaRPr sz="1800" u="none" cap="none" strike="noStrike"/>
                    </a:p>
                  </a:txBody>
                  <a:tcPr marT="45725" marB="45725" marR="91450" marL="91450" anchor="ctr"/>
                </a:tc>
              </a:tr>
              <a:tr h="396350">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3</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3</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10</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6</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(3,10)</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(−3,10)</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(−3,−10)</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(3,−10)</a:t>
                      </a:r>
                      <a:endParaRPr sz="1800" u="none" cap="none" strike="noStrike"/>
                    </a:p>
                  </a:txBody>
                  <a:tcPr marT="45725" marB="45725" marR="91450" marL="91450" anchor="ctr"/>
                </a:tc>
              </a:tr>
              <a:tr h="396350">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4</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4</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9</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−3</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(4,9)</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(−4,9)</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(−4,−9)</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(4,−9)</a:t>
                      </a:r>
                      <a:endParaRPr sz="1800" u="none" cap="none" strike="noStrike"/>
                    </a:p>
                  </a:txBody>
                  <a:tcPr marT="45725" marB="45725" marR="91450" marL="91450" anchor="ctr"/>
                </a:tc>
              </a:tr>
              <a:tr h="396350">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5</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5</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9</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8</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(5,9)</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(−5,9)</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(−5,−9)</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(5,−9)</a:t>
                      </a:r>
                      <a:endParaRPr sz="1800" u="none" cap="none" strike="noStrike"/>
                    </a:p>
                  </a:txBody>
                  <a:tcPr marT="45725" marB="45725" marR="91450" marL="91450" anchor="ctr"/>
                </a:tc>
              </a:tr>
              <a:tr h="396350">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6</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6</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8</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5</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(6,8)</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(−6,8)</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(−6,−8)</a:t>
                      </a:r>
                      <a:endParaRPr sz="18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t>(6,−8)</a:t>
                      </a:r>
                      <a:endParaRPr sz="1800" u="none" cap="none" strike="noStrike"/>
                    </a:p>
                  </a:txBody>
                  <a:tcPr marT="45725" marB="45725" marR="91450" marL="91450" anchor="ctr"/>
                </a:tc>
              </a:tr>
              <a:tr h="396350">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solidFill>
                            <a:srgbClr val="FD2918"/>
                          </a:solidFill>
                        </a:rPr>
                        <a:t>7</a:t>
                      </a:r>
                      <a:endParaRPr sz="1800" u="none" cap="none" strike="noStrike">
                        <a:solidFill>
                          <a:srgbClr val="FD2918"/>
                        </a:solidFill>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solidFill>
                            <a:srgbClr val="FD2918"/>
                          </a:solidFill>
                        </a:rPr>
                        <a:t>7</a:t>
                      </a:r>
                      <a:endParaRPr sz="1800" u="none" cap="none" strike="noStrike">
                        <a:solidFill>
                          <a:srgbClr val="FD2918"/>
                        </a:solidFill>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solidFill>
                            <a:srgbClr val="FD2918"/>
                          </a:solidFill>
                        </a:rPr>
                        <a:t>7</a:t>
                      </a:r>
                      <a:endParaRPr sz="1800" u="none" cap="none" strike="noStrike">
                        <a:solidFill>
                          <a:srgbClr val="FD2918"/>
                        </a:solidFill>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solidFill>
                            <a:srgbClr val="FD2918"/>
                          </a:solidFill>
                        </a:rPr>
                        <a:t>6</a:t>
                      </a:r>
                      <a:endParaRPr sz="1800" u="none" cap="none" strike="noStrike">
                        <a:solidFill>
                          <a:srgbClr val="FD2918"/>
                        </a:solidFill>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sz="1800" u="none" cap="none" strike="noStrike">
                          <a:solidFill>
                            <a:srgbClr val="FD2918"/>
                          </a:solidFill>
                        </a:rPr>
                        <a:t>(7,7)</a:t>
                      </a:r>
                      <a:endParaRPr sz="1800" u="none" cap="none" strike="noStrike">
                        <a:solidFill>
                          <a:srgbClr val="FD2918"/>
                        </a:solidFill>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t/>
                      </a:r>
                      <a:endParaRPr sz="1800" u="none" cap="none" strike="noStrike">
                        <a:solidFill>
                          <a:srgbClr val="FD2918"/>
                        </a:solidFill>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t/>
                      </a:r>
                      <a:endParaRPr sz="1800" u="none" cap="none" strike="noStrike">
                        <a:solidFill>
                          <a:srgbClr val="FD2918"/>
                        </a:solidFill>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t/>
                      </a:r>
                      <a:endParaRPr sz="1800" u="none" cap="none" strike="noStrike">
                        <a:solidFill>
                          <a:srgbClr val="FD2918"/>
                        </a:solidFill>
                      </a:endParaRPr>
                    </a:p>
                  </a:txBody>
                  <a:tcPr marT="45725" marB="45725" marR="91450" marL="91450" anchor="ctr"/>
                </a:tc>
              </a:tr>
            </a:tbl>
          </a:graphicData>
        </a:graphic>
      </p:graphicFrame>
      <p:sp>
        <p:nvSpPr>
          <p:cNvPr id="523" name="Google Shape;523;g3eeafb2e8e4_0_8"/>
          <p:cNvSpPr txBox="1"/>
          <p:nvPr>
            <p:ph idx="11" type="ftr"/>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88888"/>
              </a:buClr>
              <a:buSzPts val="900"/>
              <a:buNone/>
            </a:pPr>
            <a:r>
              <a:rPr lang="en-US" u="none"/>
              <a:t>Department of CSE, Daffodil International University</a:t>
            </a:r>
            <a:endParaRPr u="none"/>
          </a:p>
        </p:txBody>
      </p:sp>
      <p:sp>
        <p:nvSpPr>
          <p:cNvPr id="524" name="Google Shape;524;g3eeafb2e8e4_0_8"/>
          <p:cNvSpPr txBox="1"/>
          <p:nvPr>
            <p:ph idx="12" type="sldNum"/>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900"/>
              <a:buNone/>
            </a:pPr>
            <a:fld id="{00000000-1234-1234-1234-123412341234}" type="slidenum">
              <a:rPr b="1" lang="en-US" sz="900" u="sng">
                <a:solidFill>
                  <a:srgbClr val="898989"/>
                </a:solidFill>
                <a:latin typeface="Arial"/>
                <a:ea typeface="Arial"/>
                <a:cs typeface="Arial"/>
                <a:sym typeface="Arial"/>
              </a:rPr>
              <a:t>‹#›</a:t>
            </a:fld>
            <a:endParaRPr b="1" sz="900" u="sng">
              <a:solidFill>
                <a:srgbClr val="898989"/>
              </a:solidFill>
              <a:latin typeface="Arial"/>
              <a:ea typeface="Arial"/>
              <a:cs typeface="Arial"/>
              <a:sym typeface="Arial"/>
            </a:endParaRPr>
          </a:p>
        </p:txBody>
      </p:sp>
      <p:sp>
        <p:nvSpPr>
          <p:cNvPr id="525" name="Google Shape;525;g3eeafb2e8e4_0_8"/>
          <p:cNvSpPr txBox="1"/>
          <p:nvPr/>
        </p:nvSpPr>
        <p:spPr>
          <a:xfrm>
            <a:off x="175500" y="151200"/>
            <a:ext cx="8113500" cy="685800"/>
          </a:xfrm>
          <a:prstGeom prst="rect">
            <a:avLst/>
          </a:prstGeom>
          <a:solidFill>
            <a:srgbClr val="4285F4"/>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Calibri"/>
                <a:ea typeface="Calibri"/>
                <a:cs typeface="Calibri"/>
                <a:sym typeface="Calibri"/>
              </a:rPr>
              <a:t>			</a:t>
            </a:r>
            <a:endParaRPr b="1"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Times New Roman"/>
                <a:ea typeface="Times New Roman"/>
                <a:cs typeface="Times New Roman"/>
                <a:sym typeface="Times New Roman"/>
              </a:rPr>
              <a:t>Example</a:t>
            </a:r>
            <a:endParaRPr b="0"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t/>
            </a:r>
            <a:endParaRPr b="1" i="0" sz="3300" u="none" cap="none" strike="noStrike">
              <a:solidFill>
                <a:schemeClr val="dk1"/>
              </a:solidFill>
              <a:latin typeface="Times New Roman"/>
              <a:ea typeface="Times New Roman"/>
              <a:cs typeface="Times New Roman"/>
              <a:sym typeface="Times New Roman"/>
            </a:endParaRPr>
          </a:p>
        </p:txBody>
      </p:sp>
      <p:pic>
        <p:nvPicPr>
          <p:cNvPr id="526" name="Google Shape;526;g3eeafb2e8e4_0_8"/>
          <p:cNvPicPr preferRelativeResize="0"/>
          <p:nvPr/>
        </p:nvPicPr>
        <p:blipFill rotWithShape="1">
          <a:blip r:embed="rId3">
            <a:alphaModFix/>
          </a:blip>
          <a:srcRect b="0" l="0" r="0" t="0"/>
          <a:stretch/>
        </p:blipFill>
        <p:spPr>
          <a:xfrm>
            <a:off x="8050200" y="151200"/>
            <a:ext cx="1371600" cy="685800"/>
          </a:xfrm>
          <a:prstGeom prst="rect">
            <a:avLst/>
          </a:prstGeom>
          <a:noFill/>
          <a:ln>
            <a:noFill/>
          </a:ln>
        </p:spPr>
      </p:pic>
      <p:sp>
        <p:nvSpPr>
          <p:cNvPr id="527" name="Google Shape;527;g3eeafb2e8e4_0_8"/>
          <p:cNvSpPr txBox="1"/>
          <p:nvPr/>
        </p:nvSpPr>
        <p:spPr>
          <a:xfrm>
            <a:off x="756300" y="5602645"/>
            <a:ext cx="7631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solidFill>
                  <a:schemeClr val="dk1"/>
                </a:solidFill>
                <a:latin typeface="Calibri"/>
                <a:ea typeface="Calibri"/>
                <a:cs typeface="Calibri"/>
                <a:sym typeface="Calibri"/>
              </a:rPr>
              <a:t>Stop at (7,7) and no need to include this point (7,7)</a:t>
            </a:r>
            <a:br>
              <a:rPr lang="en-US" sz="2100">
                <a:solidFill>
                  <a:schemeClr val="dk1"/>
                </a:solidFill>
                <a:latin typeface="Calibri"/>
                <a:ea typeface="Calibri"/>
                <a:cs typeface="Calibri"/>
                <a:sym typeface="Calibri"/>
              </a:rPr>
            </a:br>
            <a:r>
              <a:rPr lang="en-US" sz="2100">
                <a:solidFill>
                  <a:schemeClr val="dk1"/>
                </a:solidFill>
                <a:latin typeface="Calibri"/>
                <a:ea typeface="Calibri"/>
                <a:cs typeface="Calibri"/>
                <a:sym typeface="Calibri"/>
              </a:rPr>
              <a:t>This table has all the points for Octant-1</a:t>
            </a:r>
            <a:endParaRPr sz="2100">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26"/>
          <p:cNvSpPr txBox="1"/>
          <p:nvPr>
            <p:ph idx="1" type="body"/>
          </p:nvPr>
        </p:nvSpPr>
        <p:spPr>
          <a:xfrm>
            <a:off x="146991" y="1173493"/>
            <a:ext cx="8280300" cy="603000"/>
          </a:xfrm>
          <a:prstGeom prst="rect">
            <a:avLst/>
          </a:prstGeom>
          <a:noFill/>
          <a:ln>
            <a:noFill/>
          </a:ln>
        </p:spPr>
        <p:txBody>
          <a:bodyPr anchorCtr="0" anchor="t" bIns="45700" lIns="91425" spcFirstLastPara="1" rIns="91425" wrap="square" tIns="45700">
            <a:noAutofit/>
          </a:bodyPr>
          <a:lstStyle/>
          <a:p>
            <a:pPr indent="0" lvl="0" marL="457200" rtl="0" algn="l">
              <a:lnSpc>
                <a:spcPct val="90000"/>
              </a:lnSpc>
              <a:spcBef>
                <a:spcPts val="750"/>
              </a:spcBef>
              <a:spcAft>
                <a:spcPts val="0"/>
              </a:spcAft>
              <a:buNone/>
            </a:pPr>
            <a:r>
              <a:rPr lang="en-US">
                <a:latin typeface="Times New Roman"/>
                <a:ea typeface="Times New Roman"/>
                <a:cs typeface="Times New Roman"/>
                <a:sym typeface="Times New Roman"/>
              </a:rPr>
              <a:t>Now generate point for Octant-2 by reversing the points from Octant-1.</a:t>
            </a:r>
            <a:endParaRPr/>
          </a:p>
          <a:p>
            <a:pPr indent="-38100" lvl="0" marL="171450" rtl="0" algn="l">
              <a:lnSpc>
                <a:spcPct val="90000"/>
              </a:lnSpc>
              <a:spcBef>
                <a:spcPts val="750"/>
              </a:spcBef>
              <a:spcAft>
                <a:spcPts val="0"/>
              </a:spcAft>
              <a:buClr>
                <a:schemeClr val="dk1"/>
              </a:buClr>
              <a:buSzPts val="2100"/>
              <a:buNone/>
            </a:pPr>
            <a:r>
              <a:t/>
            </a:r>
            <a:endParaRPr/>
          </a:p>
        </p:txBody>
      </p:sp>
      <p:graphicFrame>
        <p:nvGraphicFramePr>
          <p:cNvPr id="533" name="Google Shape;533;p26"/>
          <p:cNvGraphicFramePr/>
          <p:nvPr/>
        </p:nvGraphicFramePr>
        <p:xfrm>
          <a:off x="267735" y="1675272"/>
          <a:ext cx="3000000" cy="3000000"/>
        </p:xfrm>
        <a:graphic>
          <a:graphicData uri="http://schemas.openxmlformats.org/drawingml/2006/table">
            <a:tbl>
              <a:tblPr>
                <a:noFill/>
                <a:tableStyleId>{9FFF64B3-177B-4AA5-BD0D-BB17B5897C80}</a:tableStyleId>
              </a:tblPr>
              <a:tblGrid>
                <a:gridCol w="979400"/>
                <a:gridCol w="1038225"/>
                <a:gridCol w="1045650"/>
                <a:gridCol w="1074575"/>
                <a:gridCol w="1021000"/>
                <a:gridCol w="1099250"/>
                <a:gridCol w="1213225"/>
                <a:gridCol w="1137225"/>
              </a:tblGrid>
              <a:tr h="701200">
                <a:tc gridSpan="4">
                  <a:txBody>
                    <a:bodyPr/>
                    <a:lstStyle/>
                    <a:p>
                      <a:pPr indent="0" lvl="0" marL="0" marR="0" rtl="0" algn="ctr">
                        <a:lnSpc>
                          <a:spcPct val="100000"/>
                        </a:lnSpc>
                        <a:spcBef>
                          <a:spcPts val="0"/>
                        </a:spcBef>
                        <a:spcAft>
                          <a:spcPts val="0"/>
                        </a:spcAft>
                        <a:buNone/>
                      </a:pPr>
                      <a:r>
                        <a:rPr b="1" lang="en-US" sz="1800"/>
                        <a:t>Octant-1</a:t>
                      </a:r>
                      <a:endParaRPr b="1" sz="1800"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hMerge="1"/>
                <a:tc hMerge="1"/>
                <a:tc hMerge="1"/>
                <a:tc gridSpan="4">
                  <a:txBody>
                    <a:bodyPr/>
                    <a:lstStyle/>
                    <a:p>
                      <a:pPr indent="0" lvl="0" marL="0" rtl="0" algn="ctr">
                        <a:spcBef>
                          <a:spcPts val="0"/>
                        </a:spcBef>
                        <a:spcAft>
                          <a:spcPts val="0"/>
                        </a:spcAft>
                        <a:buClr>
                          <a:schemeClr val="dk1"/>
                        </a:buClr>
                        <a:buSzPts val="1100"/>
                        <a:buFont typeface="Arial"/>
                        <a:buNone/>
                      </a:pPr>
                      <a:r>
                        <a:rPr b="1" lang="en-US" sz="1800"/>
                        <a:t>Octant-2</a:t>
                      </a:r>
                      <a:endParaRPr b="1" sz="1800" u="none" cap="none" strike="noStrike"/>
                    </a:p>
                  </a:txBody>
                  <a:tcPr marT="45725" marB="45725" marR="91450" marL="91450" anchor="ctr">
                    <a:lnL cap="flat" cmpd="sng" w="12700">
                      <a:solidFill>
                        <a:schemeClr val="accent5"/>
                      </a:solidFill>
                      <a:prstDash val="solid"/>
                      <a:round/>
                      <a:headEnd len="sm" w="sm" type="none"/>
                      <a:tailEnd len="sm" w="sm" type="none"/>
                    </a:lnL>
                  </a:tcPr>
                </a:tc>
                <a:tc hMerge="1"/>
                <a:tc hMerge="1"/>
                <a:tc hMerge="1"/>
              </a:tr>
              <a:tr h="701200">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Q-I (+x,+y)</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Q-II (−x,+y)</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Q-III (−x,−y)</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Q-IV (+x,−y)</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Q-I (+x,+y)</a:t>
                      </a:r>
                      <a:endParaRPr u="none" cap="none" strike="noStrike"/>
                    </a:p>
                  </a:txBody>
                  <a:tcPr marT="45725" marB="45725" marR="91450" marL="91450" anchor="ctr">
                    <a:lnL cap="flat" cmpd="sng" w="12700">
                      <a:solidFill>
                        <a:schemeClr val="accent5"/>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Q-II (−x,+y)</a:t>
                      </a:r>
                      <a:endParaRPr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Q-III (−x,−y)</a:t>
                      </a:r>
                      <a:endParaRPr u="none" cap="none" strike="noStrike"/>
                    </a:p>
                  </a:txBody>
                  <a:tcPr marT="45725" marB="45725" marR="91450" marL="91450" anchor="ctr">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Q-IV (+x,−y)</a:t>
                      </a:r>
                      <a:endParaRPr u="none" cap="none" strike="noStrike"/>
                    </a:p>
                  </a:txBody>
                  <a:tcPr marT="45725" marB="45725" marR="91450" marL="91450" anchor="ctr">
                    <a:lnB cap="flat" cmpd="sng" w="12700">
                      <a:solidFill>
                        <a:schemeClr val="accent5"/>
                      </a:solidFill>
                      <a:prstDash val="solid"/>
                      <a:round/>
                      <a:headEnd len="sm" w="sm" type="none"/>
                      <a:tailEnd len="sm" w="sm" type="none"/>
                    </a:lnB>
                  </a:tcPr>
                </a:tc>
              </a:tr>
              <a:tr h="396350">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(0,10)</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(0,10)</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(0,−10)</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(0,−10)</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(10,0)</a:t>
                      </a:r>
                      <a:endParaRPr u="none" cap="none" strike="noStrike"/>
                    </a:p>
                  </a:txBody>
                  <a:tcPr marT="45725" marB="45725" marR="91450" marL="91450" anchor="ctr">
                    <a:lnL cap="flat" cmpd="sng" w="12700">
                      <a:solidFill>
                        <a:schemeClr val="accent5"/>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a:t>
                      </a:r>
                      <a:r>
                        <a:rPr lang="en-US"/>
                        <a:t>-</a:t>
                      </a:r>
                      <a:r>
                        <a:rPr lang="en-US" u="none" cap="none" strike="noStrike"/>
                        <a:t>10,0)</a:t>
                      </a:r>
                      <a:endParaRPr u="none" cap="none" strike="noStrike"/>
                    </a:p>
                  </a:txBody>
                  <a:tcPr marT="45725" marB="45725" marR="91450" marL="91450" anchor="ctr">
                    <a:lnR cap="flat" cmpd="sng" w="12700">
                      <a:solidFill>
                        <a:schemeClr val="accent5"/>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a:t>
                      </a:r>
                      <a:r>
                        <a:rPr lang="en-US"/>
                        <a:t>-</a:t>
                      </a:r>
                      <a:r>
                        <a:rPr lang="en-US" u="none" cap="none" strike="noStrike"/>
                        <a:t>10,0)</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(10,0)</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r>
              <a:tr h="396350">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(1,10)</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(−1,10)</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(−1,−10)</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(1,−10)</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(10,1)</a:t>
                      </a:r>
                      <a:endParaRPr u="none" cap="none" strike="noStrike"/>
                    </a:p>
                  </a:txBody>
                  <a:tcPr marT="45725" marB="45725" marR="91450" marL="91450" anchor="ctr">
                    <a:lnL cap="flat" cmpd="sng" w="12700">
                      <a:solidFill>
                        <a:schemeClr val="accent5"/>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a:t>
                      </a:r>
                      <a:r>
                        <a:rPr lang="en-US"/>
                        <a:t>-</a:t>
                      </a:r>
                      <a:r>
                        <a:rPr lang="en-US" u="none" cap="none" strike="noStrike"/>
                        <a:t>10,1)</a:t>
                      </a:r>
                      <a:endParaRPr u="none" cap="none" strike="noStrike"/>
                    </a:p>
                  </a:txBody>
                  <a:tcPr marT="45725" marB="45725" marR="91450" marL="91450" anchor="ctr">
                    <a:lnR cap="flat" cmpd="sng" w="12700">
                      <a:solidFill>
                        <a:schemeClr val="accent5"/>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a:t>
                      </a:r>
                      <a:r>
                        <a:rPr lang="en-US"/>
                        <a:t>-</a:t>
                      </a:r>
                      <a:r>
                        <a:rPr lang="en-US" u="none" cap="none" strike="noStrike"/>
                        <a:t>10,-1)</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(10,-1)</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r>
              <a:tr h="396350">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(2,10)</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(−2,10)</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(−2,−10)</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(2,−10)</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(10,2)</a:t>
                      </a:r>
                      <a:endParaRPr u="none" cap="none" strike="noStrike"/>
                    </a:p>
                  </a:txBody>
                  <a:tcPr marT="45725" marB="45725" marR="91450" marL="91450" anchor="ctr">
                    <a:lnL cap="flat" cmpd="sng" w="12700">
                      <a:solidFill>
                        <a:schemeClr val="accent5"/>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a:t>
                      </a:r>
                      <a:r>
                        <a:rPr lang="en-US"/>
                        <a:t>10,2</a:t>
                      </a:r>
                      <a:r>
                        <a:rPr lang="en-US" u="none" cap="none" strike="noStrike"/>
                        <a:t>)</a:t>
                      </a:r>
                      <a:endParaRPr u="none" cap="none" strike="noStrike"/>
                    </a:p>
                  </a:txBody>
                  <a:tcPr marT="45725" marB="45725" marR="91450" marL="91450" anchor="ctr">
                    <a:lnR cap="flat" cmpd="sng" w="12700">
                      <a:solidFill>
                        <a:schemeClr val="accent5"/>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a:t>
                      </a:r>
                      <a:r>
                        <a:rPr lang="en-US"/>
                        <a:t>10,-2</a:t>
                      </a:r>
                      <a:r>
                        <a:rPr lang="en-US" u="none" cap="none" strike="noStrike"/>
                        <a:t>)</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a:t>
                      </a:r>
                      <a:r>
                        <a:rPr lang="en-US"/>
                        <a:t>10,-2</a:t>
                      </a:r>
                      <a:r>
                        <a:rPr lang="en-US" u="none" cap="none" strike="noStrike"/>
                        <a:t>)</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r>
              <a:tr h="396350">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(3,10)</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(−3,10)</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(−3,−10)</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(3,−10)</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(10,3)</a:t>
                      </a:r>
                      <a:endParaRPr u="none" cap="none" strike="noStrike"/>
                    </a:p>
                  </a:txBody>
                  <a:tcPr marT="45725" marB="45725" marR="91450" marL="91450" anchor="ctr">
                    <a:lnL cap="flat" cmpd="sng" w="12700">
                      <a:solidFill>
                        <a:schemeClr val="accent5"/>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a:t>
                      </a:r>
                      <a:r>
                        <a:rPr lang="en-US"/>
                        <a:t>10</a:t>
                      </a:r>
                      <a:r>
                        <a:rPr lang="en-US" u="none" cap="none" strike="noStrike"/>
                        <a:t>,</a:t>
                      </a:r>
                      <a:r>
                        <a:rPr lang="en-US"/>
                        <a:t>3</a:t>
                      </a:r>
                      <a:r>
                        <a:rPr lang="en-US" u="none" cap="none" strike="noStrike"/>
                        <a:t>)</a:t>
                      </a:r>
                      <a:endParaRPr u="none" cap="none" strike="noStrike"/>
                    </a:p>
                  </a:txBody>
                  <a:tcPr marT="45725" marB="45725" marR="91450" marL="91450" anchor="ctr">
                    <a:lnR cap="flat" cmpd="sng" w="12700">
                      <a:solidFill>
                        <a:schemeClr val="accent5"/>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a:t>
                      </a:r>
                      <a:r>
                        <a:rPr lang="en-US"/>
                        <a:t>10</a:t>
                      </a:r>
                      <a:r>
                        <a:rPr lang="en-US" u="none" cap="none" strike="noStrike"/>
                        <a:t>,-</a:t>
                      </a:r>
                      <a:r>
                        <a:rPr lang="en-US"/>
                        <a:t>3</a:t>
                      </a:r>
                      <a:r>
                        <a:rPr lang="en-US" u="none" cap="none" strike="noStrike"/>
                        <a:t>)</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a:t>
                      </a:r>
                      <a:r>
                        <a:rPr lang="en-US"/>
                        <a:t>10</a:t>
                      </a:r>
                      <a:r>
                        <a:rPr lang="en-US" u="none" cap="none" strike="noStrike"/>
                        <a:t>,-</a:t>
                      </a:r>
                      <a:r>
                        <a:rPr lang="en-US"/>
                        <a:t>3</a:t>
                      </a:r>
                      <a:r>
                        <a:rPr lang="en-US" u="none" cap="none" strike="noStrike"/>
                        <a:t>)</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r>
              <a:tr h="396350">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(4,9)</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(−4,9)</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(−4,−9)</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(4,−9)</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a:t>
                      </a:r>
                      <a:r>
                        <a:rPr lang="en-US"/>
                        <a:t>9,4</a:t>
                      </a:r>
                      <a:r>
                        <a:rPr lang="en-US" u="none" cap="none" strike="noStrike"/>
                        <a:t>)</a:t>
                      </a:r>
                      <a:endParaRPr u="none" cap="none" strike="noStrike"/>
                    </a:p>
                  </a:txBody>
                  <a:tcPr marT="45725" marB="45725" marR="91450" marL="91450" anchor="ctr">
                    <a:lnL cap="flat" cmpd="sng" w="12700">
                      <a:solidFill>
                        <a:schemeClr val="accent5"/>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a:t>
                      </a:r>
                      <a:r>
                        <a:rPr lang="en-US"/>
                        <a:t>9</a:t>
                      </a:r>
                      <a:r>
                        <a:rPr lang="en-US" u="none" cap="none" strike="noStrike"/>
                        <a:t>,</a:t>
                      </a:r>
                      <a:r>
                        <a:rPr lang="en-US"/>
                        <a:t>4</a:t>
                      </a:r>
                      <a:r>
                        <a:rPr lang="en-US" u="none" cap="none" strike="noStrike"/>
                        <a:t>)</a:t>
                      </a:r>
                      <a:endParaRPr u="none" cap="none" strike="noStrike"/>
                    </a:p>
                  </a:txBody>
                  <a:tcPr marT="45725" marB="45725" marR="91450" marL="91450" anchor="ctr">
                    <a:lnR cap="flat" cmpd="sng" w="12700">
                      <a:solidFill>
                        <a:schemeClr val="accent5"/>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a:t>
                      </a:r>
                      <a:r>
                        <a:rPr lang="en-US"/>
                        <a:t>9</a:t>
                      </a:r>
                      <a:r>
                        <a:rPr lang="en-US" u="none" cap="none" strike="noStrike"/>
                        <a:t>,-</a:t>
                      </a:r>
                      <a:r>
                        <a:rPr lang="en-US"/>
                        <a:t>4</a:t>
                      </a:r>
                      <a:r>
                        <a:rPr lang="en-US" u="none" cap="none" strike="noStrike"/>
                        <a:t>)</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a:t>
                      </a:r>
                      <a:r>
                        <a:rPr lang="en-US"/>
                        <a:t>9</a:t>
                      </a:r>
                      <a:r>
                        <a:rPr lang="en-US" u="none" cap="none" strike="noStrike"/>
                        <a:t>,-</a:t>
                      </a:r>
                      <a:r>
                        <a:rPr lang="en-US"/>
                        <a:t>4</a:t>
                      </a:r>
                      <a:r>
                        <a:rPr lang="en-US" u="none" cap="none" strike="noStrike"/>
                        <a:t>)</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r>
              <a:tr h="396350">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(5,9)</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(−5,9)</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(−5,−9)</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(5,−9)</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a:t>
                      </a:r>
                      <a:r>
                        <a:rPr lang="en-US"/>
                        <a:t>9,5</a:t>
                      </a:r>
                      <a:r>
                        <a:rPr lang="en-US" u="none" cap="none" strike="noStrike"/>
                        <a:t>)</a:t>
                      </a:r>
                      <a:endParaRPr u="none" cap="none" strike="noStrike"/>
                    </a:p>
                  </a:txBody>
                  <a:tcPr marT="45725" marB="45725" marR="91450" marL="91450" anchor="ctr">
                    <a:lnL cap="flat" cmpd="sng" w="12700">
                      <a:solidFill>
                        <a:schemeClr val="accent5"/>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a:t>
                      </a:r>
                      <a:r>
                        <a:rPr lang="en-US"/>
                        <a:t>9</a:t>
                      </a:r>
                      <a:r>
                        <a:rPr lang="en-US" u="none" cap="none" strike="noStrike"/>
                        <a:t>,</a:t>
                      </a:r>
                      <a:r>
                        <a:rPr lang="en-US"/>
                        <a:t>5</a:t>
                      </a:r>
                      <a:r>
                        <a:rPr lang="en-US" u="none" cap="none" strike="noStrike"/>
                        <a:t>)</a:t>
                      </a:r>
                      <a:endParaRPr u="none" cap="none" strike="noStrike"/>
                    </a:p>
                  </a:txBody>
                  <a:tcPr marT="45725" marB="45725" marR="91450" marL="91450" anchor="ctr">
                    <a:lnR cap="flat" cmpd="sng" w="12700">
                      <a:solidFill>
                        <a:schemeClr val="accent5"/>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a:t>
                      </a:r>
                      <a:r>
                        <a:rPr lang="en-US"/>
                        <a:t>9</a:t>
                      </a:r>
                      <a:r>
                        <a:rPr lang="en-US" u="none" cap="none" strike="noStrike"/>
                        <a:t>,-</a:t>
                      </a:r>
                      <a:r>
                        <a:rPr lang="en-US"/>
                        <a:t>5</a:t>
                      </a:r>
                      <a:r>
                        <a:rPr lang="en-US" u="none" cap="none" strike="noStrike"/>
                        <a:t>)</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a:t>
                      </a:r>
                      <a:r>
                        <a:rPr lang="en-US"/>
                        <a:t>9</a:t>
                      </a:r>
                      <a:r>
                        <a:rPr lang="en-US" u="none" cap="none" strike="noStrike"/>
                        <a:t>,-</a:t>
                      </a:r>
                      <a:r>
                        <a:rPr lang="en-US"/>
                        <a:t>5</a:t>
                      </a:r>
                      <a:r>
                        <a:rPr lang="en-US" u="none" cap="none" strike="noStrike"/>
                        <a:t>)</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r>
              <a:tr h="396350">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(6,8)</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(−6,8)</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(−6,−8)</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(6,−8)</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a:t>
                      </a:r>
                      <a:r>
                        <a:rPr lang="en-US"/>
                        <a:t>8,6</a:t>
                      </a:r>
                      <a:r>
                        <a:rPr lang="en-US" u="none" cap="none" strike="noStrike"/>
                        <a:t>)</a:t>
                      </a:r>
                      <a:endParaRPr u="none" cap="none" strike="noStrike"/>
                    </a:p>
                  </a:txBody>
                  <a:tcPr marT="45725" marB="45725" marR="91450" marL="91450" anchor="ctr">
                    <a:lnL cap="flat" cmpd="sng" w="12700">
                      <a:solidFill>
                        <a:schemeClr val="accent5"/>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a:t>
                      </a:r>
                      <a:r>
                        <a:rPr lang="en-US"/>
                        <a:t>8</a:t>
                      </a:r>
                      <a:r>
                        <a:rPr lang="en-US" u="none" cap="none" strike="noStrike"/>
                        <a:t>,</a:t>
                      </a:r>
                      <a:r>
                        <a:rPr lang="en-US"/>
                        <a:t>6</a:t>
                      </a:r>
                      <a:r>
                        <a:rPr lang="en-US" u="none" cap="none" strike="noStrike"/>
                        <a:t>)</a:t>
                      </a:r>
                      <a:endParaRPr u="none" cap="none" strike="noStrike"/>
                    </a:p>
                  </a:txBody>
                  <a:tcPr marT="45725" marB="45725" marR="91450" marL="91450" anchor="ctr">
                    <a:lnR cap="flat" cmpd="sng" w="12700">
                      <a:solidFill>
                        <a:schemeClr val="accent5"/>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a:t>
                      </a:r>
                      <a:r>
                        <a:rPr lang="en-US"/>
                        <a:t>8</a:t>
                      </a:r>
                      <a:r>
                        <a:rPr lang="en-US" u="none" cap="none" strike="noStrike"/>
                        <a:t>,-</a:t>
                      </a:r>
                      <a:r>
                        <a:rPr lang="en-US"/>
                        <a:t>6</a:t>
                      </a:r>
                      <a:r>
                        <a:rPr lang="en-US" u="none" cap="none" strike="noStrike"/>
                        <a:t>)</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lang="en-US" u="none" cap="none" strike="noStrike"/>
                        <a:t>(</a:t>
                      </a:r>
                      <a:r>
                        <a:rPr lang="en-US"/>
                        <a:t>8</a:t>
                      </a:r>
                      <a:r>
                        <a:rPr lang="en-US" u="none" cap="none" strike="noStrike"/>
                        <a:t>,-</a:t>
                      </a:r>
                      <a:r>
                        <a:rPr lang="en-US"/>
                        <a:t>6</a:t>
                      </a:r>
                      <a:r>
                        <a:rPr lang="en-US" u="none" cap="none" strike="noStrike"/>
                        <a:t>)</a:t>
                      </a:r>
                      <a:endParaRPr u="none" cap="none" strike="noStrike"/>
                    </a:p>
                  </a:txBody>
                  <a:tcPr marT="45725" marB="45725" marR="91450" marL="91450" anchor="ctr">
                    <a:lnL cap="flat" cmpd="sng" w="12700">
                      <a:solidFill>
                        <a:schemeClr val="accent5"/>
                      </a:solidFill>
                      <a:prstDash val="solid"/>
                      <a:round/>
                      <a:headEnd len="sm" w="sm" type="none"/>
                      <a:tailEnd len="sm" w="sm" type="none"/>
                    </a:lnL>
                    <a:lnR cap="flat" cmpd="sng" w="12700">
                      <a:solidFill>
                        <a:schemeClr val="accent5"/>
                      </a:solidFill>
                      <a:prstDash val="solid"/>
                      <a:round/>
                      <a:headEnd len="sm" w="sm" type="none"/>
                      <a:tailEnd len="sm" w="sm" type="none"/>
                    </a:lnR>
                    <a:lnT cap="flat" cmpd="sng" w="12700">
                      <a:solidFill>
                        <a:schemeClr val="accent5"/>
                      </a:solidFill>
                      <a:prstDash val="solid"/>
                      <a:round/>
                      <a:headEnd len="sm" w="sm" type="none"/>
                      <a:tailEnd len="sm" w="sm" type="none"/>
                    </a:lnT>
                    <a:lnB cap="flat" cmpd="sng" w="12700">
                      <a:solidFill>
                        <a:schemeClr val="accent5"/>
                      </a:solidFill>
                      <a:prstDash val="solid"/>
                      <a:round/>
                      <a:headEnd len="sm" w="sm" type="none"/>
                      <a:tailEnd len="sm" w="sm" type="none"/>
                    </a:lnB>
                  </a:tcPr>
                </a:tc>
              </a:tr>
            </a:tbl>
          </a:graphicData>
        </a:graphic>
      </p:graphicFrame>
      <p:sp>
        <p:nvSpPr>
          <p:cNvPr id="534" name="Google Shape;534;p26"/>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88888"/>
              </a:buClr>
              <a:buSzPts val="900"/>
              <a:buNone/>
            </a:pPr>
            <a:r>
              <a:rPr lang="en-US" u="none"/>
              <a:t>Department of CSE, Daffodil International University</a:t>
            </a:r>
            <a:endParaRPr u="none"/>
          </a:p>
        </p:txBody>
      </p:sp>
      <p:sp>
        <p:nvSpPr>
          <p:cNvPr id="535" name="Google Shape;535;p26"/>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900"/>
              <a:buNone/>
            </a:pPr>
            <a:fld id="{00000000-1234-1234-1234-123412341234}" type="slidenum">
              <a:rPr b="1" lang="en-US" sz="900" u="sng">
                <a:solidFill>
                  <a:srgbClr val="898989"/>
                </a:solidFill>
                <a:latin typeface="Arial"/>
                <a:ea typeface="Arial"/>
                <a:cs typeface="Arial"/>
                <a:sym typeface="Arial"/>
              </a:rPr>
              <a:t>‹#›</a:t>
            </a:fld>
            <a:endParaRPr b="1" sz="900" u="sng">
              <a:solidFill>
                <a:srgbClr val="898989"/>
              </a:solidFill>
              <a:latin typeface="Arial"/>
              <a:ea typeface="Arial"/>
              <a:cs typeface="Arial"/>
              <a:sym typeface="Arial"/>
            </a:endParaRPr>
          </a:p>
        </p:txBody>
      </p:sp>
      <p:sp>
        <p:nvSpPr>
          <p:cNvPr id="536" name="Google Shape;536;p26"/>
          <p:cNvSpPr txBox="1"/>
          <p:nvPr/>
        </p:nvSpPr>
        <p:spPr>
          <a:xfrm>
            <a:off x="175500" y="151200"/>
            <a:ext cx="8113500" cy="685800"/>
          </a:xfrm>
          <a:prstGeom prst="rect">
            <a:avLst/>
          </a:prstGeom>
          <a:solidFill>
            <a:srgbClr val="4285F4"/>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Calibri"/>
                <a:ea typeface="Calibri"/>
                <a:cs typeface="Calibri"/>
                <a:sym typeface="Calibri"/>
              </a:rPr>
              <a:t>			</a:t>
            </a:r>
            <a:endParaRPr b="1"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Times New Roman"/>
                <a:ea typeface="Times New Roman"/>
                <a:cs typeface="Times New Roman"/>
                <a:sym typeface="Times New Roman"/>
              </a:rPr>
              <a:t>Example</a:t>
            </a:r>
            <a:endParaRPr b="0"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t/>
            </a:r>
            <a:endParaRPr b="1" i="0" sz="3300" u="none" cap="none" strike="noStrike">
              <a:solidFill>
                <a:schemeClr val="dk1"/>
              </a:solidFill>
              <a:latin typeface="Times New Roman"/>
              <a:ea typeface="Times New Roman"/>
              <a:cs typeface="Times New Roman"/>
              <a:sym typeface="Times New Roman"/>
            </a:endParaRPr>
          </a:p>
        </p:txBody>
      </p:sp>
      <p:pic>
        <p:nvPicPr>
          <p:cNvPr id="537" name="Google Shape;537;p26"/>
          <p:cNvPicPr preferRelativeResize="0"/>
          <p:nvPr/>
        </p:nvPicPr>
        <p:blipFill rotWithShape="1">
          <a:blip r:embed="rId3">
            <a:alphaModFix/>
          </a:blip>
          <a:srcRect b="0" l="0" r="0" t="0"/>
          <a:stretch/>
        </p:blipFill>
        <p:spPr>
          <a:xfrm>
            <a:off x="8050200" y="151200"/>
            <a:ext cx="1371600" cy="685800"/>
          </a:xfrm>
          <a:prstGeom prst="rect">
            <a:avLst/>
          </a:prstGeom>
          <a:noFill/>
          <a:ln>
            <a:noFill/>
          </a:ln>
        </p:spPr>
      </p:pic>
      <p:sp>
        <p:nvSpPr>
          <p:cNvPr id="538" name="Google Shape;538;p26"/>
          <p:cNvSpPr txBox="1"/>
          <p:nvPr/>
        </p:nvSpPr>
        <p:spPr>
          <a:xfrm>
            <a:off x="1422050" y="5901712"/>
            <a:ext cx="59403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100">
                <a:solidFill>
                  <a:schemeClr val="dk1"/>
                </a:solidFill>
                <a:latin typeface="Calibri"/>
                <a:ea typeface="Calibri"/>
                <a:cs typeface="Calibri"/>
                <a:sym typeface="Calibri"/>
              </a:rPr>
              <a:t>This table includes all the points of the given circle.</a:t>
            </a:r>
            <a:endParaRPr sz="21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27"/>
          <p:cNvSpPr txBox="1"/>
          <p:nvPr>
            <p:ph type="title"/>
          </p:nvPr>
        </p:nvSpPr>
        <p:spPr>
          <a:xfrm>
            <a:off x="628650" y="365125"/>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400"/>
              <a:buNone/>
            </a:pPr>
            <a:r>
              <a:rPr lang="en-US"/>
              <a:t> </a:t>
            </a:r>
            <a:endParaRPr/>
          </a:p>
        </p:txBody>
      </p:sp>
      <p:pic>
        <p:nvPicPr>
          <p:cNvPr id="544" name="Google Shape;544;p27"/>
          <p:cNvPicPr preferRelativeResize="0"/>
          <p:nvPr>
            <p:ph idx="1" type="body"/>
          </p:nvPr>
        </p:nvPicPr>
        <p:blipFill rotWithShape="1">
          <a:blip r:embed="rId3">
            <a:alphaModFix/>
          </a:blip>
          <a:srcRect b="0" l="0" r="0" t="0"/>
          <a:stretch/>
        </p:blipFill>
        <p:spPr>
          <a:xfrm>
            <a:off x="1651000" y="1094433"/>
            <a:ext cx="5841900" cy="5172000"/>
          </a:xfrm>
          <a:prstGeom prst="rect">
            <a:avLst/>
          </a:prstGeom>
          <a:noFill/>
          <a:ln>
            <a:noFill/>
          </a:ln>
        </p:spPr>
      </p:pic>
      <p:sp>
        <p:nvSpPr>
          <p:cNvPr id="545" name="Google Shape;545;p27"/>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88888"/>
              </a:buClr>
              <a:buSzPts val="900"/>
              <a:buNone/>
            </a:pPr>
            <a:r>
              <a:rPr lang="en-US" u="none"/>
              <a:t>Department of CSE, Daffodil International University</a:t>
            </a:r>
            <a:endParaRPr u="none"/>
          </a:p>
        </p:txBody>
      </p:sp>
      <p:sp>
        <p:nvSpPr>
          <p:cNvPr id="546" name="Google Shape;546;p27"/>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900"/>
              <a:buNone/>
            </a:pPr>
            <a:fld id="{00000000-1234-1234-1234-123412341234}" type="slidenum">
              <a:rPr b="1" lang="en-US" sz="900" u="sng">
                <a:solidFill>
                  <a:srgbClr val="898989"/>
                </a:solidFill>
                <a:latin typeface="Arial"/>
                <a:ea typeface="Arial"/>
                <a:cs typeface="Arial"/>
                <a:sym typeface="Arial"/>
              </a:rPr>
              <a:t>‹#›</a:t>
            </a:fld>
            <a:endParaRPr b="1" sz="900" u="sng">
              <a:solidFill>
                <a:srgbClr val="898989"/>
              </a:solidFill>
              <a:latin typeface="Arial"/>
              <a:ea typeface="Arial"/>
              <a:cs typeface="Arial"/>
              <a:sym typeface="Arial"/>
            </a:endParaRPr>
          </a:p>
        </p:txBody>
      </p:sp>
      <p:sp>
        <p:nvSpPr>
          <p:cNvPr id="547" name="Google Shape;547;p27"/>
          <p:cNvSpPr txBox="1"/>
          <p:nvPr/>
        </p:nvSpPr>
        <p:spPr>
          <a:xfrm>
            <a:off x="175500" y="151200"/>
            <a:ext cx="8113500" cy="685800"/>
          </a:xfrm>
          <a:prstGeom prst="rect">
            <a:avLst/>
          </a:prstGeom>
          <a:solidFill>
            <a:srgbClr val="4285F4"/>
          </a:solid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Calibri"/>
                <a:ea typeface="Calibri"/>
                <a:cs typeface="Calibri"/>
                <a:sym typeface="Calibri"/>
              </a:rPr>
              <a:t>			</a:t>
            </a:r>
            <a:endParaRPr b="1"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rPr b="1" i="0" lang="en-US" sz="3300" u="none" cap="none" strike="noStrike">
                <a:solidFill>
                  <a:schemeClr val="dk1"/>
                </a:solidFill>
                <a:latin typeface="Times New Roman"/>
                <a:ea typeface="Times New Roman"/>
                <a:cs typeface="Times New Roman"/>
                <a:sym typeface="Times New Roman"/>
              </a:rPr>
              <a:t>Example</a:t>
            </a:r>
            <a:endParaRPr b="0" i="0" sz="33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rgbClr val="000000"/>
              </a:buClr>
              <a:buSzPts val="3300"/>
              <a:buFont typeface="Arial"/>
              <a:buNone/>
            </a:pPr>
            <a:r>
              <a:t/>
            </a:r>
            <a:endParaRPr b="1" i="0" sz="3300" u="none" cap="none" strike="noStrike">
              <a:solidFill>
                <a:schemeClr val="dk1"/>
              </a:solidFill>
              <a:latin typeface="Times New Roman"/>
              <a:ea typeface="Times New Roman"/>
              <a:cs typeface="Times New Roman"/>
              <a:sym typeface="Times New Roman"/>
            </a:endParaRPr>
          </a:p>
        </p:txBody>
      </p:sp>
      <p:pic>
        <p:nvPicPr>
          <p:cNvPr id="548" name="Google Shape;548;p27"/>
          <p:cNvPicPr preferRelativeResize="0"/>
          <p:nvPr/>
        </p:nvPicPr>
        <p:blipFill rotWithShape="1">
          <a:blip r:embed="rId4">
            <a:alphaModFix/>
          </a:blip>
          <a:srcRect b="0" l="0" r="0" t="0"/>
          <a:stretch/>
        </p:blipFill>
        <p:spPr>
          <a:xfrm>
            <a:off x="8050200" y="151200"/>
            <a:ext cx="1371600" cy="6858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28"/>
          <p:cNvSpPr txBox="1"/>
          <p:nvPr>
            <p:ph type="title"/>
          </p:nvPr>
        </p:nvSpPr>
        <p:spPr>
          <a:xfrm>
            <a:off x="628650" y="365125"/>
            <a:ext cx="7886700" cy="1325563"/>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400"/>
              <a:buNone/>
            </a:pPr>
            <a:r>
              <a:rPr lang="en-US"/>
              <a:t> </a:t>
            </a:r>
            <a:endParaRPr/>
          </a:p>
        </p:txBody>
      </p:sp>
      <p:pic>
        <p:nvPicPr>
          <p:cNvPr id="554" name="Google Shape;554;p28"/>
          <p:cNvPicPr preferRelativeResize="0"/>
          <p:nvPr>
            <p:ph idx="1" type="body"/>
          </p:nvPr>
        </p:nvPicPr>
        <p:blipFill rotWithShape="1">
          <a:blip r:embed="rId3">
            <a:alphaModFix/>
          </a:blip>
          <a:srcRect b="0" l="0" r="0" t="0"/>
          <a:stretch/>
        </p:blipFill>
        <p:spPr>
          <a:xfrm>
            <a:off x="1671638" y="1295400"/>
            <a:ext cx="5800725" cy="4351338"/>
          </a:xfrm>
          <a:prstGeom prst="rect">
            <a:avLst/>
          </a:prstGeom>
          <a:noFill/>
          <a:ln>
            <a:noFill/>
          </a:ln>
        </p:spPr>
      </p:pic>
      <p:pic>
        <p:nvPicPr>
          <p:cNvPr id="555" name="Google Shape;555;p28"/>
          <p:cNvPicPr preferRelativeResize="0"/>
          <p:nvPr/>
        </p:nvPicPr>
        <p:blipFill rotWithShape="1">
          <a:blip r:embed="rId4">
            <a:alphaModFix/>
          </a:blip>
          <a:srcRect b="0" l="0" r="0" t="0"/>
          <a:stretch/>
        </p:blipFill>
        <p:spPr>
          <a:xfrm>
            <a:off x="8077200" y="22225"/>
            <a:ext cx="1371600" cy="685800"/>
          </a:xfrm>
          <a:prstGeom prst="rect">
            <a:avLst/>
          </a:prstGeom>
          <a:noFill/>
          <a:ln>
            <a:noFill/>
          </a:ln>
        </p:spPr>
      </p:pic>
      <p:sp>
        <p:nvSpPr>
          <p:cNvPr id="556" name="Google Shape;556;p28"/>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888888"/>
              </a:buClr>
              <a:buSzPts val="900"/>
              <a:buNone/>
            </a:pPr>
            <a:r>
              <a:rPr lang="en-US" u="none"/>
              <a:t>Department of CSE, Daffodil International University</a:t>
            </a:r>
            <a:endParaRPr u="none"/>
          </a:p>
        </p:txBody>
      </p:sp>
      <p:sp>
        <p:nvSpPr>
          <p:cNvPr id="557" name="Google Shape;557;p2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Clr>
                <a:srgbClr val="898989"/>
              </a:buClr>
              <a:buSzPts val="900"/>
              <a:buNone/>
            </a:pPr>
            <a:fld id="{00000000-1234-1234-1234-123412341234}" type="slidenum">
              <a:rPr b="1" lang="en-US" sz="900" u="sng">
                <a:solidFill>
                  <a:srgbClr val="898989"/>
                </a:solidFill>
                <a:latin typeface="Arial"/>
                <a:ea typeface="Arial"/>
                <a:cs typeface="Arial"/>
                <a:sym typeface="Arial"/>
              </a:rPr>
              <a:t>‹#›</a:t>
            </a:fld>
            <a:endParaRPr b="1" sz="900" u="sng">
              <a:solidFill>
                <a:srgbClr val="898989"/>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2007-02-08T23:36:37Z</dcterms:created>
  <dc:creator>Tiva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1033-10.2.0.5811</vt:lpwstr>
  </property>
</Properties>
</file>